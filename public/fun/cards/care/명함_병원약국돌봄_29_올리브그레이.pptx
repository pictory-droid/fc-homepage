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088000" y="129600"/>
            <a:ext cx="1008000" cy="1540800"/>
          </a:xfrm>
          <a:prstGeom prst="roundRect">
            <a:avLst>
              <a:gd name="adj" fmla="val 10714"/>
            </a:avLst>
          </a:prstGeom>
          <a:solidFill>
            <a:srgbClr val="7075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530800" y="241200"/>
            <a:ext cx="122400" cy="122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02000" y="212400"/>
            <a:ext cx="180000" cy="180000"/>
          </a:xfrm>
          <a:prstGeom prst="ellipse">
            <a:avLst/>
          </a:prstGeom>
          <a:noFill/>
          <a:ln w="504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409840" y="609840"/>
            <a:ext cx="364320" cy="364320"/>
          </a:xfrm>
          <a:prstGeom prst="ellipse">
            <a:avLst/>
          </a:prstGeom>
          <a:solidFill>
            <a:srgbClr val="B8BAAC">
              <a:alpha val="3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540520" y="657360"/>
            <a:ext cx="102960" cy="26928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457360" y="740520"/>
            <a:ext cx="269280" cy="10296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088000" y="1188000"/>
            <a:ext cx="1008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 spc="100">
                <a:solidFill>
                  <a:srgbClr val="FFFFFF"/>
                </a:solidFill>
                <a:latin typeface="맑은 고딕"/>
                <a:ea typeface="맑은 고딕"/>
              </a:rPr>
              <a:t>사회복지사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088000" y="1382400"/>
            <a:ext cx="1008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0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432000"/>
            <a:ext cx="1584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14171D"/>
                </a:solidFill>
                <a:latin typeface="맑은 고딕"/>
                <a:ea typeface="맑은 고딕"/>
              </a:rPr>
              <a:t>유OO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52000" y="770400"/>
            <a:ext cx="936000" cy="0"/>
          </a:xfrm>
          <a:prstGeom prst="line">
            <a:avLst/>
          </a:prstGeom>
          <a:ln w="7920">
            <a:solidFill>
              <a:srgbClr val="7F8466"/>
            </a:solidFill>
          </a:ln>
        </p:spPr>
      </p:cxnSp>
      <p:sp>
        <p:nvSpPr>
          <p:cNvPr id="12" name="텍스트"/>
          <p:cNvSpPr txBox="1"/>
          <p:nvPr/>
        </p:nvSpPr>
        <p:spPr>
          <a:xfrm>
            <a:off x="252000" y="918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554400" y="907200"/>
            <a:ext cx="1008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062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554400" y="1051200"/>
            <a:ext cx="1008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52000" y="1206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554400" y="1195200"/>
            <a:ext cx="1008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B555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D5C9CA"/>
                </a:solidFill>
                <a:latin typeface="맑은 고딕"/>
                <a:ea typeface="맑은 고딕"/>
              </a:rPr>
              <a:t>진료 · 상담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9B7E82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FFFFFF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475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FFFFFF"/>
                </a:solidFill>
                <a:latin typeface="맑은 고딕"/>
                <a:ea typeface="맑은 고딕"/>
              </a:rPr>
              <a:t>일반 진료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91200"/>
            <a:ext cx="1296000" cy="0"/>
          </a:xfrm>
          <a:prstGeom prst="line">
            <a:avLst/>
          </a:prstGeom>
          <a:ln w="3600">
            <a:solidFill>
              <a:srgbClr val="9B7E82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1656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FFFFFF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879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FFFFFF"/>
                </a:solidFill>
                <a:latin typeface="맑은 고딕"/>
                <a:ea typeface="맑은 고딕"/>
              </a:rPr>
              <a:t>재활 치료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56000" y="691200"/>
            <a:ext cx="1296000" cy="0"/>
          </a:xfrm>
          <a:prstGeom prst="line">
            <a:avLst/>
          </a:prstGeom>
          <a:ln w="3600">
            <a:solidFill>
              <a:srgbClr val="9B7E82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8136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FFFFFF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475200" y="8028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FFFFFF"/>
                </a:solidFill>
                <a:latin typeface="맑은 고딕"/>
                <a:ea typeface="맑은 고딕"/>
              </a:rPr>
              <a:t>복약 상담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036800"/>
            <a:ext cx="1296000" cy="0"/>
          </a:xfrm>
          <a:prstGeom prst="line">
            <a:avLst/>
          </a:prstGeom>
          <a:ln w="3600">
            <a:solidFill>
              <a:srgbClr val="9B7E82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1656000" y="8136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FFFFFF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879200" y="8028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FFFFFF"/>
                </a:solidFill>
                <a:latin typeface="맑은 고딕"/>
                <a:ea typeface="맑은 고딕"/>
              </a:rPr>
              <a:t>물리 치료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656000" y="1036800"/>
            <a:ext cx="1296000" cy="0"/>
          </a:xfrm>
          <a:prstGeom prst="line">
            <a:avLst/>
          </a:prstGeom>
          <a:ln w="3600">
            <a:solidFill>
              <a:srgbClr val="9B7E82"/>
            </a:solidFill>
          </a:ln>
        </p:spPr>
      </p:cxnSp>
      <p:sp>
        <p:nvSpPr>
          <p:cNvPr id="16" name="텍스트"/>
          <p:cNvSpPr txBox="1"/>
          <p:nvPr/>
        </p:nvSpPr>
        <p:spPr>
          <a:xfrm>
            <a:off x="252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D5C9CA"/>
                </a:solidFill>
                <a:latin typeface="맑은 고딕"/>
                <a:ea typeface="맑은 고딕"/>
              </a:rPr>
              <a:t>월–금 09:30 – 18:30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620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69"/>
              </a:lnSpc>
            </a:pPr>
            <a:r>
              <a:rPr sz="600" b="0">
                <a:solidFill>
                  <a:srgbClr val="D5C9CA"/>
                </a:solidFill>
                <a:latin typeface="맑은 고딕"/>
                <a:ea typeface="맑은 고딕"/>
              </a:rPr>
              <a:t>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사회복지사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