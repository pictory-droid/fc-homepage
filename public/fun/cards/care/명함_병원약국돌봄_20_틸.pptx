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52000" y="223200"/>
            <a:ext cx="1188000" cy="403200"/>
          </a:xfrm>
          <a:prstGeom prst="roundRect">
            <a:avLst>
              <a:gd name="adj" fmla="val 25000"/>
            </a:avLst>
          </a:prstGeom>
          <a:solidFill>
            <a:srgbClr val="3A9B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468000" y="619200"/>
            <a:ext cx="187200" cy="172800"/>
          </a:xfrm>
          <a:custGeom>
            <a:avLst/>
            <a:gdLst/>
            <a:ahLst/>
            <a:cxnLst/>
            <a:rect l="l" t="t" r="r" b="b"/>
            <a:pathLst>
              <a:path w="187200" h="172800">
                <a:moveTo>
                  <a:pt x="0" y="0"/>
                </a:moveTo>
                <a:lnTo>
                  <a:pt x="187200" y="0"/>
                </a:lnTo>
                <a:lnTo>
                  <a:pt x="21600" y="172800"/>
                </a:lnTo>
                <a:close/>
              </a:path>
            </a:pathLst>
          </a:custGeom>
          <a:solidFill>
            <a:srgbClr val="3A9B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223200"/>
            <a:ext cx="1188000" cy="4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595"/>
              </a:lnSpc>
            </a:pPr>
            <a:r>
              <a:rPr sz="1100" b="1">
                <a:solidFill>
                  <a:srgbClr val="1B2230"/>
                </a:solidFill>
                <a:latin typeface="맑은 고딕"/>
                <a:ea typeface="맑은 고딕"/>
              </a:rPr>
              <a:t>한 줄 소개</a:t>
            </a:r>
          </a:p>
        </p:txBody>
      </p:sp>
      <p:sp>
        <p:nvSpPr>
          <p:cNvPr id="5" name="Oval 4"/>
          <p:cNvSpPr/>
          <p:nvPr/>
        </p:nvSpPr>
        <p:spPr>
          <a:xfrm>
            <a:off x="1965600" y="345600"/>
            <a:ext cx="100800" cy="100800"/>
          </a:xfrm>
          <a:prstGeom prst="ellipse">
            <a:avLst/>
          </a:prstGeom>
          <a:solidFill>
            <a:srgbClr val="82A2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 rot="1080000">
            <a:off x="2196000" y="302400"/>
            <a:ext cx="144000" cy="144000"/>
          </a:xfrm>
          <a:prstGeom prst="roundRect">
            <a:avLst>
              <a:gd name="adj" fmla="val 15000"/>
            </a:avLst>
          </a:prstGeom>
          <a:solidFill>
            <a:srgbClr val="3A9B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2484000" y="252000"/>
            <a:ext cx="252000" cy="252000"/>
          </a:xfrm>
          <a:custGeom>
            <a:avLst/>
            <a:gdLst/>
            <a:ahLst/>
            <a:cxnLst/>
            <a:rect l="l" t="t" r="r" b="b"/>
            <a:pathLst>
              <a:path w="252000" h="252000">
                <a:moveTo>
                  <a:pt x="108000" y="0"/>
                </a:moveTo>
                <a:lnTo>
                  <a:pt x="252000" y="252000"/>
                </a:lnTo>
                <a:lnTo>
                  <a:pt x="0" y="252000"/>
                </a:lnTo>
                <a:close/>
              </a:path>
            </a:pathLst>
          </a:custGeom>
          <a:solidFill>
            <a:srgbClr val="E6E3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923200" y="316800"/>
            <a:ext cx="57600" cy="57600"/>
          </a:xfrm>
          <a:prstGeom prst="ellipse">
            <a:avLst/>
          </a:prstGeom>
          <a:solidFill>
            <a:srgbClr val="3A9B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텍스트"/>
          <p:cNvSpPr txBox="1"/>
          <p:nvPr/>
        </p:nvSpPr>
        <p:spPr>
          <a:xfrm>
            <a:off x="252000" y="8784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00">
                <a:solidFill>
                  <a:srgbClr val="1B2230"/>
                </a:solidFill>
                <a:latin typeface="맑은 고딕"/>
                <a:ea typeface="맑은 고딕"/>
              </a:rPr>
              <a:t>홍OO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52000" y="1130400"/>
            <a:ext cx="1800000" cy="1257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56"/>
              </a:lnSpc>
            </a:pPr>
            <a:r>
              <a:rPr sz="660" b="0">
                <a:solidFill>
                  <a:srgbClr val="5F6672"/>
                </a:solidFill>
                <a:latin typeface="맑은 고딕"/>
                <a:ea typeface="맑은 고딕"/>
              </a:rPr>
              <a:t>영양사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260000" y="11448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942"/>
              </a:lnSpc>
            </a:pPr>
            <a:r>
              <a:rPr sz="650" b="1" spc="220">
                <a:solidFill>
                  <a:srgbClr val="5F6672"/>
                </a:solidFill>
                <a:latin typeface="맑은 고딕"/>
                <a:ea typeface="맑은 고딕"/>
              </a:rPr>
              <a:t>의원 · 약국 이름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339200"/>
            <a:ext cx="2736000" cy="0"/>
          </a:xfrm>
          <a:prstGeom prst="line">
            <a:avLst/>
          </a:prstGeom>
          <a:ln w="3600">
            <a:solidFill>
              <a:srgbClr val="E6E3DC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52000" y="1411200"/>
            <a:ext cx="900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F6672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52000" y="1512000"/>
            <a:ext cx="900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1152000" y="1411200"/>
            <a:ext cx="100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F6672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1152000" y="1512000"/>
            <a:ext cx="100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2160000" y="1411200"/>
            <a:ext cx="972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F6672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8" name="텍스트"/>
          <p:cNvSpPr txBox="1"/>
          <p:nvPr/>
        </p:nvSpPr>
        <p:spPr>
          <a:xfrm>
            <a:off x="2160000" y="1512000"/>
            <a:ext cx="972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A9BF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66400" y="194400"/>
            <a:ext cx="43200" cy="43200"/>
          </a:xfrm>
          <a:prstGeom prst="ellipse">
            <a:avLst/>
          </a:prstGeom>
          <a:solidFill>
            <a:srgbClr val="515E7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75400" y="369000"/>
            <a:ext cx="25200" cy="25200"/>
          </a:xfrm>
          <a:prstGeom prst="ellipse">
            <a:avLst/>
          </a:prstGeom>
          <a:solidFill>
            <a:srgbClr val="8FA3B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5400" y="534600"/>
            <a:ext cx="25200" cy="25200"/>
          </a:xfrm>
          <a:prstGeom prst="ellipse">
            <a:avLst/>
          </a:prstGeom>
          <a:solidFill>
            <a:srgbClr val="8FA3B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66400" y="691200"/>
            <a:ext cx="43200" cy="43200"/>
          </a:xfrm>
          <a:prstGeom prst="ellipse">
            <a:avLst/>
          </a:prstGeom>
          <a:solidFill>
            <a:srgbClr val="515E7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5400" y="865800"/>
            <a:ext cx="25200" cy="25200"/>
          </a:xfrm>
          <a:prstGeom prst="ellipse">
            <a:avLst/>
          </a:prstGeom>
          <a:solidFill>
            <a:srgbClr val="2E7A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75400" y="1031400"/>
            <a:ext cx="25200" cy="25200"/>
          </a:xfrm>
          <a:prstGeom prst="ellipse">
            <a:avLst/>
          </a:prstGeom>
          <a:solidFill>
            <a:srgbClr val="8FA3B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66400" y="1188000"/>
            <a:ext cx="43200" cy="43200"/>
          </a:xfrm>
          <a:prstGeom prst="ellipse">
            <a:avLst/>
          </a:prstGeom>
          <a:solidFill>
            <a:srgbClr val="515E7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75400" y="1362600"/>
            <a:ext cx="25200" cy="25200"/>
          </a:xfrm>
          <a:prstGeom prst="ellipse">
            <a:avLst/>
          </a:prstGeom>
          <a:solidFill>
            <a:srgbClr val="8FA3B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75400" y="1528200"/>
            <a:ext cx="25200" cy="25200"/>
          </a:xfrm>
          <a:prstGeom prst="ellipse">
            <a:avLst/>
          </a:prstGeom>
          <a:solidFill>
            <a:srgbClr val="2E7A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19400" y="203400"/>
            <a:ext cx="25200" cy="25200"/>
          </a:xfrm>
          <a:prstGeom prst="ellipse">
            <a:avLst/>
          </a:prstGeom>
          <a:solidFill>
            <a:srgbClr val="8FA3B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19400" y="369000"/>
            <a:ext cx="25200" cy="25200"/>
          </a:xfrm>
          <a:prstGeom prst="ellipse">
            <a:avLst/>
          </a:prstGeom>
          <a:solidFill>
            <a:srgbClr val="8FA3B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10400" y="525600"/>
            <a:ext cx="43200" cy="43200"/>
          </a:xfrm>
          <a:prstGeom prst="ellipse">
            <a:avLst/>
          </a:prstGeom>
          <a:solidFill>
            <a:srgbClr val="515E7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19400" y="700200"/>
            <a:ext cx="25200" cy="25200"/>
          </a:xfrm>
          <a:prstGeom prst="ellipse">
            <a:avLst/>
          </a:prstGeom>
          <a:solidFill>
            <a:srgbClr val="8FA3B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19400" y="865800"/>
            <a:ext cx="25200" cy="25200"/>
          </a:xfrm>
          <a:prstGeom prst="ellipse">
            <a:avLst/>
          </a:prstGeom>
          <a:solidFill>
            <a:srgbClr val="8FA3B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10400" y="1022400"/>
            <a:ext cx="43200" cy="43200"/>
          </a:xfrm>
          <a:prstGeom prst="ellipse">
            <a:avLst/>
          </a:prstGeom>
          <a:solidFill>
            <a:srgbClr val="515E7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19400" y="1197000"/>
            <a:ext cx="25200" cy="25200"/>
          </a:xfrm>
          <a:prstGeom prst="ellipse">
            <a:avLst/>
          </a:prstGeom>
          <a:solidFill>
            <a:srgbClr val="2E7A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19400" y="1362600"/>
            <a:ext cx="25200" cy="25200"/>
          </a:xfrm>
          <a:prstGeom prst="ellipse">
            <a:avLst/>
          </a:prstGeom>
          <a:solidFill>
            <a:srgbClr val="8FA3B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10400" y="1519200"/>
            <a:ext cx="43200" cy="43200"/>
          </a:xfrm>
          <a:prstGeom prst="ellipse">
            <a:avLst/>
          </a:prstGeom>
          <a:solidFill>
            <a:srgbClr val="515E7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63400" y="203400"/>
            <a:ext cx="25200" cy="25200"/>
          </a:xfrm>
          <a:prstGeom prst="ellipse">
            <a:avLst/>
          </a:prstGeom>
          <a:solidFill>
            <a:srgbClr val="2E7A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54400" y="360000"/>
            <a:ext cx="43200" cy="43200"/>
          </a:xfrm>
          <a:prstGeom prst="ellipse">
            <a:avLst/>
          </a:prstGeom>
          <a:solidFill>
            <a:srgbClr val="515E7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63400" y="534600"/>
            <a:ext cx="25200" cy="25200"/>
          </a:xfrm>
          <a:prstGeom prst="ellipse">
            <a:avLst/>
          </a:prstGeom>
          <a:solidFill>
            <a:srgbClr val="8FA3B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63400" y="700200"/>
            <a:ext cx="25200" cy="25200"/>
          </a:xfrm>
          <a:prstGeom prst="ellipse">
            <a:avLst/>
          </a:prstGeom>
          <a:solidFill>
            <a:srgbClr val="8FA3B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54400" y="856800"/>
            <a:ext cx="43200" cy="43200"/>
          </a:xfrm>
          <a:prstGeom prst="ellipse">
            <a:avLst/>
          </a:prstGeom>
          <a:solidFill>
            <a:srgbClr val="515E7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63400" y="1031400"/>
            <a:ext cx="25200" cy="25200"/>
          </a:xfrm>
          <a:prstGeom prst="ellipse">
            <a:avLst/>
          </a:prstGeom>
          <a:solidFill>
            <a:srgbClr val="8FA3B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63400" y="1197000"/>
            <a:ext cx="25200" cy="25200"/>
          </a:xfrm>
          <a:prstGeom prst="ellipse">
            <a:avLst/>
          </a:prstGeom>
          <a:solidFill>
            <a:srgbClr val="8FA3B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54400" y="1353600"/>
            <a:ext cx="43200" cy="43200"/>
          </a:xfrm>
          <a:prstGeom prst="ellipse">
            <a:avLst/>
          </a:prstGeom>
          <a:solidFill>
            <a:srgbClr val="515E7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63400" y="1528200"/>
            <a:ext cx="25200" cy="25200"/>
          </a:xfrm>
          <a:prstGeom prst="ellipse">
            <a:avLst/>
          </a:prstGeom>
          <a:solidFill>
            <a:srgbClr val="2E7A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98400" y="194400"/>
            <a:ext cx="43200" cy="43200"/>
          </a:xfrm>
          <a:prstGeom prst="ellipse">
            <a:avLst/>
          </a:prstGeom>
          <a:solidFill>
            <a:srgbClr val="515E7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07400" y="369000"/>
            <a:ext cx="25200" cy="25200"/>
          </a:xfrm>
          <a:prstGeom prst="ellipse">
            <a:avLst/>
          </a:prstGeom>
          <a:solidFill>
            <a:srgbClr val="8FA3B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07400" y="534600"/>
            <a:ext cx="25200" cy="25200"/>
          </a:xfrm>
          <a:prstGeom prst="ellipse">
            <a:avLst/>
          </a:prstGeom>
          <a:solidFill>
            <a:srgbClr val="2E7A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98400" y="691200"/>
            <a:ext cx="43200" cy="43200"/>
          </a:xfrm>
          <a:prstGeom prst="ellipse">
            <a:avLst/>
          </a:prstGeom>
          <a:solidFill>
            <a:srgbClr val="515E7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07400" y="865800"/>
            <a:ext cx="25200" cy="25200"/>
          </a:xfrm>
          <a:prstGeom prst="ellipse">
            <a:avLst/>
          </a:prstGeom>
          <a:solidFill>
            <a:srgbClr val="8FA3B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707400" y="1031400"/>
            <a:ext cx="25200" cy="25200"/>
          </a:xfrm>
          <a:prstGeom prst="ellipse">
            <a:avLst/>
          </a:prstGeom>
          <a:solidFill>
            <a:srgbClr val="8FA3B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98400" y="1188000"/>
            <a:ext cx="43200" cy="43200"/>
          </a:xfrm>
          <a:prstGeom prst="ellipse">
            <a:avLst/>
          </a:prstGeom>
          <a:solidFill>
            <a:srgbClr val="515E7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707400" y="1362600"/>
            <a:ext cx="25200" cy="25200"/>
          </a:xfrm>
          <a:prstGeom prst="ellipse">
            <a:avLst/>
          </a:prstGeom>
          <a:solidFill>
            <a:srgbClr val="8FA3B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707400" y="1528200"/>
            <a:ext cx="25200" cy="25200"/>
          </a:xfrm>
          <a:prstGeom prst="ellipse">
            <a:avLst/>
          </a:prstGeom>
          <a:solidFill>
            <a:srgbClr val="8FA3B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51400" y="203400"/>
            <a:ext cx="25200" cy="25200"/>
          </a:xfrm>
          <a:prstGeom prst="ellipse">
            <a:avLst/>
          </a:prstGeom>
          <a:solidFill>
            <a:srgbClr val="2E7A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51400" y="369000"/>
            <a:ext cx="25200" cy="25200"/>
          </a:xfrm>
          <a:prstGeom prst="ellipse">
            <a:avLst/>
          </a:prstGeom>
          <a:solidFill>
            <a:srgbClr val="8FA3B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842400" y="525600"/>
            <a:ext cx="43200" cy="43200"/>
          </a:xfrm>
          <a:prstGeom prst="ellipse">
            <a:avLst/>
          </a:prstGeom>
          <a:solidFill>
            <a:srgbClr val="515E7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851400" y="700200"/>
            <a:ext cx="25200" cy="25200"/>
          </a:xfrm>
          <a:prstGeom prst="ellipse">
            <a:avLst/>
          </a:prstGeom>
          <a:solidFill>
            <a:srgbClr val="8FA3B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851400" y="865800"/>
            <a:ext cx="25200" cy="25200"/>
          </a:xfrm>
          <a:prstGeom prst="ellipse">
            <a:avLst/>
          </a:prstGeom>
          <a:solidFill>
            <a:srgbClr val="2E7A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842400" y="1022400"/>
            <a:ext cx="43200" cy="43200"/>
          </a:xfrm>
          <a:prstGeom prst="ellipse">
            <a:avLst/>
          </a:prstGeom>
          <a:solidFill>
            <a:srgbClr val="515E7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851400" y="1197000"/>
            <a:ext cx="25200" cy="25200"/>
          </a:xfrm>
          <a:prstGeom prst="ellipse">
            <a:avLst/>
          </a:prstGeom>
          <a:solidFill>
            <a:srgbClr val="8FA3B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851400" y="1362600"/>
            <a:ext cx="25200" cy="25200"/>
          </a:xfrm>
          <a:prstGeom prst="ellipse">
            <a:avLst/>
          </a:prstGeom>
          <a:solidFill>
            <a:srgbClr val="8FA3B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842400" y="1519200"/>
            <a:ext cx="43200" cy="43200"/>
          </a:xfrm>
          <a:prstGeom prst="ellipse">
            <a:avLst/>
          </a:prstGeom>
          <a:solidFill>
            <a:srgbClr val="515E7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995400" y="203400"/>
            <a:ext cx="25200" cy="25200"/>
          </a:xfrm>
          <a:prstGeom prst="ellipse">
            <a:avLst/>
          </a:prstGeom>
          <a:solidFill>
            <a:srgbClr val="8FA3B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986400" y="360000"/>
            <a:ext cx="43200" cy="43200"/>
          </a:xfrm>
          <a:prstGeom prst="ellipse">
            <a:avLst/>
          </a:prstGeom>
          <a:solidFill>
            <a:srgbClr val="515E7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995400" y="534600"/>
            <a:ext cx="25200" cy="25200"/>
          </a:xfrm>
          <a:prstGeom prst="ellipse">
            <a:avLst/>
          </a:prstGeom>
          <a:solidFill>
            <a:srgbClr val="2E7A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995400" y="700200"/>
            <a:ext cx="25200" cy="25200"/>
          </a:xfrm>
          <a:prstGeom prst="ellipse">
            <a:avLst/>
          </a:prstGeom>
          <a:solidFill>
            <a:srgbClr val="8FA3B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986400" y="856800"/>
            <a:ext cx="43200" cy="43200"/>
          </a:xfrm>
          <a:prstGeom prst="ellipse">
            <a:avLst/>
          </a:prstGeom>
          <a:solidFill>
            <a:srgbClr val="515E7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995400" y="1031400"/>
            <a:ext cx="25200" cy="25200"/>
          </a:xfrm>
          <a:prstGeom prst="ellipse">
            <a:avLst/>
          </a:prstGeom>
          <a:solidFill>
            <a:srgbClr val="8FA3B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995400" y="1197000"/>
            <a:ext cx="25200" cy="25200"/>
          </a:xfrm>
          <a:prstGeom prst="ellipse">
            <a:avLst/>
          </a:prstGeom>
          <a:solidFill>
            <a:srgbClr val="2E7A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986400" y="1353600"/>
            <a:ext cx="43200" cy="43200"/>
          </a:xfrm>
          <a:prstGeom prst="ellipse">
            <a:avLst/>
          </a:prstGeom>
          <a:solidFill>
            <a:srgbClr val="515E7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995400" y="1528200"/>
            <a:ext cx="25200" cy="25200"/>
          </a:xfrm>
          <a:prstGeom prst="ellipse">
            <a:avLst/>
          </a:prstGeom>
          <a:solidFill>
            <a:srgbClr val="8FA3B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텍스트"/>
          <p:cNvSpPr txBox="1"/>
          <p:nvPr/>
        </p:nvSpPr>
        <p:spPr>
          <a:xfrm>
            <a:off x="1404000" y="2520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286C6F"/>
                </a:solidFill>
                <a:latin typeface="맑은 고딕"/>
                <a:ea typeface="맑은 고딕"/>
              </a:rPr>
              <a:t>진료 · 상담</a:t>
            </a:r>
          </a:p>
        </p:txBody>
      </p:sp>
      <p:sp>
        <p:nvSpPr>
          <p:cNvPr id="57" name="Oval 56"/>
          <p:cNvSpPr/>
          <p:nvPr/>
        </p:nvSpPr>
        <p:spPr>
          <a:xfrm>
            <a:off x="1407600" y="489600"/>
            <a:ext cx="43200" cy="43200"/>
          </a:xfrm>
          <a:prstGeom prst="ellipse">
            <a:avLst/>
          </a:prstGeom>
          <a:solidFill>
            <a:srgbClr val="515E7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" name="텍스트"/>
          <p:cNvSpPr txBox="1"/>
          <p:nvPr/>
        </p:nvSpPr>
        <p:spPr>
          <a:xfrm>
            <a:off x="1512000" y="4320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1B2230"/>
                </a:solidFill>
                <a:latin typeface="맑은 고딕"/>
                <a:ea typeface="맑은 고딕"/>
              </a:rPr>
              <a:t>침 · 뜸</a:t>
            </a:r>
          </a:p>
        </p:txBody>
      </p:sp>
      <p:sp>
        <p:nvSpPr>
          <p:cNvPr id="59" name="Oval 58"/>
          <p:cNvSpPr/>
          <p:nvPr/>
        </p:nvSpPr>
        <p:spPr>
          <a:xfrm>
            <a:off x="1407600" y="712800"/>
            <a:ext cx="43200" cy="43200"/>
          </a:xfrm>
          <a:prstGeom prst="ellipse">
            <a:avLst/>
          </a:prstGeom>
          <a:solidFill>
            <a:srgbClr val="2E7A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" name="텍스트"/>
          <p:cNvSpPr txBox="1"/>
          <p:nvPr/>
        </p:nvSpPr>
        <p:spPr>
          <a:xfrm>
            <a:off x="1512000" y="6552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1B2230"/>
                </a:solidFill>
                <a:latin typeface="맑은 고딕"/>
                <a:ea typeface="맑은 고딕"/>
              </a:rPr>
              <a:t>조제</a:t>
            </a:r>
          </a:p>
        </p:txBody>
      </p:sp>
      <p:sp>
        <p:nvSpPr>
          <p:cNvPr id="61" name="Oval 60"/>
          <p:cNvSpPr/>
          <p:nvPr/>
        </p:nvSpPr>
        <p:spPr>
          <a:xfrm>
            <a:off x="1407600" y="936000"/>
            <a:ext cx="43200" cy="43200"/>
          </a:xfrm>
          <a:prstGeom prst="ellipse">
            <a:avLst/>
          </a:prstGeom>
          <a:solidFill>
            <a:srgbClr val="515E7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" name="텍스트"/>
          <p:cNvSpPr txBox="1"/>
          <p:nvPr/>
        </p:nvSpPr>
        <p:spPr>
          <a:xfrm>
            <a:off x="1512000" y="8784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1B2230"/>
                </a:solidFill>
                <a:latin typeface="맑은 고딕"/>
                <a:ea typeface="맑은 고딕"/>
              </a:rPr>
              <a:t>치아 관리</a:t>
            </a:r>
          </a:p>
        </p:txBody>
      </p:sp>
      <p:sp>
        <p:nvSpPr>
          <p:cNvPr id="63" name="Oval 62"/>
          <p:cNvSpPr/>
          <p:nvPr/>
        </p:nvSpPr>
        <p:spPr>
          <a:xfrm>
            <a:off x="1407600" y="1159200"/>
            <a:ext cx="43200" cy="43200"/>
          </a:xfrm>
          <a:prstGeom prst="ellipse">
            <a:avLst/>
          </a:prstGeom>
          <a:solidFill>
            <a:srgbClr val="2E7A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" name="텍스트"/>
          <p:cNvSpPr txBox="1"/>
          <p:nvPr/>
        </p:nvSpPr>
        <p:spPr>
          <a:xfrm>
            <a:off x="1512000" y="11016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1B2230"/>
                </a:solidFill>
                <a:latin typeface="맑은 고딕"/>
                <a:ea typeface="맑은 고딕"/>
              </a:rPr>
              <a:t>예약 문의</a:t>
            </a:r>
          </a:p>
        </p:txBody>
      </p:sp>
      <p:cxnSp>
        <p:nvCxnSpPr>
          <p:cNvPr id="65" name="Connector 64"/>
          <p:cNvCxnSpPr/>
          <p:nvPr/>
        </p:nvCxnSpPr>
        <p:spPr>
          <a:xfrm>
            <a:off x="1404000" y="1440000"/>
            <a:ext cx="1620000" cy="0"/>
          </a:xfrm>
          <a:prstGeom prst="line">
            <a:avLst/>
          </a:prstGeom>
          <a:ln w="3600">
            <a:solidFill>
              <a:srgbClr val="8FA3BA"/>
            </a:solidFill>
          </a:ln>
        </p:spPr>
      </p:cxnSp>
      <p:sp>
        <p:nvSpPr>
          <p:cNvPr id="66" name="텍스트"/>
          <p:cNvSpPr txBox="1"/>
          <p:nvPr/>
        </p:nvSpPr>
        <p:spPr>
          <a:xfrm>
            <a:off x="1404000" y="1512000"/>
            <a:ext cx="162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465162"/>
                </a:solidFill>
                <a:latin typeface="맑은 고딕"/>
                <a:ea typeface="맑은 고딕"/>
              </a:rPr>
              <a:t>진료 · 상담 예약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영양사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