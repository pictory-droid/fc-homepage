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E111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A3A9B5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52000" y="388800"/>
            <a:ext cx="2736000" cy="0"/>
          </a:xfrm>
          <a:prstGeom prst="line">
            <a:avLst/>
          </a:prstGeom>
          <a:ln w="3600">
            <a:solidFill>
              <a:srgbClr val="2A2F38"/>
            </a:solidFill>
          </a:ln>
        </p:spPr>
      </p:cxnSp>
      <p:sp>
        <p:nvSpPr>
          <p:cNvPr id="4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FFFFFF"/>
                </a:solidFill>
                <a:latin typeface="맑은 고딕"/>
                <a:ea typeface="맑은 고딕"/>
              </a:rPr>
              <a:t>봉기태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A3A9B5"/>
                </a:solidFill>
                <a:latin typeface="맑은 고딕"/>
                <a:ea typeface="맑은 고딕"/>
              </a:rPr>
              <a:t>약사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1036800"/>
            <a:ext cx="252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0">
                <a:solidFill>
                  <a:srgbClr val="A3A9B5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1339200"/>
            <a:ext cx="3240000" cy="460800"/>
          </a:xfrm>
          <a:prstGeom prst="rect">
            <a:avLst/>
          </a:prstGeom>
          <a:solidFill>
            <a:srgbClr val="4170D4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8" name="텍스트"/>
          <p:cNvSpPr txBox="1"/>
          <p:nvPr/>
        </p:nvSpPr>
        <p:spPr>
          <a:xfrm>
            <a:off x="252000" y="1476000"/>
            <a:ext cx="936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52000" y="1576800"/>
            <a:ext cx="936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1188000" y="1476000"/>
            <a:ext cx="108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FFFFFF">
                    <a:alpha val="70000"/>
                  </a:srgbClr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88000" y="1576800"/>
            <a:ext cx="1080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>
                <a:solidFill>
                  <a:srgbClr val="FFFFFF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108800" y="1468800"/>
            <a:ext cx="0" cy="208800"/>
          </a:xfrm>
          <a:prstGeom prst="line">
            <a:avLst/>
          </a:prstGeom>
          <a:ln w="3600">
            <a:solidFill>
              <a:srgbClr val="FFFFFF"/>
            </a:solidFill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4F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396000" y="360000"/>
            <a:ext cx="0" cy="446400"/>
          </a:xfrm>
          <a:prstGeom prst="line">
            <a:avLst/>
          </a:prstGeom>
          <a:ln w="5760">
            <a:solidFill>
              <a:srgbClr val="0A47C7"/>
            </a:solidFill>
          </a:ln>
        </p:spPr>
      </p:cxnSp>
      <p:sp>
        <p:nvSpPr>
          <p:cNvPr id="3" name="텍스트"/>
          <p:cNvSpPr txBox="1"/>
          <p:nvPr/>
        </p:nvSpPr>
        <p:spPr>
          <a:xfrm>
            <a:off x="252000" y="187200"/>
            <a:ext cx="144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Oval 3"/>
          <p:cNvSpPr/>
          <p:nvPr/>
        </p:nvSpPr>
        <p:spPr>
          <a:xfrm>
            <a:off x="367200" y="374400"/>
            <a:ext cx="57600" cy="57600"/>
          </a:xfrm>
          <a:prstGeom prst="ellipse">
            <a:avLst/>
          </a:prstGeom>
          <a:solidFill>
            <a:srgbClr val="0A47C7"/>
          </a:solidFill>
          <a:ln w="5760">
            <a:solidFill>
              <a:srgbClr val="0A4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텍스트"/>
          <p:cNvSpPr txBox="1"/>
          <p:nvPr/>
        </p:nvSpPr>
        <p:spPr>
          <a:xfrm>
            <a:off x="540000" y="3312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6" name="Oval 5"/>
          <p:cNvSpPr/>
          <p:nvPr/>
        </p:nvSpPr>
        <p:spPr>
          <a:xfrm>
            <a:off x="367200" y="5976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A4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7" name="텍스트"/>
          <p:cNvSpPr txBox="1"/>
          <p:nvPr/>
        </p:nvSpPr>
        <p:spPr>
          <a:xfrm>
            <a:off x="540000" y="5544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복약 상담</a:t>
            </a:r>
          </a:p>
        </p:txBody>
      </p:sp>
      <p:sp>
        <p:nvSpPr>
          <p:cNvPr id="8" name="Oval 7"/>
          <p:cNvSpPr/>
          <p:nvPr/>
        </p:nvSpPr>
        <p:spPr>
          <a:xfrm>
            <a:off x="367200" y="820800"/>
            <a:ext cx="57600" cy="57600"/>
          </a:xfrm>
          <a:prstGeom prst="ellipse">
            <a:avLst/>
          </a:prstGeom>
          <a:solidFill>
            <a:srgbClr val="F3F4F6"/>
          </a:solidFill>
          <a:ln w="5760">
            <a:solidFill>
              <a:srgbClr val="0A47C7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텍스트"/>
          <p:cNvSpPr txBox="1"/>
          <p:nvPr/>
        </p:nvSpPr>
        <p:spPr>
          <a:xfrm>
            <a:off x="540000" y="777600"/>
            <a:ext cx="1512000" cy="158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73"/>
              </a:lnSpc>
            </a:pPr>
            <a:r>
              <a:rPr sz="740" b="1">
                <a:solidFill>
                  <a:srgbClr val="12151C"/>
                </a:solidFill>
                <a:latin typeface="맑은 고딕"/>
                <a:ea typeface="맑은 고딕"/>
              </a:rPr>
              <a:t>조제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2232000" y="345600"/>
            <a:ext cx="0" cy="1166400"/>
          </a:xfrm>
          <a:prstGeom prst="line">
            <a:avLst/>
          </a:prstGeom>
          <a:ln w="3600">
            <a:solidFill>
              <a:srgbClr val="DCDFE4"/>
            </a:solidFill>
          </a:ln>
        </p:spPr>
      </p:cxnSp>
      <p:sp>
        <p:nvSpPr>
          <p:cNvPr id="11" name="텍스트"/>
          <p:cNvSpPr txBox="1"/>
          <p:nvPr/>
        </p:nvSpPr>
        <p:spPr>
          <a:xfrm>
            <a:off x="2376000" y="396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376000" y="5112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2376000" y="8352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KAKAO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9504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@채널아이디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  <a:ln w="4320">
            <a:solidFill>
              <a:srgbClr val="6B7280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텍스트"/>
          <p:cNvSpPr txBox="1"/>
          <p:nvPr/>
        </p:nvSpPr>
        <p:spPr>
          <a:xfrm>
            <a:off x="2376000" y="1224000"/>
            <a:ext cx="237600" cy="2376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ts val="725"/>
              </a:lnSpc>
            </a:pPr>
            <a:r>
              <a:rPr sz="500" b="1">
                <a:solidFill>
                  <a:srgbClr val="6B7280"/>
                </a:solidFill>
                <a:latin typeface="맑은 고딕"/>
                <a:ea typeface="맑은 고딕"/>
              </a:rPr>
              <a:t>QR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약사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