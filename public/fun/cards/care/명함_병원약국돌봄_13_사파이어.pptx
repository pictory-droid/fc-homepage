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658960" y="239760"/>
            <a:ext cx="24480" cy="24480"/>
          </a:xfrm>
          <a:prstGeom prst="ellipse">
            <a:avLst/>
          </a:prstGeom>
          <a:solidFill>
            <a:srgbClr val="3F63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658960" y="333360"/>
            <a:ext cx="24480" cy="24480"/>
          </a:xfrm>
          <a:prstGeom prst="ellipse">
            <a:avLst/>
          </a:prstGeom>
          <a:solidFill>
            <a:srgbClr val="E6E3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658960" y="426960"/>
            <a:ext cx="24480" cy="24480"/>
          </a:xfrm>
          <a:prstGeom prst="ellipse">
            <a:avLst/>
          </a:prstGeom>
          <a:solidFill>
            <a:srgbClr val="E6E3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658960" y="520560"/>
            <a:ext cx="24480" cy="24480"/>
          </a:xfrm>
          <a:prstGeom prst="ellipse">
            <a:avLst/>
          </a:prstGeom>
          <a:solidFill>
            <a:srgbClr val="E6E3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752560" y="239760"/>
            <a:ext cx="24480" cy="24480"/>
          </a:xfrm>
          <a:prstGeom prst="ellipse">
            <a:avLst/>
          </a:prstGeom>
          <a:solidFill>
            <a:srgbClr val="E6E3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752560" y="333360"/>
            <a:ext cx="24480" cy="24480"/>
          </a:xfrm>
          <a:prstGeom prst="ellipse">
            <a:avLst/>
          </a:prstGeom>
          <a:solidFill>
            <a:srgbClr val="E6E3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752560" y="426960"/>
            <a:ext cx="24480" cy="24480"/>
          </a:xfrm>
          <a:prstGeom prst="ellipse">
            <a:avLst/>
          </a:prstGeom>
          <a:solidFill>
            <a:srgbClr val="E6E3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752560" y="520560"/>
            <a:ext cx="24480" cy="24480"/>
          </a:xfrm>
          <a:prstGeom prst="ellipse">
            <a:avLst/>
          </a:prstGeom>
          <a:solidFill>
            <a:srgbClr val="3F63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846160" y="239760"/>
            <a:ext cx="24480" cy="24480"/>
          </a:xfrm>
          <a:prstGeom prst="ellipse">
            <a:avLst/>
          </a:prstGeom>
          <a:solidFill>
            <a:srgbClr val="E6E3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846160" y="333360"/>
            <a:ext cx="24480" cy="24480"/>
          </a:xfrm>
          <a:prstGeom prst="ellipse">
            <a:avLst/>
          </a:prstGeom>
          <a:solidFill>
            <a:srgbClr val="E6E3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846160" y="426960"/>
            <a:ext cx="24480" cy="24480"/>
          </a:xfrm>
          <a:prstGeom prst="ellipse">
            <a:avLst/>
          </a:prstGeom>
          <a:solidFill>
            <a:srgbClr val="3F63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846160" y="520560"/>
            <a:ext cx="24480" cy="24480"/>
          </a:xfrm>
          <a:prstGeom prst="ellipse">
            <a:avLst/>
          </a:prstGeom>
          <a:solidFill>
            <a:srgbClr val="E6E3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939760" y="239760"/>
            <a:ext cx="24480" cy="24480"/>
          </a:xfrm>
          <a:prstGeom prst="ellipse">
            <a:avLst/>
          </a:prstGeom>
          <a:solidFill>
            <a:srgbClr val="E6E3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939760" y="333360"/>
            <a:ext cx="24480" cy="24480"/>
          </a:xfrm>
          <a:prstGeom prst="ellipse">
            <a:avLst/>
          </a:prstGeom>
          <a:solidFill>
            <a:srgbClr val="3F63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939760" y="426960"/>
            <a:ext cx="24480" cy="24480"/>
          </a:xfrm>
          <a:prstGeom prst="ellipse">
            <a:avLst/>
          </a:prstGeom>
          <a:solidFill>
            <a:srgbClr val="E6E3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939760" y="520560"/>
            <a:ext cx="24480" cy="24480"/>
          </a:xfrm>
          <a:prstGeom prst="ellipse">
            <a:avLst/>
          </a:prstGeom>
          <a:solidFill>
            <a:srgbClr val="E6E3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033360" y="239760"/>
            <a:ext cx="24480" cy="24480"/>
          </a:xfrm>
          <a:prstGeom prst="ellipse">
            <a:avLst/>
          </a:prstGeom>
          <a:solidFill>
            <a:srgbClr val="3F63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033360" y="333360"/>
            <a:ext cx="24480" cy="24480"/>
          </a:xfrm>
          <a:prstGeom prst="ellipse">
            <a:avLst/>
          </a:prstGeom>
          <a:solidFill>
            <a:srgbClr val="E6E3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033360" y="426960"/>
            <a:ext cx="24480" cy="24480"/>
          </a:xfrm>
          <a:prstGeom prst="ellipse">
            <a:avLst/>
          </a:prstGeom>
          <a:solidFill>
            <a:srgbClr val="E6E3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033360" y="520560"/>
            <a:ext cx="24480" cy="24480"/>
          </a:xfrm>
          <a:prstGeom prst="ellipse">
            <a:avLst/>
          </a:prstGeom>
          <a:solidFill>
            <a:srgbClr val="E6E3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252000" y="237600"/>
            <a:ext cx="540000" cy="165600"/>
          </a:xfrm>
          <a:prstGeom prst="roundRect">
            <a:avLst>
              <a:gd name="adj" fmla="val 50000"/>
            </a:avLst>
          </a:prstGeom>
          <a:noFill/>
          <a:ln w="5760">
            <a:solidFill>
              <a:srgbClr val="3F63A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텍스트"/>
          <p:cNvSpPr txBox="1"/>
          <p:nvPr/>
        </p:nvSpPr>
        <p:spPr>
          <a:xfrm>
            <a:off x="252000" y="237600"/>
            <a:ext cx="540000" cy="16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56"/>
              </a:lnSpc>
            </a:pPr>
            <a:r>
              <a:rPr sz="660" b="1" spc="80">
                <a:solidFill>
                  <a:srgbClr val="1B2230"/>
                </a:solidFill>
                <a:latin typeface="맑은 고딕"/>
                <a:ea typeface="맑은 고딕"/>
              </a:rPr>
              <a:t>간호사</a:t>
            </a:r>
          </a:p>
        </p:txBody>
      </p:sp>
      <p:sp>
        <p:nvSpPr>
          <p:cNvPr id="24" name="텍스트"/>
          <p:cNvSpPr txBox="1"/>
          <p:nvPr/>
        </p:nvSpPr>
        <p:spPr>
          <a:xfrm>
            <a:off x="252000" y="583200"/>
            <a:ext cx="216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서OO</a:t>
            </a:r>
          </a:p>
        </p:txBody>
      </p:sp>
      <p:sp>
        <p:nvSpPr>
          <p:cNvPr id="25" name="텍스트"/>
          <p:cNvSpPr txBox="1"/>
          <p:nvPr/>
        </p:nvSpPr>
        <p:spPr>
          <a:xfrm>
            <a:off x="252000" y="878400"/>
            <a:ext cx="18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4C9D7B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252000" y="1144800"/>
            <a:ext cx="2736000" cy="0"/>
          </a:xfrm>
          <a:prstGeom prst="line">
            <a:avLst/>
          </a:prstGeom>
          <a:ln w="3600">
            <a:solidFill>
              <a:srgbClr val="E6E3DC"/>
            </a:solidFill>
          </a:ln>
        </p:spPr>
      </p:cxnSp>
      <p:sp>
        <p:nvSpPr>
          <p:cNvPr id="27" name="텍스트"/>
          <p:cNvSpPr txBox="1"/>
          <p:nvPr/>
        </p:nvSpPr>
        <p:spPr>
          <a:xfrm>
            <a:off x="252000" y="1242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F6672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28" name="텍스트"/>
          <p:cNvSpPr txBox="1"/>
          <p:nvPr/>
        </p:nvSpPr>
        <p:spPr>
          <a:xfrm>
            <a:off x="583200" y="12312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29" name="텍스트"/>
          <p:cNvSpPr txBox="1"/>
          <p:nvPr/>
        </p:nvSpPr>
        <p:spPr>
          <a:xfrm>
            <a:off x="252000" y="13716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F6672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30" name="텍스트"/>
          <p:cNvSpPr txBox="1"/>
          <p:nvPr/>
        </p:nvSpPr>
        <p:spPr>
          <a:xfrm>
            <a:off x="583200" y="13608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31" name="텍스트"/>
          <p:cNvSpPr txBox="1"/>
          <p:nvPr/>
        </p:nvSpPr>
        <p:spPr>
          <a:xfrm>
            <a:off x="252000" y="1501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F6672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32" name="텍스트"/>
          <p:cNvSpPr txBox="1"/>
          <p:nvPr/>
        </p:nvSpPr>
        <p:spPr>
          <a:xfrm>
            <a:off x="583200" y="14904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2955600" y="1584000"/>
            <a:ext cx="64800" cy="0"/>
          </a:xfrm>
          <a:prstGeom prst="line">
            <a:avLst/>
          </a:prstGeom>
          <a:ln w="3600">
            <a:solidFill>
              <a:srgbClr val="E6E3DC"/>
            </a:solidFill>
          </a:ln>
        </p:spPr>
      </p:cxnSp>
      <p:cxnSp>
        <p:nvCxnSpPr>
          <p:cNvPr id="34" name="Connector 33"/>
          <p:cNvCxnSpPr/>
          <p:nvPr/>
        </p:nvCxnSpPr>
        <p:spPr>
          <a:xfrm>
            <a:off x="2988000" y="1551600"/>
            <a:ext cx="0" cy="64800"/>
          </a:xfrm>
          <a:prstGeom prst="line">
            <a:avLst/>
          </a:prstGeom>
          <a:ln w="3600">
            <a:solidFill>
              <a:srgbClr val="E6E3DC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6EBE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16000" y="540000"/>
            <a:ext cx="684000" cy="1260000"/>
          </a:xfrm>
          <a:prstGeom prst="rect">
            <a:avLst/>
          </a:prstGeom>
          <a:solidFill>
            <a:srgbClr val="A8D5C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16000" y="198000"/>
            <a:ext cx="684000" cy="342000"/>
          </a:xfrm>
          <a:custGeom>
            <a:avLst/>
            <a:gdLst/>
            <a:ahLst/>
            <a:cxnLst/>
            <a:rect l="l" t="t" r="r" b="b"/>
            <a:pathLst>
              <a:path w="684000" h="342000">
                <a:moveTo>
                  <a:pt x="0" y="342000"/>
                </a:moveTo>
                <a:lnTo>
                  <a:pt x="2926" y="297360"/>
                </a:lnTo>
                <a:lnTo>
                  <a:pt x="11653" y="253484"/>
                </a:lnTo>
                <a:lnTo>
                  <a:pt x="26033" y="211122"/>
                </a:lnTo>
                <a:lnTo>
                  <a:pt x="45819" y="171000"/>
                </a:lnTo>
                <a:lnTo>
                  <a:pt x="70673" y="133804"/>
                </a:lnTo>
                <a:lnTo>
                  <a:pt x="100169" y="100169"/>
                </a:lnTo>
                <a:lnTo>
                  <a:pt x="133804" y="70673"/>
                </a:lnTo>
                <a:lnTo>
                  <a:pt x="171000" y="45819"/>
                </a:lnTo>
                <a:lnTo>
                  <a:pt x="211122" y="26033"/>
                </a:lnTo>
                <a:lnTo>
                  <a:pt x="253484" y="11653"/>
                </a:lnTo>
                <a:lnTo>
                  <a:pt x="297360" y="2926"/>
                </a:lnTo>
                <a:lnTo>
                  <a:pt x="342000" y="0"/>
                </a:lnTo>
                <a:lnTo>
                  <a:pt x="386640" y="2926"/>
                </a:lnTo>
                <a:lnTo>
                  <a:pt x="430516" y="11653"/>
                </a:lnTo>
                <a:lnTo>
                  <a:pt x="472878" y="26033"/>
                </a:lnTo>
                <a:lnTo>
                  <a:pt x="513000" y="45819"/>
                </a:lnTo>
                <a:lnTo>
                  <a:pt x="550196" y="70673"/>
                </a:lnTo>
                <a:lnTo>
                  <a:pt x="583831" y="100169"/>
                </a:lnTo>
                <a:lnTo>
                  <a:pt x="613327" y="133804"/>
                </a:lnTo>
                <a:lnTo>
                  <a:pt x="638181" y="171000"/>
                </a:lnTo>
                <a:lnTo>
                  <a:pt x="657967" y="211122"/>
                </a:lnTo>
                <a:lnTo>
                  <a:pt x="672347" y="253484"/>
                </a:lnTo>
                <a:lnTo>
                  <a:pt x="681074" y="297360"/>
                </a:lnTo>
                <a:lnTo>
                  <a:pt x="684000" y="342000"/>
                </a:lnTo>
                <a:close/>
              </a:path>
            </a:pathLst>
          </a:custGeom>
          <a:solidFill>
            <a:srgbClr val="A8D5C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399024" y="885024"/>
            <a:ext cx="317952" cy="317952"/>
          </a:xfrm>
          <a:prstGeom prst="ellipse">
            <a:avLst/>
          </a:prstGeom>
          <a:solidFill>
            <a:srgbClr val="627C79">
              <a:alpha val="3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13072" y="926496"/>
            <a:ext cx="89856" cy="235008"/>
          </a:xfrm>
          <a:prstGeom prst="roundRect">
            <a:avLst>
              <a:gd name="adj" fmla="val 11538"/>
            </a:avLst>
          </a:prstGeom>
          <a:solidFill>
            <a:srgbClr val="1B223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40496" y="999072"/>
            <a:ext cx="235008" cy="89856"/>
          </a:xfrm>
          <a:prstGeom prst="roundRect">
            <a:avLst>
              <a:gd name="adj" fmla="val 11538"/>
            </a:avLst>
          </a:prstGeom>
          <a:solidFill>
            <a:srgbClr val="1B223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1188000" y="2520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3F63A8"/>
                </a:solidFill>
                <a:latin typeface="맑은 고딕"/>
                <a:ea typeface="맑은 고딕"/>
              </a:rPr>
              <a:t>진료 · 상담</a:t>
            </a:r>
          </a:p>
        </p:txBody>
      </p:sp>
      <p:sp>
        <p:nvSpPr>
          <p:cNvPr id="8" name="Oval 7"/>
          <p:cNvSpPr/>
          <p:nvPr/>
        </p:nvSpPr>
        <p:spPr>
          <a:xfrm>
            <a:off x="1191600" y="489600"/>
            <a:ext cx="43200" cy="43200"/>
          </a:xfrm>
          <a:prstGeom prst="ellipse">
            <a:avLst/>
          </a:prstGeom>
          <a:solidFill>
            <a:srgbClr val="45907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1296000" y="4320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건강 검진</a:t>
            </a:r>
          </a:p>
        </p:txBody>
      </p:sp>
      <p:sp>
        <p:nvSpPr>
          <p:cNvPr id="10" name="Oval 9"/>
          <p:cNvSpPr/>
          <p:nvPr/>
        </p:nvSpPr>
        <p:spPr>
          <a:xfrm>
            <a:off x="1191600" y="712800"/>
            <a:ext cx="43200" cy="43200"/>
          </a:xfrm>
          <a:prstGeom prst="ellipse">
            <a:avLst/>
          </a:prstGeom>
          <a:solidFill>
            <a:srgbClr val="3F63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1296000" y="6552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재활 치료</a:t>
            </a:r>
          </a:p>
        </p:txBody>
      </p:sp>
      <p:sp>
        <p:nvSpPr>
          <p:cNvPr id="12" name="Oval 11"/>
          <p:cNvSpPr/>
          <p:nvPr/>
        </p:nvSpPr>
        <p:spPr>
          <a:xfrm>
            <a:off x="1191600" y="936000"/>
            <a:ext cx="43200" cy="43200"/>
          </a:xfrm>
          <a:prstGeom prst="ellipse">
            <a:avLst/>
          </a:prstGeom>
          <a:solidFill>
            <a:srgbClr val="45907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텍스트"/>
          <p:cNvSpPr txBox="1"/>
          <p:nvPr/>
        </p:nvSpPr>
        <p:spPr>
          <a:xfrm>
            <a:off x="1296000" y="8784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물리 치료</a:t>
            </a:r>
          </a:p>
        </p:txBody>
      </p:sp>
      <p:sp>
        <p:nvSpPr>
          <p:cNvPr id="14" name="Oval 13"/>
          <p:cNvSpPr/>
          <p:nvPr/>
        </p:nvSpPr>
        <p:spPr>
          <a:xfrm>
            <a:off x="1191600" y="1159200"/>
            <a:ext cx="43200" cy="43200"/>
          </a:xfrm>
          <a:prstGeom prst="ellipse">
            <a:avLst/>
          </a:prstGeom>
          <a:solidFill>
            <a:srgbClr val="3F63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텍스트"/>
          <p:cNvSpPr txBox="1"/>
          <p:nvPr/>
        </p:nvSpPr>
        <p:spPr>
          <a:xfrm>
            <a:off x="1296000" y="11016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영양 상담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188000" y="1440000"/>
            <a:ext cx="1836000" cy="0"/>
          </a:xfrm>
          <a:prstGeom prst="line">
            <a:avLst/>
          </a:prstGeom>
          <a:ln w="3600">
            <a:solidFill>
              <a:srgbClr val="BED1CB"/>
            </a:solidFill>
          </a:ln>
        </p:spPr>
      </p:cxnSp>
      <p:sp>
        <p:nvSpPr>
          <p:cNvPr id="17" name="텍스트"/>
          <p:cNvSpPr txBox="1"/>
          <p:nvPr/>
        </p:nvSpPr>
        <p:spPr>
          <a:xfrm>
            <a:off x="1188000" y="1512000"/>
            <a:ext cx="1872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626E74"/>
                </a:solidFill>
                <a:latin typeface="맑은 고딕"/>
                <a:ea typeface="맑은 고딕"/>
              </a:rPr>
              <a:t>진료 · 상담 예약     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간호사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