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E7D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980000" y="396000"/>
            <a:ext cx="1008000" cy="1008000"/>
          </a:xfrm>
          <a:prstGeom prst="ellipse">
            <a:avLst/>
          </a:prstGeom>
          <a:solidFill>
            <a:srgbClr val="758F7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864800" y="280800"/>
            <a:ext cx="1238400" cy="1238400"/>
          </a:xfrm>
          <a:prstGeom prst="ellipse">
            <a:avLst/>
          </a:prstGeom>
          <a:noFill/>
          <a:ln w="4320">
            <a:solidFill>
              <a:srgbClr val="889F8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268720" y="684720"/>
            <a:ext cx="430560" cy="430560"/>
          </a:xfrm>
          <a:prstGeom prst="ellipse">
            <a:avLst/>
          </a:prstGeom>
          <a:solidFill>
            <a:srgbClr val="485854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423160" y="740880"/>
            <a:ext cx="121680" cy="318240"/>
          </a:xfrm>
          <a:prstGeom prst="roundRect">
            <a:avLst>
              <a:gd name="adj" fmla="val 11538"/>
            </a:avLst>
          </a:pr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324880" y="839160"/>
            <a:ext cx="318240" cy="121680"/>
          </a:xfrm>
          <a:prstGeom prst="roundRect">
            <a:avLst>
              <a:gd name="adj" fmla="val 11538"/>
            </a:avLst>
          </a:pr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ECF0F6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손OO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DCE2DC"/>
                </a:solidFill>
                <a:latin typeface="맑은 고딕"/>
                <a:ea typeface="맑은 고딕"/>
              </a:rPr>
              <a:t>한의사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144800"/>
            <a:ext cx="1260000" cy="0"/>
          </a:xfrm>
          <a:prstGeom prst="line">
            <a:avLst/>
          </a:prstGeom>
          <a:ln w="3600">
            <a:solidFill>
              <a:srgbClr val="889F8A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227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CE2DC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54400" y="1216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5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CE2DC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54400" y="133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72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CE2DC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54400" y="14616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3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8F6E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8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7A99BF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71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1B2230"/>
                </a:solidFill>
                <a:latin typeface="맑은 고딕"/>
                <a:ea typeface="맑은 고딕"/>
              </a:rPr>
              <a:t>건강 검진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656000" y="38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6B8F6E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656000" y="71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1B2230"/>
                </a:solidFill>
                <a:latin typeface="맑은 고딕"/>
                <a:ea typeface="맑은 고딕"/>
              </a:rPr>
              <a:t>침 · 뜸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92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6B8F6E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25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1B2230"/>
                </a:solidFill>
                <a:latin typeface="맑은 고딕"/>
                <a:ea typeface="맑은 고딕"/>
              </a:rPr>
              <a:t>조제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656000" y="92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7A99BF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656000" y="125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1B2230"/>
                </a:solidFill>
                <a:latin typeface="맑은 고딕"/>
                <a:ea typeface="맑은 고딕"/>
              </a:rPr>
              <a:t>치아 관리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264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3D4B61"/>
                </a:solidFill>
                <a:latin typeface="맑은 고딕"/>
                <a:ea typeface="맑은 고딕"/>
              </a:rPr>
              <a:t>진료 · 상담 예약   ·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한의사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