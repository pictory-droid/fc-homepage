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360000" y="2016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5F718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3" name="Oval 2"/>
          <p:cNvSpPr/>
          <p:nvPr/>
        </p:nvSpPr>
        <p:spPr>
          <a:xfrm rot="2280000">
            <a:off x="1572480" y="413280"/>
            <a:ext cx="95040" cy="181440"/>
          </a:xfrm>
          <a:prstGeom prst="ellipse">
            <a:avLst/>
          </a:prstGeom>
          <a:solidFill>
            <a:srgbClr val="275A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V="1">
            <a:off x="1563840" y="439200"/>
            <a:ext cx="108000" cy="129600"/>
          </a:xfrm>
          <a:prstGeom prst="line">
            <a:avLst/>
          </a:prstGeom>
          <a:ln w="8640">
            <a:solidFill>
              <a:srgbClr val="DDEBF7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360000" y="684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122A3F"/>
                </a:solidFill>
                <a:latin typeface="맑은 고딕"/>
                <a:ea typeface="맑은 고딕"/>
              </a:rPr>
              <a:t>구민아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10512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275A86"/>
                </a:solidFill>
                <a:latin typeface="맑은 고딕"/>
                <a:ea typeface="맑은 고딕"/>
              </a:rPr>
              <a:t>약사</a:t>
            </a:r>
          </a:p>
        </p:txBody>
      </p:sp>
      <p:sp>
        <p:nvSpPr>
          <p:cNvPr id="7" name="Rectangle 6"/>
          <p:cNvSpPr/>
          <p:nvPr/>
        </p:nvSpPr>
        <p:spPr>
          <a:xfrm>
            <a:off x="1512000" y="1245600"/>
            <a:ext cx="216000" cy="10800"/>
          </a:xfrm>
          <a:prstGeom prst="rect">
            <a:avLst/>
          </a:prstGeom>
          <a:solidFill>
            <a:srgbClr val="275A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1339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122A3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5F718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3600" cy="1800000"/>
          </a:xfrm>
          <a:prstGeom prst="rect">
            <a:avLst/>
          </a:prstGeom>
          <a:solidFill>
            <a:srgbClr val="275A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 rot="2280000">
            <a:off x="101952" y="171072"/>
            <a:ext cx="69696" cy="13305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V="1">
            <a:off x="95616" y="190080"/>
            <a:ext cx="79200" cy="95040"/>
          </a:xfrm>
          <a:prstGeom prst="line">
            <a:avLst/>
          </a:prstGeom>
          <a:ln w="6336">
            <a:solidFill>
              <a:srgbClr val="808080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504000" y="396000"/>
            <a:ext cx="180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122A3F"/>
                </a:solidFill>
                <a:latin typeface="맑은 고딕"/>
                <a:ea typeface="맑은 고딕"/>
              </a:rPr>
              <a:t>어르신의 이야기에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122A3F"/>
                </a:solidFill>
                <a:latin typeface="맑은 고딕"/>
                <a:ea typeface="맑은 고딕"/>
              </a:rPr>
              <a:t>귀 기울입니다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504000" y="1260000"/>
            <a:ext cx="172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5F718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  <a:ln w="9000">
            <a:solidFill>
              <a:srgbClr val="275A86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5F7180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약사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