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1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reeform 1"/>
          <p:cNvSpPr/>
          <p:nvPr/>
        </p:nvSpPr>
        <p:spPr>
          <a:xfrm>
            <a:off x="0" y="216000"/>
            <a:ext cx="684000" cy="1368000"/>
          </a:xfrm>
          <a:custGeom>
            <a:avLst/>
            <a:gdLst/>
            <a:ahLst/>
            <a:cxnLst/>
            <a:rect l="l" t="t" r="r" b="b"/>
            <a:pathLst>
              <a:path w="684000" h="1368000">
                <a:moveTo>
                  <a:pt x="0" y="0"/>
                </a:moveTo>
                <a:lnTo>
                  <a:pt x="71497" y="3747"/>
                </a:lnTo>
                <a:lnTo>
                  <a:pt x="142212" y="14947"/>
                </a:lnTo>
                <a:lnTo>
                  <a:pt x="211368" y="33477"/>
                </a:lnTo>
                <a:lnTo>
                  <a:pt x="278208" y="59135"/>
                </a:lnTo>
                <a:lnTo>
                  <a:pt x="342000" y="91639"/>
                </a:lnTo>
                <a:lnTo>
                  <a:pt x="402045" y="130632"/>
                </a:lnTo>
                <a:lnTo>
                  <a:pt x="457685" y="175689"/>
                </a:lnTo>
                <a:lnTo>
                  <a:pt x="508311" y="226315"/>
                </a:lnTo>
                <a:lnTo>
                  <a:pt x="553368" y="281955"/>
                </a:lnTo>
                <a:lnTo>
                  <a:pt x="592361" y="342000"/>
                </a:lnTo>
                <a:lnTo>
                  <a:pt x="624865" y="405792"/>
                </a:lnTo>
                <a:lnTo>
                  <a:pt x="650523" y="472632"/>
                </a:lnTo>
                <a:lnTo>
                  <a:pt x="669053" y="541788"/>
                </a:lnTo>
                <a:lnTo>
                  <a:pt x="680253" y="612503"/>
                </a:lnTo>
                <a:lnTo>
                  <a:pt x="684000" y="684000"/>
                </a:lnTo>
                <a:lnTo>
                  <a:pt x="680253" y="755497"/>
                </a:lnTo>
                <a:lnTo>
                  <a:pt x="669053" y="826212"/>
                </a:lnTo>
                <a:lnTo>
                  <a:pt x="650523" y="895368"/>
                </a:lnTo>
                <a:lnTo>
                  <a:pt x="624865" y="962208"/>
                </a:lnTo>
                <a:lnTo>
                  <a:pt x="592361" y="1026000"/>
                </a:lnTo>
                <a:lnTo>
                  <a:pt x="553368" y="1086045"/>
                </a:lnTo>
                <a:lnTo>
                  <a:pt x="508311" y="1141685"/>
                </a:lnTo>
                <a:lnTo>
                  <a:pt x="457685" y="1192311"/>
                </a:lnTo>
                <a:lnTo>
                  <a:pt x="402045" y="1237368"/>
                </a:lnTo>
                <a:lnTo>
                  <a:pt x="342000" y="1276361"/>
                </a:lnTo>
                <a:lnTo>
                  <a:pt x="278208" y="1308865"/>
                </a:lnTo>
                <a:lnTo>
                  <a:pt x="211368" y="1334523"/>
                </a:lnTo>
                <a:lnTo>
                  <a:pt x="142212" y="1353053"/>
                </a:lnTo>
                <a:lnTo>
                  <a:pt x="71497" y="1364253"/>
                </a:lnTo>
                <a:lnTo>
                  <a:pt x="0" y="1368000"/>
                </a:lnTo>
                <a:close/>
              </a:path>
            </a:pathLst>
          </a:custGeom>
          <a:solidFill>
            <a:srgbClr val="FF9E6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432000" y="468000"/>
            <a:ext cx="864000" cy="864000"/>
          </a:xfrm>
          <a:prstGeom prst="ellipse">
            <a:avLst/>
          </a:prstGeom>
          <a:noFill/>
          <a:ln w="4320">
            <a:solidFill>
              <a:srgbClr val="12151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252000" y="648000"/>
            <a:ext cx="504000" cy="504000"/>
          </a:xfrm>
          <a:prstGeom prst="ellipse">
            <a:avLst/>
          </a:prstGeom>
          <a:noFill/>
          <a:ln w="4320">
            <a:solidFill>
              <a:srgbClr val="12151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텍스트"/>
          <p:cNvSpPr txBox="1"/>
          <p:nvPr/>
        </p:nvSpPr>
        <p:spPr>
          <a:xfrm>
            <a:off x="86400" y="612000"/>
            <a:ext cx="324000" cy="576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450"/>
              </a:lnSpc>
            </a:pPr>
            <a:r>
              <a:rPr sz="1000" b="1">
                <a:solidFill>
                  <a:srgbClr val="12151C"/>
                </a:solidFill>
                <a:latin typeface="맑은 고딕"/>
                <a:ea typeface="맑은 고딕"/>
              </a:rPr>
              <a:t>의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1116000" y="252000"/>
            <a:ext cx="187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A3A9B5"/>
                </a:solidFill>
                <a:latin typeface="맑은 고딕"/>
                <a:ea typeface="맑은 고딕"/>
              </a:rPr>
              <a:t>의원 · 약국 이름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116000" y="424800"/>
            <a:ext cx="1872000" cy="0"/>
          </a:xfrm>
          <a:prstGeom prst="line">
            <a:avLst/>
          </a:prstGeom>
          <a:ln w="3600">
            <a:solidFill>
              <a:srgbClr val="2A2F38"/>
            </a:solidFill>
          </a:ln>
        </p:spPr>
      </p:cxnSp>
      <p:sp>
        <p:nvSpPr>
          <p:cNvPr id="8" name="텍스트"/>
          <p:cNvSpPr txBox="1"/>
          <p:nvPr/>
        </p:nvSpPr>
        <p:spPr>
          <a:xfrm>
            <a:off x="1116000" y="6480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FFFFFF"/>
                </a:solidFill>
                <a:latin typeface="맑은 고딕"/>
                <a:ea typeface="맑은 고딕"/>
              </a:rPr>
              <a:t>예진우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1116000" y="9000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A3A9B5"/>
                </a:solidFill>
                <a:latin typeface="맑은 고딕"/>
                <a:ea typeface="맑은 고딕"/>
              </a:rPr>
              <a:t>요양보호사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1116000" y="1267200"/>
            <a:ext cx="1872000" cy="0"/>
          </a:xfrm>
          <a:prstGeom prst="line">
            <a:avLst/>
          </a:prstGeom>
          <a:ln w="3600">
            <a:solidFill>
              <a:srgbClr val="2A2F38"/>
            </a:solidFill>
          </a:ln>
        </p:spPr>
      </p:cxnSp>
      <p:sp>
        <p:nvSpPr>
          <p:cNvPr id="11" name="텍스트"/>
          <p:cNvSpPr txBox="1"/>
          <p:nvPr/>
        </p:nvSpPr>
        <p:spPr>
          <a:xfrm>
            <a:off x="1116000" y="13572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A3A9B5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1447200" y="1346400"/>
            <a:ext cx="118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FFFFFF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1116000" y="14796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A3A9B5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1447200" y="1468800"/>
            <a:ext cx="118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FFFFFF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1116000" y="16020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A3A9B5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1447200" y="1591200"/>
            <a:ext cx="118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FFFFFF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9E6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40000" cy="28800"/>
          </a:xfrm>
          <a:prstGeom prst="rect">
            <a:avLst/>
          </a:prstGeom>
          <a:solidFill>
            <a:srgbClr val="12151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텍스트"/>
          <p:cNvSpPr txBox="1"/>
          <p:nvPr/>
        </p:nvSpPr>
        <p:spPr>
          <a:xfrm>
            <a:off x="252000" y="223200"/>
            <a:ext cx="108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46332D"/>
                </a:solidFill>
                <a:latin typeface="맑은 고딕"/>
                <a:ea typeface="맑은 고딕"/>
              </a:rPr>
              <a:t>진료 · 상담</a:t>
            </a:r>
          </a:p>
        </p:txBody>
      </p:sp>
      <p:sp>
        <p:nvSpPr>
          <p:cNvPr id="4" name="텍스트"/>
          <p:cNvSpPr txBox="1"/>
          <p:nvPr/>
        </p:nvSpPr>
        <p:spPr>
          <a:xfrm>
            <a:off x="252000" y="424800"/>
            <a:ext cx="54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75"/>
              </a:lnSpc>
            </a:pPr>
            <a:r>
              <a:rPr sz="1500" b="1">
                <a:solidFill>
                  <a:srgbClr val="12151C"/>
                </a:solidFill>
                <a:latin typeface="맑은 고딕"/>
                <a:ea typeface="맑은 고딕"/>
              </a:rPr>
              <a:t>01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720000" y="475200"/>
            <a:ext cx="1512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60"/>
              </a:lnSpc>
            </a:pPr>
            <a:r>
              <a:rPr sz="800" b="1">
                <a:solidFill>
                  <a:srgbClr val="12151C"/>
                </a:solidFill>
                <a:latin typeface="맑은 고딕"/>
                <a:ea typeface="맑은 고딕"/>
              </a:rPr>
              <a:t>건강 검진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252000" y="691200"/>
            <a:ext cx="54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75"/>
              </a:lnSpc>
            </a:pPr>
            <a:r>
              <a:rPr sz="1500" b="1">
                <a:solidFill>
                  <a:srgbClr val="12151C"/>
                </a:solidFill>
                <a:latin typeface="맑은 고딕"/>
                <a:ea typeface="맑은 고딕"/>
              </a:rPr>
              <a:t>02</a:t>
            </a:r>
          </a:p>
        </p:txBody>
      </p:sp>
      <p:sp>
        <p:nvSpPr>
          <p:cNvPr id="7" name="텍스트"/>
          <p:cNvSpPr txBox="1"/>
          <p:nvPr/>
        </p:nvSpPr>
        <p:spPr>
          <a:xfrm>
            <a:off x="720000" y="741600"/>
            <a:ext cx="1512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60"/>
              </a:lnSpc>
            </a:pPr>
            <a:r>
              <a:rPr sz="800" b="1">
                <a:solidFill>
                  <a:srgbClr val="12151C"/>
                </a:solidFill>
                <a:latin typeface="맑은 고딕"/>
                <a:ea typeface="맑은 고딕"/>
              </a:rPr>
              <a:t>방문 요양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252000" y="957600"/>
            <a:ext cx="54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75"/>
              </a:lnSpc>
            </a:pPr>
            <a:r>
              <a:rPr sz="1500" b="1">
                <a:solidFill>
                  <a:srgbClr val="12151C"/>
                </a:solidFill>
                <a:latin typeface="맑은 고딕"/>
                <a:ea typeface="맑은 고딕"/>
              </a:rPr>
              <a:t>03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720000" y="1008000"/>
            <a:ext cx="1512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60"/>
              </a:lnSpc>
            </a:pPr>
            <a:r>
              <a:rPr sz="800" b="1">
                <a:solidFill>
                  <a:srgbClr val="12151C"/>
                </a:solidFill>
                <a:latin typeface="맑은 고딕"/>
                <a:ea typeface="맑은 고딕"/>
              </a:rPr>
              <a:t>건강 상담</a:t>
            </a:r>
          </a:p>
        </p:txBody>
      </p:sp>
      <p:sp>
        <p:nvSpPr>
          <p:cNvPr id="10" name="텍스트"/>
          <p:cNvSpPr txBox="1"/>
          <p:nvPr/>
        </p:nvSpPr>
        <p:spPr>
          <a:xfrm>
            <a:off x="252000" y="1224000"/>
            <a:ext cx="54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75"/>
              </a:lnSpc>
            </a:pPr>
            <a:r>
              <a:rPr sz="1500" b="1">
                <a:solidFill>
                  <a:srgbClr val="12151C"/>
                </a:solidFill>
                <a:latin typeface="맑은 고딕"/>
                <a:ea typeface="맑은 고딕"/>
              </a:rPr>
              <a:t>04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720000" y="1274400"/>
            <a:ext cx="1512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60"/>
              </a:lnSpc>
            </a:pPr>
            <a:r>
              <a:rPr sz="800" b="1">
                <a:solidFill>
                  <a:srgbClr val="12151C"/>
                </a:solidFill>
                <a:latin typeface="맑은 고딕"/>
                <a:ea typeface="맑은 고딕"/>
              </a:rPr>
              <a:t>예약 문의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232000" y="424800"/>
            <a:ext cx="0" cy="1087200"/>
          </a:xfrm>
          <a:prstGeom prst="line">
            <a:avLst/>
          </a:prstGeom>
          <a:ln w="3600">
            <a:solidFill>
              <a:srgbClr val="A0674B"/>
            </a:solidFill>
          </a:ln>
        </p:spPr>
      </p:cxnSp>
      <p:sp>
        <p:nvSpPr>
          <p:cNvPr id="13" name="텍스트"/>
          <p:cNvSpPr txBox="1"/>
          <p:nvPr/>
        </p:nvSpPr>
        <p:spPr>
          <a:xfrm>
            <a:off x="2376000" y="424800"/>
            <a:ext cx="648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46332D"/>
                </a:solidFill>
                <a:latin typeface="맑은 고딕"/>
                <a:ea typeface="맑은 고딕"/>
              </a:rPr>
              <a:t>HOURS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2376000" y="540000"/>
            <a:ext cx="720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2151C"/>
                </a:solidFill>
                <a:latin typeface="맑은 고딕"/>
                <a:ea typeface="맑은 고딕"/>
              </a:rPr>
              <a:t>토 09:00 – 13:00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2376000" y="900000"/>
            <a:ext cx="648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46332D"/>
                </a:solidFill>
                <a:latin typeface="맑은 고딕"/>
                <a:ea typeface="맑은 고딕"/>
              </a:rPr>
              <a:t>KAKAO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2376000" y="1015200"/>
            <a:ext cx="684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2151C"/>
                </a:solidFill>
                <a:latin typeface="맑은 고딕"/>
                <a:ea typeface="맑은 고딕"/>
              </a:rPr>
              <a:t>@채널아이디</a:t>
            </a:r>
          </a:p>
        </p:txBody>
      </p:sp>
      <p:sp>
        <p:nvSpPr>
          <p:cNvPr id="17" name="텍스트"/>
          <p:cNvSpPr txBox="1"/>
          <p:nvPr/>
        </p:nvSpPr>
        <p:spPr>
          <a:xfrm>
            <a:off x="2376000" y="1440000"/>
            <a:ext cx="684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46332D"/>
                </a:solidFill>
                <a:latin typeface="맑은 고딕"/>
                <a:ea typeface="맑은 고딕"/>
              </a:rPr>
              <a:t>의원 · 약국 이름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요양보호사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