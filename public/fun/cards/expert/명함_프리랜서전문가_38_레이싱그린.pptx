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1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52000" y="0"/>
            <a:ext cx="288000" cy="1800000"/>
          </a:xfrm>
          <a:prstGeom prst="rect">
            <a:avLst/>
          </a:prstGeom>
          <a:solidFill>
            <a:srgbClr val="2871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52000" y="0"/>
            <a:ext cx="288000" cy="540000"/>
          </a:xfrm>
          <a:prstGeom prst="rect">
            <a:avLst/>
          </a:prstGeom>
          <a:solidFill>
            <a:srgbClr val="D1748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304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CA5D7A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396000"/>
            <a:ext cx="2520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sz="2500" b="1" spc="100">
                <a:solidFill>
                  <a:srgbClr val="1B2230"/>
                </a:solidFill>
                <a:latin typeface="맑은 고딕"/>
                <a:ea typeface="맑은 고딕"/>
              </a:rPr>
              <a:t>우OO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2000" y="943200"/>
            <a:ext cx="874304" cy="172800"/>
          </a:xfrm>
          <a:prstGeom prst="roundRect">
            <a:avLst>
              <a:gd name="adj" fmla="val 50000"/>
            </a:avLst>
          </a:prstGeom>
          <a:solidFill>
            <a:srgbClr val="1F6B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52000" y="943200"/>
            <a:ext cx="874304" cy="17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56"/>
              </a:lnSpc>
            </a:pPr>
            <a:r>
              <a:rPr sz="660" b="1" spc="80">
                <a:solidFill>
                  <a:srgbClr val="FFFFFF"/>
                </a:solidFill>
                <a:latin typeface="맑은 고딕"/>
                <a:ea typeface="맑은 고딕"/>
              </a:rPr>
              <a:t>교육 컨설턴트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2000" y="1267200"/>
            <a:ext cx="2484000" cy="0"/>
          </a:xfrm>
          <a:prstGeom prst="line">
            <a:avLst/>
          </a:prstGeom>
          <a:ln w="3600">
            <a:solidFill>
              <a:srgbClr val="B9D5CE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52000" y="13536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707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4544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16000" y="1353600"/>
            <a:ext cx="93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707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116000" y="1454400"/>
            <a:ext cx="93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052000" y="1353600"/>
            <a:ext cx="93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707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052000" y="1454400"/>
            <a:ext cx="93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1F6B54"/>
                </a:solidFill>
                <a:latin typeface="맑은 고딕"/>
                <a:ea typeface="맑은 고딕"/>
              </a:rPr>
              <a:t>전문 분야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D57F97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475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B2230"/>
                </a:solidFill>
                <a:latin typeface="맑은 고딕"/>
                <a:ea typeface="맑은 고딕"/>
              </a:rPr>
              <a:t>웹 개발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91200"/>
            <a:ext cx="1296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1656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D57F97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879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B2230"/>
                </a:solidFill>
                <a:latin typeface="맑은 고딕"/>
                <a:ea typeface="맑은 고딕"/>
              </a:rPr>
              <a:t>카피라이팅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56000" y="691200"/>
            <a:ext cx="1296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D57F97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475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B2230"/>
                </a:solidFill>
                <a:latin typeface="맑은 고딕"/>
                <a:ea typeface="맑은 고딕"/>
              </a:rPr>
              <a:t>원고 집필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036800"/>
            <a:ext cx="1296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1656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D57F97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879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B2230"/>
                </a:solidFill>
                <a:latin typeface="맑은 고딕"/>
                <a:ea typeface="맑은 고딕"/>
              </a:rPr>
              <a:t>자문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656000" y="1036800"/>
            <a:ext cx="1296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16" name="텍스트"/>
          <p:cNvSpPr txBox="1"/>
          <p:nvPr/>
        </p:nvSpPr>
        <p:spPr>
          <a:xfrm>
            <a:off x="252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605C55"/>
                </a:solidFill>
                <a:latin typeface="맑은 고딕"/>
                <a:ea typeface="맑은 고딕"/>
              </a:rPr>
              <a:t>메일 · 메시지 문의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620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69"/>
              </a:lnSpc>
            </a:pPr>
            <a:r>
              <a:rPr sz="600" b="0">
                <a:solidFill>
                  <a:srgbClr val="605C55"/>
                </a:solidFill>
                <a:latin typeface="맑은 고딕"/>
                <a:ea typeface="맑은 고딕"/>
              </a:rPr>
              <a:t>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교육 컨설턴트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