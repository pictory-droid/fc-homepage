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81AC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81AC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1B2230"/>
                </a:solidFill>
                <a:latin typeface="맑은 고딕"/>
                <a:ea typeface="맑은 고딕"/>
              </a:rPr>
              <a:t>한 줄 소개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82A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81AC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81AC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B2230"/>
                </a:solidFill>
                <a:latin typeface="맑은 고딕"/>
                <a:ea typeface="맑은 고딕"/>
              </a:rPr>
              <a:t>황OO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5F6672"/>
                </a:solidFill>
                <a:latin typeface="맑은 고딕"/>
                <a:ea typeface="맑은 고딕"/>
              </a:rPr>
              <a:t>기획팀 매니저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5F6672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9BF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515E70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5A783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515E70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5A783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515E70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5A783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515E70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5A783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515E70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5A783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D6732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515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5A7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515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19" name="Oval 18"/>
          <p:cNvSpPr/>
          <p:nvPr/>
        </p:nvSpPr>
        <p:spPr>
          <a:xfrm>
            <a:off x="831600" y="1159200"/>
            <a:ext cx="43200" cy="43200"/>
          </a:xfrm>
          <a:prstGeom prst="ellipse">
            <a:avLst/>
          </a:prstGeom>
          <a:solidFill>
            <a:srgbClr val="5A7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텍스트"/>
          <p:cNvSpPr txBox="1"/>
          <p:nvPr/>
        </p:nvSpPr>
        <p:spPr>
          <a:xfrm>
            <a:off x="93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품질 관리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8FA3BA"/>
            </a:solidFill>
          </a:ln>
        </p:spPr>
      </p:cxnSp>
      <p:sp>
        <p:nvSpPr>
          <p:cNvPr id="22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465162"/>
                </a:solidFill>
                <a:latin typeface="맑은 고딕"/>
                <a:ea typeface="맑은 고딕"/>
              </a:rPr>
              <a:t>사전 연락 후 방문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기획팀 매니저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