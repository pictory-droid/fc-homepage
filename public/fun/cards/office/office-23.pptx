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2124000" y="0"/>
            <a:ext cx="1116000" cy="1800000"/>
          </a:xfrm>
          <a:custGeom>
            <a:avLst/>
            <a:gdLst/>
            <a:ahLst/>
            <a:cxnLst/>
            <a:rect l="l" t="t" r="r" b="b"/>
            <a:pathLst>
              <a:path w="1116000" h="1800000">
                <a:moveTo>
                  <a:pt x="360000" y="0"/>
                </a:moveTo>
                <a:lnTo>
                  <a:pt x="1116000" y="0"/>
                </a:lnTo>
                <a:lnTo>
                  <a:pt x="11160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FF8F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H="1">
            <a:off x="2044800" y="0"/>
            <a:ext cx="360000" cy="1800000"/>
          </a:xfrm>
          <a:prstGeom prst="line">
            <a:avLst/>
          </a:prstGeom>
          <a:ln w="3600">
            <a:solidFill>
              <a:srgbClr val="26292D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>
            <a:off x="1965600" y="0"/>
            <a:ext cx="360000" cy="1800000"/>
          </a:xfrm>
          <a:prstGeom prst="line">
            <a:avLst/>
          </a:prstGeom>
          <a:ln w="3600">
            <a:solidFill>
              <a:srgbClr val="26292D"/>
            </a:solidFill>
          </a:ln>
        </p:spPr>
      </p:cxnSp>
      <p:cxnSp>
        <p:nvCxnSpPr>
          <p:cNvPr id="5" name="Connector 4"/>
          <p:cNvCxnSpPr/>
          <p:nvPr/>
        </p:nvCxnSpPr>
        <p:spPr>
          <a:xfrm flipH="1">
            <a:off x="1886400" y="0"/>
            <a:ext cx="360000" cy="1800000"/>
          </a:xfrm>
          <a:prstGeom prst="line">
            <a:avLst/>
          </a:prstGeom>
          <a:ln w="3600">
            <a:solidFill>
              <a:srgbClr val="26292D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252000" y="2520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A3A9B5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2000" y="374400"/>
            <a:ext cx="1260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6336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류하은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8856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A3A9B5"/>
                </a:solidFill>
                <a:latin typeface="맑은 고딕"/>
                <a:ea typeface="맑은 고딕"/>
              </a:rPr>
              <a:t>개발팀 선임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2000" y="1044000"/>
            <a:ext cx="129600" cy="14400"/>
          </a:xfrm>
          <a:prstGeom prst="rect">
            <a:avLst/>
          </a:prstGeom>
          <a:solidFill>
            <a:srgbClr val="FF8F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252000" y="11844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76000" y="11736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3140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76000" y="13032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436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576000" y="14328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B7280"/>
                </a:solidFill>
                <a:latin typeface="맑은 고딕"/>
                <a:ea typeface="맑은 고딕"/>
              </a:rPr>
              <a:t>담당 업무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88800"/>
            <a:ext cx="2736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4680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FF8FB8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475200" y="4572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2151C"/>
                </a:solidFill>
                <a:latin typeface="맑은 고딕"/>
                <a:ea typeface="맑은 고딕"/>
              </a:rPr>
              <a:t>영업 관리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691200"/>
            <a:ext cx="1296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1656000" y="4680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FF8FB8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879200" y="4572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2151C"/>
                </a:solidFill>
                <a:latin typeface="맑은 고딕"/>
                <a:ea typeface="맑은 고딕"/>
              </a:rPr>
              <a:t>개발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656000" y="691200"/>
            <a:ext cx="1296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8136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FF8FB8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475200" y="8028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2151C"/>
                </a:solidFill>
                <a:latin typeface="맑은 고딕"/>
                <a:ea typeface="맑은 고딕"/>
              </a:rPr>
              <a:t>재무 · 회계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036800"/>
            <a:ext cx="1296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1656000" y="8136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FF8FB8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879200" y="8028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2151C"/>
                </a:solidFill>
                <a:latin typeface="맑은 고딕"/>
                <a:ea typeface="맑은 고딕"/>
              </a:rPr>
              <a:t>제휴 문의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656000" y="1036800"/>
            <a:ext cx="1296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6" name="텍스트"/>
          <p:cNvSpPr txBox="1"/>
          <p:nvPr/>
        </p:nvSpPr>
        <p:spPr>
          <a:xfrm>
            <a:off x="252000" y="1569600"/>
            <a:ext cx="136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6B7280"/>
                </a:solidFill>
                <a:latin typeface="맑은 고딕"/>
                <a:ea typeface="맑은 고딕"/>
              </a:rPr>
              <a:t>평일 10:00 – 19:00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620000" y="1569600"/>
            <a:ext cx="136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69"/>
              </a:lnSpc>
            </a:pPr>
            <a:r>
              <a:rPr sz="600" b="0">
                <a:solidFill>
                  <a:srgbClr val="6B7280"/>
                </a:solidFill>
                <a:latin typeface="맑은 고딕"/>
                <a:ea typeface="맑은 고딕"/>
              </a:rPr>
              <a:t>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개발팀 선임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