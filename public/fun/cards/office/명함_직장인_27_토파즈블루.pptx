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E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160000" y="576000"/>
            <a:ext cx="720000" cy="1224000"/>
          </a:xfrm>
          <a:prstGeom prst="rect">
            <a:avLst/>
          </a:prstGeom>
          <a:solidFill>
            <a:srgbClr val="3F7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160000" y="216000"/>
            <a:ext cx="720000" cy="360000"/>
          </a:xfrm>
          <a:custGeom>
            <a:avLst/>
            <a:gdLst/>
            <a:ahLst/>
            <a:cxnLst/>
            <a:rect l="l" t="t" r="r" b="b"/>
            <a:pathLst>
              <a:path w="720000" h="360000">
                <a:moveTo>
                  <a:pt x="0" y="360000"/>
                </a:moveTo>
                <a:lnTo>
                  <a:pt x="3080" y="313011"/>
                </a:lnTo>
                <a:lnTo>
                  <a:pt x="12267" y="266825"/>
                </a:lnTo>
                <a:lnTo>
                  <a:pt x="27403" y="222234"/>
                </a:lnTo>
                <a:lnTo>
                  <a:pt x="48231" y="180000"/>
                </a:lnTo>
                <a:lnTo>
                  <a:pt x="74393" y="140846"/>
                </a:lnTo>
                <a:lnTo>
                  <a:pt x="105442" y="105442"/>
                </a:lnTo>
                <a:lnTo>
                  <a:pt x="140846" y="74393"/>
                </a:lnTo>
                <a:lnTo>
                  <a:pt x="180000" y="48231"/>
                </a:lnTo>
                <a:lnTo>
                  <a:pt x="222234" y="27403"/>
                </a:lnTo>
                <a:lnTo>
                  <a:pt x="266825" y="12267"/>
                </a:lnTo>
                <a:lnTo>
                  <a:pt x="313011" y="3080"/>
                </a:lnTo>
                <a:lnTo>
                  <a:pt x="360000" y="0"/>
                </a:lnTo>
                <a:lnTo>
                  <a:pt x="406989" y="3080"/>
                </a:lnTo>
                <a:lnTo>
                  <a:pt x="453175" y="12267"/>
                </a:lnTo>
                <a:lnTo>
                  <a:pt x="497766" y="27403"/>
                </a:lnTo>
                <a:lnTo>
                  <a:pt x="540000" y="48231"/>
                </a:lnTo>
                <a:lnTo>
                  <a:pt x="579154" y="74393"/>
                </a:lnTo>
                <a:lnTo>
                  <a:pt x="614558" y="105442"/>
                </a:lnTo>
                <a:lnTo>
                  <a:pt x="645607" y="140846"/>
                </a:lnTo>
                <a:lnTo>
                  <a:pt x="671769" y="180000"/>
                </a:lnTo>
                <a:lnTo>
                  <a:pt x="692597" y="222234"/>
                </a:lnTo>
                <a:lnTo>
                  <a:pt x="707733" y="266825"/>
                </a:lnTo>
                <a:lnTo>
                  <a:pt x="716920" y="313011"/>
                </a:lnTo>
                <a:lnTo>
                  <a:pt x="720000" y="360000"/>
                </a:lnTo>
                <a:close/>
              </a:path>
            </a:pathLst>
          </a:custGeom>
          <a:solidFill>
            <a:srgbClr val="3F7C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4" name="Connector 3"/>
          <p:cNvCxnSpPr/>
          <p:nvPr/>
        </p:nvCxnSpPr>
        <p:spPr>
          <a:xfrm flipH="1">
            <a:off x="2376000" y="950400"/>
            <a:ext cx="93600" cy="93600"/>
          </a:xfrm>
          <a:prstGeom prst="line">
            <a:avLst/>
          </a:prstGeom>
          <a:ln w="288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2376000" y="1044000"/>
            <a:ext cx="93600" cy="93600"/>
          </a:xfrm>
          <a:prstGeom prst="line">
            <a:avLst/>
          </a:prstGeom>
          <a:ln w="288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2570400" y="950400"/>
            <a:ext cx="93600" cy="93600"/>
          </a:xfrm>
          <a:prstGeom prst="line">
            <a:avLst/>
          </a:prstGeom>
          <a:ln w="288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2570400" y="1044000"/>
            <a:ext cx="93600" cy="93600"/>
          </a:xfrm>
          <a:prstGeom prst="line">
            <a:avLst/>
          </a:prstGeom>
          <a:ln w="28800">
            <a:solidFill>
              <a:srgbClr val="FFFFFF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491200" y="921600"/>
            <a:ext cx="57600" cy="244800"/>
          </a:xfrm>
          <a:prstGeom prst="line">
            <a:avLst/>
          </a:prstGeom>
          <a:ln w="25200">
            <a:solidFill>
              <a:srgbClr val="9FBED0"/>
            </a:solidFill>
          </a:ln>
        </p:spPr>
      </p:cxnSp>
      <p:sp>
        <p:nvSpPr>
          <p:cNvPr id="9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BB614E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백OO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16C78"/>
                </a:solidFill>
                <a:latin typeface="맑은 고딕"/>
                <a:ea typeface="맑은 고딕"/>
              </a:rPr>
              <a:t>인사팀 책임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BBCBD5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C78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C78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16C78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8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312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4A90B8"/>
                </a:solidFill>
                <a:latin typeface="맑은 고딕"/>
                <a:ea typeface="맑은 고딕"/>
              </a:rPr>
              <a:t>담당 업무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30000" y="453600"/>
            <a:ext cx="180000" cy="14400"/>
          </a:xfrm>
          <a:prstGeom prst="rect">
            <a:avLst/>
          </a:prstGeom>
          <a:solidFill>
            <a:srgbClr val="C9827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영업 관리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99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인사 · 총무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90000" y="676800"/>
            <a:ext cx="0" cy="2304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162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프로젝트 관리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620000" y="676800"/>
            <a:ext cx="0" cy="2304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17" name="텍스트"/>
          <p:cNvSpPr txBox="1"/>
          <p:nvPr/>
        </p:nvSpPr>
        <p:spPr>
          <a:xfrm>
            <a:off x="2250000" y="684000"/>
            <a:ext cx="630000" cy="21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>
                <a:solidFill>
                  <a:srgbClr val="1B2230"/>
                </a:solidFill>
                <a:latin typeface="맑은 고딕"/>
                <a:ea typeface="맑은 고딕"/>
              </a:rPr>
              <a:t>운영 지원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250000" y="676800"/>
            <a:ext cx="0" cy="2304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60000" y="1159200"/>
            <a:ext cx="2520000" cy="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  <p:sp>
        <p:nvSpPr>
          <p:cNvPr id="20" name="텍스트"/>
          <p:cNvSpPr txBox="1"/>
          <p:nvPr/>
        </p:nvSpPr>
        <p:spPr>
          <a:xfrm>
            <a:off x="360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사전 연락 후 방문</a:t>
            </a:r>
          </a:p>
        </p:txBody>
      </p:sp>
      <p:sp>
        <p:nvSpPr>
          <p:cNvPr id="21" name="텍스트"/>
          <p:cNvSpPr txBox="1"/>
          <p:nvPr/>
        </p:nvSpPr>
        <p:spPr>
          <a:xfrm>
            <a:off x="1656000" y="1245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WEB  www.example.com</a:t>
            </a:r>
          </a:p>
        </p:txBody>
      </p:sp>
      <p:sp>
        <p:nvSpPr>
          <p:cNvPr id="22" name="텍스트"/>
          <p:cNvSpPr txBox="1"/>
          <p:nvPr/>
        </p:nvSpPr>
        <p:spPr>
          <a:xfrm>
            <a:off x="360000" y="15264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4A90B8"/>
                </a:solidFill>
                <a:latin typeface="맑은 고딕"/>
                <a:ea typeface="맑은 고딕"/>
              </a:rPr>
              <a:t>회사명 · 부서명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인사팀 책임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