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952000" y="0"/>
            <a:ext cx="288000" cy="1800000"/>
          </a:xfrm>
          <a:prstGeom prst="rect">
            <a:avLst/>
          </a:prstGeom>
          <a:solidFill>
            <a:srgbClr val="7B8C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52000" y="0"/>
            <a:ext cx="288000" cy="540000"/>
          </a:xfrm>
          <a:prstGeom prst="rect">
            <a:avLst/>
          </a:prstGeom>
          <a:solidFill>
            <a:srgbClr val="795C4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304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A7ABB4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396000"/>
            <a:ext cx="2520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625"/>
              </a:lnSpc>
            </a:pPr>
            <a:r>
              <a:rPr sz="2500" b="1" spc="100">
                <a:solidFill>
                  <a:srgbClr val="FFFFFF"/>
                </a:solidFill>
                <a:latin typeface="맑은 고딕"/>
                <a:ea typeface="맑은 고딕"/>
              </a:rPr>
              <a:t>지OO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2000" y="943200"/>
            <a:ext cx="785403" cy="172800"/>
          </a:xfrm>
          <a:prstGeom prst="roundRect">
            <a:avLst>
              <a:gd name="adj" fmla="val 50000"/>
            </a:avLst>
          </a:prstGeom>
          <a:solidFill>
            <a:srgbClr val="7B8C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252000" y="943200"/>
            <a:ext cx="785403" cy="172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56"/>
              </a:lnSpc>
            </a:pPr>
            <a:r>
              <a:rPr sz="660" b="1" spc="80">
                <a:solidFill>
                  <a:srgbClr val="FFFFFF"/>
                </a:solidFill>
                <a:latin typeface="맑은 고딕"/>
                <a:ea typeface="맑은 고딕"/>
              </a:rPr>
              <a:t>개발팀 선임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2000" y="1267200"/>
            <a:ext cx="2484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52000" y="13536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14544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116000" y="1353600"/>
            <a:ext cx="93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116000" y="1454400"/>
            <a:ext cx="93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052000" y="1353600"/>
            <a:ext cx="93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052000" y="1454400"/>
            <a:ext cx="93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088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86459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252000" y="360000"/>
            <a:ext cx="2736000" cy="25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4"/>
              </a:lnSpc>
            </a:pPr>
            <a:r>
              <a:rPr sz="1300" b="1">
                <a:solidFill>
                  <a:srgbClr val="14171D"/>
                </a:solidFill>
                <a:latin typeface="맑은 고딕"/>
                <a:ea typeface="맑은 고딕"/>
              </a:rPr>
              <a:t>평일 09:00 – 18:00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52000" y="770400"/>
            <a:ext cx="2736000" cy="0"/>
          </a:xfrm>
          <a:prstGeom prst="line">
            <a:avLst/>
          </a:prstGeom>
          <a:ln w="8640">
            <a:solidFill>
              <a:srgbClr val="1D6F73"/>
            </a:solidFill>
          </a:ln>
        </p:spPr>
      </p:cxnSp>
      <p:sp>
        <p:nvSpPr>
          <p:cNvPr id="5" name="Rounded Rectangle 4"/>
          <p:cNvSpPr/>
          <p:nvPr/>
        </p:nvSpPr>
        <p:spPr>
          <a:xfrm>
            <a:off x="252000" y="943200"/>
            <a:ext cx="317710" cy="180000"/>
          </a:xfrm>
          <a:prstGeom prst="roundRect">
            <a:avLst>
              <a:gd name="adj" fmla="val 50000"/>
            </a:avLst>
          </a:prstGeom>
          <a:noFill/>
          <a:ln w="3960">
            <a:solidFill>
              <a:srgbClr val="68645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52000" y="943200"/>
            <a:ext cx="31771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27"/>
              </a:lnSpc>
            </a:pPr>
            <a:r>
              <a:rPr sz="640" b="0">
                <a:solidFill>
                  <a:srgbClr val="14171D"/>
                </a:solidFill>
                <a:latin typeface="맑은 고딕"/>
                <a:ea typeface="맑은 고딕"/>
              </a:rPr>
              <a:t>개발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0110" y="943200"/>
            <a:ext cx="715984" cy="180000"/>
          </a:xfrm>
          <a:prstGeom prst="roundRect">
            <a:avLst>
              <a:gd name="adj" fmla="val 50000"/>
            </a:avLst>
          </a:prstGeom>
          <a:noFill/>
          <a:ln w="3960">
            <a:solidFill>
              <a:srgbClr val="68645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620110" y="943200"/>
            <a:ext cx="715984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27"/>
              </a:lnSpc>
            </a:pPr>
            <a:r>
              <a:rPr sz="640" b="0">
                <a:solidFill>
                  <a:srgbClr val="14171D"/>
                </a:solidFill>
                <a:latin typeface="맑은 고딕"/>
                <a:ea typeface="맑은 고딕"/>
              </a:rPr>
              <a:t>인사 · 총무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86494" y="943200"/>
            <a:ext cx="556675" cy="180000"/>
          </a:xfrm>
          <a:prstGeom prst="roundRect">
            <a:avLst>
              <a:gd name="adj" fmla="val 50000"/>
            </a:avLst>
          </a:prstGeom>
          <a:noFill/>
          <a:ln w="3960">
            <a:solidFill>
              <a:srgbClr val="68645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1386494" y="943200"/>
            <a:ext cx="556675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27"/>
              </a:lnSpc>
            </a:pPr>
            <a:r>
              <a:rPr sz="640" b="0">
                <a:solidFill>
                  <a:srgbClr val="14171D"/>
                </a:solidFill>
                <a:latin typeface="맑은 고딕"/>
                <a:ea typeface="맑은 고딕"/>
              </a:rPr>
              <a:t>고객 응대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93569" y="943200"/>
            <a:ext cx="556675" cy="180000"/>
          </a:xfrm>
          <a:prstGeom prst="roundRect">
            <a:avLst>
              <a:gd name="adj" fmla="val 50000"/>
            </a:avLst>
          </a:prstGeom>
          <a:noFill/>
          <a:ln w="3960">
            <a:solidFill>
              <a:srgbClr val="68645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1993569" y="943200"/>
            <a:ext cx="556675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27"/>
              </a:lnSpc>
            </a:pPr>
            <a:r>
              <a:rPr sz="640" b="0">
                <a:solidFill>
                  <a:srgbClr val="14171D"/>
                </a:solidFill>
                <a:latin typeface="맑은 고딕"/>
                <a:ea typeface="맑은 고딕"/>
              </a:rPr>
              <a:t>계약 관리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368000"/>
            <a:ext cx="2736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686459"/>
                </a:solidFill>
                <a:latin typeface="맑은 고딕"/>
                <a:ea typeface="맑은 고딕"/>
              </a:rPr>
              <a:t>WEB   www.example.com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512000"/>
            <a:ext cx="273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86459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개발팀 선임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