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0" y="-72000"/>
            <a:ext cx="648000" cy="648000"/>
          </a:xfrm>
          <a:prstGeom prst="ellipse">
            <a:avLst/>
          </a:prstGeom>
          <a:solidFill>
            <a:srgbClr val="6F7378">
              <a:alpha val="2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73600" y="504000"/>
            <a:ext cx="288000" cy="288000"/>
          </a:xfrm>
          <a:prstGeom prst="ellipse">
            <a:avLst/>
          </a:prstGeom>
          <a:solidFill>
            <a:srgbClr val="4F2D4F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3200" y="64800"/>
            <a:ext cx="129600" cy="129600"/>
          </a:xfrm>
          <a:prstGeom prst="ellipse">
            <a:avLst/>
          </a:prstGeom>
          <a:solidFill>
            <a:srgbClr val="4F2D4F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48000" y="1008000"/>
            <a:ext cx="864000" cy="864000"/>
          </a:xfrm>
          <a:prstGeom prst="ellipse">
            <a:avLst/>
          </a:prstGeom>
          <a:solidFill>
            <a:srgbClr val="4F2D4F">
              <a:alpha val="1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2000" y="244800"/>
            <a:ext cx="273600" cy="273600"/>
          </a:xfrm>
          <a:prstGeom prst="ellipse">
            <a:avLst/>
          </a:prstGeom>
          <a:solidFill>
            <a:srgbClr val="4F2D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7600" y="3348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4000" y="3348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38057" y="403575"/>
            <a:ext cx="101486" cy="28425"/>
          </a:xfrm>
          <a:custGeom>
            <a:avLst/>
            <a:gdLst/>
            <a:ahLst/>
            <a:cxnLst/>
            <a:rect l="l" t="t" r="r" b="b"/>
            <a:pathLst>
              <a:path w="101486" h="28425">
                <a:moveTo>
                  <a:pt x="101486" y="0"/>
                </a:moveTo>
                <a:lnTo>
                  <a:pt x="95511" y="9382"/>
                </a:lnTo>
                <a:lnTo>
                  <a:pt x="86876" y="17329"/>
                </a:lnTo>
                <a:lnTo>
                  <a:pt x="76094" y="23368"/>
                </a:lnTo>
                <a:lnTo>
                  <a:pt x="63807" y="27142"/>
                </a:lnTo>
                <a:lnTo>
                  <a:pt x="50743" y="28425"/>
                </a:lnTo>
                <a:lnTo>
                  <a:pt x="37679" y="27142"/>
                </a:lnTo>
                <a:lnTo>
                  <a:pt x="25392" y="23368"/>
                </a:lnTo>
                <a:lnTo>
                  <a:pt x="14610" y="17329"/>
                </a:lnTo>
                <a:lnTo>
                  <a:pt x="5975" y="9382"/>
                </a:lnTo>
                <a:lnTo>
                  <a:pt x="0" y="0"/>
                </a:lnTo>
                <a:close/>
              </a:path>
            </a:pathLst>
          </a:custGeom>
          <a:noFill/>
          <a:ln w="115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612000" y="273600"/>
            <a:ext cx="151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 spc="160">
                <a:solidFill>
                  <a:srgbClr val="2A1F30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4171D"/>
                </a:solidFill>
                <a:latin typeface="맑은 고딕"/>
                <a:ea typeface="맑은 고딕"/>
              </a:rPr>
              <a:t>양OO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2000" y="972000"/>
            <a:ext cx="682103" cy="158400"/>
          </a:xfrm>
          <a:prstGeom prst="roundRect">
            <a:avLst>
              <a:gd name="adj" fmla="val 50000"/>
            </a:avLst>
          </a:prstGeom>
          <a:solidFill>
            <a:srgbClr val="6F73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252000" y="972000"/>
            <a:ext cx="682103" cy="15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수리 기사</a:t>
            </a:r>
          </a:p>
        </p:txBody>
      </p:sp>
      <p:sp>
        <p:nvSpPr>
          <p:cNvPr id="14" name="Oval 13"/>
          <p:cNvSpPr/>
          <p:nvPr/>
        </p:nvSpPr>
        <p:spPr>
          <a:xfrm>
            <a:off x="255600" y="1278000"/>
            <a:ext cx="36000" cy="36000"/>
          </a:xfrm>
          <a:prstGeom prst="ellipse">
            <a:avLst/>
          </a:prstGeom>
          <a:solidFill>
            <a:srgbClr val="4F2D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352800" y="12312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6" name="Oval 15"/>
          <p:cNvSpPr/>
          <p:nvPr/>
        </p:nvSpPr>
        <p:spPr>
          <a:xfrm>
            <a:off x="255600" y="1414800"/>
            <a:ext cx="36000" cy="36000"/>
          </a:xfrm>
          <a:prstGeom prst="ellipse">
            <a:avLst/>
          </a:prstGeom>
          <a:solidFill>
            <a:srgbClr val="4F2D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텍스트"/>
          <p:cNvSpPr txBox="1"/>
          <p:nvPr/>
        </p:nvSpPr>
        <p:spPr>
          <a:xfrm>
            <a:off x="352800" y="13680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8" name="Oval 17"/>
          <p:cNvSpPr/>
          <p:nvPr/>
        </p:nvSpPr>
        <p:spPr>
          <a:xfrm>
            <a:off x="255600" y="1551600"/>
            <a:ext cx="36000" cy="36000"/>
          </a:xfrm>
          <a:prstGeom prst="ellipse">
            <a:avLst/>
          </a:prstGeom>
          <a:solidFill>
            <a:srgbClr val="4F2D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텍스트"/>
          <p:cNvSpPr txBox="1"/>
          <p:nvPr/>
        </p:nvSpPr>
        <p:spPr>
          <a:xfrm>
            <a:off x="352800" y="15048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627B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FFFFFF"/>
                </a:solidFill>
                <a:latin typeface="맑은 고딕"/>
                <a:ea typeface="맑은 고딕"/>
              </a:rPr>
              <a:t>세탁 · 수선  ·  인테리어  ·  반려동물 미용  ·  이사 정리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매일 10:00 – 20:00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수리 기사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