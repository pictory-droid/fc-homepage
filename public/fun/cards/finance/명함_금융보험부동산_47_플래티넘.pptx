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9E3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304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22345E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  <p:sp>
        <p:nvSpPr>
          <p:cNvPr id="3" name="텍스트"/>
          <p:cNvSpPr txBox="1"/>
          <p:nvPr/>
        </p:nvSpPr>
        <p:spPr>
          <a:xfrm>
            <a:off x="252000" y="396000"/>
            <a:ext cx="216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 spc="100">
                <a:solidFill>
                  <a:srgbClr val="1B2230"/>
                </a:solidFill>
                <a:latin typeface="맑은 고딕"/>
                <a:ea typeface="맑은 고딕"/>
              </a:rPr>
              <a:t>천OO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0400"/>
            <a:ext cx="3240000" cy="331200"/>
          </a:xfrm>
          <a:prstGeom prst="rect">
            <a:avLst/>
          </a:prstGeom>
          <a:solidFill>
            <a:srgbClr val="BFC1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252000" y="770400"/>
            <a:ext cx="1440000" cy="331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 spc="120">
                <a:solidFill>
                  <a:srgbClr val="1B2230"/>
                </a:solidFill>
                <a:latin typeface="맑은 고딕"/>
                <a:ea typeface="맑은 고딕"/>
              </a:rPr>
              <a:t>회계사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548000" y="770400"/>
            <a:ext cx="1440000" cy="331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ts val="1015"/>
              </a:lnSpc>
            </a:pPr>
            <a:r>
              <a:rPr sz="700" b="1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267200"/>
            <a:ext cx="2736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1425600"/>
            <a:ext cx="2736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636B76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4E7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016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4D84A0"/>
                </a:solidFill>
                <a:latin typeface="맑은 고딕"/>
                <a:ea typeface="맑은 고딕"/>
              </a:rPr>
              <a:t>상담 분야</a:t>
            </a:r>
          </a:p>
        </p:txBody>
      </p:sp>
      <p:sp>
        <p:nvSpPr>
          <p:cNvPr id="3" name="텍스트"/>
          <p:cNvSpPr txBox="1"/>
          <p:nvPr/>
        </p:nvSpPr>
        <p:spPr>
          <a:xfrm>
            <a:off x="252000" y="388800"/>
            <a:ext cx="576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sz="1800" b="1">
                <a:solidFill>
                  <a:srgbClr val="22345E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712800"/>
            <a:ext cx="129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1B2230"/>
                </a:solidFill>
                <a:latin typeface="맑은 고딕"/>
                <a:ea typeface="맑은 고딕"/>
              </a:rPr>
              <a:t>자산 관리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1656000" y="388800"/>
            <a:ext cx="576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sz="1800" b="1">
                <a:solidFill>
                  <a:srgbClr val="5F96B2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656000" y="712800"/>
            <a:ext cx="129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1B2230"/>
                </a:solidFill>
                <a:latin typeface="맑은 고딕"/>
                <a:ea typeface="맑은 고딕"/>
              </a:rPr>
              <a:t>세무 상담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928800"/>
            <a:ext cx="576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sz="1800" b="1">
                <a:solidFill>
                  <a:srgbClr val="5F96B2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1252800"/>
            <a:ext cx="129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1B2230"/>
                </a:solidFill>
                <a:latin typeface="맑은 고딕"/>
                <a:ea typeface="맑은 고딕"/>
              </a:rPr>
              <a:t>전세 상담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1656000" y="928800"/>
            <a:ext cx="576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sz="1800" b="1">
                <a:solidFill>
                  <a:srgbClr val="22345E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656000" y="1252800"/>
            <a:ext cx="129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1B2230"/>
                </a:solidFill>
                <a:latin typeface="맑은 고딕"/>
                <a:ea typeface="맑은 고딕"/>
              </a:rPr>
              <a:t>투자 상담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52000" y="1526400"/>
            <a:ext cx="2736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1D2840"/>
                </a:solidFill>
                <a:latin typeface="맑은 고딕"/>
                <a:ea typeface="맑은 고딕"/>
              </a:rPr>
              <a:t>온라인 상담 가능   ·   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회계사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