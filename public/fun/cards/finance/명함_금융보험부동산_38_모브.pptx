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9D657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2124000" y="0"/>
            <a:ext cx="1116000" cy="1800000"/>
          </a:xfrm>
          <a:custGeom>
            <a:avLst/>
            <a:gdLst/>
            <a:ahLst/>
            <a:cxnLst/>
            <a:rect l="l" t="t" r="r" b="b"/>
            <a:pathLst>
              <a:path w="1116000" h="1800000">
                <a:moveTo>
                  <a:pt x="360000" y="0"/>
                </a:moveTo>
                <a:lnTo>
                  <a:pt x="1116000" y="0"/>
                </a:lnTo>
                <a:lnTo>
                  <a:pt x="1116000" y="1800000"/>
                </a:lnTo>
                <a:lnTo>
                  <a:pt x="0" y="1800000"/>
                </a:lnTo>
                <a:close/>
              </a:path>
            </a:pathLst>
          </a:custGeom>
          <a:solidFill>
            <a:srgbClr val="DDC9D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 flipH="1">
            <a:off x="2044800" y="0"/>
            <a:ext cx="360000" cy="1800000"/>
          </a:xfrm>
          <a:prstGeom prst="line">
            <a:avLst/>
          </a:prstGeom>
          <a:ln w="3600">
            <a:solidFill>
              <a:srgbClr val="E9DDE3"/>
            </a:solidFill>
          </a:ln>
        </p:spPr>
      </p:cxnSp>
      <p:cxnSp>
        <p:nvCxnSpPr>
          <p:cNvPr id="4" name="Connector 3"/>
          <p:cNvCxnSpPr/>
          <p:nvPr/>
        </p:nvCxnSpPr>
        <p:spPr>
          <a:xfrm flipH="1">
            <a:off x="1965600" y="0"/>
            <a:ext cx="360000" cy="1800000"/>
          </a:xfrm>
          <a:prstGeom prst="line">
            <a:avLst/>
          </a:prstGeom>
          <a:ln w="3600">
            <a:solidFill>
              <a:srgbClr val="E9DDE3"/>
            </a:solidFill>
          </a:ln>
        </p:spPr>
      </p:cxnSp>
      <p:cxnSp>
        <p:nvCxnSpPr>
          <p:cNvPr id="5" name="Connector 4"/>
          <p:cNvCxnSpPr/>
          <p:nvPr/>
        </p:nvCxnSpPr>
        <p:spPr>
          <a:xfrm flipH="1">
            <a:off x="1886400" y="0"/>
            <a:ext cx="360000" cy="1800000"/>
          </a:xfrm>
          <a:prstGeom prst="line">
            <a:avLst/>
          </a:prstGeom>
          <a:ln w="3600">
            <a:solidFill>
              <a:srgbClr val="E9DDE3"/>
            </a:solidFill>
          </a:ln>
        </p:spPr>
      </p:cxnSp>
      <p:sp>
        <p:nvSpPr>
          <p:cNvPr id="6" name="텍스트"/>
          <p:cNvSpPr txBox="1"/>
          <p:nvPr/>
        </p:nvSpPr>
        <p:spPr>
          <a:xfrm>
            <a:off x="252000" y="252000"/>
            <a:ext cx="144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EFF1EC"/>
                </a:solidFill>
                <a:latin typeface="맑은 고딕"/>
                <a:ea typeface="맑은 고딕"/>
              </a:rPr>
              <a:t>회사 · 사무소 이름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52000" y="374400"/>
            <a:ext cx="1260000" cy="0"/>
          </a:xfrm>
          <a:prstGeom prst="line">
            <a:avLst/>
          </a:prstGeom>
          <a:ln w="3600">
            <a:solidFill>
              <a:srgbClr val="B68DA0"/>
            </a:solidFill>
          </a:ln>
        </p:spPr>
      </p:cxnSp>
      <p:sp>
        <p:nvSpPr>
          <p:cNvPr id="8" name="텍스트"/>
          <p:cNvSpPr txBox="1"/>
          <p:nvPr/>
        </p:nvSpPr>
        <p:spPr>
          <a:xfrm>
            <a:off x="252000" y="6336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FFFFFF"/>
                </a:solidFill>
                <a:latin typeface="맑은 고딕"/>
                <a:ea typeface="맑은 고딕"/>
              </a:rPr>
              <a:t>우OO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52000" y="8856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E9DDE3"/>
                </a:solidFill>
                <a:latin typeface="맑은 고딕"/>
                <a:ea typeface="맑은 고딕"/>
              </a:rPr>
              <a:t>투자 상담역</a:t>
            </a:r>
          </a:p>
        </p:txBody>
      </p:sp>
      <p:sp>
        <p:nvSpPr>
          <p:cNvPr id="10" name="Rectangle 9"/>
          <p:cNvSpPr/>
          <p:nvPr/>
        </p:nvSpPr>
        <p:spPr>
          <a:xfrm>
            <a:off x="252000" y="1044000"/>
            <a:ext cx="129600" cy="14400"/>
          </a:xfrm>
          <a:prstGeom prst="rect">
            <a:avLst/>
          </a:prstGeom>
          <a:solidFill>
            <a:srgbClr val="DDC9D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텍스트"/>
          <p:cNvSpPr txBox="1"/>
          <p:nvPr/>
        </p:nvSpPr>
        <p:spPr>
          <a:xfrm>
            <a:off x="252000" y="1184400"/>
            <a:ext cx="324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E9DDE3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576000" y="1173600"/>
            <a:ext cx="972000" cy="120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13"/>
              </a:lnSpc>
            </a:pPr>
            <a:r>
              <a:rPr sz="630" b="0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52000" y="1314000"/>
            <a:ext cx="324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E9DDE3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576000" y="1303200"/>
            <a:ext cx="972000" cy="120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13"/>
              </a:lnSpc>
            </a:pPr>
            <a:r>
              <a:rPr sz="630" b="0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52000" y="1443600"/>
            <a:ext cx="324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E9DDE3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576000" y="1432800"/>
            <a:ext cx="972000" cy="120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13"/>
              </a:lnSpc>
            </a:pPr>
            <a:r>
              <a:rPr sz="630" b="0">
                <a:solidFill>
                  <a:srgbClr val="FFFFFF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2E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01600"/>
            <a:ext cx="1512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A9788F"/>
                </a:solidFill>
                <a:latin typeface="맑은 고딕"/>
                <a:ea typeface="맑은 고딕"/>
              </a:rPr>
              <a:t>상담 분야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252000" y="396000"/>
            <a:ext cx="1296000" cy="381600"/>
          </a:xfrm>
          <a:prstGeom prst="roundRect">
            <a:avLst>
              <a:gd name="adj" fmla="val 16981"/>
            </a:avLst>
          </a:prstGeom>
          <a:solidFill>
            <a:srgbClr val="E2E7DD"/>
          </a:solidFill>
          <a:ln w="3600">
            <a:solidFill>
              <a:srgbClr val="D3DBC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345600" y="558000"/>
            <a:ext cx="57600" cy="57600"/>
          </a:xfrm>
          <a:prstGeom prst="ellipse">
            <a:avLst/>
          </a:prstGeom>
          <a:solidFill>
            <a:srgbClr val="7F946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텍스트"/>
          <p:cNvSpPr txBox="1"/>
          <p:nvPr/>
        </p:nvSpPr>
        <p:spPr>
          <a:xfrm>
            <a:off x="468000" y="396000"/>
            <a:ext cx="1044000" cy="381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044"/>
              </a:lnSpc>
            </a:pPr>
            <a:r>
              <a:rPr sz="720" b="1">
                <a:solidFill>
                  <a:srgbClr val="1B2230"/>
                </a:solidFill>
                <a:latin typeface="맑은 고딕"/>
                <a:ea typeface="맑은 고딕"/>
              </a:rPr>
              <a:t>가입 점검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656000" y="396000"/>
            <a:ext cx="1296000" cy="381600"/>
          </a:xfrm>
          <a:prstGeom prst="roundRect">
            <a:avLst>
              <a:gd name="adj" fmla="val 16981"/>
            </a:avLst>
          </a:prstGeom>
          <a:solidFill>
            <a:srgbClr val="E2E7DD"/>
          </a:solidFill>
          <a:ln w="3600">
            <a:solidFill>
              <a:srgbClr val="D3DBC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749600" y="558000"/>
            <a:ext cx="57600" cy="57600"/>
          </a:xfrm>
          <a:prstGeom prst="ellipse">
            <a:avLst/>
          </a:prstGeom>
          <a:solidFill>
            <a:srgbClr val="A9788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1872000" y="396000"/>
            <a:ext cx="1044000" cy="381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044"/>
              </a:lnSpc>
            </a:pPr>
            <a:r>
              <a:rPr sz="720" b="1">
                <a:solidFill>
                  <a:srgbClr val="1B2230"/>
                </a:solidFill>
                <a:latin typeface="맑은 고딕"/>
                <a:ea typeface="맑은 고딕"/>
              </a:rPr>
              <a:t>세무 상담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52000" y="864000"/>
            <a:ext cx="1296000" cy="381600"/>
          </a:xfrm>
          <a:prstGeom prst="roundRect">
            <a:avLst>
              <a:gd name="adj" fmla="val 16981"/>
            </a:avLst>
          </a:prstGeom>
          <a:solidFill>
            <a:srgbClr val="E2E7DD"/>
          </a:solidFill>
          <a:ln w="3600">
            <a:solidFill>
              <a:srgbClr val="D3DBC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345600" y="1026000"/>
            <a:ext cx="57600" cy="57600"/>
          </a:xfrm>
          <a:prstGeom prst="ellipse">
            <a:avLst/>
          </a:prstGeom>
          <a:solidFill>
            <a:srgbClr val="A9788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텍스트"/>
          <p:cNvSpPr txBox="1"/>
          <p:nvPr/>
        </p:nvSpPr>
        <p:spPr>
          <a:xfrm>
            <a:off x="468000" y="864000"/>
            <a:ext cx="1044000" cy="381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044"/>
              </a:lnSpc>
            </a:pPr>
            <a:r>
              <a:rPr sz="720" b="1">
                <a:solidFill>
                  <a:srgbClr val="1B2230"/>
                </a:solidFill>
                <a:latin typeface="맑은 고딕"/>
                <a:ea typeface="맑은 고딕"/>
              </a:rPr>
              <a:t>전세 상담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656000" y="864000"/>
            <a:ext cx="1296000" cy="381600"/>
          </a:xfrm>
          <a:prstGeom prst="roundRect">
            <a:avLst>
              <a:gd name="adj" fmla="val 16981"/>
            </a:avLst>
          </a:prstGeom>
          <a:solidFill>
            <a:srgbClr val="E2E7DD"/>
          </a:solidFill>
          <a:ln w="3600">
            <a:solidFill>
              <a:srgbClr val="D3DBC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749600" y="1026000"/>
            <a:ext cx="57600" cy="57600"/>
          </a:xfrm>
          <a:prstGeom prst="ellipse">
            <a:avLst/>
          </a:prstGeom>
          <a:solidFill>
            <a:srgbClr val="7F946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텍스트"/>
          <p:cNvSpPr txBox="1"/>
          <p:nvPr/>
        </p:nvSpPr>
        <p:spPr>
          <a:xfrm>
            <a:off x="1872000" y="864000"/>
            <a:ext cx="1044000" cy="381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044"/>
              </a:lnSpc>
            </a:pPr>
            <a:r>
              <a:rPr sz="720" b="1">
                <a:solidFill>
                  <a:srgbClr val="1B2230"/>
                </a:solidFill>
                <a:latin typeface="맑은 고딕"/>
                <a:ea typeface="맑은 고딕"/>
              </a:rPr>
              <a:t>상속 · 증여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52000" y="1476000"/>
            <a:ext cx="2736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41"/>
              </a:lnSpc>
            </a:pPr>
            <a:r>
              <a:rPr sz="580" b="0">
                <a:solidFill>
                  <a:srgbClr val="3D4943"/>
                </a:solidFill>
                <a:latin typeface="맑은 고딕"/>
                <a:ea typeface="맑은 고딕"/>
              </a:rPr>
              <a:t>방문 · 전화 상담   ·   www.example.com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투자 상담역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