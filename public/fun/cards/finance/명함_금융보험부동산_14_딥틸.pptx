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764000" y="252000"/>
            <a:ext cx="1224000" cy="1224000"/>
          </a:xfrm>
          <a:prstGeom prst="ellipse">
            <a:avLst/>
          </a:prstGeom>
          <a:solidFill>
            <a:srgbClr val="1F7A80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368800" y="115200"/>
            <a:ext cx="849600" cy="849600"/>
          </a:xfrm>
          <a:prstGeom prst="ellipse">
            <a:avLst/>
          </a:prstGeom>
          <a:solidFill>
            <a:srgbClr val="7A2A3C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98400" y="921600"/>
            <a:ext cx="691200" cy="691200"/>
          </a:xfrm>
          <a:prstGeom prst="ellipse">
            <a:avLst/>
          </a:prstGeom>
          <a:solidFill>
            <a:srgbClr val="1B2230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02000" y="90000"/>
            <a:ext cx="1548000" cy="1548000"/>
          </a:xfrm>
          <a:prstGeom prst="ellipse">
            <a:avLst/>
          </a:prstGeom>
          <a:noFill/>
          <a:ln w="5040">
            <a:solidFill>
              <a:srgbClr val="E2D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80000" y="1476000"/>
            <a:ext cx="72000" cy="72000"/>
          </a:xfrm>
          <a:prstGeom prst="ellipse">
            <a:avLst/>
          </a:prstGeom>
          <a:solidFill>
            <a:srgbClr val="7A2A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7A2A3C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신OO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세무사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80000"/>
            <a:ext cx="1260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17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115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299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288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29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4184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D1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7A2A3C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1F7A80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7A2A3C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1F7A80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7A2A3C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1F7A80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7A2A3C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1F7A80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7A2A3C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1F7A80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F7A80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13" name="Oval 12"/>
          <p:cNvSpPr/>
          <p:nvPr/>
        </p:nvSpPr>
        <p:spPr>
          <a:xfrm>
            <a:off x="831600" y="489600"/>
            <a:ext cx="43200" cy="43200"/>
          </a:xfrm>
          <a:prstGeom prst="ellipse">
            <a:avLst/>
          </a:prstGeom>
          <a:solidFill>
            <a:srgbClr val="7A2A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93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자산 관리</a:t>
            </a:r>
          </a:p>
        </p:txBody>
      </p:sp>
      <p:sp>
        <p:nvSpPr>
          <p:cNvPr id="15" name="Oval 14"/>
          <p:cNvSpPr/>
          <p:nvPr/>
        </p:nvSpPr>
        <p:spPr>
          <a:xfrm>
            <a:off x="831600" y="712800"/>
            <a:ext cx="43200" cy="43200"/>
          </a:xfrm>
          <a:prstGeom prst="ellipse">
            <a:avLst/>
          </a:prstGeom>
          <a:solidFill>
            <a:srgbClr val="1F7A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93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상속 · 증여</a:t>
            </a:r>
          </a:p>
        </p:txBody>
      </p:sp>
      <p:sp>
        <p:nvSpPr>
          <p:cNvPr id="17" name="Oval 16"/>
          <p:cNvSpPr/>
          <p:nvPr/>
        </p:nvSpPr>
        <p:spPr>
          <a:xfrm>
            <a:off x="831600" y="936000"/>
            <a:ext cx="43200" cy="43200"/>
          </a:xfrm>
          <a:prstGeom prst="ellipse">
            <a:avLst/>
          </a:prstGeom>
          <a:solidFill>
            <a:srgbClr val="7A2A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93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사업자 상담</a:t>
            </a:r>
          </a:p>
        </p:txBody>
      </p:sp>
      <p:sp>
        <p:nvSpPr>
          <p:cNvPr id="19" name="Oval 18"/>
          <p:cNvSpPr/>
          <p:nvPr/>
        </p:nvSpPr>
        <p:spPr>
          <a:xfrm>
            <a:off x="831600" y="1159200"/>
            <a:ext cx="43200" cy="43200"/>
          </a:xfrm>
          <a:prstGeom prst="ellipse">
            <a:avLst/>
          </a:prstGeom>
          <a:solidFill>
            <a:srgbClr val="1F7A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텍스트"/>
          <p:cNvSpPr txBox="1"/>
          <p:nvPr/>
        </p:nvSpPr>
        <p:spPr>
          <a:xfrm>
            <a:off x="936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증권 정리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8000" y="1440000"/>
            <a:ext cx="2160000" cy="0"/>
          </a:xfrm>
          <a:prstGeom prst="line">
            <a:avLst/>
          </a:prstGeom>
          <a:ln w="3600">
            <a:solidFill>
              <a:srgbClr val="D3BAC2"/>
            </a:solidFill>
          </a:ln>
        </p:spPr>
      </p:cxnSp>
      <p:sp>
        <p:nvSpPr>
          <p:cNvPr id="22" name="텍스트"/>
          <p:cNvSpPr txBox="1"/>
          <p:nvPr/>
        </p:nvSpPr>
        <p:spPr>
          <a:xfrm>
            <a:off x="828000" y="1512000"/>
            <a:ext cx="216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C6470"/>
                </a:solidFill>
                <a:latin typeface="맑은 고딕"/>
                <a:ea typeface="맑은 고딕"/>
              </a:rPr>
              <a:t>방문 · 전화 상담  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세무사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