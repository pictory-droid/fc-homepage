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2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40000" cy="36000"/>
          </a:xfrm>
          <a:prstGeom prst="rect">
            <a:avLst/>
          </a:prstGeom>
          <a:solidFill>
            <a:srgbClr val="C4859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텍스트"/>
          <p:cNvSpPr txBox="1"/>
          <p:nvPr/>
        </p:nvSpPr>
        <p:spPr>
          <a:xfrm>
            <a:off x="252000" y="223200"/>
            <a:ext cx="1296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B2230"/>
                </a:solidFill>
                <a:latin typeface="맑은 고딕"/>
                <a:ea typeface="맑은 고딕"/>
              </a:rPr>
              <a:t>성OO</a:t>
            </a:r>
          </a:p>
        </p:txBody>
      </p:sp>
      <p:sp>
        <p:nvSpPr>
          <p:cNvPr id="4" name="텍스트"/>
          <p:cNvSpPr txBox="1"/>
          <p:nvPr/>
        </p:nvSpPr>
        <p:spPr>
          <a:xfrm>
            <a:off x="252000" y="475200"/>
            <a:ext cx="1296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564755"/>
                </a:solidFill>
                <a:latin typeface="맑은 고딕"/>
                <a:ea typeface="맑은 고딕"/>
              </a:rPr>
              <a:t>금융 상담역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1548000" y="259200"/>
            <a:ext cx="144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942"/>
              </a:lnSpc>
            </a:pPr>
            <a:r>
              <a:rPr sz="650" b="1" spc="220">
                <a:solidFill>
                  <a:srgbClr val="8A7968"/>
                </a:solidFill>
                <a:latin typeface="맑은 고딕"/>
                <a:ea typeface="맑은 고딕"/>
              </a:rPr>
              <a:t>회사 · 사무소 이름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52000" y="907200"/>
            <a:ext cx="2736000" cy="0"/>
          </a:xfrm>
          <a:prstGeom prst="line">
            <a:avLst/>
          </a:prstGeom>
          <a:ln w="3600">
            <a:solidFill>
              <a:srgbClr val="EDD9DD"/>
            </a:solidFill>
          </a:ln>
        </p:spPr>
      </p:cxnSp>
      <p:sp>
        <p:nvSpPr>
          <p:cNvPr id="7" name="텍스트"/>
          <p:cNvSpPr txBox="1"/>
          <p:nvPr/>
        </p:nvSpPr>
        <p:spPr>
          <a:xfrm>
            <a:off x="252000" y="986400"/>
            <a:ext cx="57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60">
                <a:solidFill>
                  <a:srgbClr val="564755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936000" y="968400"/>
            <a:ext cx="2052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B2230"/>
                </a:solidFill>
                <a:latin typeface="맑은 고딕"/>
                <a:ea typeface="맑은 고딕"/>
              </a:rPr>
              <a:t>010-1234-5678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52000" y="1137600"/>
            <a:ext cx="2736000" cy="0"/>
          </a:xfrm>
          <a:prstGeom prst="line">
            <a:avLst/>
          </a:prstGeom>
          <a:ln w="3600">
            <a:solidFill>
              <a:srgbClr val="EDD9DD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252000" y="1216800"/>
            <a:ext cx="57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60">
                <a:solidFill>
                  <a:srgbClr val="564755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936000" y="1198800"/>
            <a:ext cx="2052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B2230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52000" y="1368000"/>
            <a:ext cx="2736000" cy="0"/>
          </a:xfrm>
          <a:prstGeom prst="line">
            <a:avLst/>
          </a:prstGeom>
          <a:ln w="3600">
            <a:solidFill>
              <a:srgbClr val="EDD9DD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252000" y="1447200"/>
            <a:ext cx="57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60">
                <a:solidFill>
                  <a:srgbClr val="564755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936000" y="1429200"/>
            <a:ext cx="2052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B2230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52000" y="1598400"/>
            <a:ext cx="2736000" cy="0"/>
          </a:xfrm>
          <a:prstGeom prst="line">
            <a:avLst/>
          </a:prstGeom>
          <a:ln w="3600">
            <a:solidFill>
              <a:srgbClr val="EDD9DD"/>
            </a:solidFill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E0D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16000" y="540000"/>
            <a:ext cx="684000" cy="1260000"/>
          </a:xfrm>
          <a:prstGeom prst="rect">
            <a:avLst/>
          </a:prstGeom>
          <a:solidFill>
            <a:srgbClr val="84746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216000" y="198000"/>
            <a:ext cx="684000" cy="342000"/>
          </a:xfrm>
          <a:custGeom>
            <a:avLst/>
            <a:gdLst/>
            <a:ahLst/>
            <a:cxnLst/>
            <a:rect l="l" t="t" r="r" b="b"/>
            <a:pathLst>
              <a:path w="684000" h="342000">
                <a:moveTo>
                  <a:pt x="0" y="342000"/>
                </a:moveTo>
                <a:lnTo>
                  <a:pt x="2926" y="297360"/>
                </a:lnTo>
                <a:lnTo>
                  <a:pt x="11653" y="253484"/>
                </a:lnTo>
                <a:lnTo>
                  <a:pt x="26033" y="211122"/>
                </a:lnTo>
                <a:lnTo>
                  <a:pt x="45819" y="171000"/>
                </a:lnTo>
                <a:lnTo>
                  <a:pt x="70673" y="133804"/>
                </a:lnTo>
                <a:lnTo>
                  <a:pt x="100169" y="100169"/>
                </a:lnTo>
                <a:lnTo>
                  <a:pt x="133804" y="70673"/>
                </a:lnTo>
                <a:lnTo>
                  <a:pt x="171000" y="45819"/>
                </a:lnTo>
                <a:lnTo>
                  <a:pt x="211122" y="26033"/>
                </a:lnTo>
                <a:lnTo>
                  <a:pt x="253484" y="11653"/>
                </a:lnTo>
                <a:lnTo>
                  <a:pt x="297360" y="2926"/>
                </a:lnTo>
                <a:lnTo>
                  <a:pt x="342000" y="0"/>
                </a:lnTo>
                <a:lnTo>
                  <a:pt x="386640" y="2926"/>
                </a:lnTo>
                <a:lnTo>
                  <a:pt x="430516" y="11653"/>
                </a:lnTo>
                <a:lnTo>
                  <a:pt x="472878" y="26033"/>
                </a:lnTo>
                <a:lnTo>
                  <a:pt x="513000" y="45819"/>
                </a:lnTo>
                <a:lnTo>
                  <a:pt x="550196" y="70673"/>
                </a:lnTo>
                <a:lnTo>
                  <a:pt x="583831" y="100169"/>
                </a:lnTo>
                <a:lnTo>
                  <a:pt x="613327" y="133804"/>
                </a:lnTo>
                <a:lnTo>
                  <a:pt x="638181" y="171000"/>
                </a:lnTo>
                <a:lnTo>
                  <a:pt x="657967" y="211122"/>
                </a:lnTo>
                <a:lnTo>
                  <a:pt x="672347" y="253484"/>
                </a:lnTo>
                <a:lnTo>
                  <a:pt x="681074" y="297360"/>
                </a:lnTo>
                <a:lnTo>
                  <a:pt x="684000" y="342000"/>
                </a:lnTo>
                <a:close/>
              </a:path>
            </a:pathLst>
          </a:custGeom>
          <a:solidFill>
            <a:srgbClr val="84746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399024" y="898848"/>
            <a:ext cx="317952" cy="145152"/>
          </a:xfrm>
          <a:custGeom>
            <a:avLst/>
            <a:gdLst/>
            <a:ahLst/>
            <a:cxnLst/>
            <a:rect l="l" t="t" r="r" b="b"/>
            <a:pathLst>
              <a:path w="317952" h="145152">
                <a:moveTo>
                  <a:pt x="0" y="145152"/>
                </a:moveTo>
                <a:lnTo>
                  <a:pt x="158976" y="0"/>
                </a:lnTo>
                <a:lnTo>
                  <a:pt x="317952" y="145152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47408" y="1044000"/>
            <a:ext cx="221184" cy="145152"/>
          </a:xfrm>
          <a:prstGeom prst="rect">
            <a:avLst/>
          </a:prstGeom>
          <a:solidFill>
            <a:srgbClr val="C2BAB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30352" y="1092384"/>
            <a:ext cx="55296" cy="967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텍스트"/>
          <p:cNvSpPr txBox="1"/>
          <p:nvPr/>
        </p:nvSpPr>
        <p:spPr>
          <a:xfrm>
            <a:off x="1188000" y="252000"/>
            <a:ext cx="1512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B46374"/>
                </a:solidFill>
                <a:latin typeface="맑은 고딕"/>
                <a:ea typeface="맑은 고딕"/>
              </a:rPr>
              <a:t>상담 분야</a:t>
            </a:r>
          </a:p>
        </p:txBody>
      </p:sp>
      <p:sp>
        <p:nvSpPr>
          <p:cNvPr id="8" name="Oval 7"/>
          <p:cNvSpPr/>
          <p:nvPr/>
        </p:nvSpPr>
        <p:spPr>
          <a:xfrm>
            <a:off x="1191600" y="489600"/>
            <a:ext cx="43200" cy="43200"/>
          </a:xfrm>
          <a:prstGeom prst="ellipse">
            <a:avLst/>
          </a:prstGeom>
          <a:solidFill>
            <a:srgbClr val="8A796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텍스트"/>
          <p:cNvSpPr txBox="1"/>
          <p:nvPr/>
        </p:nvSpPr>
        <p:spPr>
          <a:xfrm>
            <a:off x="1296000" y="4320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B2230"/>
                </a:solidFill>
                <a:latin typeface="맑은 고딕"/>
                <a:ea typeface="맑은 고딕"/>
              </a:rPr>
              <a:t>보험 상담</a:t>
            </a:r>
          </a:p>
        </p:txBody>
      </p:sp>
      <p:sp>
        <p:nvSpPr>
          <p:cNvPr id="10" name="Oval 9"/>
          <p:cNvSpPr/>
          <p:nvPr/>
        </p:nvSpPr>
        <p:spPr>
          <a:xfrm>
            <a:off x="1191600" y="712800"/>
            <a:ext cx="43200" cy="43200"/>
          </a:xfrm>
          <a:prstGeom prst="ellipse">
            <a:avLst/>
          </a:prstGeom>
          <a:solidFill>
            <a:srgbClr val="BC748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텍스트"/>
          <p:cNvSpPr txBox="1"/>
          <p:nvPr/>
        </p:nvSpPr>
        <p:spPr>
          <a:xfrm>
            <a:off x="1296000" y="6552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B2230"/>
                </a:solidFill>
                <a:latin typeface="맑은 고딕"/>
                <a:ea typeface="맑은 고딕"/>
              </a:rPr>
              <a:t>전세 상담</a:t>
            </a:r>
          </a:p>
        </p:txBody>
      </p:sp>
      <p:sp>
        <p:nvSpPr>
          <p:cNvPr id="12" name="Oval 11"/>
          <p:cNvSpPr/>
          <p:nvPr/>
        </p:nvSpPr>
        <p:spPr>
          <a:xfrm>
            <a:off x="1191600" y="936000"/>
            <a:ext cx="43200" cy="43200"/>
          </a:xfrm>
          <a:prstGeom prst="ellipse">
            <a:avLst/>
          </a:prstGeom>
          <a:solidFill>
            <a:srgbClr val="8A796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텍스트"/>
          <p:cNvSpPr txBox="1"/>
          <p:nvPr/>
        </p:nvSpPr>
        <p:spPr>
          <a:xfrm>
            <a:off x="1296000" y="8784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B2230"/>
                </a:solidFill>
                <a:latin typeface="맑은 고딕"/>
                <a:ea typeface="맑은 고딕"/>
              </a:rPr>
              <a:t>법인 상담</a:t>
            </a:r>
          </a:p>
        </p:txBody>
      </p:sp>
      <p:sp>
        <p:nvSpPr>
          <p:cNvPr id="14" name="Oval 13"/>
          <p:cNvSpPr/>
          <p:nvPr/>
        </p:nvSpPr>
        <p:spPr>
          <a:xfrm>
            <a:off x="1191600" y="1159200"/>
            <a:ext cx="43200" cy="43200"/>
          </a:xfrm>
          <a:prstGeom prst="ellipse">
            <a:avLst/>
          </a:prstGeom>
          <a:solidFill>
            <a:srgbClr val="BC748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텍스트"/>
          <p:cNvSpPr txBox="1"/>
          <p:nvPr/>
        </p:nvSpPr>
        <p:spPr>
          <a:xfrm>
            <a:off x="1296000" y="11016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B2230"/>
                </a:solidFill>
                <a:latin typeface="맑은 고딕"/>
                <a:ea typeface="맑은 고딕"/>
              </a:rPr>
              <a:t>청약 안내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188000" y="1440000"/>
            <a:ext cx="1836000" cy="0"/>
          </a:xfrm>
          <a:prstGeom prst="line">
            <a:avLst/>
          </a:prstGeom>
          <a:ln w="3600">
            <a:solidFill>
              <a:srgbClr val="CDC7C3"/>
            </a:solidFill>
          </a:ln>
        </p:spPr>
      </p:cxnSp>
      <p:sp>
        <p:nvSpPr>
          <p:cNvPr id="17" name="텍스트"/>
          <p:cNvSpPr txBox="1"/>
          <p:nvPr/>
        </p:nvSpPr>
        <p:spPr>
          <a:xfrm>
            <a:off x="1188000" y="1512000"/>
            <a:ext cx="1872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41"/>
              </a:lnSpc>
            </a:pPr>
            <a:r>
              <a:rPr sz="580" b="0">
                <a:solidFill>
                  <a:srgbClr val="696A70"/>
                </a:solidFill>
                <a:latin typeface="맑은 고딕"/>
                <a:ea typeface="맑은 고딕"/>
              </a:rPr>
              <a:t>온라인 상담 가능     @채널아이디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금융 상담역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