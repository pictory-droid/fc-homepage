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69B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160000" y="576000"/>
            <a:ext cx="720000" cy="1224000"/>
          </a:xfrm>
          <a:prstGeom prst="rect">
            <a:avLst/>
          </a:prstGeom>
          <a:solidFill>
            <a:srgbClr val="DDC38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2160000" y="216000"/>
            <a:ext cx="720000" cy="360000"/>
          </a:xfrm>
          <a:custGeom>
            <a:avLst/>
            <a:gdLst/>
            <a:ahLst/>
            <a:cxnLst/>
            <a:rect l="l" t="t" r="r" b="b"/>
            <a:pathLst>
              <a:path w="720000" h="360000">
                <a:moveTo>
                  <a:pt x="0" y="360000"/>
                </a:moveTo>
                <a:lnTo>
                  <a:pt x="3080" y="313011"/>
                </a:lnTo>
                <a:lnTo>
                  <a:pt x="12267" y="266825"/>
                </a:lnTo>
                <a:lnTo>
                  <a:pt x="27403" y="222234"/>
                </a:lnTo>
                <a:lnTo>
                  <a:pt x="48231" y="180000"/>
                </a:lnTo>
                <a:lnTo>
                  <a:pt x="74393" y="140846"/>
                </a:lnTo>
                <a:lnTo>
                  <a:pt x="105442" y="105442"/>
                </a:lnTo>
                <a:lnTo>
                  <a:pt x="140846" y="74393"/>
                </a:lnTo>
                <a:lnTo>
                  <a:pt x="180000" y="48231"/>
                </a:lnTo>
                <a:lnTo>
                  <a:pt x="222234" y="27403"/>
                </a:lnTo>
                <a:lnTo>
                  <a:pt x="266825" y="12267"/>
                </a:lnTo>
                <a:lnTo>
                  <a:pt x="313011" y="3080"/>
                </a:lnTo>
                <a:lnTo>
                  <a:pt x="360000" y="0"/>
                </a:lnTo>
                <a:lnTo>
                  <a:pt x="406989" y="3080"/>
                </a:lnTo>
                <a:lnTo>
                  <a:pt x="453175" y="12267"/>
                </a:lnTo>
                <a:lnTo>
                  <a:pt x="497766" y="27403"/>
                </a:lnTo>
                <a:lnTo>
                  <a:pt x="540000" y="48231"/>
                </a:lnTo>
                <a:lnTo>
                  <a:pt x="579154" y="74393"/>
                </a:lnTo>
                <a:lnTo>
                  <a:pt x="614558" y="105442"/>
                </a:lnTo>
                <a:lnTo>
                  <a:pt x="645607" y="140846"/>
                </a:lnTo>
                <a:lnTo>
                  <a:pt x="671769" y="180000"/>
                </a:lnTo>
                <a:lnTo>
                  <a:pt x="692597" y="222234"/>
                </a:lnTo>
                <a:lnTo>
                  <a:pt x="707733" y="266825"/>
                </a:lnTo>
                <a:lnTo>
                  <a:pt x="716920" y="313011"/>
                </a:lnTo>
                <a:lnTo>
                  <a:pt x="720000" y="360000"/>
                </a:lnTo>
                <a:close/>
              </a:path>
            </a:pathLst>
          </a:custGeom>
          <a:solidFill>
            <a:srgbClr val="DDC38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390400" y="1065600"/>
            <a:ext cx="72000" cy="129600"/>
          </a:xfrm>
          <a:prstGeom prst="roundRect">
            <a:avLst>
              <a:gd name="adj" fmla="val 10000"/>
            </a:avLst>
          </a:prstGeom>
          <a:solidFill>
            <a:srgbClr val="1B223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484000" y="993600"/>
            <a:ext cx="72000" cy="201600"/>
          </a:xfrm>
          <a:prstGeom prst="roundRect">
            <a:avLst>
              <a:gd name="adj" fmla="val 10000"/>
            </a:avLst>
          </a:prstGeom>
          <a:solidFill>
            <a:srgbClr val="7C725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577600" y="907200"/>
            <a:ext cx="72000" cy="288000"/>
          </a:xfrm>
          <a:prstGeom prst="roundRect">
            <a:avLst>
              <a:gd name="adj" fmla="val 10000"/>
            </a:avLst>
          </a:prstGeom>
          <a:solidFill>
            <a:srgbClr val="1B223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2361600" y="1209600"/>
            <a:ext cx="316800" cy="0"/>
          </a:xfrm>
          <a:prstGeom prst="line">
            <a:avLst/>
          </a:prstGeom>
          <a:ln w="14400">
            <a:solidFill>
              <a:srgbClr val="7C725D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773957"/>
                </a:solidFill>
                <a:latin typeface="맑은 고딕"/>
                <a:ea typeface="맑은 고딕"/>
              </a:rPr>
              <a:t>회사 · 사무소 이름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6336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양OO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52000" y="8856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4E4634"/>
                </a:solidFill>
                <a:latin typeface="맑은 고딕"/>
                <a:ea typeface="맑은 고딕"/>
              </a:rPr>
              <a:t>세무사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52000" y="1144800"/>
            <a:ext cx="1260000" cy="0"/>
          </a:xfrm>
          <a:prstGeom prst="line">
            <a:avLst/>
          </a:prstGeom>
          <a:ln w="3600">
            <a:solidFill>
              <a:srgbClr val="A7853A"/>
            </a:solidFill>
          </a:ln>
        </p:spPr>
      </p:cxnSp>
      <p:sp>
        <p:nvSpPr>
          <p:cNvPr id="12" name="텍스트"/>
          <p:cNvSpPr txBox="1"/>
          <p:nvPr/>
        </p:nvSpPr>
        <p:spPr>
          <a:xfrm>
            <a:off x="252000" y="12276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4E4634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554400" y="12168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52000" y="13500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4E4634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554400" y="13392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52000" y="14724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4E4634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554400" y="14616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F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A48030"/>
                </a:solidFill>
                <a:latin typeface="맑은 고딕"/>
                <a:ea typeface="맑은 고딕"/>
              </a:rPr>
              <a:t>상담 분야</a:t>
            </a:r>
          </a:p>
        </p:txBody>
      </p:sp>
      <p:sp>
        <p:nvSpPr>
          <p:cNvPr id="3" name="Rectangle 2"/>
          <p:cNvSpPr/>
          <p:nvPr/>
        </p:nvSpPr>
        <p:spPr>
          <a:xfrm>
            <a:off x="252000" y="352800"/>
            <a:ext cx="108000" cy="14400"/>
          </a:xfrm>
          <a:prstGeom prst="rect">
            <a:avLst/>
          </a:prstGeom>
          <a:solidFill>
            <a:srgbClr val="A978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252000" y="453600"/>
            <a:ext cx="1512000" cy="0"/>
          </a:xfrm>
          <a:prstGeom prst="line">
            <a:avLst/>
          </a:prstGeom>
          <a:ln w="3600">
            <a:solidFill>
              <a:srgbClr val="E2D1D9"/>
            </a:solidFill>
          </a:ln>
        </p:spPr>
      </p:cxnSp>
      <p:sp>
        <p:nvSpPr>
          <p:cNvPr id="5" name="텍스트"/>
          <p:cNvSpPr txBox="1"/>
          <p:nvPr/>
        </p:nvSpPr>
        <p:spPr>
          <a:xfrm>
            <a:off x="252000" y="5076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4B3F50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489600" y="4968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B2230"/>
                </a:solidFill>
                <a:latin typeface="맑은 고딕"/>
                <a:ea typeface="맑은 고딕"/>
              </a:rPr>
              <a:t>보험 상담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2000" y="640800"/>
            <a:ext cx="1512000" cy="0"/>
          </a:xfrm>
          <a:prstGeom prst="line">
            <a:avLst/>
          </a:prstGeom>
          <a:ln w="3600">
            <a:solidFill>
              <a:srgbClr val="E2D1D9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252000" y="6948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4B3F50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489600" y="6840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B2230"/>
                </a:solidFill>
                <a:latin typeface="맑은 고딕"/>
                <a:ea typeface="맑은 고딕"/>
              </a:rPr>
              <a:t>가입 점검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2000" y="828000"/>
            <a:ext cx="1512000" cy="0"/>
          </a:xfrm>
          <a:prstGeom prst="line">
            <a:avLst/>
          </a:prstGeom>
          <a:ln w="3600">
            <a:solidFill>
              <a:srgbClr val="E2D1D9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52000" y="8820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4B3F50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489600" y="8712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B2230"/>
                </a:solidFill>
                <a:latin typeface="맑은 고딕"/>
                <a:ea typeface="맑은 고딕"/>
              </a:rPr>
              <a:t>매매 · 임대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52000" y="1015200"/>
            <a:ext cx="1512000" cy="0"/>
          </a:xfrm>
          <a:prstGeom prst="line">
            <a:avLst/>
          </a:prstGeom>
          <a:ln w="3600">
            <a:solidFill>
              <a:srgbClr val="E2D1D9"/>
            </a:solidFill>
          </a:ln>
        </p:spPr>
      </p:cxnSp>
      <p:sp>
        <p:nvSpPr>
          <p:cNvPr id="14" name="텍스트"/>
          <p:cNvSpPr txBox="1"/>
          <p:nvPr/>
        </p:nvSpPr>
        <p:spPr>
          <a:xfrm>
            <a:off x="252000" y="10692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4B3F50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489600" y="10584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B2230"/>
                </a:solidFill>
                <a:latin typeface="맑은 고딕"/>
                <a:ea typeface="맑은 고딕"/>
              </a:rPr>
              <a:t>증권 정리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52000" y="1202400"/>
            <a:ext cx="1512000" cy="0"/>
          </a:xfrm>
          <a:prstGeom prst="line">
            <a:avLst/>
          </a:prstGeom>
          <a:ln w="3600">
            <a:solidFill>
              <a:srgbClr val="E2D1D9"/>
            </a:solidFill>
          </a:ln>
        </p:spPr>
      </p:cxnSp>
      <p:sp>
        <p:nvSpPr>
          <p:cNvPr id="17" name="Rectangle 16"/>
          <p:cNvSpPr/>
          <p:nvPr/>
        </p:nvSpPr>
        <p:spPr>
          <a:xfrm>
            <a:off x="2088000" y="252000"/>
            <a:ext cx="900000" cy="1296000"/>
          </a:xfrm>
          <a:prstGeom prst="rect">
            <a:avLst/>
          </a:prstGeom>
          <a:solidFill>
            <a:srgbClr val="9D657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텍스트"/>
          <p:cNvSpPr txBox="1"/>
          <p:nvPr/>
        </p:nvSpPr>
        <p:spPr>
          <a:xfrm>
            <a:off x="2196000" y="360000"/>
            <a:ext cx="684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240">
                <a:solidFill>
                  <a:srgbClr val="FFFFFF">
                    <a:alpha val="75000"/>
                  </a:srgbClr>
                </a:solidFill>
                <a:latin typeface="맑은 고딕"/>
                <a:ea typeface="맑은 고딕"/>
              </a:rPr>
              <a:t>INFO</a:t>
            </a:r>
          </a:p>
        </p:txBody>
      </p:sp>
      <p:sp>
        <p:nvSpPr>
          <p:cNvPr id="19" name="텍스트"/>
          <p:cNvSpPr txBox="1"/>
          <p:nvPr/>
        </p:nvSpPr>
        <p:spPr>
          <a:xfrm>
            <a:off x="2196000" y="504000"/>
            <a:ext cx="684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1">
                <a:solidFill>
                  <a:srgbClr val="FFFFFF"/>
                </a:solidFill>
                <a:latin typeface="맑은 고딕"/>
                <a:ea typeface="맑은 고딕"/>
              </a:rPr>
              <a:t>온라인 상담 가능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196000" y="770400"/>
            <a:ext cx="684000" cy="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21" name="텍스트"/>
          <p:cNvSpPr txBox="1"/>
          <p:nvPr/>
        </p:nvSpPr>
        <p:spPr>
          <a:xfrm>
            <a:off x="2196000" y="849600"/>
            <a:ext cx="68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FFFFFF">
                    <a:alpha val="75000"/>
                  </a:srgbClr>
                </a:solidFill>
                <a:latin typeface="맑은 고딕"/>
                <a:ea typeface="맑은 고딕"/>
              </a:rPr>
              <a:t>INSTAGRAM</a:t>
            </a:r>
          </a:p>
        </p:txBody>
      </p:sp>
      <p:sp>
        <p:nvSpPr>
          <p:cNvPr id="22" name="텍스트"/>
          <p:cNvSpPr txBox="1"/>
          <p:nvPr/>
        </p:nvSpPr>
        <p:spPr>
          <a:xfrm>
            <a:off x="2196000" y="957600"/>
            <a:ext cx="684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1">
                <a:solidFill>
                  <a:srgbClr val="FFFFFF"/>
                </a:solidFill>
                <a:latin typeface="맑은 고딕"/>
                <a:ea typeface="맑은 고딕"/>
              </a:rPr>
              <a:t>@아이디</a:t>
            </a:r>
          </a:p>
        </p:txBody>
      </p:sp>
      <p:sp>
        <p:nvSpPr>
          <p:cNvPr id="23" name="텍스트"/>
          <p:cNvSpPr txBox="1"/>
          <p:nvPr/>
        </p:nvSpPr>
        <p:spPr>
          <a:xfrm>
            <a:off x="2196000" y="1368000"/>
            <a:ext cx="720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11"/>
              </a:lnSpc>
            </a:pPr>
            <a:r>
              <a:rPr sz="560" b="1" spc="80">
                <a:solidFill>
                  <a:srgbClr val="FFFFFF"/>
                </a:solidFill>
                <a:latin typeface="맑은 고딕"/>
                <a:ea typeface="맑은 고딕"/>
              </a:rPr>
              <a:t>회사 · 사무소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세무사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