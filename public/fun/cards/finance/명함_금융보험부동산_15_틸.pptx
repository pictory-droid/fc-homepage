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0" y="0"/>
            <a:ext cx="2016000" cy="1800000"/>
          </a:xfrm>
          <a:custGeom>
            <a:avLst/>
            <a:gdLst/>
            <a:ahLst/>
            <a:cxnLst/>
            <a:rect l="l" t="t" r="r" b="b"/>
            <a:pathLst>
              <a:path w="2016000" h="1800000">
                <a:moveTo>
                  <a:pt x="0" y="0"/>
                </a:moveTo>
                <a:lnTo>
                  <a:pt x="2016000" y="0"/>
                </a:lnTo>
                <a:lnTo>
                  <a:pt x="1440000" y="1800000"/>
                </a:lnTo>
                <a:lnTo>
                  <a:pt x="0" y="1800000"/>
                </a:lnTo>
                <a:close/>
              </a:path>
            </a:pathLst>
          </a:custGeom>
          <a:solidFill>
            <a:srgbClr val="2F7E8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1440000" y="0"/>
            <a:ext cx="684000" cy="1800000"/>
          </a:xfrm>
          <a:custGeom>
            <a:avLst/>
            <a:gdLst/>
            <a:ahLst/>
            <a:cxnLst/>
            <a:rect l="l" t="t" r="r" b="b"/>
            <a:pathLst>
              <a:path w="684000" h="1800000">
                <a:moveTo>
                  <a:pt x="576000" y="0"/>
                </a:moveTo>
                <a:lnTo>
                  <a:pt x="684000" y="0"/>
                </a:lnTo>
                <a:lnTo>
                  <a:pt x="108000" y="1800000"/>
                </a:lnTo>
                <a:lnTo>
                  <a:pt x="0" y="1800000"/>
                </a:lnTo>
                <a:close/>
              </a:path>
            </a:pathLst>
          </a:custGeom>
          <a:solidFill>
            <a:srgbClr val="5B7FA8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252000"/>
            <a:ext cx="1368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1" spc="220">
                <a:solidFill>
                  <a:srgbClr val="FFFFFF">
                    <a:alpha val="80000"/>
                  </a:srgbClr>
                </a:solidFill>
                <a:latin typeface="맑은 고딕"/>
                <a:ea typeface="맑은 고딕"/>
              </a:rPr>
              <a:t>회사 · 사무소 이름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612000"/>
            <a:ext cx="144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0"/>
              </a:lnSpc>
            </a:pPr>
            <a:r>
              <a:rPr sz="1400" b="1" spc="100">
                <a:solidFill>
                  <a:srgbClr val="FFFFFF"/>
                </a:solidFill>
                <a:latin typeface="맑은 고딕"/>
                <a:ea typeface="맑은 고딕"/>
              </a:rPr>
              <a:t>권OO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864000"/>
            <a:ext cx="1440000" cy="129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86"/>
              </a:lnSpc>
            </a:pPr>
            <a:r>
              <a:rPr sz="680" b="0">
                <a:solidFill>
                  <a:srgbClr val="FFFFFF">
                    <a:alpha val="85000"/>
                  </a:srgbClr>
                </a:solidFill>
                <a:latin typeface="맑은 고딕"/>
                <a:ea typeface="맑은 고딕"/>
              </a:rPr>
              <a:t>금융 상담역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016000" y="1090800"/>
            <a:ext cx="2808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05C55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296800" y="1080000"/>
            <a:ext cx="100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016000" y="1234800"/>
            <a:ext cx="2808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05C55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296800" y="1224000"/>
            <a:ext cx="100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2016000" y="1378800"/>
            <a:ext cx="2808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05C55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296800" y="1368000"/>
            <a:ext cx="100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1B223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4779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52000" y="216000"/>
            <a:ext cx="1944000" cy="1080000"/>
          </a:xfrm>
          <a:prstGeom prst="roundRect">
            <a:avLst>
              <a:gd name="adj" fmla="val 12000"/>
            </a:avLst>
          </a:prstGeom>
          <a:solidFill>
            <a:srgbClr val="6C8AA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540000" y="1288800"/>
            <a:ext cx="216000" cy="223200"/>
          </a:xfrm>
          <a:custGeom>
            <a:avLst/>
            <a:gdLst/>
            <a:ahLst/>
            <a:cxnLst/>
            <a:rect l="l" t="t" r="r" b="b"/>
            <a:pathLst>
              <a:path w="216000" h="223200">
                <a:moveTo>
                  <a:pt x="0" y="0"/>
                </a:moveTo>
                <a:lnTo>
                  <a:pt x="216000" y="0"/>
                </a:lnTo>
                <a:lnTo>
                  <a:pt x="36000" y="223200"/>
                </a:lnTo>
                <a:close/>
              </a:path>
            </a:pathLst>
          </a:custGeom>
          <a:solidFill>
            <a:srgbClr val="6C8AA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396000" y="302400"/>
            <a:ext cx="165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1B2230">
                    <a:alpha val="80000"/>
                  </a:srgbClr>
                </a:solidFill>
                <a:latin typeface="맑은 고딕"/>
                <a:ea typeface="맑은 고딕"/>
              </a:rPr>
              <a:t>상담 분야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396000" y="468000"/>
            <a:ext cx="169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자산 관리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396000" y="669600"/>
            <a:ext cx="169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세무 상담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396000" y="871200"/>
            <a:ext cx="169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대출 안내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396000" y="1072800"/>
            <a:ext cx="169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사업자 상담</a:t>
            </a:r>
          </a:p>
        </p:txBody>
      </p:sp>
      <p:sp>
        <p:nvSpPr>
          <p:cNvPr id="9" name="Oval 8"/>
          <p:cNvSpPr/>
          <p:nvPr/>
        </p:nvSpPr>
        <p:spPr>
          <a:xfrm>
            <a:off x="2433600" y="381600"/>
            <a:ext cx="100800" cy="100800"/>
          </a:xfrm>
          <a:prstGeom prst="ellipse">
            <a:avLst/>
          </a:prstGeom>
          <a:solidFill>
            <a:srgbClr val="BCDD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 rot="1080000">
            <a:off x="2664000" y="324000"/>
            <a:ext cx="144000" cy="144000"/>
          </a:xfrm>
          <a:prstGeom prst="roundRect">
            <a:avLst>
              <a:gd name="adj" fmla="val 15000"/>
            </a:avLst>
          </a:prstGeom>
          <a:solidFill>
            <a:srgbClr val="BDCC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2376000" y="1080000"/>
            <a:ext cx="684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11"/>
              </a:lnSpc>
            </a:pPr>
            <a:r>
              <a:rPr sz="560" b="0">
                <a:solidFill>
                  <a:srgbClr val="FFFFFF"/>
                </a:solidFill>
                <a:latin typeface="맑은 고딕"/>
                <a:ea typeface="맑은 고딕"/>
              </a:rPr>
              <a:t>사전 예약 상담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376000" y="1209600"/>
            <a:ext cx="684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11"/>
              </a:lnSpc>
            </a:pPr>
            <a:r>
              <a:rPr sz="560" b="0">
                <a:solidFill>
                  <a:srgbClr val="D9E1EA"/>
                </a:solidFill>
                <a:latin typeface="맑은 고딕"/>
                <a:ea typeface="맑은 고딕"/>
              </a:rPr>
              <a:t>@채널아이디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금융 상담역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