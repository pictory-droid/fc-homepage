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284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080000" y="252000"/>
            <a:ext cx="0" cy="1296000"/>
          </a:xfrm>
          <a:prstGeom prst="line">
            <a:avLst/>
          </a:prstGeom>
          <a:ln w="3600">
            <a:solidFill>
              <a:srgbClr val="F17E95"/>
            </a:solidFill>
          </a:ln>
        </p:spPr>
      </p:cxnSp>
      <p:sp>
        <p:nvSpPr>
          <p:cNvPr id="3" name="Rectangle 2"/>
          <p:cNvSpPr/>
          <p:nvPr/>
        </p:nvSpPr>
        <p:spPr>
          <a:xfrm>
            <a:off x="1069200" y="252000"/>
            <a:ext cx="21600" cy="20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75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F9C9D3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sp>
        <p:nvSpPr>
          <p:cNvPr id="5" name="Oval 4"/>
          <p:cNvSpPr/>
          <p:nvPr/>
        </p:nvSpPr>
        <p:spPr>
          <a:xfrm>
            <a:off x="273600" y="734400"/>
            <a:ext cx="244800" cy="244800"/>
          </a:xfrm>
          <a:prstGeom prst="ellipse">
            <a:avLst/>
          </a:prstGeom>
          <a:noFill/>
          <a:ln w="504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52000" y="734400"/>
            <a:ext cx="288000" cy="25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</a:rPr>
              <a:t>회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1260000" y="43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소하영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260000" y="68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F9C9D3"/>
                </a:solidFill>
                <a:latin typeface="맑은 고딕"/>
                <a:ea typeface="맑은 고딕"/>
              </a:rPr>
              <a:t>보험 상담사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260000" y="943200"/>
            <a:ext cx="1728000" cy="0"/>
          </a:xfrm>
          <a:prstGeom prst="line">
            <a:avLst/>
          </a:prstGeom>
          <a:ln w="3600">
            <a:solidFill>
              <a:srgbClr val="F17E95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1260000" y="10548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9C9D3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591200" y="10440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260000" y="11844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9C9D3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591200" y="11736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260000" y="1314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9C9D3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591200" y="1303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EA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28800"/>
          </a:xfrm>
          <a:prstGeom prst="rect">
            <a:avLst/>
          </a:prstGeom>
          <a:solidFill>
            <a:srgbClr val="E828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31C2F"/>
                </a:solidFill>
                <a:latin typeface="맑은 고딕"/>
                <a:ea typeface="맑은 고딕"/>
              </a:rPr>
              <a:t>상담 분야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4248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E8284F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720000" y="4752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2151C"/>
                </a:solidFill>
                <a:latin typeface="맑은 고딕"/>
                <a:ea typeface="맑은 고딕"/>
              </a:rPr>
              <a:t>보험 상담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6912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E8284F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720000" y="7416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2151C"/>
                </a:solidFill>
                <a:latin typeface="맑은 고딕"/>
                <a:ea typeface="맑은 고딕"/>
              </a:rPr>
              <a:t>법인 상담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9576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E8284F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720000" y="10080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2151C"/>
                </a:solidFill>
                <a:latin typeface="맑은 고딕"/>
                <a:ea typeface="맑은 고딕"/>
              </a:rPr>
              <a:t>청약 안내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12240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E8284F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720000" y="12744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2151C"/>
                </a:solidFill>
                <a:latin typeface="맑은 고딕"/>
                <a:ea typeface="맑은 고딕"/>
              </a:rPr>
              <a:t>증권 정리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32000" y="424800"/>
            <a:ext cx="0" cy="1087200"/>
          </a:xfrm>
          <a:prstGeom prst="line">
            <a:avLst/>
          </a:prstGeom>
          <a:ln w="3600">
            <a:solidFill>
              <a:srgbClr val="F9C3CE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376000" y="4248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31C2F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5400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평일 09:00 – 18:00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376000" y="900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31C2F"/>
                </a:solidFill>
                <a:latin typeface="맑은 고딕"/>
                <a:ea typeface="맑은 고딕"/>
              </a:rPr>
              <a:t>KAKAO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376000" y="10152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@채널아이디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376000" y="1440000"/>
            <a:ext cx="684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31C2F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상담사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