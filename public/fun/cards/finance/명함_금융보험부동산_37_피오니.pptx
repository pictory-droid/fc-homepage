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D1D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216000"/>
            <a:ext cx="684000" cy="1368000"/>
          </a:xfrm>
          <a:custGeom>
            <a:avLst/>
            <a:gdLst/>
            <a:ahLst/>
            <a:cxnLst/>
            <a:rect l="l" t="t" r="r" b="b"/>
            <a:pathLst>
              <a:path w="684000" h="1368000">
                <a:moveTo>
                  <a:pt x="0" y="0"/>
                </a:moveTo>
                <a:lnTo>
                  <a:pt x="71497" y="3747"/>
                </a:lnTo>
                <a:lnTo>
                  <a:pt x="142212" y="14947"/>
                </a:lnTo>
                <a:lnTo>
                  <a:pt x="211368" y="33477"/>
                </a:lnTo>
                <a:lnTo>
                  <a:pt x="278208" y="59135"/>
                </a:lnTo>
                <a:lnTo>
                  <a:pt x="342000" y="91639"/>
                </a:lnTo>
                <a:lnTo>
                  <a:pt x="402045" y="130632"/>
                </a:lnTo>
                <a:lnTo>
                  <a:pt x="457685" y="175689"/>
                </a:lnTo>
                <a:lnTo>
                  <a:pt x="508311" y="226315"/>
                </a:lnTo>
                <a:lnTo>
                  <a:pt x="553368" y="281955"/>
                </a:lnTo>
                <a:lnTo>
                  <a:pt x="592361" y="342000"/>
                </a:lnTo>
                <a:lnTo>
                  <a:pt x="624865" y="405792"/>
                </a:lnTo>
                <a:lnTo>
                  <a:pt x="650523" y="472632"/>
                </a:lnTo>
                <a:lnTo>
                  <a:pt x="669053" y="541788"/>
                </a:lnTo>
                <a:lnTo>
                  <a:pt x="680253" y="612503"/>
                </a:lnTo>
                <a:lnTo>
                  <a:pt x="684000" y="684000"/>
                </a:lnTo>
                <a:lnTo>
                  <a:pt x="680253" y="755497"/>
                </a:lnTo>
                <a:lnTo>
                  <a:pt x="669053" y="826212"/>
                </a:lnTo>
                <a:lnTo>
                  <a:pt x="650523" y="895368"/>
                </a:lnTo>
                <a:lnTo>
                  <a:pt x="624865" y="962208"/>
                </a:lnTo>
                <a:lnTo>
                  <a:pt x="592361" y="1026000"/>
                </a:lnTo>
                <a:lnTo>
                  <a:pt x="553368" y="1086045"/>
                </a:lnTo>
                <a:lnTo>
                  <a:pt x="508311" y="1141685"/>
                </a:lnTo>
                <a:lnTo>
                  <a:pt x="457685" y="1192311"/>
                </a:lnTo>
                <a:lnTo>
                  <a:pt x="402045" y="1237368"/>
                </a:lnTo>
                <a:lnTo>
                  <a:pt x="342000" y="1276361"/>
                </a:lnTo>
                <a:lnTo>
                  <a:pt x="278208" y="1308865"/>
                </a:lnTo>
                <a:lnTo>
                  <a:pt x="211368" y="1334523"/>
                </a:lnTo>
                <a:lnTo>
                  <a:pt x="142212" y="1353053"/>
                </a:lnTo>
                <a:lnTo>
                  <a:pt x="71497" y="1364253"/>
                </a:lnTo>
                <a:lnTo>
                  <a:pt x="0" y="1368000"/>
                </a:lnTo>
                <a:close/>
              </a:path>
            </a:pathLst>
          </a:custGeom>
          <a:solidFill>
            <a:srgbClr val="F1D3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32000" y="468000"/>
            <a:ext cx="864000" cy="864000"/>
          </a:xfrm>
          <a:prstGeom prst="ellipse">
            <a:avLst/>
          </a:prstGeom>
          <a:noFill/>
          <a:ln w="4320">
            <a:solidFill>
              <a:srgbClr val="1B223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52000" y="648000"/>
            <a:ext cx="504000" cy="504000"/>
          </a:xfrm>
          <a:prstGeom prst="ellipse">
            <a:avLst/>
          </a:prstGeom>
          <a:noFill/>
          <a:ln w="4320">
            <a:solidFill>
              <a:srgbClr val="1B223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86400" y="612000"/>
            <a:ext cx="324000" cy="57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450"/>
              </a:lnSpc>
            </a:pPr>
            <a:r>
              <a:rPr sz="1000" b="1">
                <a:solidFill>
                  <a:srgbClr val="1B2230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116000" y="252000"/>
            <a:ext cx="18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926C46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16000" y="424800"/>
            <a:ext cx="1872000" cy="0"/>
          </a:xfrm>
          <a:prstGeom prst="line">
            <a:avLst/>
          </a:prstGeom>
          <a:ln w="3600">
            <a:solidFill>
              <a:srgbClr val="D4BAC3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1116000" y="648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주OO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116000" y="900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C6470"/>
                </a:solidFill>
                <a:latin typeface="맑은 고딕"/>
                <a:ea typeface="맑은 고딕"/>
              </a:rPr>
              <a:t>회계사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116000" y="1267200"/>
            <a:ext cx="1872000" cy="0"/>
          </a:xfrm>
          <a:prstGeom prst="line">
            <a:avLst/>
          </a:prstGeom>
          <a:ln w="3600">
            <a:solidFill>
              <a:srgbClr val="D4BAC3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1116000" y="1357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C647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447200" y="1346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116000" y="1479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C647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447200" y="1468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116000" y="160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C647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1447200" y="1591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5040">
            <a:solidFill>
              <a:srgbClr val="8A796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1200" y="151200"/>
            <a:ext cx="2937600" cy="1497600"/>
          </a:xfrm>
          <a:prstGeom prst="rect">
            <a:avLst/>
          </a:prstGeom>
          <a:noFill/>
          <a:ln w="3600">
            <a:solidFill>
              <a:srgbClr val="E2DD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60000" y="280800"/>
            <a:ext cx="25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11"/>
              </a:lnSpc>
            </a:pPr>
            <a:r>
              <a:rPr sz="560" b="1" spc="400">
                <a:solidFill>
                  <a:srgbClr val="8A7968"/>
                </a:solidFill>
                <a:latin typeface="바탕"/>
                <a:ea typeface="바탕"/>
              </a:rPr>
              <a:t>상담 분야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512000" y="432000"/>
            <a:ext cx="216000" cy="0"/>
          </a:xfrm>
          <a:prstGeom prst="line">
            <a:avLst/>
          </a:prstGeom>
          <a:ln w="5040">
            <a:solidFill>
              <a:srgbClr val="8A7968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360000" y="576000"/>
            <a:ext cx="2520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47"/>
              </a:lnSpc>
            </a:pPr>
            <a:r>
              <a:rPr sz="860" b="1" spc="100">
                <a:solidFill>
                  <a:srgbClr val="1B2230"/>
                </a:solidFill>
                <a:latin typeface="바탕"/>
                <a:ea typeface="바탕"/>
              </a:rPr>
              <a:t>보험 상담  ·  투자 상담  ·  증권 정리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512000" y="1173600"/>
            <a:ext cx="216000" cy="0"/>
          </a:xfrm>
          <a:prstGeom prst="line">
            <a:avLst/>
          </a:prstGeom>
          <a:ln w="5040">
            <a:solidFill>
              <a:srgbClr val="8A7968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360000" y="12600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0" spc="100">
                <a:solidFill>
                  <a:srgbClr val="605C55"/>
                </a:solidFill>
                <a:latin typeface="바탕"/>
                <a:ea typeface="바탕"/>
              </a:rPr>
              <a:t>방문 · 전화 상담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360000" y="13968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0" spc="100">
                <a:solidFill>
                  <a:srgbClr val="605C55"/>
                </a:solidFill>
                <a:latin typeface="바탕"/>
                <a:ea typeface="바탕"/>
              </a:rPr>
              <a:t>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회계사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