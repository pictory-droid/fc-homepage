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ED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764000" y="252000"/>
            <a:ext cx="1224000" cy="1224000"/>
          </a:xfrm>
          <a:prstGeom prst="ellipse">
            <a:avLst/>
          </a:prstGeom>
          <a:solidFill>
            <a:srgbClr val="1F5F6B">
              <a:alpha val="9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2368800" y="115200"/>
            <a:ext cx="849600" cy="849600"/>
          </a:xfrm>
          <a:prstGeom prst="ellipse">
            <a:avLst/>
          </a:prstGeom>
          <a:solidFill>
            <a:srgbClr val="24493A">
              <a:alpha val="8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498400" y="921600"/>
            <a:ext cx="691200" cy="691200"/>
          </a:xfrm>
          <a:prstGeom prst="ellipse">
            <a:avLst/>
          </a:prstGeom>
          <a:solidFill>
            <a:srgbClr val="14171D">
              <a:alpha val="12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602000" y="90000"/>
            <a:ext cx="1548000" cy="1548000"/>
          </a:xfrm>
          <a:prstGeom prst="ellipse">
            <a:avLst/>
          </a:prstGeom>
          <a:noFill/>
          <a:ln w="5040">
            <a:solidFill>
              <a:srgbClr val="D9D5CD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980000" y="1476000"/>
            <a:ext cx="72000" cy="72000"/>
          </a:xfrm>
          <a:prstGeom prst="ellipse">
            <a:avLst/>
          </a:prstGeom>
          <a:solidFill>
            <a:srgbClr val="24493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텍스트"/>
          <p:cNvSpPr txBox="1"/>
          <p:nvPr/>
        </p:nvSpPr>
        <p:spPr>
          <a:xfrm>
            <a:off x="252000" y="2520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686459"/>
                </a:solidFill>
                <a:latin typeface="맑은 고딕"/>
                <a:ea typeface="맑은 고딕"/>
              </a:rPr>
              <a:t>회사 · 사무소 이름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252000" y="5760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4171D"/>
                </a:solidFill>
                <a:latin typeface="맑은 고딕"/>
                <a:ea typeface="맑은 고딕"/>
              </a:rPr>
              <a:t>신OO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252000" y="8280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686459"/>
                </a:solidFill>
                <a:latin typeface="맑은 고딕"/>
                <a:ea typeface="맑은 고딕"/>
              </a:rPr>
              <a:t>세무사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52000" y="1080000"/>
            <a:ext cx="1260000" cy="0"/>
          </a:xfrm>
          <a:prstGeom prst="line">
            <a:avLst/>
          </a:prstGeom>
          <a:ln w="3600">
            <a:solidFill>
              <a:srgbClr val="D9D5CD"/>
            </a:solidFill>
          </a:ln>
        </p:spPr>
      </p:cxnSp>
      <p:sp>
        <p:nvSpPr>
          <p:cNvPr id="11" name="텍스트"/>
          <p:cNvSpPr txBox="1"/>
          <p:nvPr/>
        </p:nvSpPr>
        <p:spPr>
          <a:xfrm>
            <a:off x="252000" y="11700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86459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554400" y="1159200"/>
            <a:ext cx="108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4171D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252000" y="12996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86459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554400" y="1288800"/>
            <a:ext cx="108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4171D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252000" y="14292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86459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554400" y="1418400"/>
            <a:ext cx="108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4171D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2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0400" cy="1800000"/>
          </a:xfrm>
          <a:prstGeom prst="rect">
            <a:avLst/>
          </a:prstGeom>
          <a:solidFill>
            <a:srgbClr val="A68A68">
              <a:alpha val="9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1200" y="0"/>
            <a:ext cx="36000" cy="1800000"/>
          </a:xfrm>
          <a:prstGeom prst="rect">
            <a:avLst/>
          </a:prstGeom>
          <a:solidFill>
            <a:srgbClr val="954E5F">
              <a:alpha val="7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22400" y="0"/>
            <a:ext cx="36000" cy="1800000"/>
          </a:xfrm>
          <a:prstGeom prst="rect">
            <a:avLst/>
          </a:prstGeom>
          <a:solidFill>
            <a:srgbClr val="A68A68">
              <a:alpha val="9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83600" y="0"/>
            <a:ext cx="50400" cy="1800000"/>
          </a:xfrm>
          <a:prstGeom prst="rect">
            <a:avLst/>
          </a:prstGeom>
          <a:solidFill>
            <a:srgbClr val="954E5F">
              <a:alpha val="7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44800" y="0"/>
            <a:ext cx="36000" cy="1800000"/>
          </a:xfrm>
          <a:prstGeom prst="rect">
            <a:avLst/>
          </a:prstGeom>
          <a:solidFill>
            <a:srgbClr val="A68A68">
              <a:alpha val="9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06000" y="0"/>
            <a:ext cx="36000" cy="1800000"/>
          </a:xfrm>
          <a:prstGeom prst="rect">
            <a:avLst/>
          </a:prstGeom>
          <a:solidFill>
            <a:srgbClr val="954E5F">
              <a:alpha val="7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7200" y="0"/>
            <a:ext cx="50400" cy="1800000"/>
          </a:xfrm>
          <a:prstGeom prst="rect">
            <a:avLst/>
          </a:prstGeom>
          <a:solidFill>
            <a:srgbClr val="A68A68">
              <a:alpha val="9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28400" y="0"/>
            <a:ext cx="36000" cy="1800000"/>
          </a:xfrm>
          <a:prstGeom prst="rect">
            <a:avLst/>
          </a:prstGeom>
          <a:solidFill>
            <a:srgbClr val="954E5F">
              <a:alpha val="7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89600" y="0"/>
            <a:ext cx="36000" cy="1800000"/>
          </a:xfrm>
          <a:prstGeom prst="rect">
            <a:avLst/>
          </a:prstGeom>
          <a:solidFill>
            <a:srgbClr val="A68A68">
              <a:alpha val="9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50800" y="0"/>
            <a:ext cx="50400" cy="1800000"/>
          </a:xfrm>
          <a:prstGeom prst="rect">
            <a:avLst/>
          </a:prstGeom>
          <a:solidFill>
            <a:srgbClr val="954E5F">
              <a:alpha val="7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텍스트"/>
          <p:cNvSpPr txBox="1"/>
          <p:nvPr/>
        </p:nvSpPr>
        <p:spPr>
          <a:xfrm>
            <a:off x="828000" y="252000"/>
            <a:ext cx="1512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A7ABB4"/>
                </a:solidFill>
                <a:latin typeface="맑은 고딕"/>
                <a:ea typeface="맑은 고딕"/>
              </a:rPr>
              <a:t>상담 분야</a:t>
            </a:r>
          </a:p>
        </p:txBody>
      </p:sp>
      <p:sp>
        <p:nvSpPr>
          <p:cNvPr id="13" name="Oval 12"/>
          <p:cNvSpPr/>
          <p:nvPr/>
        </p:nvSpPr>
        <p:spPr>
          <a:xfrm>
            <a:off x="831600" y="489600"/>
            <a:ext cx="43200" cy="43200"/>
          </a:xfrm>
          <a:prstGeom prst="ellipse">
            <a:avLst/>
          </a:prstGeom>
          <a:solidFill>
            <a:srgbClr val="A68A6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텍스트"/>
          <p:cNvSpPr txBox="1"/>
          <p:nvPr/>
        </p:nvSpPr>
        <p:spPr>
          <a:xfrm>
            <a:off x="936000" y="4320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FFFFFF"/>
                </a:solidFill>
                <a:latin typeface="맑은 고딕"/>
                <a:ea typeface="맑은 고딕"/>
              </a:rPr>
              <a:t>자산 관리</a:t>
            </a:r>
          </a:p>
        </p:txBody>
      </p:sp>
      <p:sp>
        <p:nvSpPr>
          <p:cNvPr id="15" name="Oval 14"/>
          <p:cNvSpPr/>
          <p:nvPr/>
        </p:nvSpPr>
        <p:spPr>
          <a:xfrm>
            <a:off x="831600" y="712800"/>
            <a:ext cx="43200" cy="43200"/>
          </a:xfrm>
          <a:prstGeom prst="ellipse">
            <a:avLst/>
          </a:prstGeom>
          <a:solidFill>
            <a:srgbClr val="954E5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텍스트"/>
          <p:cNvSpPr txBox="1"/>
          <p:nvPr/>
        </p:nvSpPr>
        <p:spPr>
          <a:xfrm>
            <a:off x="936000" y="6552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FFFFFF"/>
                </a:solidFill>
                <a:latin typeface="맑은 고딕"/>
                <a:ea typeface="맑은 고딕"/>
              </a:rPr>
              <a:t>상속 · 증여</a:t>
            </a:r>
          </a:p>
        </p:txBody>
      </p:sp>
      <p:sp>
        <p:nvSpPr>
          <p:cNvPr id="17" name="Oval 16"/>
          <p:cNvSpPr/>
          <p:nvPr/>
        </p:nvSpPr>
        <p:spPr>
          <a:xfrm>
            <a:off x="831600" y="936000"/>
            <a:ext cx="43200" cy="43200"/>
          </a:xfrm>
          <a:prstGeom prst="ellipse">
            <a:avLst/>
          </a:prstGeom>
          <a:solidFill>
            <a:srgbClr val="A68A6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텍스트"/>
          <p:cNvSpPr txBox="1"/>
          <p:nvPr/>
        </p:nvSpPr>
        <p:spPr>
          <a:xfrm>
            <a:off x="936000" y="8784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FFFFFF"/>
                </a:solidFill>
                <a:latin typeface="맑은 고딕"/>
                <a:ea typeface="맑은 고딕"/>
              </a:rPr>
              <a:t>사업자 상담</a:t>
            </a:r>
          </a:p>
        </p:txBody>
      </p:sp>
      <p:sp>
        <p:nvSpPr>
          <p:cNvPr id="19" name="Oval 18"/>
          <p:cNvSpPr/>
          <p:nvPr/>
        </p:nvSpPr>
        <p:spPr>
          <a:xfrm>
            <a:off x="831600" y="1159200"/>
            <a:ext cx="43200" cy="43200"/>
          </a:xfrm>
          <a:prstGeom prst="ellipse">
            <a:avLst/>
          </a:prstGeom>
          <a:solidFill>
            <a:srgbClr val="954E5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텍스트"/>
          <p:cNvSpPr txBox="1"/>
          <p:nvPr/>
        </p:nvSpPr>
        <p:spPr>
          <a:xfrm>
            <a:off x="936000" y="11016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FFFFFF"/>
                </a:solidFill>
                <a:latin typeface="맑은 고딕"/>
                <a:ea typeface="맑은 고딕"/>
              </a:rPr>
              <a:t>증권 정리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828000" y="1440000"/>
            <a:ext cx="2160000" cy="0"/>
          </a:xfrm>
          <a:prstGeom prst="line">
            <a:avLst/>
          </a:prstGeom>
          <a:ln w="3600">
            <a:solidFill>
              <a:srgbClr val="2A2D34"/>
            </a:solidFill>
          </a:ln>
        </p:spPr>
      </p:cxnSp>
      <p:sp>
        <p:nvSpPr>
          <p:cNvPr id="22" name="텍스트"/>
          <p:cNvSpPr txBox="1"/>
          <p:nvPr/>
        </p:nvSpPr>
        <p:spPr>
          <a:xfrm>
            <a:off x="828000" y="1512000"/>
            <a:ext cx="2160000" cy="110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41"/>
              </a:lnSpc>
            </a:pPr>
            <a:r>
              <a:rPr sz="580" b="0">
                <a:solidFill>
                  <a:srgbClr val="A7ABB4"/>
                </a:solidFill>
                <a:latin typeface="맑은 고딕"/>
                <a:ea typeface="맑은 고딕"/>
              </a:rPr>
              <a:t>평일 09:00 – 18:00     www.example.com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세무사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