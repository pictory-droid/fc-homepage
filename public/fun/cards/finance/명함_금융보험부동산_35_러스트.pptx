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E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9C4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성OO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482A23"/>
                </a:solidFill>
                <a:latin typeface="맑은 고딕"/>
                <a:ea typeface="맑은 고딕"/>
              </a:rPr>
              <a:t>금융 상담역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482A23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E3CCC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482A2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E3CCC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482A2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E3CCC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482A2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E3CCC4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" y="540000"/>
            <a:ext cx="684000" cy="1260000"/>
          </a:xfrm>
          <a:prstGeom prst="rect">
            <a:avLst/>
          </a:prstGeom>
          <a:solidFill>
            <a:srgbClr val="8780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" y="198000"/>
            <a:ext cx="684000" cy="342000"/>
          </a:xfrm>
          <a:custGeom>
            <a:avLst/>
            <a:gdLst/>
            <a:ahLst/>
            <a:cxnLst/>
            <a:rect l="l" t="t" r="r" b="b"/>
            <a:pathLst>
              <a:path w="684000" h="342000">
                <a:moveTo>
                  <a:pt x="0" y="342000"/>
                </a:moveTo>
                <a:lnTo>
                  <a:pt x="2926" y="297360"/>
                </a:lnTo>
                <a:lnTo>
                  <a:pt x="11653" y="253484"/>
                </a:lnTo>
                <a:lnTo>
                  <a:pt x="26033" y="211122"/>
                </a:lnTo>
                <a:lnTo>
                  <a:pt x="45819" y="171000"/>
                </a:lnTo>
                <a:lnTo>
                  <a:pt x="70673" y="133804"/>
                </a:lnTo>
                <a:lnTo>
                  <a:pt x="100169" y="100169"/>
                </a:lnTo>
                <a:lnTo>
                  <a:pt x="133804" y="70673"/>
                </a:lnTo>
                <a:lnTo>
                  <a:pt x="171000" y="45819"/>
                </a:lnTo>
                <a:lnTo>
                  <a:pt x="211122" y="26033"/>
                </a:lnTo>
                <a:lnTo>
                  <a:pt x="253484" y="11653"/>
                </a:lnTo>
                <a:lnTo>
                  <a:pt x="297360" y="2926"/>
                </a:lnTo>
                <a:lnTo>
                  <a:pt x="342000" y="0"/>
                </a:lnTo>
                <a:lnTo>
                  <a:pt x="386640" y="2926"/>
                </a:lnTo>
                <a:lnTo>
                  <a:pt x="430516" y="11653"/>
                </a:lnTo>
                <a:lnTo>
                  <a:pt x="472878" y="26033"/>
                </a:lnTo>
                <a:lnTo>
                  <a:pt x="513000" y="45819"/>
                </a:lnTo>
                <a:lnTo>
                  <a:pt x="550196" y="70673"/>
                </a:lnTo>
                <a:lnTo>
                  <a:pt x="583831" y="100169"/>
                </a:lnTo>
                <a:lnTo>
                  <a:pt x="613327" y="133804"/>
                </a:lnTo>
                <a:lnTo>
                  <a:pt x="638181" y="171000"/>
                </a:lnTo>
                <a:lnTo>
                  <a:pt x="657967" y="211122"/>
                </a:lnTo>
                <a:lnTo>
                  <a:pt x="672347" y="253484"/>
                </a:lnTo>
                <a:lnTo>
                  <a:pt x="681074" y="297360"/>
                </a:lnTo>
                <a:lnTo>
                  <a:pt x="684000" y="342000"/>
                </a:lnTo>
                <a:close/>
              </a:path>
            </a:pathLst>
          </a:custGeom>
          <a:solidFill>
            <a:srgbClr val="8780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399024" y="898848"/>
            <a:ext cx="317952" cy="145152"/>
          </a:xfrm>
          <a:custGeom>
            <a:avLst/>
            <a:gdLst/>
            <a:ahLst/>
            <a:cxnLst/>
            <a:rect l="l" t="t" r="r" b="b"/>
            <a:pathLst>
              <a:path w="317952" h="145152">
                <a:moveTo>
                  <a:pt x="0" y="145152"/>
                </a:moveTo>
                <a:lnTo>
                  <a:pt x="158976" y="0"/>
                </a:lnTo>
                <a:lnTo>
                  <a:pt x="317952" y="14515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7408" y="1044000"/>
            <a:ext cx="221184" cy="145152"/>
          </a:xfrm>
          <a:prstGeom prst="rect">
            <a:avLst/>
          </a:prstGeom>
          <a:solidFill>
            <a:srgbClr val="C3C0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" y="1092384"/>
            <a:ext cx="55296" cy="96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118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8" name="Oval 7"/>
          <p:cNvSpPr/>
          <p:nvPr/>
        </p:nvSpPr>
        <p:spPr>
          <a:xfrm>
            <a:off x="1191600" y="489600"/>
            <a:ext cx="43200" cy="43200"/>
          </a:xfrm>
          <a:prstGeom prst="ellipse">
            <a:avLst/>
          </a:prstGeom>
          <a:solidFill>
            <a:srgbClr val="8780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29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보험 상담</a:t>
            </a:r>
          </a:p>
        </p:txBody>
      </p:sp>
      <p:sp>
        <p:nvSpPr>
          <p:cNvPr id="10" name="Oval 9"/>
          <p:cNvSpPr/>
          <p:nvPr/>
        </p:nvSpPr>
        <p:spPr>
          <a:xfrm>
            <a:off x="1191600" y="712800"/>
            <a:ext cx="43200" cy="43200"/>
          </a:xfrm>
          <a:prstGeom prst="ellipse">
            <a:avLst/>
          </a:prstGeom>
          <a:solidFill>
            <a:srgbClr val="3F60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29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전세 상담</a:t>
            </a:r>
          </a:p>
        </p:txBody>
      </p:sp>
      <p:sp>
        <p:nvSpPr>
          <p:cNvPr id="12" name="Oval 11"/>
          <p:cNvSpPr/>
          <p:nvPr/>
        </p:nvSpPr>
        <p:spPr>
          <a:xfrm>
            <a:off x="1191600" y="936000"/>
            <a:ext cx="43200" cy="43200"/>
          </a:xfrm>
          <a:prstGeom prst="ellipse">
            <a:avLst/>
          </a:prstGeom>
          <a:solidFill>
            <a:srgbClr val="8780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129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법인 상담</a:t>
            </a:r>
          </a:p>
        </p:txBody>
      </p:sp>
      <p:sp>
        <p:nvSpPr>
          <p:cNvPr id="14" name="Oval 13"/>
          <p:cNvSpPr/>
          <p:nvPr/>
        </p:nvSpPr>
        <p:spPr>
          <a:xfrm>
            <a:off x="1191600" y="1159200"/>
            <a:ext cx="43200" cy="43200"/>
          </a:xfrm>
          <a:prstGeom prst="ellipse">
            <a:avLst/>
          </a:prstGeom>
          <a:solidFill>
            <a:srgbClr val="3F60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129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청약 안내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88000" y="1440000"/>
            <a:ext cx="183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188000" y="1512000"/>
            <a:ext cx="1872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평일 10:00 – 19:00  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금융 상담역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