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2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2016000" cy="1800000"/>
          </a:xfrm>
          <a:custGeom>
            <a:avLst/>
            <a:gdLst/>
            <a:ahLst/>
            <a:cxnLst/>
            <a:rect l="l" t="t" r="r" b="b"/>
            <a:pathLst>
              <a:path w="2016000" h="1800000">
                <a:moveTo>
                  <a:pt x="0" y="0"/>
                </a:moveTo>
                <a:lnTo>
                  <a:pt x="2016000" y="0"/>
                </a:lnTo>
                <a:lnTo>
                  <a:pt x="14400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7A6D8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1440000" y="0"/>
            <a:ext cx="684000" cy="1800000"/>
          </a:xfrm>
          <a:custGeom>
            <a:avLst/>
            <a:gdLst/>
            <a:ahLst/>
            <a:cxnLst/>
            <a:rect l="l" t="t" r="r" b="b"/>
            <a:pathLst>
              <a:path w="684000" h="1800000">
                <a:moveTo>
                  <a:pt x="576000" y="0"/>
                </a:moveTo>
                <a:lnTo>
                  <a:pt x="684000" y="0"/>
                </a:lnTo>
                <a:lnTo>
                  <a:pt x="1080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7A7268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1368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1" spc="220">
                <a:solidFill>
                  <a:srgbClr val="FFFFFF">
                    <a:alpha val="80000"/>
                  </a:srgbClr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612000"/>
            <a:ext cx="14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FFFFFF"/>
                </a:solidFill>
                <a:latin typeface="맑은 고딕"/>
                <a:ea typeface="맑은 고딕"/>
              </a:rPr>
              <a:t>채OO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864000"/>
            <a:ext cx="1440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FFFFFF">
                    <a:alpha val="85000"/>
                  </a:srgbClr>
                </a:solidFill>
                <a:latin typeface="맑은 고딕"/>
                <a:ea typeface="맑은 고딕"/>
              </a:rPr>
              <a:t>금융 상담역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016000" y="1090800"/>
            <a:ext cx="2808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13D4F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296800" y="10800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016000" y="1234800"/>
            <a:ext cx="2808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13D4F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296800" y="12240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016000" y="1378800"/>
            <a:ext cx="2808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13D4F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296800" y="13680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144000" y="144000"/>
            <a:ext cx="165600" cy="0"/>
          </a:xfrm>
          <a:prstGeom prst="line">
            <a:avLst/>
          </a:prstGeom>
          <a:ln w="7920">
            <a:solidFill>
              <a:srgbClr val="6C8EA8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44000" y="144000"/>
            <a:ext cx="0" cy="165600"/>
          </a:xfrm>
          <a:prstGeom prst="line">
            <a:avLst/>
          </a:prstGeom>
          <a:ln w="7920">
            <a:solidFill>
              <a:srgbClr val="6C8EA8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>
            <a:off x="2930400" y="144000"/>
            <a:ext cx="165600" cy="0"/>
          </a:xfrm>
          <a:prstGeom prst="line">
            <a:avLst/>
          </a:prstGeom>
          <a:ln w="7920">
            <a:solidFill>
              <a:srgbClr val="6C8EA8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096000" y="144000"/>
            <a:ext cx="0" cy="165600"/>
          </a:xfrm>
          <a:prstGeom prst="line">
            <a:avLst/>
          </a:prstGeom>
          <a:ln w="7920">
            <a:solidFill>
              <a:srgbClr val="6C8EA8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144000" y="1656000"/>
            <a:ext cx="165600" cy="0"/>
          </a:xfrm>
          <a:prstGeom prst="line">
            <a:avLst/>
          </a:prstGeom>
          <a:ln w="7920">
            <a:solidFill>
              <a:srgbClr val="6C8EA8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144000" y="1490400"/>
            <a:ext cx="0" cy="165600"/>
          </a:xfrm>
          <a:prstGeom prst="line">
            <a:avLst/>
          </a:prstGeom>
          <a:ln w="7920">
            <a:solidFill>
              <a:srgbClr val="6C8EA8"/>
            </a:solidFill>
          </a:ln>
        </p:spPr>
      </p:cxnSp>
      <p:cxnSp>
        <p:nvCxnSpPr>
          <p:cNvPr id="8" name="Connector 7"/>
          <p:cNvCxnSpPr/>
          <p:nvPr/>
        </p:nvCxnSpPr>
        <p:spPr>
          <a:xfrm flipH="1">
            <a:off x="2930400" y="1656000"/>
            <a:ext cx="165600" cy="0"/>
          </a:xfrm>
          <a:prstGeom prst="line">
            <a:avLst/>
          </a:prstGeom>
          <a:ln w="7920">
            <a:solidFill>
              <a:srgbClr val="6C8EA8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3096000" y="1490400"/>
            <a:ext cx="0" cy="165600"/>
          </a:xfrm>
          <a:prstGeom prst="line">
            <a:avLst/>
          </a:prstGeom>
          <a:ln w="7920">
            <a:solidFill>
              <a:srgbClr val="6C8EA8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360000" y="3240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A7ABB4"/>
                </a:solidFill>
                <a:latin typeface="맑은 고딕"/>
                <a:ea typeface="맑은 고딕"/>
              </a:rPr>
              <a:t>상담 분야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512000" y="468000"/>
            <a:ext cx="216000" cy="0"/>
          </a:xfrm>
          <a:prstGeom prst="line">
            <a:avLst/>
          </a:prstGeom>
          <a:ln w="7200">
            <a:solidFill>
              <a:srgbClr val="6C8EA8"/>
            </a:solidFill>
          </a:ln>
        </p:spPr>
      </p:cxnSp>
      <p:sp>
        <p:nvSpPr>
          <p:cNvPr id="12" name="텍스트"/>
          <p:cNvSpPr txBox="1"/>
          <p:nvPr/>
        </p:nvSpPr>
        <p:spPr>
          <a:xfrm>
            <a:off x="360000" y="576000"/>
            <a:ext cx="2520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가입 점검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63200"/>
            <a:ext cx="2520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자산 관리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360000" y="950400"/>
            <a:ext cx="2520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청약 안내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360000" y="1137600"/>
            <a:ext cx="2520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사업자 상담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360000" y="14400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0">
                <a:solidFill>
                  <a:srgbClr val="A7ABB4"/>
                </a:solidFill>
                <a:latin typeface="맑은 고딕"/>
                <a:ea typeface="맑은 고딕"/>
              </a:rPr>
              <a:t>방문 · 전화 상담   ·   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금융 상담역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