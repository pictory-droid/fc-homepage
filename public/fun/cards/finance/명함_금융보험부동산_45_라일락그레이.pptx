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2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Freeform 1"/>
          <p:cNvSpPr/>
          <p:nvPr/>
        </p:nvSpPr>
        <p:spPr>
          <a:xfrm>
            <a:off x="0" y="0"/>
            <a:ext cx="2016000" cy="1800000"/>
          </a:xfrm>
          <a:custGeom>
            <a:avLst/>
            <a:gdLst/>
            <a:ahLst/>
            <a:cxnLst/>
            <a:rect l="l" t="t" r="r" b="b"/>
            <a:pathLst>
              <a:path w="2016000" h="1800000">
                <a:moveTo>
                  <a:pt x="0" y="0"/>
                </a:moveTo>
                <a:lnTo>
                  <a:pt x="2016000" y="0"/>
                </a:lnTo>
                <a:lnTo>
                  <a:pt x="1440000" y="1800000"/>
                </a:lnTo>
                <a:lnTo>
                  <a:pt x="0" y="1800000"/>
                </a:lnTo>
                <a:close/>
              </a:path>
            </a:pathLst>
          </a:custGeom>
          <a:solidFill>
            <a:srgbClr val="7A6D8D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Freeform 2"/>
          <p:cNvSpPr/>
          <p:nvPr/>
        </p:nvSpPr>
        <p:spPr>
          <a:xfrm>
            <a:off x="1440000" y="0"/>
            <a:ext cx="684000" cy="1800000"/>
          </a:xfrm>
          <a:custGeom>
            <a:avLst/>
            <a:gdLst/>
            <a:ahLst/>
            <a:cxnLst/>
            <a:rect l="l" t="t" r="r" b="b"/>
            <a:pathLst>
              <a:path w="684000" h="1800000">
                <a:moveTo>
                  <a:pt x="576000" y="0"/>
                </a:moveTo>
                <a:lnTo>
                  <a:pt x="684000" y="0"/>
                </a:lnTo>
                <a:lnTo>
                  <a:pt x="108000" y="1800000"/>
                </a:lnTo>
                <a:lnTo>
                  <a:pt x="0" y="1800000"/>
                </a:lnTo>
                <a:close/>
              </a:path>
            </a:pathLst>
          </a:custGeom>
          <a:solidFill>
            <a:srgbClr val="7A7268">
              <a:alpha val="90000"/>
            </a:srgb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텍스트"/>
          <p:cNvSpPr txBox="1"/>
          <p:nvPr/>
        </p:nvSpPr>
        <p:spPr>
          <a:xfrm>
            <a:off x="252000" y="252000"/>
            <a:ext cx="1368000" cy="1104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41"/>
              </a:lnSpc>
            </a:pPr>
            <a:r>
              <a:rPr sz="580" b="1" spc="220">
                <a:solidFill>
                  <a:srgbClr val="FFFFFF">
                    <a:alpha val="80000"/>
                  </a:srgbClr>
                </a:solidFill>
                <a:latin typeface="맑은 고딕"/>
                <a:ea typeface="맑은 고딕"/>
              </a:rPr>
              <a:t>회사 · 사무소 이름</a:t>
            </a:r>
          </a:p>
        </p:txBody>
      </p:sp>
      <p:sp>
        <p:nvSpPr>
          <p:cNvPr id="5" name="텍스트"/>
          <p:cNvSpPr txBox="1"/>
          <p:nvPr/>
        </p:nvSpPr>
        <p:spPr>
          <a:xfrm>
            <a:off x="252000" y="612000"/>
            <a:ext cx="144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030"/>
              </a:lnSpc>
            </a:pPr>
            <a:r>
              <a:rPr sz="1400" b="1" spc="100">
                <a:solidFill>
                  <a:srgbClr val="FFFFFF"/>
                </a:solidFill>
                <a:latin typeface="맑은 고딕"/>
                <a:ea typeface="맑은 고딕"/>
              </a:rPr>
              <a:t>채OO</a:t>
            </a:r>
          </a:p>
        </p:txBody>
      </p:sp>
      <p:sp>
        <p:nvSpPr>
          <p:cNvPr id="6" name="텍스트"/>
          <p:cNvSpPr txBox="1"/>
          <p:nvPr/>
        </p:nvSpPr>
        <p:spPr>
          <a:xfrm>
            <a:off x="252000" y="864000"/>
            <a:ext cx="1440000" cy="1295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86"/>
              </a:lnSpc>
            </a:pPr>
            <a:r>
              <a:rPr sz="680" b="0">
                <a:solidFill>
                  <a:srgbClr val="FFFFFF">
                    <a:alpha val="85000"/>
                  </a:srgbClr>
                </a:solidFill>
                <a:latin typeface="맑은 고딕"/>
                <a:ea typeface="맑은 고딕"/>
              </a:rPr>
              <a:t>금융 상담역</a:t>
            </a:r>
          </a:p>
        </p:txBody>
      </p:sp>
      <p:sp>
        <p:nvSpPr>
          <p:cNvPr id="7" name="텍스트"/>
          <p:cNvSpPr txBox="1"/>
          <p:nvPr/>
        </p:nvSpPr>
        <p:spPr>
          <a:xfrm>
            <a:off x="2016000" y="1090800"/>
            <a:ext cx="2808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413D4F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8" name="텍스트"/>
          <p:cNvSpPr txBox="1"/>
          <p:nvPr/>
        </p:nvSpPr>
        <p:spPr>
          <a:xfrm>
            <a:off x="2296800" y="1080000"/>
            <a:ext cx="1008000" cy="11430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69"/>
              </a:lnSpc>
            </a:pPr>
            <a:r>
              <a:rPr sz="600" b="0">
                <a:solidFill>
                  <a:srgbClr val="14171D"/>
                </a:solidFill>
                <a:latin typeface="맑은 고딕"/>
                <a:ea typeface="맑은 고딕"/>
              </a:rPr>
              <a:t>010-1234-5678</a:t>
            </a:r>
          </a:p>
        </p:txBody>
      </p:sp>
      <p:sp>
        <p:nvSpPr>
          <p:cNvPr id="9" name="텍스트"/>
          <p:cNvSpPr txBox="1"/>
          <p:nvPr/>
        </p:nvSpPr>
        <p:spPr>
          <a:xfrm>
            <a:off x="2016000" y="1234800"/>
            <a:ext cx="2808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413D4F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10" name="텍스트"/>
          <p:cNvSpPr txBox="1"/>
          <p:nvPr/>
        </p:nvSpPr>
        <p:spPr>
          <a:xfrm>
            <a:off x="2296800" y="1224000"/>
            <a:ext cx="1008000" cy="11430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69"/>
              </a:lnSpc>
            </a:pPr>
            <a:r>
              <a:rPr sz="600" b="0">
                <a:solidFill>
                  <a:srgbClr val="14171D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2016000" y="1378800"/>
            <a:ext cx="2808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413D4F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12" name="텍스트"/>
          <p:cNvSpPr txBox="1"/>
          <p:nvPr/>
        </p:nvSpPr>
        <p:spPr>
          <a:xfrm>
            <a:off x="2296800" y="1368000"/>
            <a:ext cx="1008000" cy="11430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69"/>
              </a:lnSpc>
            </a:pPr>
            <a:r>
              <a:rPr sz="600" b="0">
                <a:solidFill>
                  <a:srgbClr val="14171D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01216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144000" y="144000"/>
            <a:ext cx="165600" cy="0"/>
          </a:xfrm>
          <a:prstGeom prst="line">
            <a:avLst/>
          </a:prstGeom>
          <a:ln w="7920">
            <a:solidFill>
              <a:srgbClr val="6C8EA8"/>
            </a:solidFill>
          </a:ln>
        </p:spPr>
      </p:cxnSp>
      <p:cxnSp>
        <p:nvCxnSpPr>
          <p:cNvPr id="3" name="Connector 2"/>
          <p:cNvCxnSpPr/>
          <p:nvPr/>
        </p:nvCxnSpPr>
        <p:spPr>
          <a:xfrm>
            <a:off x="144000" y="144000"/>
            <a:ext cx="0" cy="165600"/>
          </a:xfrm>
          <a:prstGeom prst="line">
            <a:avLst/>
          </a:prstGeom>
          <a:ln w="7920">
            <a:solidFill>
              <a:srgbClr val="6C8EA8"/>
            </a:solidFill>
          </a:ln>
        </p:spPr>
      </p:cxnSp>
      <p:cxnSp>
        <p:nvCxnSpPr>
          <p:cNvPr id="4" name="Connector 3"/>
          <p:cNvCxnSpPr/>
          <p:nvPr/>
        </p:nvCxnSpPr>
        <p:spPr>
          <a:xfrm flipH="1">
            <a:off x="2930400" y="144000"/>
            <a:ext cx="165600" cy="0"/>
          </a:xfrm>
          <a:prstGeom prst="line">
            <a:avLst/>
          </a:prstGeom>
          <a:ln w="7920">
            <a:solidFill>
              <a:srgbClr val="6C8EA8"/>
            </a:solidFill>
          </a:ln>
        </p:spPr>
      </p:cxnSp>
      <p:cxnSp>
        <p:nvCxnSpPr>
          <p:cNvPr id="5" name="Connector 4"/>
          <p:cNvCxnSpPr/>
          <p:nvPr/>
        </p:nvCxnSpPr>
        <p:spPr>
          <a:xfrm>
            <a:off x="3096000" y="144000"/>
            <a:ext cx="0" cy="165600"/>
          </a:xfrm>
          <a:prstGeom prst="line">
            <a:avLst/>
          </a:prstGeom>
          <a:ln w="7920">
            <a:solidFill>
              <a:srgbClr val="6C8EA8"/>
            </a:solidFill>
          </a:ln>
        </p:spPr>
      </p:cxnSp>
      <p:cxnSp>
        <p:nvCxnSpPr>
          <p:cNvPr id="6" name="Connector 5"/>
          <p:cNvCxnSpPr/>
          <p:nvPr/>
        </p:nvCxnSpPr>
        <p:spPr>
          <a:xfrm>
            <a:off x="144000" y="1656000"/>
            <a:ext cx="165600" cy="0"/>
          </a:xfrm>
          <a:prstGeom prst="line">
            <a:avLst/>
          </a:prstGeom>
          <a:ln w="7920">
            <a:solidFill>
              <a:srgbClr val="6C8EA8"/>
            </a:solidFill>
          </a:ln>
        </p:spPr>
      </p:cxnSp>
      <p:cxnSp>
        <p:nvCxnSpPr>
          <p:cNvPr id="7" name="Connector 6"/>
          <p:cNvCxnSpPr/>
          <p:nvPr/>
        </p:nvCxnSpPr>
        <p:spPr>
          <a:xfrm flipV="1">
            <a:off x="144000" y="1490400"/>
            <a:ext cx="0" cy="165600"/>
          </a:xfrm>
          <a:prstGeom prst="line">
            <a:avLst/>
          </a:prstGeom>
          <a:ln w="7920">
            <a:solidFill>
              <a:srgbClr val="6C8EA8"/>
            </a:solidFill>
          </a:ln>
        </p:spPr>
      </p:cxnSp>
      <p:cxnSp>
        <p:nvCxnSpPr>
          <p:cNvPr id="8" name="Connector 7"/>
          <p:cNvCxnSpPr/>
          <p:nvPr/>
        </p:nvCxnSpPr>
        <p:spPr>
          <a:xfrm flipH="1">
            <a:off x="2930400" y="1656000"/>
            <a:ext cx="165600" cy="0"/>
          </a:xfrm>
          <a:prstGeom prst="line">
            <a:avLst/>
          </a:prstGeom>
          <a:ln w="7920">
            <a:solidFill>
              <a:srgbClr val="6C8EA8"/>
            </a:solidFill>
          </a:ln>
        </p:spPr>
      </p:cxnSp>
      <p:cxnSp>
        <p:nvCxnSpPr>
          <p:cNvPr id="9" name="Connector 8"/>
          <p:cNvCxnSpPr/>
          <p:nvPr/>
        </p:nvCxnSpPr>
        <p:spPr>
          <a:xfrm flipV="1">
            <a:off x="3096000" y="1490400"/>
            <a:ext cx="0" cy="165600"/>
          </a:xfrm>
          <a:prstGeom prst="line">
            <a:avLst/>
          </a:prstGeom>
          <a:ln w="7920">
            <a:solidFill>
              <a:srgbClr val="6C8EA8"/>
            </a:solidFill>
          </a:ln>
        </p:spPr>
      </p:cxnSp>
      <p:sp>
        <p:nvSpPr>
          <p:cNvPr id="10" name="텍스트"/>
          <p:cNvSpPr txBox="1"/>
          <p:nvPr/>
        </p:nvSpPr>
        <p:spPr>
          <a:xfrm>
            <a:off x="360000" y="324000"/>
            <a:ext cx="2520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754"/>
              </a:lnSpc>
            </a:pPr>
            <a:r>
              <a:rPr sz="520" b="1" spc="240">
                <a:solidFill>
                  <a:srgbClr val="A7ABB4"/>
                </a:solidFill>
                <a:latin typeface="맑은 고딕"/>
                <a:ea typeface="맑은 고딕"/>
              </a:rPr>
              <a:t>상담 분야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1512000" y="468000"/>
            <a:ext cx="216000" cy="0"/>
          </a:xfrm>
          <a:prstGeom prst="line">
            <a:avLst/>
          </a:prstGeom>
          <a:ln w="7200">
            <a:solidFill>
              <a:srgbClr val="6C8EA8"/>
            </a:solidFill>
          </a:ln>
        </p:spPr>
      </p:cxnSp>
      <p:sp>
        <p:nvSpPr>
          <p:cNvPr id="12" name="텍스트"/>
          <p:cNvSpPr txBox="1"/>
          <p:nvPr/>
        </p:nvSpPr>
        <p:spPr>
          <a:xfrm>
            <a:off x="360000" y="576000"/>
            <a:ext cx="2520000" cy="172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073"/>
              </a:lnSpc>
            </a:pPr>
            <a:r>
              <a:rPr sz="740" b="1">
                <a:solidFill>
                  <a:srgbClr val="FFFFFF"/>
                </a:solidFill>
                <a:latin typeface="맑은 고딕"/>
                <a:ea typeface="맑은 고딕"/>
              </a:rPr>
              <a:t>가입 점검</a:t>
            </a:r>
          </a:p>
        </p:txBody>
      </p:sp>
      <p:sp>
        <p:nvSpPr>
          <p:cNvPr id="13" name="텍스트"/>
          <p:cNvSpPr txBox="1"/>
          <p:nvPr/>
        </p:nvSpPr>
        <p:spPr>
          <a:xfrm>
            <a:off x="360000" y="763200"/>
            <a:ext cx="2520000" cy="172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073"/>
              </a:lnSpc>
            </a:pPr>
            <a:r>
              <a:rPr sz="740" b="1">
                <a:solidFill>
                  <a:srgbClr val="FFFFFF"/>
                </a:solidFill>
                <a:latin typeface="맑은 고딕"/>
                <a:ea typeface="맑은 고딕"/>
              </a:rPr>
              <a:t>자산 관리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360000" y="950400"/>
            <a:ext cx="2520000" cy="172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073"/>
              </a:lnSpc>
            </a:pPr>
            <a:r>
              <a:rPr sz="740" b="1">
                <a:solidFill>
                  <a:srgbClr val="FFFFFF"/>
                </a:solidFill>
                <a:latin typeface="맑은 고딕"/>
                <a:ea typeface="맑은 고딕"/>
              </a:rPr>
              <a:t>청약 안내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360000" y="1137600"/>
            <a:ext cx="2520000" cy="172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073"/>
              </a:lnSpc>
            </a:pPr>
            <a:r>
              <a:rPr sz="740" b="1">
                <a:solidFill>
                  <a:srgbClr val="FFFFFF"/>
                </a:solidFill>
                <a:latin typeface="맑은 고딕"/>
                <a:ea typeface="맑은 고딕"/>
              </a:rPr>
              <a:t>사업자 상담</a:t>
            </a:r>
          </a:p>
        </p:txBody>
      </p:sp>
      <p:sp>
        <p:nvSpPr>
          <p:cNvPr id="16" name="텍스트"/>
          <p:cNvSpPr txBox="1"/>
          <p:nvPr/>
        </p:nvSpPr>
        <p:spPr>
          <a:xfrm>
            <a:off x="360000" y="1440000"/>
            <a:ext cx="2520000" cy="11049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841"/>
              </a:lnSpc>
            </a:pPr>
            <a:r>
              <a:rPr sz="580" b="0">
                <a:solidFill>
                  <a:srgbClr val="A7ABB4"/>
                </a:solidFill>
                <a:latin typeface="맑은 고딕"/>
                <a:ea typeface="맑은 고딕"/>
              </a:rPr>
              <a:t>방문 · 전화 상담   ·   blog.example.com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금융 상담역 명함 서식</dc:title>
  <dc:subject>편집용 명함 서식</dc:subject>
  <dc:creator>반딧불이의 곳간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