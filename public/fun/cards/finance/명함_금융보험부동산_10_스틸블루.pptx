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0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52000" y="0"/>
            <a:ext cx="288000" cy="1800000"/>
          </a:xfrm>
          <a:prstGeom prst="rect">
            <a:avLst/>
          </a:prstGeom>
          <a:solidFill>
            <a:srgbClr val="4F6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52000" y="0"/>
            <a:ext cx="288000" cy="540000"/>
          </a:xfrm>
          <a:prstGeom prst="rect">
            <a:avLst/>
          </a:prstGeom>
          <a:solidFill>
            <a:srgbClr val="56929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3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2A3848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396000"/>
            <a:ext cx="252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sz="2500" b="1" spc="100">
                <a:solidFill>
                  <a:srgbClr val="14171D"/>
                </a:solidFill>
                <a:latin typeface="맑은 고딕"/>
                <a:ea typeface="맑은 고딕"/>
              </a:rPr>
              <a:t>임OO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2000" y="943200"/>
            <a:ext cx="785403" cy="172800"/>
          </a:xfrm>
          <a:prstGeom prst="roundRect">
            <a:avLst>
              <a:gd name="adj" fmla="val 50000"/>
            </a:avLst>
          </a:prstGeom>
          <a:solidFill>
            <a:srgbClr val="4F6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52000" y="943200"/>
            <a:ext cx="785403" cy="17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56"/>
              </a:lnSpc>
            </a:pPr>
            <a:r>
              <a:rPr sz="660" b="1" spc="80">
                <a:solidFill>
                  <a:srgbClr val="FFFFFF"/>
                </a:solidFill>
                <a:latin typeface="맑은 고딕"/>
                <a:ea typeface="맑은 고딕"/>
              </a:rPr>
              <a:t>대리점 대표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1267200"/>
            <a:ext cx="2484000" cy="0"/>
          </a:xfrm>
          <a:prstGeom prst="line">
            <a:avLst/>
          </a:prstGeom>
          <a:ln w="3600">
            <a:solidFill>
              <a:srgbClr val="CED6E0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13536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2A3848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4544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16000" y="13536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2A3848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116000" y="1454400"/>
            <a:ext cx="93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52000" y="13536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2A3848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052000" y="1454400"/>
            <a:ext cx="93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6000" y="540000"/>
            <a:ext cx="684000" cy="1260000"/>
          </a:xfrm>
          <a:prstGeom prst="rect">
            <a:avLst/>
          </a:prstGeom>
          <a:solidFill>
            <a:srgbClr val="C08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16000" y="198000"/>
            <a:ext cx="684000" cy="342000"/>
          </a:xfrm>
          <a:custGeom>
            <a:avLst/>
            <a:gdLst/>
            <a:ahLst/>
            <a:cxnLst/>
            <a:rect l="l" t="t" r="r" b="b"/>
            <a:pathLst>
              <a:path w="684000" h="342000">
                <a:moveTo>
                  <a:pt x="0" y="342000"/>
                </a:moveTo>
                <a:lnTo>
                  <a:pt x="2926" y="297360"/>
                </a:lnTo>
                <a:lnTo>
                  <a:pt x="11653" y="253484"/>
                </a:lnTo>
                <a:lnTo>
                  <a:pt x="26033" y="211122"/>
                </a:lnTo>
                <a:lnTo>
                  <a:pt x="45819" y="171000"/>
                </a:lnTo>
                <a:lnTo>
                  <a:pt x="70673" y="133804"/>
                </a:lnTo>
                <a:lnTo>
                  <a:pt x="100169" y="100169"/>
                </a:lnTo>
                <a:lnTo>
                  <a:pt x="133804" y="70673"/>
                </a:lnTo>
                <a:lnTo>
                  <a:pt x="171000" y="45819"/>
                </a:lnTo>
                <a:lnTo>
                  <a:pt x="211122" y="26033"/>
                </a:lnTo>
                <a:lnTo>
                  <a:pt x="253484" y="11653"/>
                </a:lnTo>
                <a:lnTo>
                  <a:pt x="297360" y="2926"/>
                </a:lnTo>
                <a:lnTo>
                  <a:pt x="342000" y="0"/>
                </a:lnTo>
                <a:lnTo>
                  <a:pt x="386640" y="2926"/>
                </a:lnTo>
                <a:lnTo>
                  <a:pt x="430516" y="11653"/>
                </a:lnTo>
                <a:lnTo>
                  <a:pt x="472878" y="26033"/>
                </a:lnTo>
                <a:lnTo>
                  <a:pt x="513000" y="45819"/>
                </a:lnTo>
                <a:lnTo>
                  <a:pt x="550196" y="70673"/>
                </a:lnTo>
                <a:lnTo>
                  <a:pt x="583831" y="100169"/>
                </a:lnTo>
                <a:lnTo>
                  <a:pt x="613327" y="133804"/>
                </a:lnTo>
                <a:lnTo>
                  <a:pt x="638181" y="171000"/>
                </a:lnTo>
                <a:lnTo>
                  <a:pt x="657967" y="211122"/>
                </a:lnTo>
                <a:lnTo>
                  <a:pt x="672347" y="253484"/>
                </a:lnTo>
                <a:lnTo>
                  <a:pt x="681074" y="297360"/>
                </a:lnTo>
                <a:lnTo>
                  <a:pt x="684000" y="342000"/>
                </a:lnTo>
                <a:close/>
              </a:path>
            </a:pathLst>
          </a:custGeom>
          <a:solidFill>
            <a:srgbClr val="C08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05936" y="954144"/>
            <a:ext cx="138240" cy="138240"/>
          </a:xfrm>
          <a:prstGeom prst="ellipse">
            <a:avLst/>
          </a:prstGeom>
          <a:noFill/>
          <a:ln w="31104">
            <a:solidFill>
              <a:srgbClr val="14171D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37264" y="1023264"/>
            <a:ext cx="172800" cy="0"/>
          </a:xfrm>
          <a:prstGeom prst="line">
            <a:avLst/>
          </a:prstGeom>
          <a:ln w="31104">
            <a:solidFill>
              <a:srgbClr val="14171D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661680" y="1023264"/>
            <a:ext cx="0" cy="62208"/>
          </a:xfrm>
          <a:prstGeom prst="line">
            <a:avLst/>
          </a:prstGeom>
          <a:ln w="27648">
            <a:solidFill>
              <a:srgbClr val="6A5026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710064" y="1023264"/>
            <a:ext cx="0" cy="76032"/>
          </a:xfrm>
          <a:prstGeom prst="line">
            <a:avLst/>
          </a:prstGeom>
          <a:ln w="27648">
            <a:solidFill>
              <a:srgbClr val="6A5026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1188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9" name="Oval 8"/>
          <p:cNvSpPr/>
          <p:nvPr/>
        </p:nvSpPr>
        <p:spPr>
          <a:xfrm>
            <a:off x="1191600" y="489600"/>
            <a:ext cx="43200" cy="43200"/>
          </a:xfrm>
          <a:prstGeom prst="ellipse">
            <a:avLst/>
          </a:prstGeom>
          <a:solidFill>
            <a:srgbClr val="C08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1296000" y="432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전세 상담</a:t>
            </a:r>
          </a:p>
        </p:txBody>
      </p:sp>
      <p:sp>
        <p:nvSpPr>
          <p:cNvPr id="11" name="Oval 10"/>
          <p:cNvSpPr/>
          <p:nvPr/>
        </p:nvSpPr>
        <p:spPr>
          <a:xfrm>
            <a:off x="1191600" y="712800"/>
            <a:ext cx="43200" cy="43200"/>
          </a:xfrm>
          <a:prstGeom prst="ellipse">
            <a:avLst/>
          </a:prstGeom>
          <a:solidFill>
            <a:srgbClr val="B554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1296000" y="655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대출 안내</a:t>
            </a:r>
          </a:p>
        </p:txBody>
      </p:sp>
      <p:sp>
        <p:nvSpPr>
          <p:cNvPr id="13" name="Oval 12"/>
          <p:cNvSpPr/>
          <p:nvPr/>
        </p:nvSpPr>
        <p:spPr>
          <a:xfrm>
            <a:off x="1191600" y="936000"/>
            <a:ext cx="43200" cy="43200"/>
          </a:xfrm>
          <a:prstGeom prst="ellipse">
            <a:avLst/>
          </a:prstGeom>
          <a:solidFill>
            <a:srgbClr val="C08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1296000" y="87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법인 상담</a:t>
            </a:r>
          </a:p>
        </p:txBody>
      </p:sp>
      <p:sp>
        <p:nvSpPr>
          <p:cNvPr id="15" name="Oval 14"/>
          <p:cNvSpPr/>
          <p:nvPr/>
        </p:nvSpPr>
        <p:spPr>
          <a:xfrm>
            <a:off x="1191600" y="1159200"/>
            <a:ext cx="43200" cy="43200"/>
          </a:xfrm>
          <a:prstGeom prst="ellipse">
            <a:avLst/>
          </a:prstGeom>
          <a:solidFill>
            <a:srgbClr val="B554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텍스트"/>
          <p:cNvSpPr txBox="1"/>
          <p:nvPr/>
        </p:nvSpPr>
        <p:spPr>
          <a:xfrm>
            <a:off x="1296000" y="11016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사업자 상담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188000" y="1440000"/>
            <a:ext cx="1836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8" name="텍스트"/>
          <p:cNvSpPr txBox="1"/>
          <p:nvPr/>
        </p:nvSpPr>
        <p:spPr>
          <a:xfrm>
            <a:off x="1188000" y="1512000"/>
            <a:ext cx="1872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A7ABB4"/>
                </a:solidFill>
                <a:latin typeface="맑은 고딕"/>
                <a:ea typeface="맑은 고딕"/>
              </a:rPr>
              <a:t>방문 · 전화 상담    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대리점 대표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