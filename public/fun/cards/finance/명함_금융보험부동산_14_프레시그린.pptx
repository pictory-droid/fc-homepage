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000" cy="1800000"/>
          </a:xfrm>
          <a:prstGeom prst="rect">
            <a:avLst/>
          </a:prstGeom>
          <a:solidFill>
            <a:srgbClr val="12B7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V="1">
            <a:off x="0" y="1224000"/>
            <a:ext cx="50400" cy="504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4" name="Connector 3"/>
          <p:cNvCxnSpPr/>
          <p:nvPr/>
        </p:nvCxnSpPr>
        <p:spPr>
          <a:xfrm flipV="1">
            <a:off x="0" y="1224000"/>
            <a:ext cx="100800" cy="100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5" name="Connector 4"/>
          <p:cNvCxnSpPr/>
          <p:nvPr/>
        </p:nvCxnSpPr>
        <p:spPr>
          <a:xfrm flipV="1">
            <a:off x="0" y="1224000"/>
            <a:ext cx="151200" cy="1512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6" name="Connector 5"/>
          <p:cNvCxnSpPr/>
          <p:nvPr/>
        </p:nvCxnSpPr>
        <p:spPr>
          <a:xfrm flipV="1">
            <a:off x="0" y="1224000"/>
            <a:ext cx="201600" cy="2016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0" y="1224000"/>
            <a:ext cx="252000" cy="252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8" name="Connector 7"/>
          <p:cNvCxnSpPr/>
          <p:nvPr/>
        </p:nvCxnSpPr>
        <p:spPr>
          <a:xfrm flipV="1">
            <a:off x="0" y="1224000"/>
            <a:ext cx="302400" cy="3024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0" y="1224000"/>
            <a:ext cx="352800" cy="352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0" y="1224000"/>
            <a:ext cx="403200" cy="4032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0" y="1224000"/>
            <a:ext cx="453600" cy="4536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0" y="1224000"/>
            <a:ext cx="504000" cy="504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0" y="1224000"/>
            <a:ext cx="554400" cy="5544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288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792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1296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1800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230400" y="1274400"/>
            <a:ext cx="525600" cy="5256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9" name="Connector 18"/>
          <p:cNvCxnSpPr/>
          <p:nvPr/>
        </p:nvCxnSpPr>
        <p:spPr>
          <a:xfrm flipV="1">
            <a:off x="280800" y="1324800"/>
            <a:ext cx="475200" cy="4752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0" name="Connector 19"/>
          <p:cNvCxnSpPr/>
          <p:nvPr/>
        </p:nvCxnSpPr>
        <p:spPr>
          <a:xfrm flipV="1">
            <a:off x="331200" y="1375200"/>
            <a:ext cx="424800" cy="424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1" name="Connector 20"/>
          <p:cNvCxnSpPr/>
          <p:nvPr/>
        </p:nvCxnSpPr>
        <p:spPr>
          <a:xfrm flipV="1">
            <a:off x="381600" y="1425600"/>
            <a:ext cx="374400" cy="3744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2" name="Connector 21"/>
          <p:cNvCxnSpPr/>
          <p:nvPr/>
        </p:nvCxnSpPr>
        <p:spPr>
          <a:xfrm flipV="1">
            <a:off x="432000" y="1476000"/>
            <a:ext cx="324000" cy="324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3" name="Connector 22"/>
          <p:cNvCxnSpPr/>
          <p:nvPr/>
        </p:nvCxnSpPr>
        <p:spPr>
          <a:xfrm flipV="1">
            <a:off x="482400" y="1526400"/>
            <a:ext cx="273600" cy="2736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4" name="Connector 23"/>
          <p:cNvCxnSpPr/>
          <p:nvPr/>
        </p:nvCxnSpPr>
        <p:spPr>
          <a:xfrm flipV="1">
            <a:off x="532800" y="1576800"/>
            <a:ext cx="223200" cy="2232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5" name="Connector 24"/>
          <p:cNvCxnSpPr/>
          <p:nvPr/>
        </p:nvCxnSpPr>
        <p:spPr>
          <a:xfrm flipV="1">
            <a:off x="583200" y="1627200"/>
            <a:ext cx="172800" cy="172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6" name="Connector 25"/>
          <p:cNvCxnSpPr/>
          <p:nvPr/>
        </p:nvCxnSpPr>
        <p:spPr>
          <a:xfrm flipV="1">
            <a:off x="633600" y="1677600"/>
            <a:ext cx="122400" cy="1224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7" name="Connector 26"/>
          <p:cNvCxnSpPr/>
          <p:nvPr/>
        </p:nvCxnSpPr>
        <p:spPr>
          <a:xfrm flipV="1">
            <a:off x="684000" y="1728000"/>
            <a:ext cx="72000" cy="72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8" name="Connector 27"/>
          <p:cNvCxnSpPr/>
          <p:nvPr/>
        </p:nvCxnSpPr>
        <p:spPr>
          <a:xfrm flipV="1">
            <a:off x="734400" y="1778400"/>
            <a:ext cx="21600" cy="216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sp>
        <p:nvSpPr>
          <p:cNvPr id="29" name="Oval 28"/>
          <p:cNvSpPr/>
          <p:nvPr/>
        </p:nvSpPr>
        <p:spPr>
          <a:xfrm>
            <a:off x="212400" y="374400"/>
            <a:ext cx="331200" cy="331200"/>
          </a:xfrm>
          <a:prstGeom prst="ellipse">
            <a:avLst/>
          </a:prstGeom>
          <a:noFill/>
          <a:ln w="5760">
            <a:solidFill>
              <a:srgbClr val="12151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텍스트"/>
          <p:cNvSpPr txBox="1"/>
          <p:nvPr/>
        </p:nvSpPr>
        <p:spPr>
          <a:xfrm>
            <a:off x="198000" y="378000"/>
            <a:ext cx="360000" cy="32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320"/>
              </a:lnSpc>
            </a:pPr>
            <a:r>
              <a:rPr sz="1600" b="1">
                <a:solidFill>
                  <a:srgbClr val="12151C"/>
                </a:solidFill>
                <a:latin typeface="맑은 고딕"/>
                <a:ea typeface="맑은 고딕"/>
              </a:rPr>
              <a:t>회</a:t>
            </a:r>
          </a:p>
        </p:txBody>
      </p:sp>
      <p:sp>
        <p:nvSpPr>
          <p:cNvPr id="31" name="텍스트"/>
          <p:cNvSpPr txBox="1"/>
          <p:nvPr/>
        </p:nvSpPr>
        <p:spPr>
          <a:xfrm>
            <a:off x="936000" y="252000"/>
            <a:ext cx="154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B7280"/>
                </a:solidFill>
                <a:latin typeface="맑은 고딕"/>
                <a:ea typeface="맑은 고딕"/>
              </a:rPr>
              <a:t>회사 · 사무소 이름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36000" y="424800"/>
            <a:ext cx="2052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33" name="텍스트"/>
          <p:cNvSpPr txBox="1"/>
          <p:nvPr/>
        </p:nvSpPr>
        <p:spPr>
          <a:xfrm>
            <a:off x="936000" y="684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신태민</a:t>
            </a:r>
          </a:p>
        </p:txBody>
      </p:sp>
      <p:sp>
        <p:nvSpPr>
          <p:cNvPr id="34" name="텍스트"/>
          <p:cNvSpPr txBox="1"/>
          <p:nvPr/>
        </p:nvSpPr>
        <p:spPr>
          <a:xfrm>
            <a:off x="936000" y="936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B7280"/>
                </a:solidFill>
                <a:latin typeface="맑은 고딕"/>
                <a:ea typeface="맑은 고딕"/>
              </a:rPr>
              <a:t>세무사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36000" y="1303200"/>
            <a:ext cx="2052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36" name="텍스트"/>
          <p:cNvSpPr txBox="1"/>
          <p:nvPr/>
        </p:nvSpPr>
        <p:spPr>
          <a:xfrm>
            <a:off x="936000" y="1393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37" name="텍스트"/>
          <p:cNvSpPr txBox="1"/>
          <p:nvPr/>
        </p:nvSpPr>
        <p:spPr>
          <a:xfrm>
            <a:off x="1267200" y="13824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38" name="텍스트"/>
          <p:cNvSpPr txBox="1"/>
          <p:nvPr/>
        </p:nvSpPr>
        <p:spPr>
          <a:xfrm>
            <a:off x="936000" y="15156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39" name="텍스트"/>
          <p:cNvSpPr txBox="1"/>
          <p:nvPr/>
        </p:nvSpPr>
        <p:spPr>
          <a:xfrm>
            <a:off x="1267200" y="15048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40" name="텍스트"/>
          <p:cNvSpPr txBox="1"/>
          <p:nvPr/>
        </p:nvSpPr>
        <p:spPr>
          <a:xfrm>
            <a:off x="936000" y="1638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41" name="텍스트"/>
          <p:cNvSpPr txBox="1"/>
          <p:nvPr/>
        </p:nvSpPr>
        <p:spPr>
          <a:xfrm>
            <a:off x="1267200" y="16272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6B7280"/>
                </a:solidFill>
                <a:latin typeface="맑은 고딕"/>
                <a:ea typeface="맑은 고딕"/>
              </a:rPr>
              <a:t>상담 분야</a:t>
            </a:r>
          </a:p>
        </p:txBody>
      </p:sp>
      <p:sp>
        <p:nvSpPr>
          <p:cNvPr id="3" name="Rectangle 2"/>
          <p:cNvSpPr/>
          <p:nvPr/>
        </p:nvSpPr>
        <p:spPr>
          <a:xfrm>
            <a:off x="252000" y="352800"/>
            <a:ext cx="108000" cy="14400"/>
          </a:xfrm>
          <a:prstGeom prst="rect">
            <a:avLst/>
          </a:prstGeom>
          <a:solidFill>
            <a:srgbClr val="12B7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252000" y="453600"/>
            <a:ext cx="1512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5" name="텍스트"/>
          <p:cNvSpPr txBox="1"/>
          <p:nvPr/>
        </p:nvSpPr>
        <p:spPr>
          <a:xfrm>
            <a:off x="252000" y="5076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6B7280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489600" y="4968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자산 관리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2000" y="640800"/>
            <a:ext cx="1512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252000" y="6948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6B7280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489600" y="6840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상속 · 증여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2000" y="828000"/>
            <a:ext cx="1512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52000" y="8820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6B7280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489600" y="8712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사업자 상담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52000" y="1015200"/>
            <a:ext cx="1512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14" name="텍스트"/>
          <p:cNvSpPr txBox="1"/>
          <p:nvPr/>
        </p:nvSpPr>
        <p:spPr>
          <a:xfrm>
            <a:off x="252000" y="10692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6B7280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489600" y="10584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증권 정리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52000" y="1202400"/>
            <a:ext cx="1512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17" name="Rectangle 16"/>
          <p:cNvSpPr/>
          <p:nvPr/>
        </p:nvSpPr>
        <p:spPr>
          <a:xfrm>
            <a:off x="2088000" y="252000"/>
            <a:ext cx="900000" cy="1296000"/>
          </a:xfrm>
          <a:prstGeom prst="rect">
            <a:avLst/>
          </a:prstGeom>
          <a:solidFill>
            <a:srgbClr val="12B7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텍스트"/>
          <p:cNvSpPr txBox="1"/>
          <p:nvPr/>
        </p:nvSpPr>
        <p:spPr>
          <a:xfrm>
            <a:off x="2196000" y="360000"/>
            <a:ext cx="684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240">
                <a:solidFill>
                  <a:srgbClr val="12151C">
                    <a:alpha val="75000"/>
                  </a:srgbClr>
                </a:solidFill>
                <a:latin typeface="맑은 고딕"/>
                <a:ea typeface="맑은 고딕"/>
              </a:rPr>
              <a:t>INFO</a:t>
            </a:r>
          </a:p>
        </p:txBody>
      </p:sp>
      <p:sp>
        <p:nvSpPr>
          <p:cNvPr id="19" name="텍스트"/>
          <p:cNvSpPr txBox="1"/>
          <p:nvPr/>
        </p:nvSpPr>
        <p:spPr>
          <a:xfrm>
            <a:off x="2196000" y="504000"/>
            <a:ext cx="684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1">
                <a:solidFill>
                  <a:srgbClr val="12151C"/>
                </a:solidFill>
                <a:latin typeface="맑은 고딕"/>
                <a:ea typeface="맑은 고딕"/>
              </a:rPr>
              <a:t>평일 09:00 – 18:00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196000" y="770400"/>
            <a:ext cx="684000" cy="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sp>
        <p:nvSpPr>
          <p:cNvPr id="21" name="텍스트"/>
          <p:cNvSpPr txBox="1"/>
          <p:nvPr/>
        </p:nvSpPr>
        <p:spPr>
          <a:xfrm>
            <a:off x="2196000" y="849600"/>
            <a:ext cx="68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2151C">
                    <a:alpha val="75000"/>
                  </a:srgbClr>
                </a:solidFill>
                <a:latin typeface="맑은 고딕"/>
                <a:ea typeface="맑은 고딕"/>
              </a:rPr>
              <a:t>WEB</a:t>
            </a:r>
          </a:p>
        </p:txBody>
      </p:sp>
      <p:sp>
        <p:nvSpPr>
          <p:cNvPr id="22" name="텍스트"/>
          <p:cNvSpPr txBox="1"/>
          <p:nvPr/>
        </p:nvSpPr>
        <p:spPr>
          <a:xfrm>
            <a:off x="2196000" y="957600"/>
            <a:ext cx="684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1">
                <a:solidFill>
                  <a:srgbClr val="12151C"/>
                </a:solidFill>
                <a:latin typeface="맑은 고딕"/>
                <a:ea typeface="맑은 고딕"/>
              </a:rPr>
              <a:t>www.example.com</a:t>
            </a:r>
          </a:p>
        </p:txBody>
      </p:sp>
      <p:sp>
        <p:nvSpPr>
          <p:cNvPr id="23" name="텍스트"/>
          <p:cNvSpPr txBox="1"/>
          <p:nvPr/>
        </p:nvSpPr>
        <p:spPr>
          <a:xfrm>
            <a:off x="2196000" y="1368000"/>
            <a:ext cx="720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11"/>
              </a:lnSpc>
            </a:pPr>
            <a:r>
              <a:rPr sz="560" b="1" spc="80">
                <a:solidFill>
                  <a:srgbClr val="12151C"/>
                </a:solidFill>
                <a:latin typeface="맑은 고딕"/>
                <a:ea typeface="맑은 고딕"/>
              </a:rPr>
              <a:t>회사 · 사무소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세무사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