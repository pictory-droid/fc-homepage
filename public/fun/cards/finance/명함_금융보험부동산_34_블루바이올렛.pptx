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1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Freeform 1"/>
          <p:cNvSpPr/>
          <p:nvPr/>
        </p:nvSpPr>
        <p:spPr>
          <a:xfrm>
            <a:off x="0" y="216000"/>
            <a:ext cx="684000" cy="1368000"/>
          </a:xfrm>
          <a:custGeom>
            <a:avLst/>
            <a:gdLst/>
            <a:ahLst/>
            <a:cxnLst/>
            <a:rect l="l" t="t" r="r" b="b"/>
            <a:pathLst>
              <a:path w="684000" h="1368000">
                <a:moveTo>
                  <a:pt x="0" y="0"/>
                </a:moveTo>
                <a:lnTo>
                  <a:pt x="71497" y="3747"/>
                </a:lnTo>
                <a:lnTo>
                  <a:pt x="142212" y="14947"/>
                </a:lnTo>
                <a:lnTo>
                  <a:pt x="211368" y="33477"/>
                </a:lnTo>
                <a:lnTo>
                  <a:pt x="278208" y="59135"/>
                </a:lnTo>
                <a:lnTo>
                  <a:pt x="342000" y="91639"/>
                </a:lnTo>
                <a:lnTo>
                  <a:pt x="402045" y="130632"/>
                </a:lnTo>
                <a:lnTo>
                  <a:pt x="457685" y="175689"/>
                </a:lnTo>
                <a:lnTo>
                  <a:pt x="508311" y="226315"/>
                </a:lnTo>
                <a:lnTo>
                  <a:pt x="553368" y="281955"/>
                </a:lnTo>
                <a:lnTo>
                  <a:pt x="592361" y="342000"/>
                </a:lnTo>
                <a:lnTo>
                  <a:pt x="624865" y="405792"/>
                </a:lnTo>
                <a:lnTo>
                  <a:pt x="650523" y="472632"/>
                </a:lnTo>
                <a:lnTo>
                  <a:pt x="669053" y="541788"/>
                </a:lnTo>
                <a:lnTo>
                  <a:pt x="680253" y="612503"/>
                </a:lnTo>
                <a:lnTo>
                  <a:pt x="684000" y="684000"/>
                </a:lnTo>
                <a:lnTo>
                  <a:pt x="680253" y="755497"/>
                </a:lnTo>
                <a:lnTo>
                  <a:pt x="669053" y="826212"/>
                </a:lnTo>
                <a:lnTo>
                  <a:pt x="650523" y="895368"/>
                </a:lnTo>
                <a:lnTo>
                  <a:pt x="624865" y="962208"/>
                </a:lnTo>
                <a:lnTo>
                  <a:pt x="592361" y="1026000"/>
                </a:lnTo>
                <a:lnTo>
                  <a:pt x="553368" y="1086045"/>
                </a:lnTo>
                <a:lnTo>
                  <a:pt x="508311" y="1141685"/>
                </a:lnTo>
                <a:lnTo>
                  <a:pt x="457685" y="1192311"/>
                </a:lnTo>
                <a:lnTo>
                  <a:pt x="402045" y="1237368"/>
                </a:lnTo>
                <a:lnTo>
                  <a:pt x="342000" y="1276361"/>
                </a:lnTo>
                <a:lnTo>
                  <a:pt x="278208" y="1308865"/>
                </a:lnTo>
                <a:lnTo>
                  <a:pt x="211368" y="1334523"/>
                </a:lnTo>
                <a:lnTo>
                  <a:pt x="142212" y="1353053"/>
                </a:lnTo>
                <a:lnTo>
                  <a:pt x="71497" y="1364253"/>
                </a:lnTo>
                <a:lnTo>
                  <a:pt x="0" y="1368000"/>
                </a:lnTo>
                <a:close/>
              </a:path>
            </a:pathLst>
          </a:custGeom>
          <a:solidFill>
            <a:srgbClr val="6F6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432000" y="468000"/>
            <a:ext cx="864000" cy="864000"/>
          </a:xfrm>
          <a:prstGeom prst="ellipse">
            <a:avLst/>
          </a:prstGeom>
          <a:noFill/>
          <a:ln w="432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252000" y="648000"/>
            <a:ext cx="504000" cy="504000"/>
          </a:xfrm>
          <a:prstGeom prst="ellipse">
            <a:avLst/>
          </a:prstGeom>
          <a:noFill/>
          <a:ln w="432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텍스트"/>
          <p:cNvSpPr txBox="1"/>
          <p:nvPr/>
        </p:nvSpPr>
        <p:spPr>
          <a:xfrm>
            <a:off x="86400" y="612000"/>
            <a:ext cx="324000" cy="576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450"/>
              </a:lnSpc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</a:rPr>
              <a:t>회</a:t>
            </a:r>
          </a:p>
        </p:txBody>
      </p:sp>
      <p:sp>
        <p:nvSpPr>
          <p:cNvPr id="6" name="텍스트"/>
          <p:cNvSpPr txBox="1"/>
          <p:nvPr/>
        </p:nvSpPr>
        <p:spPr>
          <a:xfrm>
            <a:off x="1116000" y="252000"/>
            <a:ext cx="187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 spc="220">
                <a:solidFill>
                  <a:srgbClr val="A3A9B5"/>
                </a:solidFill>
                <a:latin typeface="맑은 고딕"/>
                <a:ea typeface="맑은 고딕"/>
              </a:rPr>
              <a:t>회사 · 사무소 이름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1116000" y="424800"/>
            <a:ext cx="1872000" cy="0"/>
          </a:xfrm>
          <a:prstGeom prst="line">
            <a:avLst/>
          </a:prstGeom>
          <a:ln w="3600">
            <a:solidFill>
              <a:srgbClr val="2A2F38"/>
            </a:solidFill>
          </a:ln>
        </p:spPr>
      </p:cxnSp>
      <p:sp>
        <p:nvSpPr>
          <p:cNvPr id="8" name="텍스트"/>
          <p:cNvSpPr txBox="1"/>
          <p:nvPr/>
        </p:nvSpPr>
        <p:spPr>
          <a:xfrm>
            <a:off x="1116000" y="648000"/>
            <a:ext cx="180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sz="1350" b="1" spc="120">
                <a:solidFill>
                  <a:srgbClr val="FFFFFF"/>
                </a:solidFill>
                <a:latin typeface="맑은 고딕"/>
                <a:ea typeface="맑은 고딕"/>
              </a:rPr>
              <a:t>맹우빈</a:t>
            </a:r>
          </a:p>
        </p:txBody>
      </p:sp>
      <p:sp>
        <p:nvSpPr>
          <p:cNvPr id="9" name="텍스트"/>
          <p:cNvSpPr txBox="1"/>
          <p:nvPr/>
        </p:nvSpPr>
        <p:spPr>
          <a:xfrm>
            <a:off x="1116000" y="900000"/>
            <a:ext cx="180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 spc="60">
                <a:solidFill>
                  <a:srgbClr val="A3A9B5"/>
                </a:solidFill>
                <a:latin typeface="맑은 고딕"/>
                <a:ea typeface="맑은 고딕"/>
              </a:rPr>
              <a:t>세무사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1116000" y="1267200"/>
            <a:ext cx="1872000" cy="0"/>
          </a:xfrm>
          <a:prstGeom prst="line">
            <a:avLst/>
          </a:prstGeom>
          <a:ln w="3600">
            <a:solidFill>
              <a:srgbClr val="2A2F38"/>
            </a:solidFill>
          </a:ln>
        </p:spPr>
      </p:cxnSp>
      <p:sp>
        <p:nvSpPr>
          <p:cNvPr id="11" name="텍스트"/>
          <p:cNvSpPr txBox="1"/>
          <p:nvPr/>
        </p:nvSpPr>
        <p:spPr>
          <a:xfrm>
            <a:off x="1116000" y="1357200"/>
            <a:ext cx="3312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A3A9B5"/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12" name="텍스트"/>
          <p:cNvSpPr txBox="1"/>
          <p:nvPr/>
        </p:nvSpPr>
        <p:spPr>
          <a:xfrm>
            <a:off x="1447200" y="1346400"/>
            <a:ext cx="1188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FFFFFF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13" name="텍스트"/>
          <p:cNvSpPr txBox="1"/>
          <p:nvPr/>
        </p:nvSpPr>
        <p:spPr>
          <a:xfrm>
            <a:off x="1116000" y="1479600"/>
            <a:ext cx="3312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A3A9B5"/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1447200" y="1468800"/>
            <a:ext cx="1188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FFFFFF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sp>
        <p:nvSpPr>
          <p:cNvPr id="15" name="텍스트"/>
          <p:cNvSpPr txBox="1"/>
          <p:nvPr/>
        </p:nvSpPr>
        <p:spPr>
          <a:xfrm>
            <a:off x="1116000" y="1602000"/>
            <a:ext cx="3312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A3A9B5"/>
                </a:solidFill>
                <a:latin typeface="맑은 고딕"/>
                <a:ea typeface="맑은 고딕"/>
              </a:rPr>
              <a:t>ADDR</a:t>
            </a:r>
          </a:p>
        </p:txBody>
      </p:sp>
      <p:sp>
        <p:nvSpPr>
          <p:cNvPr id="16" name="텍스트"/>
          <p:cNvSpPr txBox="1"/>
          <p:nvPr/>
        </p:nvSpPr>
        <p:spPr>
          <a:xfrm>
            <a:off x="1447200" y="1591200"/>
            <a:ext cx="1188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FFFFFF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5B5B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텍스트"/>
          <p:cNvSpPr txBox="1"/>
          <p:nvPr/>
        </p:nvSpPr>
        <p:spPr>
          <a:xfrm>
            <a:off x="252000" y="252000"/>
            <a:ext cx="1080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240">
                <a:solidFill>
                  <a:srgbClr val="DBDBFF"/>
                </a:solidFill>
                <a:latin typeface="맑은 고딕"/>
                <a:ea typeface="맑은 고딕"/>
              </a:rPr>
              <a:t>상담 분야</a:t>
            </a:r>
          </a:p>
        </p:txBody>
      </p:sp>
      <p:sp>
        <p:nvSpPr>
          <p:cNvPr id="3" name="Rectangle 2"/>
          <p:cNvSpPr/>
          <p:nvPr/>
        </p:nvSpPr>
        <p:spPr>
          <a:xfrm>
            <a:off x="252000" y="352800"/>
            <a:ext cx="108000" cy="14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4" name="Connector 3"/>
          <p:cNvCxnSpPr/>
          <p:nvPr/>
        </p:nvCxnSpPr>
        <p:spPr>
          <a:xfrm>
            <a:off x="252000" y="453600"/>
            <a:ext cx="1512000" cy="0"/>
          </a:xfrm>
          <a:prstGeom prst="line">
            <a:avLst/>
          </a:prstGeom>
          <a:ln w="3600">
            <a:solidFill>
              <a:srgbClr val="9D9DFF"/>
            </a:solidFill>
          </a:ln>
        </p:spPr>
      </p:cxnSp>
      <p:sp>
        <p:nvSpPr>
          <p:cNvPr id="5" name="텍스트"/>
          <p:cNvSpPr txBox="1"/>
          <p:nvPr/>
        </p:nvSpPr>
        <p:spPr>
          <a:xfrm>
            <a:off x="252000" y="507600"/>
            <a:ext cx="216000" cy="952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25"/>
              </a:lnSpc>
            </a:pPr>
            <a:r>
              <a:rPr sz="500" b="1" spc="100">
                <a:solidFill>
                  <a:srgbClr val="DBDBFF"/>
                </a:solidFill>
                <a:latin typeface="맑은 고딕"/>
                <a:ea typeface="맑은 고딕"/>
              </a:rPr>
              <a:t>01</a:t>
            </a:r>
          </a:p>
        </p:txBody>
      </p:sp>
      <p:sp>
        <p:nvSpPr>
          <p:cNvPr id="6" name="텍스트"/>
          <p:cNvSpPr txBox="1"/>
          <p:nvPr/>
        </p:nvSpPr>
        <p:spPr>
          <a:xfrm>
            <a:off x="489600" y="496800"/>
            <a:ext cx="126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FFFFFF"/>
                </a:solidFill>
                <a:latin typeface="맑은 고딕"/>
                <a:ea typeface="맑은 고딕"/>
              </a:rPr>
              <a:t>보험 상담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252000" y="640800"/>
            <a:ext cx="1512000" cy="0"/>
          </a:xfrm>
          <a:prstGeom prst="line">
            <a:avLst/>
          </a:prstGeom>
          <a:ln w="3600">
            <a:solidFill>
              <a:srgbClr val="9D9DFF"/>
            </a:solidFill>
          </a:ln>
        </p:spPr>
      </p:cxnSp>
      <p:sp>
        <p:nvSpPr>
          <p:cNvPr id="8" name="텍스트"/>
          <p:cNvSpPr txBox="1"/>
          <p:nvPr/>
        </p:nvSpPr>
        <p:spPr>
          <a:xfrm>
            <a:off x="252000" y="694800"/>
            <a:ext cx="216000" cy="952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25"/>
              </a:lnSpc>
            </a:pPr>
            <a:r>
              <a:rPr sz="500" b="1" spc="100">
                <a:solidFill>
                  <a:srgbClr val="DBDBFF"/>
                </a:solidFill>
                <a:latin typeface="맑은 고딕"/>
                <a:ea typeface="맑은 고딕"/>
              </a:rPr>
              <a:t>02</a:t>
            </a:r>
          </a:p>
        </p:txBody>
      </p:sp>
      <p:sp>
        <p:nvSpPr>
          <p:cNvPr id="9" name="텍스트"/>
          <p:cNvSpPr txBox="1"/>
          <p:nvPr/>
        </p:nvSpPr>
        <p:spPr>
          <a:xfrm>
            <a:off x="489600" y="684000"/>
            <a:ext cx="126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FFFFFF"/>
                </a:solidFill>
                <a:latin typeface="맑은 고딕"/>
                <a:ea typeface="맑은 고딕"/>
              </a:rPr>
              <a:t>세무 상담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52000" y="828000"/>
            <a:ext cx="1512000" cy="0"/>
          </a:xfrm>
          <a:prstGeom prst="line">
            <a:avLst/>
          </a:prstGeom>
          <a:ln w="3600">
            <a:solidFill>
              <a:srgbClr val="9D9DFF"/>
            </a:solidFill>
          </a:ln>
        </p:spPr>
      </p:cxnSp>
      <p:sp>
        <p:nvSpPr>
          <p:cNvPr id="11" name="텍스트"/>
          <p:cNvSpPr txBox="1"/>
          <p:nvPr/>
        </p:nvSpPr>
        <p:spPr>
          <a:xfrm>
            <a:off x="252000" y="882000"/>
            <a:ext cx="216000" cy="952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25"/>
              </a:lnSpc>
            </a:pPr>
            <a:r>
              <a:rPr sz="500" b="1" spc="100">
                <a:solidFill>
                  <a:srgbClr val="DBDBFF"/>
                </a:solidFill>
                <a:latin typeface="맑은 고딕"/>
                <a:ea typeface="맑은 고딕"/>
              </a:rPr>
              <a:t>03</a:t>
            </a:r>
          </a:p>
        </p:txBody>
      </p:sp>
      <p:sp>
        <p:nvSpPr>
          <p:cNvPr id="12" name="텍스트"/>
          <p:cNvSpPr txBox="1"/>
          <p:nvPr/>
        </p:nvSpPr>
        <p:spPr>
          <a:xfrm>
            <a:off x="489600" y="871200"/>
            <a:ext cx="126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FFFFFF"/>
                </a:solidFill>
                <a:latin typeface="맑은 고딕"/>
                <a:ea typeface="맑은 고딕"/>
              </a:rPr>
              <a:t>사업자 상담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252000" y="1015200"/>
            <a:ext cx="1512000" cy="0"/>
          </a:xfrm>
          <a:prstGeom prst="line">
            <a:avLst/>
          </a:prstGeom>
          <a:ln w="3600">
            <a:solidFill>
              <a:srgbClr val="9D9DFF"/>
            </a:solidFill>
          </a:ln>
        </p:spPr>
      </p:cxnSp>
      <p:sp>
        <p:nvSpPr>
          <p:cNvPr id="14" name="Rectangle 13"/>
          <p:cNvSpPr/>
          <p:nvPr/>
        </p:nvSpPr>
        <p:spPr>
          <a:xfrm>
            <a:off x="2088000" y="252000"/>
            <a:ext cx="900000" cy="1296000"/>
          </a:xfrm>
          <a:prstGeom prst="rect">
            <a:avLst/>
          </a:prstGeom>
          <a:solidFill>
            <a:srgbClr val="7C7C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텍스트"/>
          <p:cNvSpPr txBox="1"/>
          <p:nvPr/>
        </p:nvSpPr>
        <p:spPr>
          <a:xfrm>
            <a:off x="2196000" y="360000"/>
            <a:ext cx="684000" cy="952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25"/>
              </a:lnSpc>
            </a:pPr>
            <a:r>
              <a:rPr sz="500" b="1" spc="240">
                <a:solidFill>
                  <a:srgbClr val="FFFFFF">
                    <a:alpha val="75000"/>
                  </a:srgbClr>
                </a:solidFill>
                <a:latin typeface="맑은 고딕"/>
                <a:ea typeface="맑은 고딕"/>
              </a:rPr>
              <a:t>INFO</a:t>
            </a:r>
          </a:p>
        </p:txBody>
      </p:sp>
      <p:sp>
        <p:nvSpPr>
          <p:cNvPr id="16" name="텍스트"/>
          <p:cNvSpPr txBox="1"/>
          <p:nvPr/>
        </p:nvSpPr>
        <p:spPr>
          <a:xfrm>
            <a:off x="2196000" y="504000"/>
            <a:ext cx="684000" cy="1219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27"/>
              </a:lnSpc>
            </a:pPr>
            <a:r>
              <a:rPr sz="640" b="1">
                <a:solidFill>
                  <a:srgbClr val="FFFFFF"/>
                </a:solidFill>
                <a:latin typeface="맑은 고딕"/>
                <a:ea typeface="맑은 고딕"/>
              </a:rPr>
              <a:t>방문 · 전화 상담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2196000" y="770400"/>
            <a:ext cx="684000" cy="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sp>
        <p:nvSpPr>
          <p:cNvPr id="18" name="텍스트"/>
          <p:cNvSpPr txBox="1"/>
          <p:nvPr/>
        </p:nvSpPr>
        <p:spPr>
          <a:xfrm>
            <a:off x="2196000" y="849600"/>
            <a:ext cx="684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FFFFFF">
                    <a:alpha val="75000"/>
                  </a:srgbClr>
                </a:solidFill>
                <a:latin typeface="맑은 고딕"/>
                <a:ea typeface="맑은 고딕"/>
              </a:rPr>
              <a:t>WEB</a:t>
            </a:r>
          </a:p>
        </p:txBody>
      </p:sp>
      <p:sp>
        <p:nvSpPr>
          <p:cNvPr id="19" name="텍스트"/>
          <p:cNvSpPr txBox="1"/>
          <p:nvPr/>
        </p:nvSpPr>
        <p:spPr>
          <a:xfrm>
            <a:off x="2196000" y="957600"/>
            <a:ext cx="684000" cy="1219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27"/>
              </a:lnSpc>
            </a:pPr>
            <a:r>
              <a:rPr sz="640" b="1">
                <a:solidFill>
                  <a:srgbClr val="FFFFFF"/>
                </a:solidFill>
                <a:latin typeface="맑은 고딕"/>
                <a:ea typeface="맑은 고딕"/>
              </a:rPr>
              <a:t>www.example.com</a:t>
            </a:r>
          </a:p>
        </p:txBody>
      </p:sp>
      <p:sp>
        <p:nvSpPr>
          <p:cNvPr id="20" name="텍스트"/>
          <p:cNvSpPr txBox="1"/>
          <p:nvPr/>
        </p:nvSpPr>
        <p:spPr>
          <a:xfrm>
            <a:off x="2196000" y="1368000"/>
            <a:ext cx="720000" cy="10668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11"/>
              </a:lnSpc>
            </a:pPr>
            <a:r>
              <a:rPr sz="560" b="1" spc="80">
                <a:solidFill>
                  <a:srgbClr val="FFFFFF"/>
                </a:solidFill>
                <a:latin typeface="맑은 고딕"/>
                <a:ea typeface="맑은 고딕"/>
              </a:rPr>
              <a:t>회사 · 사무소 이름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세무사 명함 서식</dc:title>
  <dc:subject>편집용 명함 서식</dc:subject>
  <dc:creator>우체국보험 상담 안내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