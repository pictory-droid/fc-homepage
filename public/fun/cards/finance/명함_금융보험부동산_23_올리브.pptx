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400" cy="1800000"/>
          </a:xfrm>
          <a:prstGeom prst="rect">
            <a:avLst/>
          </a:prstGeom>
          <a:solidFill>
            <a:srgbClr val="6B6B2F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1200" y="0"/>
            <a:ext cx="36000" cy="1800000"/>
          </a:xfrm>
          <a:prstGeom prst="rect">
            <a:avLst/>
          </a:prstGeom>
          <a:solidFill>
            <a:srgbClr val="998262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2400" y="0"/>
            <a:ext cx="36000" cy="1800000"/>
          </a:xfrm>
          <a:prstGeom prst="rect">
            <a:avLst/>
          </a:prstGeom>
          <a:solidFill>
            <a:srgbClr val="6B6B2F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3600" y="0"/>
            <a:ext cx="50400" cy="1800000"/>
          </a:xfrm>
          <a:prstGeom prst="rect">
            <a:avLst/>
          </a:prstGeom>
          <a:solidFill>
            <a:srgbClr val="998262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44800" y="0"/>
            <a:ext cx="36000" cy="1800000"/>
          </a:xfrm>
          <a:prstGeom prst="rect">
            <a:avLst/>
          </a:prstGeom>
          <a:solidFill>
            <a:srgbClr val="6B6B2F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06000" y="0"/>
            <a:ext cx="36000" cy="1800000"/>
          </a:xfrm>
          <a:prstGeom prst="rect">
            <a:avLst/>
          </a:prstGeom>
          <a:solidFill>
            <a:srgbClr val="998262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7200" y="0"/>
            <a:ext cx="50400" cy="1800000"/>
          </a:xfrm>
          <a:prstGeom prst="rect">
            <a:avLst/>
          </a:prstGeom>
          <a:solidFill>
            <a:srgbClr val="6B6B2F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8400" y="0"/>
            <a:ext cx="36000" cy="1800000"/>
          </a:xfrm>
          <a:prstGeom prst="rect">
            <a:avLst/>
          </a:prstGeom>
          <a:solidFill>
            <a:srgbClr val="998262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9600" y="0"/>
            <a:ext cx="36000" cy="1800000"/>
          </a:xfrm>
          <a:prstGeom prst="rect">
            <a:avLst/>
          </a:prstGeom>
          <a:solidFill>
            <a:srgbClr val="6B6B2F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50800" y="0"/>
            <a:ext cx="50400" cy="1800000"/>
          </a:xfrm>
          <a:prstGeom prst="rect">
            <a:avLst/>
          </a:prstGeom>
          <a:solidFill>
            <a:srgbClr val="998262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828000" y="252000"/>
            <a:ext cx="201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86459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828000" y="61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문OO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828000" y="86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86459"/>
                </a:solidFill>
                <a:latin typeface="맑은 고딕"/>
                <a:ea typeface="맑은 고딕"/>
              </a:rPr>
              <a:t>보험 상담사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8000" y="1123200"/>
            <a:ext cx="2160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16" name="텍스트"/>
          <p:cNvSpPr txBox="1"/>
          <p:nvPr/>
        </p:nvSpPr>
        <p:spPr>
          <a:xfrm>
            <a:off x="828000" y="1206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130400" y="1195200"/>
            <a:ext cx="129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8" name="텍스트"/>
          <p:cNvSpPr txBox="1"/>
          <p:nvPr/>
        </p:nvSpPr>
        <p:spPr>
          <a:xfrm>
            <a:off x="828000" y="13356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9" name="텍스트"/>
          <p:cNvSpPr txBox="1"/>
          <p:nvPr/>
        </p:nvSpPr>
        <p:spPr>
          <a:xfrm>
            <a:off x="1130400" y="1324800"/>
            <a:ext cx="129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20" name="텍스트"/>
          <p:cNvSpPr txBox="1"/>
          <p:nvPr/>
        </p:nvSpPr>
        <p:spPr>
          <a:xfrm>
            <a:off x="828000" y="1465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21" name="텍스트"/>
          <p:cNvSpPr txBox="1"/>
          <p:nvPr/>
        </p:nvSpPr>
        <p:spPr>
          <a:xfrm>
            <a:off x="1130400" y="1454400"/>
            <a:ext cx="129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834F5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8000" y="432000"/>
            <a:ext cx="936000" cy="936000"/>
          </a:xfrm>
          <a:prstGeom prst="ellipse">
            <a:avLst/>
          </a:prstGeom>
          <a:solidFill>
            <a:srgbClr val="94687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0" y="324000"/>
            <a:ext cx="1152000" cy="1152000"/>
          </a:xfrm>
          <a:prstGeom prst="ellipse">
            <a:avLst/>
          </a:prstGeom>
          <a:noFill/>
          <a:ln w="4320">
            <a:solidFill>
              <a:srgbClr val="A1798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377280" y="718560"/>
            <a:ext cx="397440" cy="181440"/>
          </a:xfrm>
          <a:custGeom>
            <a:avLst/>
            <a:gdLst/>
            <a:ahLst/>
            <a:cxnLst/>
            <a:rect l="l" t="t" r="r" b="b"/>
            <a:pathLst>
              <a:path w="397440" h="181440">
                <a:moveTo>
                  <a:pt x="0" y="181440"/>
                </a:moveTo>
                <a:lnTo>
                  <a:pt x="198720" y="0"/>
                </a:lnTo>
                <a:lnTo>
                  <a:pt x="397440" y="18144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37760" y="900000"/>
            <a:ext cx="276480" cy="181440"/>
          </a:xfrm>
          <a:prstGeom prst="rect">
            <a:avLst/>
          </a:prstGeom>
          <a:solidFill>
            <a:srgbClr val="CAB3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1440" y="960480"/>
            <a:ext cx="69120" cy="120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1368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D7C7CA"/>
                </a:solidFill>
                <a:latin typeface="맑은 고딕"/>
                <a:ea typeface="맑은 고딕"/>
              </a:rPr>
              <a:t>상담 분야</a:t>
            </a:r>
          </a:p>
        </p:txBody>
      </p:sp>
      <p:sp>
        <p:nvSpPr>
          <p:cNvPr id="8" name="Oval 7"/>
          <p:cNvSpPr/>
          <p:nvPr/>
        </p:nvSpPr>
        <p:spPr>
          <a:xfrm>
            <a:off x="1371600" y="482400"/>
            <a:ext cx="43200" cy="43200"/>
          </a:xfrm>
          <a:prstGeom prst="ellipse">
            <a:avLst/>
          </a:prstGeom>
          <a:solidFill>
            <a:srgbClr val="C7B0B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476000" y="4248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가입 점검</a:t>
            </a:r>
          </a:p>
        </p:txBody>
      </p:sp>
      <p:sp>
        <p:nvSpPr>
          <p:cNvPr id="10" name="Oval 9"/>
          <p:cNvSpPr/>
          <p:nvPr/>
        </p:nvSpPr>
        <p:spPr>
          <a:xfrm>
            <a:off x="1371600" y="705600"/>
            <a:ext cx="43200" cy="43200"/>
          </a:xfrm>
          <a:prstGeom prst="ellipse">
            <a:avLst/>
          </a:prstGeom>
          <a:solidFill>
            <a:srgbClr val="B2B2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1476000" y="648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상속 · 증여</a:t>
            </a:r>
          </a:p>
        </p:txBody>
      </p:sp>
      <p:sp>
        <p:nvSpPr>
          <p:cNvPr id="12" name="Oval 11"/>
          <p:cNvSpPr/>
          <p:nvPr/>
        </p:nvSpPr>
        <p:spPr>
          <a:xfrm>
            <a:off x="1371600" y="928800"/>
            <a:ext cx="43200" cy="43200"/>
          </a:xfrm>
          <a:prstGeom prst="ellipse">
            <a:avLst/>
          </a:prstGeom>
          <a:solidFill>
            <a:srgbClr val="C7B0B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텍스트"/>
          <p:cNvSpPr txBox="1"/>
          <p:nvPr/>
        </p:nvSpPr>
        <p:spPr>
          <a:xfrm>
            <a:off x="1476000" y="871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법인 상담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368000" y="1440000"/>
            <a:ext cx="1656000" cy="0"/>
          </a:xfrm>
          <a:prstGeom prst="line">
            <a:avLst/>
          </a:prstGeom>
          <a:ln w="3600">
            <a:solidFill>
              <a:srgbClr val="A17982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1368000" y="1512000"/>
            <a:ext cx="165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D7C7CA"/>
                </a:solidFill>
                <a:latin typeface="맑은 고딕"/>
                <a:ea typeface="맑은 고딕"/>
              </a:rPr>
              <a:t>평일 10:00 – 19:00     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보험 상담사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