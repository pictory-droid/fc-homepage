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1F0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980000" y="396000"/>
            <a:ext cx="1008000" cy="1008000"/>
          </a:xfrm>
          <a:prstGeom prst="ellipse">
            <a:avLst/>
          </a:prstGeom>
          <a:solidFill>
            <a:srgbClr val="2871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864800" y="280800"/>
            <a:ext cx="1238400" cy="1238400"/>
          </a:xfrm>
          <a:prstGeom prst="ellipse">
            <a:avLst/>
          </a:prstGeom>
          <a:noFill/>
          <a:ln w="4320">
            <a:solidFill>
              <a:srgbClr val="B9D5C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278080" y="778320"/>
            <a:ext cx="187200" cy="187200"/>
          </a:xfrm>
          <a:prstGeom prst="ellipse">
            <a:avLst/>
          </a:prstGeom>
          <a:noFill/>
          <a:ln w="4212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2455920" y="871920"/>
            <a:ext cx="234000" cy="0"/>
          </a:xfrm>
          <a:prstGeom prst="line">
            <a:avLst/>
          </a:prstGeom>
          <a:ln w="42120">
            <a:solidFill>
              <a:srgbClr val="FFFFFF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2624400" y="871920"/>
            <a:ext cx="0" cy="84240"/>
          </a:xfrm>
          <a:prstGeom prst="line">
            <a:avLst/>
          </a:prstGeom>
          <a:ln w="37440">
            <a:solidFill>
              <a:srgbClr val="93B8AD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2689920" y="871920"/>
            <a:ext cx="0" cy="102960"/>
          </a:xfrm>
          <a:prstGeom prst="line">
            <a:avLst/>
          </a:prstGeom>
          <a:ln w="37440">
            <a:solidFill>
              <a:srgbClr val="93B8AD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7A2A3C"/>
                </a:solidFill>
                <a:latin typeface="맑은 고딕"/>
                <a:ea typeface="맑은 고딕"/>
              </a:rPr>
              <a:t>회사 · 사무소 이름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6336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B2230"/>
                </a:solidFill>
                <a:latin typeface="맑은 고딕"/>
                <a:ea typeface="맑은 고딕"/>
              </a:rPr>
              <a:t>송OO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52000" y="8856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07075"/>
                </a:solidFill>
                <a:latin typeface="맑은 고딕"/>
                <a:ea typeface="맑은 고딕"/>
              </a:rPr>
              <a:t>투자 상담역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52000" y="1144800"/>
            <a:ext cx="1260000" cy="0"/>
          </a:xfrm>
          <a:prstGeom prst="line">
            <a:avLst/>
          </a:prstGeom>
          <a:ln w="3600">
            <a:solidFill>
              <a:srgbClr val="B9D5CE"/>
            </a:solidFill>
          </a:ln>
        </p:spPr>
      </p:cxnSp>
      <p:sp>
        <p:nvSpPr>
          <p:cNvPr id="12" name="텍스트"/>
          <p:cNvSpPr txBox="1"/>
          <p:nvPr/>
        </p:nvSpPr>
        <p:spPr>
          <a:xfrm>
            <a:off x="252000" y="12276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07075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554400" y="12168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52000" y="13500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07075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554400" y="13392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52000" y="14724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07075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554400" y="14616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5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01600"/>
            <a:ext cx="252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754"/>
              </a:lnSpc>
            </a:pPr>
            <a:r>
              <a:rPr sz="520" b="1" spc="240">
                <a:solidFill>
                  <a:srgbClr val="1F6B54"/>
                </a:solidFill>
                <a:latin typeface="맑은 고딕"/>
                <a:ea typeface="맑은 고딕"/>
              </a:rPr>
              <a:t>상담 분야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52000" y="360000"/>
            <a:ext cx="2736000" cy="0"/>
          </a:xfrm>
          <a:prstGeom prst="line">
            <a:avLst/>
          </a:prstGeom>
          <a:ln w="4320">
            <a:solidFill>
              <a:srgbClr val="1B2230"/>
            </a:solidFill>
          </a:ln>
        </p:spPr>
      </p:cxnSp>
      <p:sp>
        <p:nvSpPr>
          <p:cNvPr id="4" name="텍스트"/>
          <p:cNvSpPr txBox="1"/>
          <p:nvPr/>
        </p:nvSpPr>
        <p:spPr>
          <a:xfrm>
            <a:off x="252000" y="446400"/>
            <a:ext cx="360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1">
                <a:solidFill>
                  <a:srgbClr val="7A2A3C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576000" y="432000"/>
            <a:ext cx="1800000" cy="18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보험 상담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76000" y="640800"/>
            <a:ext cx="2412000" cy="0"/>
          </a:xfrm>
          <a:prstGeom prst="line">
            <a:avLst/>
          </a:prstGeom>
          <a:ln w="3600">
            <a:solidFill>
              <a:srgbClr val="D2B7BD"/>
            </a:solidFill>
            <a:prstDash val="dash"/>
          </a:ln>
        </p:spPr>
      </p:cxnSp>
      <p:sp>
        <p:nvSpPr>
          <p:cNvPr id="7" name="텍스트"/>
          <p:cNvSpPr txBox="1"/>
          <p:nvPr/>
        </p:nvSpPr>
        <p:spPr>
          <a:xfrm>
            <a:off x="252000" y="684000"/>
            <a:ext cx="360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1">
                <a:solidFill>
                  <a:srgbClr val="7A2A3C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576000" y="669600"/>
            <a:ext cx="1800000" cy="18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연금 설계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76000" y="878400"/>
            <a:ext cx="2412000" cy="0"/>
          </a:xfrm>
          <a:prstGeom prst="line">
            <a:avLst/>
          </a:prstGeom>
          <a:ln w="3600">
            <a:solidFill>
              <a:srgbClr val="D2B7BD"/>
            </a:solidFill>
            <a:prstDash val="dash"/>
          </a:ln>
        </p:spPr>
      </p:cxnSp>
      <p:sp>
        <p:nvSpPr>
          <p:cNvPr id="10" name="텍스트"/>
          <p:cNvSpPr txBox="1"/>
          <p:nvPr/>
        </p:nvSpPr>
        <p:spPr>
          <a:xfrm>
            <a:off x="252000" y="921600"/>
            <a:ext cx="360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1">
                <a:solidFill>
                  <a:srgbClr val="7A2A3C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576000" y="907200"/>
            <a:ext cx="1800000" cy="18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투자 상담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76000" y="1116000"/>
            <a:ext cx="2412000" cy="0"/>
          </a:xfrm>
          <a:prstGeom prst="line">
            <a:avLst/>
          </a:prstGeom>
          <a:ln w="3600">
            <a:solidFill>
              <a:srgbClr val="D2B7BD"/>
            </a:solidFill>
            <a:prstDash val="dash"/>
          </a:ln>
        </p:spPr>
      </p:cxnSp>
      <p:sp>
        <p:nvSpPr>
          <p:cNvPr id="13" name="텍스트"/>
          <p:cNvSpPr txBox="1"/>
          <p:nvPr/>
        </p:nvSpPr>
        <p:spPr>
          <a:xfrm>
            <a:off x="252000" y="1159200"/>
            <a:ext cx="360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1">
                <a:solidFill>
                  <a:srgbClr val="7A2A3C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576000" y="1144800"/>
            <a:ext cx="1800000" cy="18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증권 정리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76000" y="1353600"/>
            <a:ext cx="2412000" cy="0"/>
          </a:xfrm>
          <a:prstGeom prst="line">
            <a:avLst/>
          </a:prstGeom>
          <a:ln w="3600">
            <a:solidFill>
              <a:srgbClr val="D2B7BD"/>
            </a:solidFill>
            <a:prstDash val="dash"/>
          </a:ln>
        </p:spPr>
      </p:cxnSp>
      <p:sp>
        <p:nvSpPr>
          <p:cNvPr id="16" name="텍스트"/>
          <p:cNvSpPr txBox="1"/>
          <p:nvPr/>
        </p:nvSpPr>
        <p:spPr>
          <a:xfrm>
            <a:off x="252000" y="1526400"/>
            <a:ext cx="1368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11"/>
              </a:lnSpc>
            </a:pPr>
            <a:r>
              <a:rPr sz="560" b="0">
                <a:solidFill>
                  <a:srgbClr val="3B2534"/>
                </a:solidFill>
                <a:latin typeface="맑은 고딕"/>
                <a:ea typeface="맑은 고딕"/>
              </a:rPr>
              <a:t>온라인 상담 가능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1620000" y="1526400"/>
            <a:ext cx="1368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11"/>
              </a:lnSpc>
            </a:pPr>
            <a:r>
              <a:rPr sz="560" b="0">
                <a:solidFill>
                  <a:srgbClr val="3B2534"/>
                </a:solidFill>
                <a:latin typeface="맑은 고딕"/>
                <a:ea typeface="맑은 고딕"/>
              </a:rPr>
              <a:t>www.example.com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투자 상담역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