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CAEB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000" y="108000"/>
            <a:ext cx="3024000" cy="1584000"/>
          </a:xfrm>
          <a:prstGeom prst="rect">
            <a:avLst/>
          </a:prstGeom>
          <a:noFill/>
          <a:ln w="5040">
            <a:solidFill>
              <a:srgbClr val="5E576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1200" y="151200"/>
            <a:ext cx="2937600" cy="1497600"/>
          </a:xfrm>
          <a:prstGeom prst="rect">
            <a:avLst/>
          </a:prstGeom>
          <a:noFill/>
          <a:ln w="3600">
            <a:solidFill>
              <a:srgbClr val="AC959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1576800" y="252000"/>
            <a:ext cx="86400" cy="115200"/>
          </a:xfrm>
          <a:custGeom>
            <a:avLst/>
            <a:gdLst/>
            <a:ahLst/>
            <a:cxnLst/>
            <a:rect l="l" t="t" r="r" b="b"/>
            <a:pathLst>
              <a:path w="86400" h="115200">
                <a:moveTo>
                  <a:pt x="43200" y="0"/>
                </a:moveTo>
                <a:lnTo>
                  <a:pt x="86400" y="57600"/>
                </a:lnTo>
                <a:lnTo>
                  <a:pt x="43200" y="115200"/>
                </a:lnTo>
                <a:lnTo>
                  <a:pt x="0" y="57600"/>
                </a:lnTo>
                <a:close/>
              </a:path>
            </a:pathLst>
          </a:custGeom>
          <a:solidFill>
            <a:srgbClr val="5E576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360000" y="460800"/>
            <a:ext cx="2520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175"/>
              </a:lnSpc>
            </a:pPr>
            <a:r>
              <a:rPr sz="1500" b="1" spc="800">
                <a:solidFill>
                  <a:srgbClr val="1B2230"/>
                </a:solidFill>
                <a:latin typeface="바탕"/>
                <a:ea typeface="바탕"/>
              </a:rPr>
              <a:t>민OO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360000" y="770400"/>
            <a:ext cx="252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0" spc="300">
                <a:solidFill>
                  <a:srgbClr val="504C58"/>
                </a:solidFill>
                <a:latin typeface="바탕"/>
                <a:ea typeface="바탕"/>
              </a:rPr>
              <a:t>자산관리 상담사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476000" y="993600"/>
            <a:ext cx="288000" cy="0"/>
          </a:xfrm>
          <a:prstGeom prst="line">
            <a:avLst/>
          </a:prstGeom>
          <a:ln w="5760">
            <a:solidFill>
              <a:srgbClr val="5E5763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360000" y="1101600"/>
            <a:ext cx="252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41"/>
              </a:lnSpc>
            </a:pPr>
            <a:r>
              <a:rPr sz="580" b="1" spc="300">
                <a:solidFill>
                  <a:srgbClr val="5E5763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360000" y="1339200"/>
            <a:ext cx="252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69"/>
              </a:lnSpc>
            </a:pPr>
            <a:r>
              <a:rPr sz="600" b="0">
                <a:solidFill>
                  <a:srgbClr val="1B2230"/>
                </a:solidFill>
                <a:latin typeface="맑은 고딕"/>
                <a:ea typeface="맑은 고딕"/>
              </a:rPr>
              <a:t>010-1234-5678   ·   name@example.com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360000" y="1468800"/>
            <a:ext cx="252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69"/>
              </a:lnSpc>
            </a:pPr>
            <a:r>
              <a:rPr sz="600" b="0">
                <a:solidFill>
                  <a:srgbClr val="504C58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088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7A2A3C"/>
                </a:solidFill>
                <a:latin typeface="맑은 고딕"/>
                <a:ea typeface="맑은 고딕"/>
              </a:rPr>
              <a:t>상담 분야</a:t>
            </a:r>
          </a:p>
        </p:txBody>
      </p:sp>
      <p:sp>
        <p:nvSpPr>
          <p:cNvPr id="3" name="텍스트"/>
          <p:cNvSpPr txBox="1"/>
          <p:nvPr/>
        </p:nvSpPr>
        <p:spPr>
          <a:xfrm>
            <a:off x="252000" y="360000"/>
            <a:ext cx="2736000" cy="25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4"/>
              </a:lnSpc>
            </a:pPr>
            <a:r>
              <a:rPr sz="1300" b="1">
                <a:solidFill>
                  <a:srgbClr val="1B2230"/>
                </a:solidFill>
                <a:latin typeface="맑은 고딕"/>
                <a:ea typeface="맑은 고딕"/>
              </a:rPr>
              <a:t>온라인 상담 가능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52000" y="770400"/>
            <a:ext cx="2736000" cy="0"/>
          </a:xfrm>
          <a:prstGeom prst="line">
            <a:avLst/>
          </a:prstGeom>
          <a:ln w="8640">
            <a:solidFill>
              <a:srgbClr val="70A1BA"/>
            </a:solidFill>
          </a:ln>
        </p:spPr>
      </p:cxnSp>
      <p:sp>
        <p:nvSpPr>
          <p:cNvPr id="5" name="Rounded Rectangle 4"/>
          <p:cNvSpPr/>
          <p:nvPr/>
        </p:nvSpPr>
        <p:spPr>
          <a:xfrm>
            <a:off x="252000" y="943200"/>
            <a:ext cx="556675" cy="180000"/>
          </a:xfrm>
          <a:prstGeom prst="roundRect">
            <a:avLst>
              <a:gd name="adj" fmla="val 50000"/>
            </a:avLst>
          </a:prstGeom>
          <a:noFill/>
          <a:ln w="3960">
            <a:solidFill>
              <a:srgbClr val="53586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252000" y="943200"/>
            <a:ext cx="556675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27"/>
              </a:lnSpc>
            </a:pPr>
            <a:r>
              <a:rPr sz="640" b="0">
                <a:solidFill>
                  <a:srgbClr val="1B2230"/>
                </a:solidFill>
                <a:latin typeface="맑은 고딕"/>
                <a:ea typeface="맑은 고딕"/>
              </a:rPr>
              <a:t>연금 설계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9075" y="943200"/>
            <a:ext cx="556675" cy="180000"/>
          </a:xfrm>
          <a:prstGeom prst="roundRect">
            <a:avLst>
              <a:gd name="adj" fmla="val 50000"/>
            </a:avLst>
          </a:prstGeom>
          <a:noFill/>
          <a:ln w="3960">
            <a:solidFill>
              <a:srgbClr val="53586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859075" y="943200"/>
            <a:ext cx="556675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27"/>
              </a:lnSpc>
            </a:pPr>
            <a:r>
              <a:rPr sz="640" b="0">
                <a:solidFill>
                  <a:srgbClr val="1B2230"/>
                </a:solidFill>
                <a:latin typeface="맑은 고딕"/>
                <a:ea typeface="맑은 고딕"/>
              </a:rPr>
              <a:t>투자 상담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466149" y="943200"/>
            <a:ext cx="556675" cy="180000"/>
          </a:xfrm>
          <a:prstGeom prst="roundRect">
            <a:avLst>
              <a:gd name="adj" fmla="val 50000"/>
            </a:avLst>
          </a:prstGeom>
          <a:noFill/>
          <a:ln w="3960">
            <a:solidFill>
              <a:srgbClr val="53586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1466149" y="943200"/>
            <a:ext cx="556675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27"/>
              </a:lnSpc>
            </a:pPr>
            <a:r>
              <a:rPr sz="640" b="0">
                <a:solidFill>
                  <a:srgbClr val="1B2230"/>
                </a:solidFill>
                <a:latin typeface="맑은 고딕"/>
                <a:ea typeface="맑은 고딕"/>
              </a:rPr>
              <a:t>증권 정리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52000" y="1368000"/>
            <a:ext cx="2736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535862"/>
                </a:solidFill>
                <a:latin typeface="맑은 고딕"/>
                <a:ea typeface="맑은 고딕"/>
              </a:rPr>
              <a:t>BLOG   blog.example.com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52000" y="1512000"/>
            <a:ext cx="2736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7A2A3C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자산관리 상담사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