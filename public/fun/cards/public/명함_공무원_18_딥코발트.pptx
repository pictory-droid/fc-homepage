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5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224000" y="252000"/>
            <a:ext cx="0" cy="1296000"/>
          </a:xfrm>
          <a:prstGeom prst="line">
            <a:avLst/>
          </a:prstGeom>
          <a:ln w="3600">
            <a:solidFill>
              <a:srgbClr val="C5CDE3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213200" y="252000"/>
            <a:ext cx="21600" cy="201600"/>
          </a:xfrm>
          <a:prstGeom prst="rect">
            <a:avLst/>
          </a:prstGeom>
          <a:solidFill>
            <a:srgbClr val="2F4C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90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140">
                <a:solidFill>
                  <a:srgbClr val="1E2B4C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2F4C9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2F4C9A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송OO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404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1E2B4C"/>
                </a:solidFill>
                <a:latin typeface="맑은 고딕"/>
                <a:ea typeface="맑은 고딕"/>
              </a:rPr>
              <a:t>민원담당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04000" y="943200"/>
            <a:ext cx="1584000" cy="0"/>
          </a:xfrm>
          <a:prstGeom prst="line">
            <a:avLst/>
          </a:prstGeom>
          <a:ln w="3600">
            <a:solidFill>
              <a:srgbClr val="C5CDE3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404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E2B4C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735200" y="10440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04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E2B4C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735200" y="11736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04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E2B4C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735200" y="13032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8E8F5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11"/>
              </a:lnSpc>
            </a:pPr>
            <a:r>
              <a:rPr sz="560" b="1" spc="400">
                <a:solidFill>
                  <a:srgbClr val="8E8F5E"/>
                </a:solidFill>
                <a:latin typeface="바탕"/>
                <a:ea typeface="바탕"/>
              </a:rPr>
              <a:t>담당 업무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512000" y="432000"/>
            <a:ext cx="216000" cy="0"/>
          </a:xfrm>
          <a:prstGeom prst="line">
            <a:avLst/>
          </a:prstGeom>
          <a:ln w="5040">
            <a:solidFill>
              <a:srgbClr val="8E8F5E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360000" y="57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47"/>
              </a:lnSpc>
            </a:pPr>
            <a:r>
              <a:rPr sz="860" b="1" spc="100">
                <a:solidFill>
                  <a:srgbClr val="FFFFFF"/>
                </a:solidFill>
                <a:latin typeface="바탕"/>
                <a:ea typeface="바탕"/>
              </a:rPr>
              <a:t>문화 · 체육  ·  노인 복지  ·  보육 지원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12000" y="1173600"/>
            <a:ext cx="216000" cy="0"/>
          </a:xfrm>
          <a:prstGeom prst="line">
            <a:avLst/>
          </a:prstGeom>
          <a:ln w="5040">
            <a:solidFill>
              <a:srgbClr val="8E8F5E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26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A7ABB4"/>
                </a:solidFill>
                <a:latin typeface="바탕"/>
                <a:ea typeface="바탕"/>
              </a:rPr>
              <a:t>평일 09:00 – 17:30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968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A7ABB4"/>
                </a:solidFill>
                <a:latin typeface="바탕"/>
                <a:ea typeface="바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민원담당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