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F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52000" y="0"/>
            <a:ext cx="288000" cy="1800000"/>
          </a:xfrm>
          <a:prstGeom prst="rect">
            <a:avLst/>
          </a:prstGeom>
          <a:solidFill>
            <a:srgbClr val="1F7A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52000" y="0"/>
            <a:ext cx="288000" cy="540000"/>
          </a:xfrm>
          <a:prstGeom prst="rect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5B7FA8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2520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양OO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2000" y="943200"/>
            <a:ext cx="540000" cy="172800"/>
          </a:xfrm>
          <a:prstGeom prst="roundRect">
            <a:avLst>
              <a:gd name="adj" fmla="val 50000"/>
            </a:avLst>
          </a:prstGeom>
          <a:solidFill>
            <a:srgbClr val="1F7A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943200"/>
            <a:ext cx="540000" cy="17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FFFFFF"/>
                </a:solidFill>
                <a:latin typeface="맑은 고딕"/>
                <a:ea typeface="맑은 고딕"/>
              </a:rPr>
              <a:t>과장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1267200"/>
            <a:ext cx="2484000" cy="0"/>
          </a:xfrm>
          <a:prstGeom prst="line">
            <a:avLst/>
          </a:prstGeom>
          <a:ln w="3600">
            <a:solidFill>
              <a:srgbClr val="B3D2D4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13536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C404B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4544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16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C404B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116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52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C404B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52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7E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1F7A80"/>
                </a:solidFill>
                <a:latin typeface="맑은 고딕"/>
                <a:ea typeface="맑은 고딕"/>
              </a:rPr>
              <a:t>담당 업무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60000"/>
            <a:ext cx="2736000" cy="0"/>
          </a:xfrm>
          <a:prstGeom prst="line">
            <a:avLst/>
          </a:prstGeom>
          <a:ln w="4320">
            <a:solidFill>
              <a:srgbClr val="1B2230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464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5B7FA8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576000" y="4320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행정 지원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6000" y="640800"/>
            <a:ext cx="2412000" cy="0"/>
          </a:xfrm>
          <a:prstGeom prst="line">
            <a:avLst/>
          </a:prstGeom>
          <a:ln w="3600">
            <a:solidFill>
              <a:srgbClr val="BFC7D2"/>
            </a:solidFill>
            <a:prstDash val="dash"/>
          </a:ln>
        </p:spPr>
      </p:cxnSp>
      <p:sp>
        <p:nvSpPr>
          <p:cNvPr id="7" name="텍스트"/>
          <p:cNvSpPr txBox="1"/>
          <p:nvPr/>
        </p:nvSpPr>
        <p:spPr>
          <a:xfrm>
            <a:off x="252000" y="6840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5B7FA8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76000" y="6696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교통 안내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6000" y="878400"/>
            <a:ext cx="2412000" cy="0"/>
          </a:xfrm>
          <a:prstGeom prst="line">
            <a:avLst/>
          </a:prstGeom>
          <a:ln w="3600">
            <a:solidFill>
              <a:srgbClr val="BFC7D2"/>
            </a:solidFill>
            <a:prstDash val="dash"/>
          </a:ln>
        </p:spPr>
      </p:cxnSp>
      <p:sp>
        <p:nvSpPr>
          <p:cNvPr id="10" name="텍스트"/>
          <p:cNvSpPr txBox="1"/>
          <p:nvPr/>
        </p:nvSpPr>
        <p:spPr>
          <a:xfrm>
            <a:off x="252000" y="9216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5B7FA8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76000" y="9072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노인 복지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00" y="1116000"/>
            <a:ext cx="2412000" cy="0"/>
          </a:xfrm>
          <a:prstGeom prst="line">
            <a:avLst/>
          </a:prstGeom>
          <a:ln w="3600">
            <a:solidFill>
              <a:srgbClr val="BFC7D2"/>
            </a:solidFill>
            <a:prstDash val="dash"/>
          </a:ln>
        </p:spPr>
      </p:cxnSp>
      <p:sp>
        <p:nvSpPr>
          <p:cNvPr id="13" name="텍스트"/>
          <p:cNvSpPr txBox="1"/>
          <p:nvPr/>
        </p:nvSpPr>
        <p:spPr>
          <a:xfrm>
            <a:off x="252000" y="11592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5B7FA8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1448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보육 지원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000" y="1353600"/>
            <a:ext cx="2412000" cy="0"/>
          </a:xfrm>
          <a:prstGeom prst="line">
            <a:avLst/>
          </a:prstGeom>
          <a:ln w="3600">
            <a:solidFill>
              <a:srgbClr val="BFC7D2"/>
            </a:solidFill>
            <a:prstDash val="dash"/>
          </a:ln>
        </p:spPr>
      </p:cxnSp>
      <p:sp>
        <p:nvSpPr>
          <p:cNvPr id="16" name="텍스트"/>
          <p:cNvSpPr txBox="1"/>
          <p:nvPr/>
        </p:nvSpPr>
        <p:spPr>
          <a:xfrm>
            <a:off x="252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0">
                <a:solidFill>
                  <a:srgbClr val="626A77"/>
                </a:solidFill>
                <a:latin typeface="맑은 고딕"/>
                <a:ea typeface="맑은 고딕"/>
              </a:rPr>
              <a:t>전화 · 메일 문의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626A77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과장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