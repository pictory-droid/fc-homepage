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66D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080000" y="252000"/>
            <a:ext cx="0" cy="1296000"/>
          </a:xfrm>
          <a:prstGeom prst="line">
            <a:avLst/>
          </a:prstGeom>
          <a:ln w="3600">
            <a:solidFill>
              <a:srgbClr val="744AA4"/>
            </a:solidFill>
          </a:ln>
        </p:spPr>
      </p:cxnSp>
      <p:sp>
        <p:nvSpPr>
          <p:cNvPr id="3" name="Rectangle 2"/>
          <p:cNvSpPr/>
          <p:nvPr/>
        </p:nvSpPr>
        <p:spPr>
          <a:xfrm>
            <a:off x="1069200" y="252000"/>
            <a:ext cx="21600" cy="2016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75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36284E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5" name="Oval 4"/>
          <p:cNvSpPr/>
          <p:nvPr/>
        </p:nvSpPr>
        <p:spPr>
          <a:xfrm>
            <a:off x="273600" y="734400"/>
            <a:ext cx="244800" cy="244800"/>
          </a:xfrm>
          <a:prstGeom prst="ellipse">
            <a:avLst/>
          </a:prstGeom>
          <a:noFill/>
          <a:ln w="504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" y="734400"/>
            <a:ext cx="288000" cy="25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12151C"/>
                </a:solidFill>
                <a:latin typeface="맑은 고딕"/>
                <a:ea typeface="맑은 고딕"/>
              </a:rPr>
              <a:t>기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260000" y="43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조하린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260000" y="68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36284E"/>
                </a:solidFill>
                <a:latin typeface="맑은 고딕"/>
                <a:ea typeface="맑은 고딕"/>
              </a:rPr>
              <a:t>행정주사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260000" y="943200"/>
            <a:ext cx="1728000" cy="0"/>
          </a:xfrm>
          <a:prstGeom prst="line">
            <a:avLst/>
          </a:prstGeom>
          <a:ln w="3600">
            <a:solidFill>
              <a:srgbClr val="744AA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260000" y="1054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84E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591200" y="1044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260000" y="1184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84E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591200" y="1173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260000" y="1314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6284E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1591200" y="13032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B66D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2151C"/>
                </a:solidFill>
                <a:latin typeface="맑은 고딕"/>
                <a:ea typeface="맑은 고딕"/>
              </a:rPr>
              <a:t>민원 상담  ·  환경 관리  ·  노인 복지  ·  보육 지원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E3E5E9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행정주사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