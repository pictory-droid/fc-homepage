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D7D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36000"/>
          </a:xfrm>
          <a:prstGeom prst="rect">
            <a:avLst/>
          </a:prstGeom>
          <a:solidFill>
            <a:srgbClr val="8E4A6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23200"/>
            <a:ext cx="1296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공OO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4752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6A6772"/>
                </a:solidFill>
                <a:latin typeface="맑은 고딕"/>
                <a:ea typeface="맑은 고딕"/>
              </a:rPr>
              <a:t>복지담당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548000" y="2592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20">
                <a:solidFill>
                  <a:srgbClr val="966F48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907200"/>
            <a:ext cx="2736000" cy="0"/>
          </a:xfrm>
          <a:prstGeom prst="line">
            <a:avLst/>
          </a:prstGeom>
          <a:ln w="3600">
            <a:solidFill>
              <a:srgbClr val="CFBFC7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986400"/>
            <a:ext cx="57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60">
                <a:solidFill>
                  <a:srgbClr val="6A6772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936000" y="968400"/>
            <a:ext cx="205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52000" y="1137600"/>
            <a:ext cx="2736000" cy="0"/>
          </a:xfrm>
          <a:prstGeom prst="line">
            <a:avLst/>
          </a:prstGeom>
          <a:ln w="3600">
            <a:solidFill>
              <a:srgbClr val="CFBFC7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1216800"/>
            <a:ext cx="57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60">
                <a:solidFill>
                  <a:srgbClr val="6A6772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936000" y="1198800"/>
            <a:ext cx="205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368000"/>
            <a:ext cx="2736000" cy="0"/>
          </a:xfrm>
          <a:prstGeom prst="line">
            <a:avLst/>
          </a:prstGeom>
          <a:ln w="3600">
            <a:solidFill>
              <a:srgbClr val="CFBFC7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52000" y="1447200"/>
            <a:ext cx="57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60">
                <a:solidFill>
                  <a:srgbClr val="6A6772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936000" y="1429200"/>
            <a:ext cx="205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52000" y="1598400"/>
            <a:ext cx="2736000" cy="0"/>
          </a:xfrm>
          <a:prstGeom prst="line">
            <a:avLst/>
          </a:prstGeom>
          <a:ln w="3600">
            <a:solidFill>
              <a:srgbClr val="CFBFC7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016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8E4A63"/>
                </a:solidFill>
                <a:latin typeface="맑은 고딕"/>
                <a:ea typeface="맑은 고딕"/>
              </a:rPr>
              <a:t>담당 업무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52000" y="360000"/>
            <a:ext cx="2736000" cy="0"/>
          </a:xfrm>
          <a:prstGeom prst="line">
            <a:avLst/>
          </a:prstGeom>
          <a:ln w="4320">
            <a:solidFill>
              <a:srgbClr val="1B2230"/>
            </a:solidFill>
          </a:ln>
        </p:spPr>
      </p:cxnSp>
      <p:sp>
        <p:nvSpPr>
          <p:cNvPr id="4" name="텍스트"/>
          <p:cNvSpPr txBox="1"/>
          <p:nvPr/>
        </p:nvSpPr>
        <p:spPr>
          <a:xfrm>
            <a:off x="252000" y="446400"/>
            <a:ext cx="36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1">
                <a:solidFill>
                  <a:srgbClr val="8A7968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576000" y="432000"/>
            <a:ext cx="1800000" cy="18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주민 서비스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76000" y="640800"/>
            <a:ext cx="2412000" cy="0"/>
          </a:xfrm>
          <a:prstGeom prst="line">
            <a:avLst/>
          </a:prstGeom>
          <a:ln w="3600">
            <a:solidFill>
              <a:srgbClr val="D7D1CC"/>
            </a:solidFill>
            <a:prstDash val="dash"/>
          </a:ln>
        </p:spPr>
      </p:cxnSp>
      <p:sp>
        <p:nvSpPr>
          <p:cNvPr id="7" name="텍스트"/>
          <p:cNvSpPr txBox="1"/>
          <p:nvPr/>
        </p:nvSpPr>
        <p:spPr>
          <a:xfrm>
            <a:off x="252000" y="684000"/>
            <a:ext cx="36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1">
                <a:solidFill>
                  <a:srgbClr val="8A7968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576000" y="669600"/>
            <a:ext cx="1800000" cy="18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지역 사업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76000" y="878400"/>
            <a:ext cx="2412000" cy="0"/>
          </a:xfrm>
          <a:prstGeom prst="line">
            <a:avLst/>
          </a:prstGeom>
          <a:ln w="3600">
            <a:solidFill>
              <a:srgbClr val="D7D1CC"/>
            </a:solidFill>
            <a:prstDash val="dash"/>
          </a:ln>
        </p:spPr>
      </p:cxnSp>
      <p:sp>
        <p:nvSpPr>
          <p:cNvPr id="10" name="텍스트"/>
          <p:cNvSpPr txBox="1"/>
          <p:nvPr/>
        </p:nvSpPr>
        <p:spPr>
          <a:xfrm>
            <a:off x="252000" y="921600"/>
            <a:ext cx="36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1">
                <a:solidFill>
                  <a:srgbClr val="8A7968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576000" y="907200"/>
            <a:ext cx="1800000" cy="18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안전 관리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76000" y="1116000"/>
            <a:ext cx="2412000" cy="0"/>
          </a:xfrm>
          <a:prstGeom prst="line">
            <a:avLst/>
          </a:prstGeom>
          <a:ln w="3600">
            <a:solidFill>
              <a:srgbClr val="D7D1CC"/>
            </a:solidFill>
            <a:prstDash val="dash"/>
          </a:ln>
        </p:spPr>
      </p:cxnSp>
      <p:sp>
        <p:nvSpPr>
          <p:cNvPr id="13" name="텍스트"/>
          <p:cNvSpPr txBox="1"/>
          <p:nvPr/>
        </p:nvSpPr>
        <p:spPr>
          <a:xfrm>
            <a:off x="252000" y="1159200"/>
            <a:ext cx="36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1">
                <a:solidFill>
                  <a:srgbClr val="8A7968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576000" y="1144800"/>
            <a:ext cx="1800000" cy="18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교통 안내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76000" y="1353600"/>
            <a:ext cx="2412000" cy="0"/>
          </a:xfrm>
          <a:prstGeom prst="line">
            <a:avLst/>
          </a:prstGeom>
          <a:ln w="3600">
            <a:solidFill>
              <a:srgbClr val="D7D1CC"/>
            </a:solidFill>
            <a:prstDash val="dash"/>
          </a:ln>
        </p:spPr>
      </p:cxnSp>
      <p:sp>
        <p:nvSpPr>
          <p:cNvPr id="16" name="텍스트"/>
          <p:cNvSpPr txBox="1"/>
          <p:nvPr/>
        </p:nvSpPr>
        <p:spPr>
          <a:xfrm>
            <a:off x="252000" y="1526400"/>
            <a:ext cx="1368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11"/>
              </a:lnSpc>
            </a:pPr>
            <a:r>
              <a:rPr sz="560" b="0">
                <a:solidFill>
                  <a:srgbClr val="414043"/>
                </a:solidFill>
                <a:latin typeface="맑은 고딕"/>
                <a:ea typeface="맑은 고딕"/>
              </a:rPr>
              <a:t>민원 상담 안내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1620000" y="1526400"/>
            <a:ext cx="1368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11"/>
              </a:lnSpc>
            </a:pPr>
            <a:r>
              <a:rPr sz="560" b="0">
                <a:solidFill>
                  <a:srgbClr val="414043"/>
                </a:solidFill>
                <a:latin typeface="맑은 고딕"/>
                <a:ea typeface="맑은 고딕"/>
              </a:rPr>
              <a:t>@아이디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복지담당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