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B8618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B8618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B8618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B8618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B8618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B8618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B8618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B8618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B8618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B8618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B8618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B8618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B8618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B8618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B8618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B8618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B8618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B8618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B8618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B8618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906A7D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7B3759"/>
                </a:solidFill>
                <a:latin typeface="바탕"/>
                <a:ea typeface="바탕"/>
              </a:rPr>
              <a:t>마시현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A6577E"/>
                </a:solidFill>
                <a:latin typeface="맑은 고딕"/>
                <a:ea typeface="맑은 고딕"/>
              </a:rPr>
              <a:t>소방위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6577E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B3759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6577E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B3759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6577E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B37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33" name="Freeform 32"/>
          <p:cNvSpPr/>
          <p:nvPr/>
        </p:nvSpPr>
        <p:spPr>
          <a:xfrm>
            <a:off x="2754004" y="1055520"/>
            <a:ext cx="251992" cy="239659"/>
          </a:xfrm>
          <a:custGeom>
            <a:avLst/>
            <a:gdLst/>
            <a:ahLst/>
            <a:cxnLst/>
            <a:rect l="l" t="t" r="r" b="b"/>
            <a:pathLst>
              <a:path w="251992" h="239659">
                <a:moveTo>
                  <a:pt x="125996" y="0"/>
                </a:moveTo>
                <a:lnTo>
                  <a:pt x="158160" y="88211"/>
                </a:lnTo>
                <a:lnTo>
                  <a:pt x="251992" y="91541"/>
                </a:lnTo>
                <a:lnTo>
                  <a:pt x="178038" y="149389"/>
                </a:lnTo>
                <a:lnTo>
                  <a:pt x="203866" y="239659"/>
                </a:lnTo>
                <a:lnTo>
                  <a:pt x="125996" y="187200"/>
                </a:lnTo>
                <a:lnTo>
                  <a:pt x="48126" y="239659"/>
                </a:lnTo>
                <a:lnTo>
                  <a:pt x="73954" y="149389"/>
                </a:lnTo>
                <a:lnTo>
                  <a:pt x="0" y="91541"/>
                </a:lnTo>
                <a:lnTo>
                  <a:pt x="93832" y="88211"/>
                </a:lnTo>
                <a:close/>
              </a:path>
            </a:pathLst>
          </a:cu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37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CC8D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FFFFFF"/>
                </a:solidFill>
                <a:latin typeface="바탕"/>
                <a:ea typeface="바탕"/>
              </a:rPr>
              <a:t>기관명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D1B9C5"/>
                </a:solidFill>
                <a:latin typeface="바탕"/>
                <a:ea typeface="바탕"/>
              </a:rPr>
              <a:t>열린 마음으로 소통합니다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CC8DAC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D1B9C5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CC8D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2630255" y="282960"/>
            <a:ext cx="283490" cy="269616"/>
          </a:xfrm>
          <a:custGeom>
            <a:avLst/>
            <a:gdLst/>
            <a:ahLst/>
            <a:cxnLst/>
            <a:rect l="l" t="t" r="r" b="b"/>
            <a:pathLst>
              <a:path w="283490" h="269616">
                <a:moveTo>
                  <a:pt x="141745" y="0"/>
                </a:moveTo>
                <a:lnTo>
                  <a:pt x="177929" y="99237"/>
                </a:lnTo>
                <a:lnTo>
                  <a:pt x="283490" y="102984"/>
                </a:lnTo>
                <a:lnTo>
                  <a:pt x="200292" y="168063"/>
                </a:lnTo>
                <a:lnTo>
                  <a:pt x="229349" y="269616"/>
                </a:lnTo>
                <a:lnTo>
                  <a:pt x="141745" y="210600"/>
                </a:lnTo>
                <a:lnTo>
                  <a:pt x="54141" y="269616"/>
                </a:lnTo>
                <a:lnTo>
                  <a:pt x="83198" y="168063"/>
                </a:lnTo>
                <a:lnTo>
                  <a:pt x="0" y="102984"/>
                </a:lnTo>
                <a:lnTo>
                  <a:pt x="105561" y="99237"/>
                </a:lnTo>
                <a:close/>
              </a:path>
            </a:pathLst>
          </a:custGeom>
          <a:solidFill>
            <a:srgbClr val="CC8D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소방위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