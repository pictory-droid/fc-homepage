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A587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658960" y="239760"/>
            <a:ext cx="24480" cy="24480"/>
          </a:xfrm>
          <a:prstGeom prst="ellipse">
            <a:avLst/>
          </a:prstGeom>
          <a:solidFill>
            <a:srgbClr val="C5B7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658960" y="333360"/>
            <a:ext cx="24480" cy="24480"/>
          </a:xfrm>
          <a:prstGeom prst="ellipse">
            <a:avLst/>
          </a:prstGeom>
          <a:solidFill>
            <a:srgbClr val="9D839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658960" y="426960"/>
            <a:ext cx="24480" cy="24480"/>
          </a:xfrm>
          <a:prstGeom prst="ellipse">
            <a:avLst/>
          </a:prstGeom>
          <a:solidFill>
            <a:srgbClr val="9D839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658960" y="520560"/>
            <a:ext cx="24480" cy="24480"/>
          </a:xfrm>
          <a:prstGeom prst="ellipse">
            <a:avLst/>
          </a:prstGeom>
          <a:solidFill>
            <a:srgbClr val="9D839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52560" y="239760"/>
            <a:ext cx="24480" cy="24480"/>
          </a:xfrm>
          <a:prstGeom prst="ellipse">
            <a:avLst/>
          </a:prstGeom>
          <a:solidFill>
            <a:srgbClr val="9D839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52560" y="333360"/>
            <a:ext cx="24480" cy="24480"/>
          </a:xfrm>
          <a:prstGeom prst="ellipse">
            <a:avLst/>
          </a:prstGeom>
          <a:solidFill>
            <a:srgbClr val="9D839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752560" y="426960"/>
            <a:ext cx="24480" cy="24480"/>
          </a:xfrm>
          <a:prstGeom prst="ellipse">
            <a:avLst/>
          </a:prstGeom>
          <a:solidFill>
            <a:srgbClr val="9D839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752560" y="520560"/>
            <a:ext cx="24480" cy="24480"/>
          </a:xfrm>
          <a:prstGeom prst="ellipse">
            <a:avLst/>
          </a:prstGeom>
          <a:solidFill>
            <a:srgbClr val="C5B7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846160" y="239760"/>
            <a:ext cx="24480" cy="24480"/>
          </a:xfrm>
          <a:prstGeom prst="ellipse">
            <a:avLst/>
          </a:prstGeom>
          <a:solidFill>
            <a:srgbClr val="9D839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846160" y="333360"/>
            <a:ext cx="24480" cy="24480"/>
          </a:xfrm>
          <a:prstGeom prst="ellipse">
            <a:avLst/>
          </a:prstGeom>
          <a:solidFill>
            <a:srgbClr val="9D839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846160" y="426960"/>
            <a:ext cx="24480" cy="24480"/>
          </a:xfrm>
          <a:prstGeom prst="ellipse">
            <a:avLst/>
          </a:prstGeom>
          <a:solidFill>
            <a:srgbClr val="C5B7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846160" y="520560"/>
            <a:ext cx="24480" cy="24480"/>
          </a:xfrm>
          <a:prstGeom prst="ellipse">
            <a:avLst/>
          </a:prstGeom>
          <a:solidFill>
            <a:srgbClr val="9D839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939760" y="239760"/>
            <a:ext cx="24480" cy="24480"/>
          </a:xfrm>
          <a:prstGeom prst="ellipse">
            <a:avLst/>
          </a:prstGeom>
          <a:solidFill>
            <a:srgbClr val="9D839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939760" y="333360"/>
            <a:ext cx="24480" cy="24480"/>
          </a:xfrm>
          <a:prstGeom prst="ellipse">
            <a:avLst/>
          </a:prstGeom>
          <a:solidFill>
            <a:srgbClr val="C5B7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939760" y="426960"/>
            <a:ext cx="24480" cy="24480"/>
          </a:xfrm>
          <a:prstGeom prst="ellipse">
            <a:avLst/>
          </a:prstGeom>
          <a:solidFill>
            <a:srgbClr val="9D839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939760" y="520560"/>
            <a:ext cx="24480" cy="24480"/>
          </a:xfrm>
          <a:prstGeom prst="ellipse">
            <a:avLst/>
          </a:prstGeom>
          <a:solidFill>
            <a:srgbClr val="9D839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033360" y="239760"/>
            <a:ext cx="24480" cy="24480"/>
          </a:xfrm>
          <a:prstGeom prst="ellipse">
            <a:avLst/>
          </a:prstGeom>
          <a:solidFill>
            <a:srgbClr val="C5B7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033360" y="333360"/>
            <a:ext cx="24480" cy="24480"/>
          </a:xfrm>
          <a:prstGeom prst="ellipse">
            <a:avLst/>
          </a:prstGeom>
          <a:solidFill>
            <a:srgbClr val="9D839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033360" y="426960"/>
            <a:ext cx="24480" cy="24480"/>
          </a:xfrm>
          <a:prstGeom prst="ellipse">
            <a:avLst/>
          </a:prstGeom>
          <a:solidFill>
            <a:srgbClr val="9D839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033360" y="520560"/>
            <a:ext cx="24480" cy="24480"/>
          </a:xfrm>
          <a:prstGeom prst="ellipse">
            <a:avLst/>
          </a:prstGeom>
          <a:solidFill>
            <a:srgbClr val="9D839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52000" y="237600"/>
            <a:ext cx="540000" cy="165600"/>
          </a:xfrm>
          <a:prstGeom prst="roundRect">
            <a:avLst>
              <a:gd name="adj" fmla="val 50000"/>
            </a:avLst>
          </a:prstGeom>
          <a:noFill/>
          <a:ln w="5760">
            <a:solidFill>
              <a:srgbClr val="C5B7C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텍스트"/>
          <p:cNvSpPr txBox="1"/>
          <p:nvPr/>
        </p:nvSpPr>
        <p:spPr>
          <a:xfrm>
            <a:off x="252000" y="237600"/>
            <a:ext cx="540000" cy="16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56"/>
              </a:lnSpc>
            </a:pPr>
            <a:r>
              <a:rPr sz="660" b="1" spc="80">
                <a:solidFill>
                  <a:srgbClr val="FFFFFF"/>
                </a:solidFill>
                <a:latin typeface="맑은 고딕"/>
                <a:ea typeface="맑은 고딕"/>
              </a:rPr>
              <a:t>소방위</a:t>
            </a:r>
          </a:p>
        </p:txBody>
      </p:sp>
      <p:sp>
        <p:nvSpPr>
          <p:cNvPr id="24" name="텍스트"/>
          <p:cNvSpPr txBox="1"/>
          <p:nvPr/>
        </p:nvSpPr>
        <p:spPr>
          <a:xfrm>
            <a:off x="252000" y="583200"/>
            <a:ext cx="216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현OO</a:t>
            </a:r>
          </a:p>
        </p:txBody>
      </p:sp>
      <p:sp>
        <p:nvSpPr>
          <p:cNvPr id="25" name="텍스트"/>
          <p:cNvSpPr txBox="1"/>
          <p:nvPr/>
        </p:nvSpPr>
        <p:spPr>
          <a:xfrm>
            <a:off x="252000" y="878400"/>
            <a:ext cx="18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D3D7DA"/>
                </a:solidFill>
                <a:latin typeface="맑은 고딕"/>
                <a:ea typeface="맑은 고딕"/>
              </a:rPr>
              <a:t>기관명 · 부서명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52000" y="1144800"/>
            <a:ext cx="2736000" cy="0"/>
          </a:xfrm>
          <a:prstGeom prst="line">
            <a:avLst/>
          </a:prstGeom>
          <a:ln w="3600">
            <a:solidFill>
              <a:srgbClr val="9D839F"/>
            </a:solidFill>
          </a:ln>
        </p:spPr>
      </p:cxnSp>
      <p:sp>
        <p:nvSpPr>
          <p:cNvPr id="27" name="텍스트"/>
          <p:cNvSpPr txBox="1"/>
          <p:nvPr/>
        </p:nvSpPr>
        <p:spPr>
          <a:xfrm>
            <a:off x="252000" y="1242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E2DAE2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28" name="텍스트"/>
          <p:cNvSpPr txBox="1"/>
          <p:nvPr/>
        </p:nvSpPr>
        <p:spPr>
          <a:xfrm>
            <a:off x="583200" y="12312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29" name="텍스트"/>
          <p:cNvSpPr txBox="1"/>
          <p:nvPr/>
        </p:nvSpPr>
        <p:spPr>
          <a:xfrm>
            <a:off x="252000" y="13716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E2DAE2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30" name="텍스트"/>
          <p:cNvSpPr txBox="1"/>
          <p:nvPr/>
        </p:nvSpPr>
        <p:spPr>
          <a:xfrm>
            <a:off x="583200" y="13608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31" name="텍스트"/>
          <p:cNvSpPr txBox="1"/>
          <p:nvPr/>
        </p:nvSpPr>
        <p:spPr>
          <a:xfrm>
            <a:off x="252000" y="1501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E2DAE2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32" name="텍스트"/>
          <p:cNvSpPr txBox="1"/>
          <p:nvPr/>
        </p:nvSpPr>
        <p:spPr>
          <a:xfrm>
            <a:off x="583200" y="14904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2955600" y="1584000"/>
            <a:ext cx="64800" cy="0"/>
          </a:xfrm>
          <a:prstGeom prst="line">
            <a:avLst/>
          </a:prstGeom>
          <a:ln w="3600">
            <a:solidFill>
              <a:srgbClr val="9D839F"/>
            </a:solidFill>
          </a:ln>
        </p:spPr>
      </p:cxnSp>
      <p:cxnSp>
        <p:nvCxnSpPr>
          <p:cNvPr id="34" name="Connector 33"/>
          <p:cNvCxnSpPr/>
          <p:nvPr/>
        </p:nvCxnSpPr>
        <p:spPr>
          <a:xfrm>
            <a:off x="2988000" y="1551600"/>
            <a:ext cx="0" cy="64800"/>
          </a:xfrm>
          <a:prstGeom prst="line">
            <a:avLst/>
          </a:prstGeom>
          <a:ln w="3600">
            <a:solidFill>
              <a:srgbClr val="9D839F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432000"/>
          </a:xfrm>
          <a:prstGeom prst="rect">
            <a:avLst/>
          </a:prstGeom>
          <a:solidFill>
            <a:srgbClr val="5F697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0"/>
            <a:ext cx="3240000" cy="496445"/>
          </a:xfrm>
          <a:custGeom>
            <a:avLst/>
            <a:gdLst/>
            <a:ahLst/>
            <a:cxnLst/>
            <a:rect l="l" t="t" r="r" b="b"/>
            <a:pathLst>
              <a:path w="3240000" h="496445">
                <a:moveTo>
                  <a:pt x="0" y="432000"/>
                </a:moveTo>
                <a:lnTo>
                  <a:pt x="36000" y="458357"/>
                </a:lnTo>
                <a:lnTo>
                  <a:pt x="72000" y="480156"/>
                </a:lnTo>
                <a:lnTo>
                  <a:pt x="108000" y="493628"/>
                </a:lnTo>
                <a:lnTo>
                  <a:pt x="144000" y="496445"/>
                </a:lnTo>
                <a:lnTo>
                  <a:pt x="180000" y="488118"/>
                </a:lnTo>
                <a:lnTo>
                  <a:pt x="216000" y="470088"/>
                </a:lnTo>
                <a:lnTo>
                  <a:pt x="252000" y="445473"/>
                </a:lnTo>
                <a:lnTo>
                  <a:pt x="288000" y="418527"/>
                </a:lnTo>
                <a:lnTo>
                  <a:pt x="324000" y="393912"/>
                </a:lnTo>
                <a:lnTo>
                  <a:pt x="360000" y="375882"/>
                </a:lnTo>
                <a:lnTo>
                  <a:pt x="396000" y="367555"/>
                </a:lnTo>
                <a:lnTo>
                  <a:pt x="432000" y="370372"/>
                </a:lnTo>
                <a:lnTo>
                  <a:pt x="468000" y="383844"/>
                </a:lnTo>
                <a:lnTo>
                  <a:pt x="504000" y="405643"/>
                </a:lnTo>
                <a:lnTo>
                  <a:pt x="540000" y="432000"/>
                </a:lnTo>
                <a:lnTo>
                  <a:pt x="576000" y="458357"/>
                </a:lnTo>
                <a:lnTo>
                  <a:pt x="612000" y="480156"/>
                </a:lnTo>
                <a:lnTo>
                  <a:pt x="648000" y="493628"/>
                </a:lnTo>
                <a:lnTo>
                  <a:pt x="684000" y="496445"/>
                </a:lnTo>
                <a:lnTo>
                  <a:pt x="720000" y="488118"/>
                </a:lnTo>
                <a:lnTo>
                  <a:pt x="756000" y="470088"/>
                </a:lnTo>
                <a:lnTo>
                  <a:pt x="792000" y="445473"/>
                </a:lnTo>
                <a:lnTo>
                  <a:pt x="828000" y="418527"/>
                </a:lnTo>
                <a:lnTo>
                  <a:pt x="864000" y="393912"/>
                </a:lnTo>
                <a:lnTo>
                  <a:pt x="900000" y="375882"/>
                </a:lnTo>
                <a:lnTo>
                  <a:pt x="936000" y="367555"/>
                </a:lnTo>
                <a:lnTo>
                  <a:pt x="972000" y="370372"/>
                </a:lnTo>
                <a:lnTo>
                  <a:pt x="1008000" y="383844"/>
                </a:lnTo>
                <a:lnTo>
                  <a:pt x="1044000" y="405643"/>
                </a:lnTo>
                <a:lnTo>
                  <a:pt x="1080000" y="432000"/>
                </a:lnTo>
                <a:lnTo>
                  <a:pt x="1116000" y="458357"/>
                </a:lnTo>
                <a:lnTo>
                  <a:pt x="1152000" y="480156"/>
                </a:lnTo>
                <a:lnTo>
                  <a:pt x="1188000" y="493628"/>
                </a:lnTo>
                <a:lnTo>
                  <a:pt x="1224000" y="496445"/>
                </a:lnTo>
                <a:lnTo>
                  <a:pt x="1260000" y="488118"/>
                </a:lnTo>
                <a:lnTo>
                  <a:pt x="1296000" y="470088"/>
                </a:lnTo>
                <a:lnTo>
                  <a:pt x="1332000" y="445473"/>
                </a:lnTo>
                <a:lnTo>
                  <a:pt x="1368000" y="418527"/>
                </a:lnTo>
                <a:lnTo>
                  <a:pt x="1404000" y="393912"/>
                </a:lnTo>
                <a:lnTo>
                  <a:pt x="1440000" y="375882"/>
                </a:lnTo>
                <a:lnTo>
                  <a:pt x="1476000" y="367555"/>
                </a:lnTo>
                <a:lnTo>
                  <a:pt x="1512000" y="370372"/>
                </a:lnTo>
                <a:lnTo>
                  <a:pt x="1548000" y="383844"/>
                </a:lnTo>
                <a:lnTo>
                  <a:pt x="1584000" y="405643"/>
                </a:lnTo>
                <a:lnTo>
                  <a:pt x="1620000" y="432000"/>
                </a:lnTo>
                <a:lnTo>
                  <a:pt x="1656000" y="458357"/>
                </a:lnTo>
                <a:lnTo>
                  <a:pt x="1692000" y="480156"/>
                </a:lnTo>
                <a:lnTo>
                  <a:pt x="1728000" y="493628"/>
                </a:lnTo>
                <a:lnTo>
                  <a:pt x="1764000" y="496445"/>
                </a:lnTo>
                <a:lnTo>
                  <a:pt x="1800000" y="488118"/>
                </a:lnTo>
                <a:lnTo>
                  <a:pt x="1836000" y="470088"/>
                </a:lnTo>
                <a:lnTo>
                  <a:pt x="1872000" y="445473"/>
                </a:lnTo>
                <a:lnTo>
                  <a:pt x="1908000" y="418527"/>
                </a:lnTo>
                <a:lnTo>
                  <a:pt x="1944000" y="393912"/>
                </a:lnTo>
                <a:lnTo>
                  <a:pt x="1980000" y="375882"/>
                </a:lnTo>
                <a:lnTo>
                  <a:pt x="2016000" y="367555"/>
                </a:lnTo>
                <a:lnTo>
                  <a:pt x="2052000" y="370372"/>
                </a:lnTo>
                <a:lnTo>
                  <a:pt x="2088000" y="383844"/>
                </a:lnTo>
                <a:lnTo>
                  <a:pt x="2124000" y="405643"/>
                </a:lnTo>
                <a:lnTo>
                  <a:pt x="2160000" y="432000"/>
                </a:lnTo>
                <a:lnTo>
                  <a:pt x="2196000" y="458357"/>
                </a:lnTo>
                <a:lnTo>
                  <a:pt x="2232000" y="480156"/>
                </a:lnTo>
                <a:lnTo>
                  <a:pt x="2268000" y="493628"/>
                </a:lnTo>
                <a:lnTo>
                  <a:pt x="2304000" y="496445"/>
                </a:lnTo>
                <a:lnTo>
                  <a:pt x="2340000" y="488118"/>
                </a:lnTo>
                <a:lnTo>
                  <a:pt x="2376000" y="470088"/>
                </a:lnTo>
                <a:lnTo>
                  <a:pt x="2412000" y="445473"/>
                </a:lnTo>
                <a:lnTo>
                  <a:pt x="2448000" y="418527"/>
                </a:lnTo>
                <a:lnTo>
                  <a:pt x="2484000" y="393912"/>
                </a:lnTo>
                <a:lnTo>
                  <a:pt x="2520000" y="375882"/>
                </a:lnTo>
                <a:lnTo>
                  <a:pt x="2556000" y="367555"/>
                </a:lnTo>
                <a:lnTo>
                  <a:pt x="2592000" y="370372"/>
                </a:lnTo>
                <a:lnTo>
                  <a:pt x="2628000" y="383844"/>
                </a:lnTo>
                <a:lnTo>
                  <a:pt x="2664000" y="405643"/>
                </a:lnTo>
                <a:lnTo>
                  <a:pt x="2700000" y="432000"/>
                </a:lnTo>
                <a:lnTo>
                  <a:pt x="2736000" y="458357"/>
                </a:lnTo>
                <a:lnTo>
                  <a:pt x="2772000" y="480156"/>
                </a:lnTo>
                <a:lnTo>
                  <a:pt x="2808000" y="493628"/>
                </a:lnTo>
                <a:lnTo>
                  <a:pt x="2844000" y="496445"/>
                </a:lnTo>
                <a:lnTo>
                  <a:pt x="2880000" y="488118"/>
                </a:lnTo>
                <a:lnTo>
                  <a:pt x="2916000" y="470088"/>
                </a:lnTo>
                <a:lnTo>
                  <a:pt x="2952000" y="445473"/>
                </a:lnTo>
                <a:lnTo>
                  <a:pt x="2988000" y="418527"/>
                </a:lnTo>
                <a:lnTo>
                  <a:pt x="3024000" y="393912"/>
                </a:lnTo>
                <a:lnTo>
                  <a:pt x="3060000" y="375882"/>
                </a:lnTo>
                <a:lnTo>
                  <a:pt x="3096000" y="367555"/>
                </a:lnTo>
                <a:lnTo>
                  <a:pt x="3132000" y="370372"/>
                </a:lnTo>
                <a:lnTo>
                  <a:pt x="3168000" y="383844"/>
                </a:lnTo>
                <a:lnTo>
                  <a:pt x="3204000" y="405643"/>
                </a:lnTo>
                <a:lnTo>
                  <a:pt x="3240000" y="432000"/>
                </a:lnTo>
                <a:lnTo>
                  <a:pt x="3240000" y="0"/>
                </a:lnTo>
                <a:lnTo>
                  <a:pt x="0" y="0"/>
                </a:lnTo>
                <a:close/>
              </a:path>
            </a:pathLst>
          </a:custGeom>
          <a:solidFill>
            <a:srgbClr val="5F697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144000"/>
            <a:ext cx="2520000" cy="1028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83"/>
              </a:lnSpc>
            </a:pPr>
            <a:r>
              <a:rPr sz="540" b="1" spc="240">
                <a:solidFill>
                  <a:srgbClr val="FFFFFF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5" name="Oval 4"/>
          <p:cNvSpPr/>
          <p:nvPr/>
        </p:nvSpPr>
        <p:spPr>
          <a:xfrm>
            <a:off x="255600" y="741600"/>
            <a:ext cx="43200" cy="43200"/>
          </a:xfrm>
          <a:prstGeom prst="ellipse">
            <a:avLst/>
          </a:prstGeom>
          <a:solidFill>
            <a:srgbClr val="4A566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360000" y="6840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B2230"/>
                </a:solidFill>
                <a:latin typeface="맑은 고딕"/>
                <a:ea typeface="맑은 고딕"/>
              </a:rPr>
              <a:t>민원 상담</a:t>
            </a:r>
          </a:p>
        </p:txBody>
      </p:sp>
      <p:sp>
        <p:nvSpPr>
          <p:cNvPr id="7" name="Oval 6"/>
          <p:cNvSpPr/>
          <p:nvPr/>
        </p:nvSpPr>
        <p:spPr>
          <a:xfrm>
            <a:off x="255600" y="928800"/>
            <a:ext cx="43200" cy="43200"/>
          </a:xfrm>
          <a:prstGeom prst="ellipse">
            <a:avLst/>
          </a:prstGeom>
          <a:solidFill>
            <a:srgbClr val="6E4A7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360000" y="8712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B2230"/>
                </a:solidFill>
                <a:latin typeface="맑은 고딕"/>
                <a:ea typeface="맑은 고딕"/>
              </a:rPr>
              <a:t>복지 안내</a:t>
            </a:r>
          </a:p>
        </p:txBody>
      </p:sp>
      <p:sp>
        <p:nvSpPr>
          <p:cNvPr id="9" name="Oval 8"/>
          <p:cNvSpPr/>
          <p:nvPr/>
        </p:nvSpPr>
        <p:spPr>
          <a:xfrm>
            <a:off x="255600" y="1116000"/>
            <a:ext cx="43200" cy="43200"/>
          </a:xfrm>
          <a:prstGeom prst="ellipse">
            <a:avLst/>
          </a:prstGeom>
          <a:solidFill>
            <a:srgbClr val="4A566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텍스트"/>
          <p:cNvSpPr txBox="1"/>
          <p:nvPr/>
        </p:nvSpPr>
        <p:spPr>
          <a:xfrm>
            <a:off x="360000" y="10584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B2230"/>
                </a:solidFill>
                <a:latin typeface="맑은 고딕"/>
                <a:ea typeface="맑은 고딕"/>
              </a:rPr>
              <a:t>교통 안내</a:t>
            </a:r>
          </a:p>
        </p:txBody>
      </p:sp>
      <p:sp>
        <p:nvSpPr>
          <p:cNvPr id="11" name="Oval 10"/>
          <p:cNvSpPr/>
          <p:nvPr/>
        </p:nvSpPr>
        <p:spPr>
          <a:xfrm>
            <a:off x="255600" y="1303200"/>
            <a:ext cx="43200" cy="43200"/>
          </a:xfrm>
          <a:prstGeom prst="ellipse">
            <a:avLst/>
          </a:prstGeom>
          <a:solidFill>
            <a:srgbClr val="6E4A7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360000" y="12456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B2230"/>
                </a:solidFill>
                <a:latin typeface="맑은 고딕"/>
                <a:ea typeface="맑은 고딕"/>
              </a:rPr>
              <a:t>노인 복지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016000" y="6840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F6672"/>
                </a:solidFill>
                <a:latin typeface="맑은 고딕"/>
                <a:ea typeface="맑은 고딕"/>
              </a:rPr>
              <a:t>INFO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016000" y="799200"/>
            <a:ext cx="972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민원 상담 안내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016000" y="10800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F6672"/>
                </a:solidFill>
                <a:latin typeface="맑은 고딕"/>
                <a:ea typeface="맑은 고딕"/>
              </a:rPr>
              <a:t>BLOG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016000" y="1195200"/>
            <a:ext cx="972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blog.example.com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소방위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