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CCAEB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304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286462"/>
                </a:solidFill>
                <a:latin typeface="맑은 고딕"/>
                <a:ea typeface="맑은 고딕"/>
              </a:rPr>
              <a:t>기관명 · 부서명</a:t>
            </a:r>
          </a:p>
        </p:txBody>
      </p:sp>
      <p:sp>
        <p:nvSpPr>
          <p:cNvPr id="3" name="텍스트"/>
          <p:cNvSpPr txBox="1"/>
          <p:nvPr/>
        </p:nvSpPr>
        <p:spPr>
          <a:xfrm>
            <a:off x="252000" y="396000"/>
            <a:ext cx="216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030"/>
              </a:lnSpc>
            </a:pPr>
            <a:r>
              <a:rPr sz="1400" b="1" spc="100">
                <a:solidFill>
                  <a:srgbClr val="1B2230"/>
                </a:solidFill>
                <a:latin typeface="맑은 고딕"/>
                <a:ea typeface="맑은 고딕"/>
              </a:rPr>
              <a:t>김OO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770400"/>
            <a:ext cx="3240000" cy="331200"/>
          </a:xfrm>
          <a:prstGeom prst="rect">
            <a:avLst/>
          </a:prstGeom>
          <a:solidFill>
            <a:srgbClr val="E0CED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텍스트"/>
          <p:cNvSpPr txBox="1"/>
          <p:nvPr/>
        </p:nvSpPr>
        <p:spPr>
          <a:xfrm>
            <a:off x="252000" y="770400"/>
            <a:ext cx="1440000" cy="331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60"/>
              </a:lnSpc>
            </a:pPr>
            <a:r>
              <a:rPr sz="800" b="1" spc="120">
                <a:solidFill>
                  <a:srgbClr val="1B2230"/>
                </a:solidFill>
                <a:latin typeface="맑은 고딕"/>
                <a:ea typeface="맑은 고딕"/>
              </a:rPr>
              <a:t>주무관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1548000" y="770400"/>
            <a:ext cx="1440000" cy="331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ts val="1015"/>
              </a:lnSpc>
            </a:pPr>
            <a:r>
              <a:rPr sz="700" b="1">
                <a:solidFill>
                  <a:srgbClr val="1B2230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252000" y="1267200"/>
            <a:ext cx="2736000" cy="1219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0">
                <a:solidFill>
                  <a:srgbClr val="1B2230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252000" y="1425600"/>
            <a:ext cx="2736000" cy="1219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0">
                <a:solidFill>
                  <a:srgbClr val="504C58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E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144000" y="144000"/>
            <a:ext cx="165600" cy="0"/>
          </a:xfrm>
          <a:prstGeom prst="line">
            <a:avLst/>
          </a:prstGeom>
          <a:ln w="7920">
            <a:solidFill>
              <a:srgbClr val="43A6A1"/>
            </a:solidFill>
          </a:ln>
        </p:spPr>
      </p:cxnSp>
      <p:cxnSp>
        <p:nvCxnSpPr>
          <p:cNvPr id="3" name="Connector 2"/>
          <p:cNvCxnSpPr/>
          <p:nvPr/>
        </p:nvCxnSpPr>
        <p:spPr>
          <a:xfrm>
            <a:off x="144000" y="144000"/>
            <a:ext cx="0" cy="165600"/>
          </a:xfrm>
          <a:prstGeom prst="line">
            <a:avLst/>
          </a:prstGeom>
          <a:ln w="7920">
            <a:solidFill>
              <a:srgbClr val="43A6A1"/>
            </a:solidFill>
          </a:ln>
        </p:spPr>
      </p:cxnSp>
      <p:cxnSp>
        <p:nvCxnSpPr>
          <p:cNvPr id="4" name="Connector 3"/>
          <p:cNvCxnSpPr/>
          <p:nvPr/>
        </p:nvCxnSpPr>
        <p:spPr>
          <a:xfrm flipH="1">
            <a:off x="2930400" y="144000"/>
            <a:ext cx="165600" cy="0"/>
          </a:xfrm>
          <a:prstGeom prst="line">
            <a:avLst/>
          </a:prstGeom>
          <a:ln w="7920">
            <a:solidFill>
              <a:srgbClr val="43A6A1"/>
            </a:solidFill>
          </a:ln>
        </p:spPr>
      </p:cxnSp>
      <p:cxnSp>
        <p:nvCxnSpPr>
          <p:cNvPr id="5" name="Connector 4"/>
          <p:cNvCxnSpPr/>
          <p:nvPr/>
        </p:nvCxnSpPr>
        <p:spPr>
          <a:xfrm>
            <a:off x="3096000" y="144000"/>
            <a:ext cx="0" cy="165600"/>
          </a:xfrm>
          <a:prstGeom prst="line">
            <a:avLst/>
          </a:prstGeom>
          <a:ln w="7920">
            <a:solidFill>
              <a:srgbClr val="43A6A1"/>
            </a:solidFill>
          </a:ln>
        </p:spPr>
      </p:cxnSp>
      <p:cxnSp>
        <p:nvCxnSpPr>
          <p:cNvPr id="6" name="Connector 5"/>
          <p:cNvCxnSpPr/>
          <p:nvPr/>
        </p:nvCxnSpPr>
        <p:spPr>
          <a:xfrm>
            <a:off x="144000" y="1656000"/>
            <a:ext cx="165600" cy="0"/>
          </a:xfrm>
          <a:prstGeom prst="line">
            <a:avLst/>
          </a:prstGeom>
          <a:ln w="7920">
            <a:solidFill>
              <a:srgbClr val="43A6A1"/>
            </a:solidFill>
          </a:ln>
        </p:spPr>
      </p:cxnSp>
      <p:cxnSp>
        <p:nvCxnSpPr>
          <p:cNvPr id="7" name="Connector 6"/>
          <p:cNvCxnSpPr/>
          <p:nvPr/>
        </p:nvCxnSpPr>
        <p:spPr>
          <a:xfrm flipV="1">
            <a:off x="144000" y="1490400"/>
            <a:ext cx="0" cy="165600"/>
          </a:xfrm>
          <a:prstGeom prst="line">
            <a:avLst/>
          </a:prstGeom>
          <a:ln w="7920">
            <a:solidFill>
              <a:srgbClr val="43A6A1"/>
            </a:solidFill>
          </a:ln>
        </p:spPr>
      </p:cxnSp>
      <p:cxnSp>
        <p:nvCxnSpPr>
          <p:cNvPr id="8" name="Connector 7"/>
          <p:cNvCxnSpPr/>
          <p:nvPr/>
        </p:nvCxnSpPr>
        <p:spPr>
          <a:xfrm flipH="1">
            <a:off x="2930400" y="1656000"/>
            <a:ext cx="165600" cy="0"/>
          </a:xfrm>
          <a:prstGeom prst="line">
            <a:avLst/>
          </a:prstGeom>
          <a:ln w="7920">
            <a:solidFill>
              <a:srgbClr val="43A6A1"/>
            </a:solidFill>
          </a:ln>
        </p:spPr>
      </p:cxnSp>
      <p:cxnSp>
        <p:nvCxnSpPr>
          <p:cNvPr id="9" name="Connector 8"/>
          <p:cNvCxnSpPr/>
          <p:nvPr/>
        </p:nvCxnSpPr>
        <p:spPr>
          <a:xfrm flipV="1">
            <a:off x="3096000" y="1490400"/>
            <a:ext cx="0" cy="165600"/>
          </a:xfrm>
          <a:prstGeom prst="line">
            <a:avLst/>
          </a:prstGeom>
          <a:ln w="7920">
            <a:solidFill>
              <a:srgbClr val="43A6A1"/>
            </a:solidFill>
          </a:ln>
        </p:spPr>
      </p:cxnSp>
      <p:sp>
        <p:nvSpPr>
          <p:cNvPr id="10" name="텍스트"/>
          <p:cNvSpPr txBox="1"/>
          <p:nvPr/>
        </p:nvSpPr>
        <p:spPr>
          <a:xfrm>
            <a:off x="360000" y="324000"/>
            <a:ext cx="252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754"/>
              </a:lnSpc>
            </a:pPr>
            <a:r>
              <a:rPr sz="520" b="1" spc="240">
                <a:solidFill>
                  <a:srgbClr val="7A2A3C"/>
                </a:solidFill>
                <a:latin typeface="맑은 고딕"/>
                <a:ea typeface="맑은 고딕"/>
              </a:rPr>
              <a:t>담당 업무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512000" y="468000"/>
            <a:ext cx="216000" cy="0"/>
          </a:xfrm>
          <a:prstGeom prst="line">
            <a:avLst/>
          </a:prstGeom>
          <a:ln w="7200">
            <a:solidFill>
              <a:srgbClr val="43A6A1"/>
            </a:solidFill>
          </a:ln>
        </p:spPr>
      </p:cxnSp>
      <p:sp>
        <p:nvSpPr>
          <p:cNvPr id="12" name="텍스트"/>
          <p:cNvSpPr txBox="1"/>
          <p:nvPr/>
        </p:nvSpPr>
        <p:spPr>
          <a:xfrm>
            <a:off x="360000" y="576000"/>
            <a:ext cx="2520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73"/>
              </a:lnSpc>
            </a:pPr>
            <a:r>
              <a:rPr sz="740" b="1">
                <a:solidFill>
                  <a:srgbClr val="1B2230"/>
                </a:solidFill>
                <a:latin typeface="맑은 고딕"/>
                <a:ea typeface="맑은 고딕"/>
              </a:rPr>
              <a:t>주민 서비스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360000" y="763200"/>
            <a:ext cx="2520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73"/>
              </a:lnSpc>
            </a:pPr>
            <a:r>
              <a:rPr sz="740" b="1">
                <a:solidFill>
                  <a:srgbClr val="1B2230"/>
                </a:solidFill>
                <a:latin typeface="맑은 고딕"/>
                <a:ea typeface="맑은 고딕"/>
              </a:rPr>
              <a:t>안전 관리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360000" y="950400"/>
            <a:ext cx="2520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73"/>
              </a:lnSpc>
            </a:pPr>
            <a:r>
              <a:rPr sz="740" b="1">
                <a:solidFill>
                  <a:srgbClr val="1B2230"/>
                </a:solidFill>
                <a:latin typeface="맑은 고딕"/>
                <a:ea typeface="맑은 고딕"/>
              </a:rPr>
              <a:t>교통 안내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360000" y="1137600"/>
            <a:ext cx="2520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73"/>
              </a:lnSpc>
            </a:pPr>
            <a:r>
              <a:rPr sz="740" b="1">
                <a:solidFill>
                  <a:srgbClr val="1B2230"/>
                </a:solidFill>
                <a:latin typeface="맑은 고딕"/>
                <a:ea typeface="맑은 고딕"/>
              </a:rPr>
              <a:t>허가 · 신고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360000" y="1440000"/>
            <a:ext cx="2520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41"/>
              </a:lnSpc>
            </a:pPr>
            <a:r>
              <a:rPr sz="580" b="0">
                <a:solidFill>
                  <a:srgbClr val="605C55"/>
                </a:solidFill>
                <a:latin typeface="맑은 고딕"/>
                <a:ea typeface="맑은 고딕"/>
              </a:rPr>
              <a:t>민원 상담 안내   ·   @아이디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주무관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