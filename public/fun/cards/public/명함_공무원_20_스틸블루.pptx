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2658960" y="239760"/>
            <a:ext cx="24480" cy="24480"/>
          </a:xfrm>
          <a:prstGeom prst="ellipse">
            <a:avLst/>
          </a:prstGeom>
          <a:solidFill>
            <a:srgbClr val="617C9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2658960" y="333360"/>
            <a:ext cx="24480" cy="24480"/>
          </a:xfrm>
          <a:prstGeom prst="ellipse">
            <a:avLst/>
          </a:prstGeom>
          <a:solidFill>
            <a:srgbClr val="2A2D3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2658960" y="426960"/>
            <a:ext cx="24480" cy="24480"/>
          </a:xfrm>
          <a:prstGeom prst="ellipse">
            <a:avLst/>
          </a:prstGeom>
          <a:solidFill>
            <a:srgbClr val="2A2D3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2658960" y="520560"/>
            <a:ext cx="24480" cy="24480"/>
          </a:xfrm>
          <a:prstGeom prst="ellipse">
            <a:avLst/>
          </a:prstGeom>
          <a:solidFill>
            <a:srgbClr val="2A2D3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2752560" y="239760"/>
            <a:ext cx="24480" cy="24480"/>
          </a:xfrm>
          <a:prstGeom prst="ellipse">
            <a:avLst/>
          </a:prstGeom>
          <a:solidFill>
            <a:srgbClr val="2A2D3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2752560" y="333360"/>
            <a:ext cx="24480" cy="24480"/>
          </a:xfrm>
          <a:prstGeom prst="ellipse">
            <a:avLst/>
          </a:prstGeom>
          <a:solidFill>
            <a:srgbClr val="2A2D3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2752560" y="426960"/>
            <a:ext cx="24480" cy="24480"/>
          </a:xfrm>
          <a:prstGeom prst="ellipse">
            <a:avLst/>
          </a:prstGeom>
          <a:solidFill>
            <a:srgbClr val="2A2D3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2752560" y="520560"/>
            <a:ext cx="24480" cy="24480"/>
          </a:xfrm>
          <a:prstGeom prst="ellipse">
            <a:avLst/>
          </a:prstGeom>
          <a:solidFill>
            <a:srgbClr val="617C9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2846160" y="239760"/>
            <a:ext cx="24480" cy="24480"/>
          </a:xfrm>
          <a:prstGeom prst="ellipse">
            <a:avLst/>
          </a:prstGeom>
          <a:solidFill>
            <a:srgbClr val="2A2D3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2846160" y="333360"/>
            <a:ext cx="24480" cy="24480"/>
          </a:xfrm>
          <a:prstGeom prst="ellipse">
            <a:avLst/>
          </a:prstGeom>
          <a:solidFill>
            <a:srgbClr val="2A2D3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2846160" y="426960"/>
            <a:ext cx="24480" cy="24480"/>
          </a:xfrm>
          <a:prstGeom prst="ellipse">
            <a:avLst/>
          </a:prstGeom>
          <a:solidFill>
            <a:srgbClr val="617C9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2846160" y="520560"/>
            <a:ext cx="24480" cy="24480"/>
          </a:xfrm>
          <a:prstGeom prst="ellipse">
            <a:avLst/>
          </a:prstGeom>
          <a:solidFill>
            <a:srgbClr val="2A2D3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2939760" y="239760"/>
            <a:ext cx="24480" cy="24480"/>
          </a:xfrm>
          <a:prstGeom prst="ellipse">
            <a:avLst/>
          </a:prstGeom>
          <a:solidFill>
            <a:srgbClr val="2A2D3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2939760" y="333360"/>
            <a:ext cx="24480" cy="24480"/>
          </a:xfrm>
          <a:prstGeom prst="ellipse">
            <a:avLst/>
          </a:prstGeom>
          <a:solidFill>
            <a:srgbClr val="617C9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2939760" y="426960"/>
            <a:ext cx="24480" cy="24480"/>
          </a:xfrm>
          <a:prstGeom prst="ellipse">
            <a:avLst/>
          </a:prstGeom>
          <a:solidFill>
            <a:srgbClr val="2A2D3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2939760" y="520560"/>
            <a:ext cx="24480" cy="24480"/>
          </a:xfrm>
          <a:prstGeom prst="ellipse">
            <a:avLst/>
          </a:prstGeom>
          <a:solidFill>
            <a:srgbClr val="2A2D3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3033360" y="239760"/>
            <a:ext cx="24480" cy="24480"/>
          </a:xfrm>
          <a:prstGeom prst="ellipse">
            <a:avLst/>
          </a:prstGeom>
          <a:solidFill>
            <a:srgbClr val="617C9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3033360" y="333360"/>
            <a:ext cx="24480" cy="24480"/>
          </a:xfrm>
          <a:prstGeom prst="ellipse">
            <a:avLst/>
          </a:prstGeom>
          <a:solidFill>
            <a:srgbClr val="2A2D3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3033360" y="426960"/>
            <a:ext cx="24480" cy="24480"/>
          </a:xfrm>
          <a:prstGeom prst="ellipse">
            <a:avLst/>
          </a:prstGeom>
          <a:solidFill>
            <a:srgbClr val="2A2D3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3033360" y="520560"/>
            <a:ext cx="24480" cy="24480"/>
          </a:xfrm>
          <a:prstGeom prst="ellipse">
            <a:avLst/>
          </a:prstGeom>
          <a:solidFill>
            <a:srgbClr val="2A2D3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252000" y="237600"/>
            <a:ext cx="540000" cy="165600"/>
          </a:xfrm>
          <a:prstGeom prst="roundRect">
            <a:avLst>
              <a:gd name="adj" fmla="val 50000"/>
            </a:avLst>
          </a:prstGeom>
          <a:noFill/>
          <a:ln w="5760">
            <a:solidFill>
              <a:srgbClr val="617C9A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텍스트"/>
          <p:cNvSpPr txBox="1"/>
          <p:nvPr/>
        </p:nvSpPr>
        <p:spPr>
          <a:xfrm>
            <a:off x="252000" y="237600"/>
            <a:ext cx="540000" cy="165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956"/>
              </a:lnSpc>
            </a:pPr>
            <a:r>
              <a:rPr sz="660" b="1" spc="80">
                <a:solidFill>
                  <a:srgbClr val="FFFFFF"/>
                </a:solidFill>
                <a:latin typeface="맑은 고딕"/>
                <a:ea typeface="맑은 고딕"/>
              </a:rPr>
              <a:t>소방위</a:t>
            </a:r>
          </a:p>
        </p:txBody>
      </p:sp>
      <p:sp>
        <p:nvSpPr>
          <p:cNvPr id="24" name="텍스트"/>
          <p:cNvSpPr txBox="1"/>
          <p:nvPr/>
        </p:nvSpPr>
        <p:spPr>
          <a:xfrm>
            <a:off x="252000" y="583200"/>
            <a:ext cx="216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FFFFFF"/>
                </a:solidFill>
                <a:latin typeface="맑은 고딕"/>
                <a:ea typeface="맑은 고딕"/>
              </a:rPr>
              <a:t>홍OO</a:t>
            </a:r>
          </a:p>
        </p:txBody>
      </p:sp>
      <p:sp>
        <p:nvSpPr>
          <p:cNvPr id="25" name="텍스트"/>
          <p:cNvSpPr txBox="1"/>
          <p:nvPr/>
        </p:nvSpPr>
        <p:spPr>
          <a:xfrm>
            <a:off x="252000" y="878400"/>
            <a:ext cx="180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A7ABB4"/>
                </a:solidFill>
                <a:latin typeface="맑은 고딕"/>
                <a:ea typeface="맑은 고딕"/>
              </a:rPr>
              <a:t>기관명 · 부서명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252000" y="1144800"/>
            <a:ext cx="2736000" cy="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sp>
        <p:nvSpPr>
          <p:cNvPr id="27" name="텍스트"/>
          <p:cNvSpPr txBox="1"/>
          <p:nvPr/>
        </p:nvSpPr>
        <p:spPr>
          <a:xfrm>
            <a:off x="252000" y="12420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A7ABB4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28" name="텍스트"/>
          <p:cNvSpPr txBox="1"/>
          <p:nvPr/>
        </p:nvSpPr>
        <p:spPr>
          <a:xfrm>
            <a:off x="583200" y="12312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FFFFFF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29" name="텍스트"/>
          <p:cNvSpPr txBox="1"/>
          <p:nvPr/>
        </p:nvSpPr>
        <p:spPr>
          <a:xfrm>
            <a:off x="252000" y="13716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A7ABB4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30" name="텍스트"/>
          <p:cNvSpPr txBox="1"/>
          <p:nvPr/>
        </p:nvSpPr>
        <p:spPr>
          <a:xfrm>
            <a:off x="583200" y="13608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FFFFFF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31" name="텍스트"/>
          <p:cNvSpPr txBox="1"/>
          <p:nvPr/>
        </p:nvSpPr>
        <p:spPr>
          <a:xfrm>
            <a:off x="252000" y="15012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A7ABB4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32" name="텍스트"/>
          <p:cNvSpPr txBox="1"/>
          <p:nvPr/>
        </p:nvSpPr>
        <p:spPr>
          <a:xfrm>
            <a:off x="583200" y="14904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FFFFFF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2955600" y="1584000"/>
            <a:ext cx="64800" cy="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cxnSp>
        <p:nvCxnSpPr>
          <p:cNvPr id="34" name="Connector 33"/>
          <p:cNvCxnSpPr/>
          <p:nvPr/>
        </p:nvCxnSpPr>
        <p:spPr>
          <a:xfrm>
            <a:off x="2988000" y="1551600"/>
            <a:ext cx="0" cy="6480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3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0400" cy="1800000"/>
          </a:xfrm>
          <a:prstGeom prst="rect">
            <a:avLst/>
          </a:prstGeom>
          <a:solidFill>
            <a:srgbClr val="B6832C">
              <a:alpha val="9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1200" y="0"/>
            <a:ext cx="36000" cy="1800000"/>
          </a:xfrm>
          <a:prstGeom prst="rect">
            <a:avLst/>
          </a:prstGeom>
          <a:solidFill>
            <a:srgbClr val="B5543A">
              <a:alpha val="7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22400" y="0"/>
            <a:ext cx="36000" cy="1800000"/>
          </a:xfrm>
          <a:prstGeom prst="rect">
            <a:avLst/>
          </a:prstGeom>
          <a:solidFill>
            <a:srgbClr val="B6832C">
              <a:alpha val="9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83600" y="0"/>
            <a:ext cx="50400" cy="1800000"/>
          </a:xfrm>
          <a:prstGeom prst="rect">
            <a:avLst/>
          </a:prstGeom>
          <a:solidFill>
            <a:srgbClr val="B5543A">
              <a:alpha val="7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44800" y="0"/>
            <a:ext cx="36000" cy="1800000"/>
          </a:xfrm>
          <a:prstGeom prst="rect">
            <a:avLst/>
          </a:prstGeom>
          <a:solidFill>
            <a:srgbClr val="B6832C">
              <a:alpha val="9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06000" y="0"/>
            <a:ext cx="36000" cy="1800000"/>
          </a:xfrm>
          <a:prstGeom prst="rect">
            <a:avLst/>
          </a:prstGeom>
          <a:solidFill>
            <a:srgbClr val="B5543A">
              <a:alpha val="7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67200" y="0"/>
            <a:ext cx="50400" cy="1800000"/>
          </a:xfrm>
          <a:prstGeom prst="rect">
            <a:avLst/>
          </a:prstGeom>
          <a:solidFill>
            <a:srgbClr val="B6832C">
              <a:alpha val="9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28400" y="0"/>
            <a:ext cx="36000" cy="1800000"/>
          </a:xfrm>
          <a:prstGeom prst="rect">
            <a:avLst/>
          </a:prstGeom>
          <a:solidFill>
            <a:srgbClr val="B5543A">
              <a:alpha val="7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89600" y="0"/>
            <a:ext cx="36000" cy="1800000"/>
          </a:xfrm>
          <a:prstGeom prst="rect">
            <a:avLst/>
          </a:prstGeom>
          <a:solidFill>
            <a:srgbClr val="B6832C">
              <a:alpha val="9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50800" y="0"/>
            <a:ext cx="50400" cy="1800000"/>
          </a:xfrm>
          <a:prstGeom prst="rect">
            <a:avLst/>
          </a:prstGeom>
          <a:solidFill>
            <a:srgbClr val="B5543A">
              <a:alpha val="7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텍스트"/>
          <p:cNvSpPr txBox="1"/>
          <p:nvPr/>
        </p:nvSpPr>
        <p:spPr>
          <a:xfrm>
            <a:off x="828000" y="252000"/>
            <a:ext cx="1512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554323"/>
                </a:solidFill>
                <a:latin typeface="맑은 고딕"/>
                <a:ea typeface="맑은 고딕"/>
              </a:rPr>
              <a:t>담당 업무</a:t>
            </a:r>
          </a:p>
        </p:txBody>
      </p:sp>
      <p:sp>
        <p:nvSpPr>
          <p:cNvPr id="13" name="Oval 12"/>
          <p:cNvSpPr/>
          <p:nvPr/>
        </p:nvSpPr>
        <p:spPr>
          <a:xfrm>
            <a:off x="831600" y="489600"/>
            <a:ext cx="43200" cy="43200"/>
          </a:xfrm>
          <a:prstGeom prst="ellipse">
            <a:avLst/>
          </a:prstGeom>
          <a:solidFill>
            <a:srgbClr val="B683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텍스트"/>
          <p:cNvSpPr txBox="1"/>
          <p:nvPr/>
        </p:nvSpPr>
        <p:spPr>
          <a:xfrm>
            <a:off x="936000" y="4320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14171D"/>
                </a:solidFill>
                <a:latin typeface="맑은 고딕"/>
                <a:ea typeface="맑은 고딕"/>
              </a:rPr>
              <a:t>환경 관리</a:t>
            </a:r>
          </a:p>
        </p:txBody>
      </p:sp>
      <p:sp>
        <p:nvSpPr>
          <p:cNvPr id="15" name="Oval 14"/>
          <p:cNvSpPr/>
          <p:nvPr/>
        </p:nvSpPr>
        <p:spPr>
          <a:xfrm>
            <a:off x="831600" y="712800"/>
            <a:ext cx="43200" cy="43200"/>
          </a:xfrm>
          <a:prstGeom prst="ellipse">
            <a:avLst/>
          </a:prstGeom>
          <a:solidFill>
            <a:srgbClr val="B5543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텍스트"/>
          <p:cNvSpPr txBox="1"/>
          <p:nvPr/>
        </p:nvSpPr>
        <p:spPr>
          <a:xfrm>
            <a:off x="936000" y="6552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14171D"/>
                </a:solidFill>
                <a:latin typeface="맑은 고딕"/>
                <a:ea typeface="맑은 고딕"/>
              </a:rPr>
              <a:t>교통 안내</a:t>
            </a:r>
          </a:p>
        </p:txBody>
      </p:sp>
      <p:sp>
        <p:nvSpPr>
          <p:cNvPr id="17" name="Oval 16"/>
          <p:cNvSpPr/>
          <p:nvPr/>
        </p:nvSpPr>
        <p:spPr>
          <a:xfrm>
            <a:off x="831600" y="936000"/>
            <a:ext cx="43200" cy="43200"/>
          </a:xfrm>
          <a:prstGeom prst="ellipse">
            <a:avLst/>
          </a:prstGeom>
          <a:solidFill>
            <a:srgbClr val="B683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텍스트"/>
          <p:cNvSpPr txBox="1"/>
          <p:nvPr/>
        </p:nvSpPr>
        <p:spPr>
          <a:xfrm>
            <a:off x="936000" y="8784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14171D"/>
                </a:solidFill>
                <a:latin typeface="맑은 고딕"/>
                <a:ea typeface="맑은 고딕"/>
              </a:rPr>
              <a:t>생활 복지</a:t>
            </a:r>
          </a:p>
        </p:txBody>
      </p:sp>
      <p:sp>
        <p:nvSpPr>
          <p:cNvPr id="19" name="Oval 18"/>
          <p:cNvSpPr/>
          <p:nvPr/>
        </p:nvSpPr>
        <p:spPr>
          <a:xfrm>
            <a:off x="831600" y="1159200"/>
            <a:ext cx="43200" cy="43200"/>
          </a:xfrm>
          <a:prstGeom prst="ellipse">
            <a:avLst/>
          </a:prstGeom>
          <a:solidFill>
            <a:srgbClr val="B5543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텍스트"/>
          <p:cNvSpPr txBox="1"/>
          <p:nvPr/>
        </p:nvSpPr>
        <p:spPr>
          <a:xfrm>
            <a:off x="936000" y="11016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14171D"/>
                </a:solidFill>
                <a:latin typeface="맑은 고딕"/>
                <a:ea typeface="맑은 고딕"/>
              </a:rPr>
              <a:t>허가 · 신고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828000" y="1440000"/>
            <a:ext cx="2160000" cy="0"/>
          </a:xfrm>
          <a:prstGeom prst="line">
            <a:avLst/>
          </a:prstGeom>
          <a:ln w="3600">
            <a:solidFill>
              <a:srgbClr val="EDDEC4"/>
            </a:solidFill>
          </a:ln>
        </p:spPr>
      </p:cxnSp>
      <p:sp>
        <p:nvSpPr>
          <p:cNvPr id="22" name="텍스트"/>
          <p:cNvSpPr txBox="1"/>
          <p:nvPr/>
        </p:nvSpPr>
        <p:spPr>
          <a:xfrm>
            <a:off x="828000" y="1512000"/>
            <a:ext cx="2160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41"/>
              </a:lnSpc>
            </a:pPr>
            <a:r>
              <a:rPr sz="580" b="0">
                <a:solidFill>
                  <a:srgbClr val="554323"/>
                </a:solidFill>
                <a:latin typeface="맑은 고딕"/>
                <a:ea typeface="맑은 고딕"/>
              </a:rPr>
              <a:t>평일 09:00 – 18:00     @채널아이디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소방위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