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980000" y="396000"/>
            <a:ext cx="1008000" cy="1008000"/>
          </a:xfrm>
          <a:prstGeom prst="ellipse">
            <a:avLst/>
          </a:prstGeom>
          <a:solidFill>
            <a:srgbClr val="9165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864800" y="280800"/>
            <a:ext cx="1238400" cy="1238400"/>
          </a:xfrm>
          <a:prstGeom prst="ellipse">
            <a:avLst/>
          </a:prstGeom>
          <a:noFill/>
          <a:ln w="4320">
            <a:solidFill>
              <a:srgbClr val="D9D5C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2268720" y="703440"/>
            <a:ext cx="430560" cy="196560"/>
          </a:xfrm>
          <a:custGeom>
            <a:avLst/>
            <a:gdLst/>
            <a:ahLst/>
            <a:cxnLst/>
            <a:rect l="l" t="t" r="r" b="b"/>
            <a:pathLst>
              <a:path w="430560" h="196560">
                <a:moveTo>
                  <a:pt x="0" y="196560"/>
                </a:moveTo>
                <a:lnTo>
                  <a:pt x="215280" y="0"/>
                </a:lnTo>
                <a:lnTo>
                  <a:pt x="430560" y="19656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334240" y="900000"/>
            <a:ext cx="299520" cy="196560"/>
          </a:xfrm>
          <a:prstGeom prst="rect">
            <a:avLst/>
          </a:prstGeom>
          <a:solidFill>
            <a:srgbClr val="C8B2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46560" y="965520"/>
            <a:ext cx="74880" cy="131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이OO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86459"/>
                </a:solidFill>
                <a:latin typeface="맑은 고딕"/>
                <a:ea typeface="맑은 고딕"/>
              </a:rPr>
              <a:t>팀장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144800"/>
            <a:ext cx="1260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227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54400" y="12168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50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54400" y="13392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724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54400" y="14616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4000" cy="1800000"/>
          </a:xfrm>
          <a:prstGeom prst="rect">
            <a:avLst/>
          </a:prstGeom>
          <a:solidFill>
            <a:srgbClr val="5B78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16000" y="252000"/>
            <a:ext cx="86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 spc="140">
                <a:solidFill>
                  <a:srgbClr val="FFFFFF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4" name="Freeform 3"/>
          <p:cNvSpPr/>
          <p:nvPr/>
        </p:nvSpPr>
        <p:spPr>
          <a:xfrm>
            <a:off x="429840" y="877680"/>
            <a:ext cx="364320" cy="166320"/>
          </a:xfrm>
          <a:custGeom>
            <a:avLst/>
            <a:gdLst/>
            <a:ahLst/>
            <a:cxnLst/>
            <a:rect l="l" t="t" r="r" b="b"/>
            <a:pathLst>
              <a:path w="364320" h="166320">
                <a:moveTo>
                  <a:pt x="0" y="166320"/>
                </a:moveTo>
                <a:lnTo>
                  <a:pt x="182160" y="0"/>
                </a:lnTo>
                <a:lnTo>
                  <a:pt x="364320" y="16632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5280" y="1044000"/>
            <a:ext cx="253440" cy="166320"/>
          </a:xfrm>
          <a:prstGeom prst="rect">
            <a:avLst/>
          </a:prstGeom>
          <a:solidFill>
            <a:srgbClr val="ADBC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80320" y="1099440"/>
            <a:ext cx="63360" cy="110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16000" y="1512000"/>
            <a:ext cx="864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60">
                <a:solidFill>
                  <a:srgbClr val="FFFFFF">
                    <a:alpha val="80000"/>
                  </a:srgbClr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440000" y="324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FFFFFF"/>
                </a:solidFill>
                <a:latin typeface="맑은 고딕"/>
                <a:ea typeface="맑은 고딕"/>
              </a:rPr>
              <a:t>안전 관리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40000" y="547200"/>
            <a:ext cx="1584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440000" y="576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FFFFFF"/>
                </a:solidFill>
                <a:latin typeface="맑은 고딕"/>
                <a:ea typeface="맑은 고딕"/>
              </a:rPr>
              <a:t>환경 관리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440000" y="799200"/>
            <a:ext cx="1584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2" name="텍스트"/>
          <p:cNvSpPr txBox="1"/>
          <p:nvPr/>
        </p:nvSpPr>
        <p:spPr>
          <a:xfrm>
            <a:off x="1440000" y="828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FFFFFF"/>
                </a:solidFill>
                <a:latin typeface="맑은 고딕"/>
                <a:ea typeface="맑은 고딕"/>
              </a:rPr>
              <a:t>청년 지원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440000" y="1051200"/>
            <a:ext cx="1584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1440000" y="1080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FFFFFF"/>
                </a:solidFill>
                <a:latin typeface="맑은 고딕"/>
                <a:ea typeface="맑은 고딕"/>
              </a:rPr>
              <a:t>세무 안내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440000" y="1303200"/>
            <a:ext cx="1584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1440000" y="1512000"/>
            <a:ext cx="1584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A7ABB4"/>
                </a:solidFill>
                <a:latin typeface="맑은 고딕"/>
                <a:ea typeface="맑은 고딕"/>
              </a:rPr>
              <a:t>평일 09:00 – 18:00   ·   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팀장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