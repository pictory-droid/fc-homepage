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9668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304000" y="684000"/>
            <a:ext cx="432000" cy="432000"/>
          </a:xfrm>
          <a:prstGeom prst="ellipse">
            <a:avLst/>
          </a:prstGeom>
          <a:noFill/>
          <a:ln w="4320">
            <a:solidFill>
              <a:srgbClr val="848EA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124000" y="504000"/>
            <a:ext cx="792000" cy="792000"/>
          </a:xfrm>
          <a:prstGeom prst="ellipse">
            <a:avLst/>
          </a:prstGeom>
          <a:noFill/>
          <a:ln w="4320">
            <a:solidFill>
              <a:srgbClr val="848EA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980000" y="360000"/>
            <a:ext cx="1080000" cy="1080000"/>
          </a:xfrm>
          <a:prstGeom prst="ellipse">
            <a:avLst/>
          </a:prstGeom>
          <a:noFill/>
          <a:ln w="4320">
            <a:solidFill>
              <a:srgbClr val="848EA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72000" y="252000"/>
            <a:ext cx="1296000" cy="1296000"/>
          </a:xfrm>
          <a:prstGeom prst="ellipse">
            <a:avLst/>
          </a:prstGeom>
          <a:noFill/>
          <a:ln w="4320">
            <a:solidFill>
              <a:srgbClr val="A7AEB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469600" y="849600"/>
            <a:ext cx="100800" cy="100800"/>
          </a:xfrm>
          <a:prstGeom prst="ellipse">
            <a:avLst/>
          </a:prstGeom>
          <a:solidFill>
            <a:srgbClr val="A7AEB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955600" y="421200"/>
            <a:ext cx="43200" cy="43200"/>
          </a:xfrm>
          <a:prstGeom prst="ellipse">
            <a:avLst/>
          </a:prstGeom>
          <a:solidFill>
            <a:srgbClr val="A7AEB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CDDDE2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황OO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DADDE4"/>
                </a:solidFill>
                <a:latin typeface="맑은 고딕"/>
                <a:ea typeface="맑은 고딕"/>
              </a:rPr>
              <a:t>지도사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2000" y="1080000"/>
            <a:ext cx="129600" cy="14400"/>
          </a:xfrm>
          <a:prstGeom prst="rect">
            <a:avLst/>
          </a:prstGeom>
          <a:solidFill>
            <a:srgbClr val="A7AEB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52000" y="121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ADDE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83200" y="120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342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ADDE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83200" y="1332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472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ADDE4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83200" y="1461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6000" y="540000"/>
            <a:ext cx="684000" cy="1260000"/>
          </a:xfrm>
          <a:prstGeom prst="rect">
            <a:avLst/>
          </a:prstGeom>
          <a:solidFill>
            <a:srgbClr val="4A7E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16000" y="198000"/>
            <a:ext cx="684000" cy="342000"/>
          </a:xfrm>
          <a:custGeom>
            <a:avLst/>
            <a:gdLst/>
            <a:ahLst/>
            <a:cxnLst/>
            <a:rect l="l" t="t" r="r" b="b"/>
            <a:pathLst>
              <a:path w="684000" h="342000">
                <a:moveTo>
                  <a:pt x="0" y="342000"/>
                </a:moveTo>
                <a:lnTo>
                  <a:pt x="2926" y="297360"/>
                </a:lnTo>
                <a:lnTo>
                  <a:pt x="11653" y="253484"/>
                </a:lnTo>
                <a:lnTo>
                  <a:pt x="26033" y="211122"/>
                </a:lnTo>
                <a:lnTo>
                  <a:pt x="45819" y="171000"/>
                </a:lnTo>
                <a:lnTo>
                  <a:pt x="70673" y="133804"/>
                </a:lnTo>
                <a:lnTo>
                  <a:pt x="100169" y="100169"/>
                </a:lnTo>
                <a:lnTo>
                  <a:pt x="133804" y="70673"/>
                </a:lnTo>
                <a:lnTo>
                  <a:pt x="171000" y="45819"/>
                </a:lnTo>
                <a:lnTo>
                  <a:pt x="211122" y="26033"/>
                </a:lnTo>
                <a:lnTo>
                  <a:pt x="253484" y="11653"/>
                </a:lnTo>
                <a:lnTo>
                  <a:pt x="297360" y="2926"/>
                </a:lnTo>
                <a:lnTo>
                  <a:pt x="342000" y="0"/>
                </a:lnTo>
                <a:lnTo>
                  <a:pt x="386640" y="2926"/>
                </a:lnTo>
                <a:lnTo>
                  <a:pt x="430516" y="11653"/>
                </a:lnTo>
                <a:lnTo>
                  <a:pt x="472878" y="26033"/>
                </a:lnTo>
                <a:lnTo>
                  <a:pt x="513000" y="45819"/>
                </a:lnTo>
                <a:lnTo>
                  <a:pt x="550196" y="70673"/>
                </a:lnTo>
                <a:lnTo>
                  <a:pt x="583831" y="100169"/>
                </a:lnTo>
                <a:lnTo>
                  <a:pt x="613327" y="133804"/>
                </a:lnTo>
                <a:lnTo>
                  <a:pt x="638181" y="171000"/>
                </a:lnTo>
                <a:lnTo>
                  <a:pt x="657967" y="211122"/>
                </a:lnTo>
                <a:lnTo>
                  <a:pt x="672347" y="253484"/>
                </a:lnTo>
                <a:lnTo>
                  <a:pt x="681074" y="297360"/>
                </a:lnTo>
                <a:lnTo>
                  <a:pt x="684000" y="342000"/>
                </a:lnTo>
                <a:close/>
              </a:path>
            </a:pathLst>
          </a:custGeom>
          <a:solidFill>
            <a:srgbClr val="4A7E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399024" y="947232"/>
            <a:ext cx="152064" cy="221184"/>
          </a:xfrm>
          <a:custGeom>
            <a:avLst/>
            <a:gdLst/>
            <a:ahLst/>
            <a:cxnLst/>
            <a:rect l="l" t="t" r="r" b="b"/>
            <a:pathLst>
              <a:path w="152064" h="221184">
                <a:moveTo>
                  <a:pt x="0" y="0"/>
                </a:moveTo>
                <a:lnTo>
                  <a:pt x="152064" y="27648"/>
                </a:lnTo>
                <a:lnTo>
                  <a:pt x="152064" y="221184"/>
                </a:lnTo>
                <a:lnTo>
                  <a:pt x="0" y="193536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564912" y="947232"/>
            <a:ext cx="152064" cy="221184"/>
          </a:xfrm>
          <a:custGeom>
            <a:avLst/>
            <a:gdLst/>
            <a:ahLst/>
            <a:cxnLst/>
            <a:rect l="l" t="t" r="r" b="b"/>
            <a:pathLst>
              <a:path w="152064" h="221184">
                <a:moveTo>
                  <a:pt x="152064" y="0"/>
                </a:moveTo>
                <a:lnTo>
                  <a:pt x="0" y="27648"/>
                </a:lnTo>
                <a:lnTo>
                  <a:pt x="0" y="221184"/>
                </a:lnTo>
                <a:lnTo>
                  <a:pt x="152064" y="193536"/>
                </a:lnTo>
                <a:close/>
              </a:path>
            </a:pathLst>
          </a:custGeom>
          <a:solidFill>
            <a:srgbClr val="A4BE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118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22345E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7" name="Oval 6"/>
          <p:cNvSpPr/>
          <p:nvPr/>
        </p:nvSpPr>
        <p:spPr>
          <a:xfrm>
            <a:off x="1191600" y="489600"/>
            <a:ext cx="43200" cy="43200"/>
          </a:xfrm>
          <a:prstGeom prst="ellipse">
            <a:avLst/>
          </a:prstGeom>
          <a:solidFill>
            <a:srgbClr val="4F8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296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문화 · 체육</a:t>
            </a:r>
          </a:p>
        </p:txBody>
      </p:sp>
      <p:sp>
        <p:nvSpPr>
          <p:cNvPr id="9" name="Oval 8"/>
          <p:cNvSpPr/>
          <p:nvPr/>
        </p:nvSpPr>
        <p:spPr>
          <a:xfrm>
            <a:off x="1191600" y="712800"/>
            <a:ext cx="43200" cy="43200"/>
          </a:xfrm>
          <a:prstGeom prst="ellipse">
            <a:avLst/>
          </a:prstGeom>
          <a:solidFill>
            <a:srgbClr val="2234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296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청년 지원</a:t>
            </a:r>
          </a:p>
        </p:txBody>
      </p:sp>
      <p:sp>
        <p:nvSpPr>
          <p:cNvPr id="11" name="Oval 10"/>
          <p:cNvSpPr/>
          <p:nvPr/>
        </p:nvSpPr>
        <p:spPr>
          <a:xfrm>
            <a:off x="1191600" y="936000"/>
            <a:ext cx="43200" cy="43200"/>
          </a:xfrm>
          <a:prstGeom prst="ellipse">
            <a:avLst/>
          </a:prstGeom>
          <a:solidFill>
            <a:srgbClr val="4F8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296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노인 복지</a:t>
            </a:r>
          </a:p>
        </p:txBody>
      </p:sp>
      <p:sp>
        <p:nvSpPr>
          <p:cNvPr id="13" name="Oval 12"/>
          <p:cNvSpPr/>
          <p:nvPr/>
        </p:nvSpPr>
        <p:spPr>
          <a:xfrm>
            <a:off x="1191600" y="1159200"/>
            <a:ext cx="43200" cy="43200"/>
          </a:xfrm>
          <a:prstGeom prst="ellipse">
            <a:avLst/>
          </a:prstGeom>
          <a:solidFill>
            <a:srgbClr val="2234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1296000" y="1101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세무 안내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188000" y="1440000"/>
            <a:ext cx="1836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1188000" y="1512000"/>
            <a:ext cx="1872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05C55"/>
                </a:solidFill>
                <a:latin typeface="맑은 고딕"/>
                <a:ea typeface="맑은 고딕"/>
              </a:rPr>
              <a:t>방문 전 문의  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지도사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