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980000" y="396000"/>
            <a:ext cx="1008000" cy="1008000"/>
          </a:xfrm>
          <a:prstGeom prst="ellipse">
            <a:avLst/>
          </a:prstGeom>
          <a:solidFill>
            <a:srgbClr val="5D7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64800" y="280800"/>
            <a:ext cx="1238400" cy="1238400"/>
          </a:xfrm>
          <a:prstGeom prst="ellipse">
            <a:avLst/>
          </a:prstGeom>
          <a:noFill/>
          <a:ln w="4320">
            <a:solidFill>
              <a:srgbClr val="D2DA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268720" y="768960"/>
            <a:ext cx="205920" cy="299520"/>
          </a:xfrm>
          <a:custGeom>
            <a:avLst/>
            <a:gdLst/>
            <a:ahLst/>
            <a:cxnLst/>
            <a:rect l="l" t="t" r="r" b="b"/>
            <a:pathLst>
              <a:path w="205920" h="299520">
                <a:moveTo>
                  <a:pt x="0" y="0"/>
                </a:moveTo>
                <a:lnTo>
                  <a:pt x="205920" y="37440"/>
                </a:lnTo>
                <a:lnTo>
                  <a:pt x="205920" y="299520"/>
                </a:lnTo>
                <a:lnTo>
                  <a:pt x="0" y="26208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493360" y="768960"/>
            <a:ext cx="205920" cy="299520"/>
          </a:xfrm>
          <a:custGeom>
            <a:avLst/>
            <a:gdLst/>
            <a:ahLst/>
            <a:cxnLst/>
            <a:rect l="l" t="t" r="r" b="b"/>
            <a:pathLst>
              <a:path w="205920" h="299520">
                <a:moveTo>
                  <a:pt x="205920" y="0"/>
                </a:moveTo>
                <a:lnTo>
                  <a:pt x="0" y="37440"/>
                </a:lnTo>
                <a:lnTo>
                  <a:pt x="0" y="299520"/>
                </a:lnTo>
                <a:lnTo>
                  <a:pt x="205920" y="262080"/>
                </a:lnTo>
                <a:close/>
              </a:path>
            </a:pathLst>
          </a:custGeom>
          <a:solidFill>
            <a:srgbClr val="AEB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303D28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노OO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303D28"/>
                </a:solidFill>
                <a:latin typeface="맑은 고딕"/>
                <a:ea typeface="맑은 고딕"/>
              </a:rPr>
              <a:t>팀장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D2DAC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03D28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03D28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03D28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0B7BE"/>
                </a:solidFill>
                <a:latin typeface="맑은 고딕"/>
                <a:ea typeface="맑은 고딕"/>
              </a:rPr>
              <a:t>담당 업무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8F5564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행정 지원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8F556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주민 서비스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8F556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교통 안내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8F556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노인 복지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8F5564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D0B7BE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D0B7BE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팀장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