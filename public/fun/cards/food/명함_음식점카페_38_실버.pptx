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556000" y="-72000"/>
            <a:ext cx="648000" cy="648000"/>
          </a:xfrm>
          <a:prstGeom prst="ellipse">
            <a:avLst/>
          </a:prstGeom>
          <a:solidFill>
            <a:srgbClr val="2B4A82">
              <a:alpha val="28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973600" y="504000"/>
            <a:ext cx="288000" cy="288000"/>
          </a:xfrm>
          <a:prstGeom prst="ellipse">
            <a:avLst/>
          </a:prstGeom>
          <a:solidFill>
            <a:srgbClr val="89A2C6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63200" y="64800"/>
            <a:ext cx="129600" cy="129600"/>
          </a:xfrm>
          <a:prstGeom prst="ellipse">
            <a:avLst/>
          </a:prstGeom>
          <a:solidFill>
            <a:srgbClr val="89A2C6">
              <a:alpha val="5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448000" y="1008000"/>
            <a:ext cx="864000" cy="864000"/>
          </a:xfrm>
          <a:prstGeom prst="ellipse">
            <a:avLst/>
          </a:prstGeom>
          <a:solidFill>
            <a:srgbClr val="89A2C6">
              <a:alpha val="1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52000" y="244800"/>
            <a:ext cx="273600" cy="273600"/>
          </a:xfrm>
          <a:prstGeom prst="ellipse">
            <a:avLst/>
          </a:prstGeom>
          <a:solidFill>
            <a:srgbClr val="89A2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7600" y="334800"/>
            <a:ext cx="36000" cy="36000"/>
          </a:xfrm>
          <a:prstGeom prst="ellipse">
            <a:avLst/>
          </a:pr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4000" y="334800"/>
            <a:ext cx="36000" cy="36000"/>
          </a:xfrm>
          <a:prstGeom prst="ellipse">
            <a:avLst/>
          </a:pr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338057" y="403575"/>
            <a:ext cx="101486" cy="28425"/>
          </a:xfrm>
          <a:custGeom>
            <a:avLst/>
            <a:gdLst/>
            <a:ahLst/>
            <a:cxnLst/>
            <a:rect l="l" t="t" r="r" b="b"/>
            <a:pathLst>
              <a:path w="101486" h="28425">
                <a:moveTo>
                  <a:pt x="101486" y="0"/>
                </a:moveTo>
                <a:lnTo>
                  <a:pt x="95511" y="9382"/>
                </a:lnTo>
                <a:lnTo>
                  <a:pt x="86876" y="17329"/>
                </a:lnTo>
                <a:lnTo>
                  <a:pt x="76094" y="23368"/>
                </a:lnTo>
                <a:lnTo>
                  <a:pt x="63807" y="27142"/>
                </a:lnTo>
                <a:lnTo>
                  <a:pt x="50743" y="28425"/>
                </a:lnTo>
                <a:lnTo>
                  <a:pt x="37679" y="27142"/>
                </a:lnTo>
                <a:lnTo>
                  <a:pt x="25392" y="23368"/>
                </a:lnTo>
                <a:lnTo>
                  <a:pt x="14610" y="17329"/>
                </a:lnTo>
                <a:lnTo>
                  <a:pt x="5975" y="9382"/>
                </a:lnTo>
                <a:lnTo>
                  <a:pt x="0" y="0"/>
                </a:lnTo>
                <a:close/>
              </a:path>
            </a:pathLst>
          </a:custGeom>
          <a:noFill/>
          <a:ln w="11520">
            <a:solidFill>
              <a:srgbClr val="1B223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612000" y="273600"/>
            <a:ext cx="151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 spc="160">
                <a:solidFill>
                  <a:srgbClr val="5F6672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B2230"/>
                </a:solidFill>
                <a:latin typeface="맑은 고딕"/>
                <a:ea typeface="맑은 고딕"/>
              </a:rPr>
              <a:t>우OO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2000" y="972000"/>
            <a:ext cx="540000" cy="158400"/>
          </a:xfrm>
          <a:prstGeom prst="roundRect">
            <a:avLst>
              <a:gd name="adj" fmla="val 50000"/>
            </a:avLst>
          </a:prstGeom>
          <a:solidFill>
            <a:srgbClr val="2B4A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텍스트"/>
          <p:cNvSpPr txBox="1"/>
          <p:nvPr/>
        </p:nvSpPr>
        <p:spPr>
          <a:xfrm>
            <a:off x="252000" y="972000"/>
            <a:ext cx="540000" cy="158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1">
                <a:solidFill>
                  <a:srgbClr val="1B2230"/>
                </a:solidFill>
                <a:latin typeface="맑은 고딕"/>
                <a:ea typeface="맑은 고딕"/>
              </a:rPr>
              <a:t>로스터</a:t>
            </a:r>
          </a:p>
        </p:txBody>
      </p:sp>
      <p:sp>
        <p:nvSpPr>
          <p:cNvPr id="14" name="Oval 13"/>
          <p:cNvSpPr/>
          <p:nvPr/>
        </p:nvSpPr>
        <p:spPr>
          <a:xfrm>
            <a:off x="255600" y="1278000"/>
            <a:ext cx="36000" cy="36000"/>
          </a:xfrm>
          <a:prstGeom prst="ellipse">
            <a:avLst/>
          </a:prstGeom>
          <a:solidFill>
            <a:srgbClr val="89A2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352800" y="12312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6" name="Oval 15"/>
          <p:cNvSpPr/>
          <p:nvPr/>
        </p:nvSpPr>
        <p:spPr>
          <a:xfrm>
            <a:off x="255600" y="1414800"/>
            <a:ext cx="36000" cy="36000"/>
          </a:xfrm>
          <a:prstGeom prst="ellipse">
            <a:avLst/>
          </a:prstGeom>
          <a:solidFill>
            <a:srgbClr val="89A2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텍스트"/>
          <p:cNvSpPr txBox="1"/>
          <p:nvPr/>
        </p:nvSpPr>
        <p:spPr>
          <a:xfrm>
            <a:off x="352800" y="13680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8" name="Oval 17"/>
          <p:cNvSpPr/>
          <p:nvPr/>
        </p:nvSpPr>
        <p:spPr>
          <a:xfrm>
            <a:off x="255600" y="1551600"/>
            <a:ext cx="36000" cy="36000"/>
          </a:xfrm>
          <a:prstGeom prst="ellipse">
            <a:avLst/>
          </a:prstGeom>
          <a:solidFill>
            <a:srgbClr val="89A2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텍스트"/>
          <p:cNvSpPr txBox="1"/>
          <p:nvPr/>
        </p:nvSpPr>
        <p:spPr>
          <a:xfrm>
            <a:off x="352800" y="15048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B659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AAB7CD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00" y="0"/>
            <a:ext cx="36000" cy="1800000"/>
          </a:xfrm>
          <a:prstGeom prst="rect">
            <a:avLst/>
          </a:prstGeom>
          <a:solidFill>
            <a:srgbClr val="C1C5CA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2400" y="0"/>
            <a:ext cx="36000" cy="1800000"/>
          </a:xfrm>
          <a:prstGeom prst="rect">
            <a:avLst/>
          </a:prstGeom>
          <a:solidFill>
            <a:srgbClr val="AAB7CD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3600" y="0"/>
            <a:ext cx="50400" cy="1800000"/>
          </a:xfrm>
          <a:prstGeom prst="rect">
            <a:avLst/>
          </a:prstGeom>
          <a:solidFill>
            <a:srgbClr val="C1C5CA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44800" y="0"/>
            <a:ext cx="36000" cy="1800000"/>
          </a:xfrm>
          <a:prstGeom prst="rect">
            <a:avLst/>
          </a:prstGeom>
          <a:solidFill>
            <a:srgbClr val="AAB7CD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6000" y="0"/>
            <a:ext cx="36000" cy="1800000"/>
          </a:xfrm>
          <a:prstGeom prst="rect">
            <a:avLst/>
          </a:prstGeom>
          <a:solidFill>
            <a:srgbClr val="C1C5CA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7200" y="0"/>
            <a:ext cx="50400" cy="1800000"/>
          </a:xfrm>
          <a:prstGeom prst="rect">
            <a:avLst/>
          </a:prstGeom>
          <a:solidFill>
            <a:srgbClr val="AAB7CD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8400" y="0"/>
            <a:ext cx="36000" cy="1800000"/>
          </a:xfrm>
          <a:prstGeom prst="rect">
            <a:avLst/>
          </a:prstGeom>
          <a:solidFill>
            <a:srgbClr val="C1C5CA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9600" y="0"/>
            <a:ext cx="36000" cy="1800000"/>
          </a:xfrm>
          <a:prstGeom prst="rect">
            <a:avLst/>
          </a:prstGeom>
          <a:solidFill>
            <a:srgbClr val="AAB7CD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0800" y="0"/>
            <a:ext cx="50400" cy="1800000"/>
          </a:xfrm>
          <a:prstGeom prst="rect">
            <a:avLst/>
          </a:prstGeom>
          <a:solidFill>
            <a:srgbClr val="C1C5CA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82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D3D6D9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13" name="Oval 12"/>
          <p:cNvSpPr/>
          <p:nvPr/>
        </p:nvSpPr>
        <p:spPr>
          <a:xfrm>
            <a:off x="831600" y="489600"/>
            <a:ext cx="43200" cy="43200"/>
          </a:xfrm>
          <a:prstGeom prst="ellipse">
            <a:avLst/>
          </a:prstGeom>
          <a:solidFill>
            <a:srgbClr val="AAB7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936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핸드드립</a:t>
            </a:r>
          </a:p>
        </p:txBody>
      </p:sp>
      <p:sp>
        <p:nvSpPr>
          <p:cNvPr id="15" name="Oval 14"/>
          <p:cNvSpPr/>
          <p:nvPr/>
        </p:nvSpPr>
        <p:spPr>
          <a:xfrm>
            <a:off x="831600" y="712800"/>
            <a:ext cx="43200" cy="43200"/>
          </a:xfrm>
          <a:prstGeom prst="ellipse">
            <a:avLst/>
          </a:prstGeom>
          <a:solidFill>
            <a:srgbClr val="C1C5C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936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단체 주문</a:t>
            </a:r>
          </a:p>
        </p:txBody>
      </p:sp>
      <p:sp>
        <p:nvSpPr>
          <p:cNvPr id="17" name="Oval 16"/>
          <p:cNvSpPr/>
          <p:nvPr/>
        </p:nvSpPr>
        <p:spPr>
          <a:xfrm>
            <a:off x="831600" y="936000"/>
            <a:ext cx="43200" cy="43200"/>
          </a:xfrm>
          <a:prstGeom prst="ellipse">
            <a:avLst/>
          </a:prstGeom>
          <a:solidFill>
            <a:srgbClr val="AAB7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936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포장 · 배달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28000" y="1440000"/>
            <a:ext cx="2160000" cy="0"/>
          </a:xfrm>
          <a:prstGeom prst="line">
            <a:avLst/>
          </a:prstGeom>
          <a:ln w="3600">
            <a:solidFill>
              <a:srgbClr val="7A8DB1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828000" y="1512000"/>
            <a:ext cx="216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D7DDE8"/>
                </a:solidFill>
                <a:latin typeface="맑은 고딕"/>
                <a:ea typeface="맑은 고딕"/>
              </a:rPr>
              <a:t>매장 · 포장 · 배달  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로스터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