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3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980000" y="396000"/>
            <a:ext cx="1008000" cy="1008000"/>
          </a:xfrm>
          <a:prstGeom prst="ellipse">
            <a:avLst/>
          </a:prstGeom>
          <a:solidFill>
            <a:srgbClr val="C69B3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864800" y="280800"/>
            <a:ext cx="1238400" cy="1238400"/>
          </a:xfrm>
          <a:prstGeom prst="ellipse">
            <a:avLst/>
          </a:prstGeom>
          <a:noFill/>
          <a:ln w="4320">
            <a:solidFill>
              <a:srgbClr val="ECDDBD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Freeform 3"/>
          <p:cNvSpPr/>
          <p:nvPr/>
        </p:nvSpPr>
        <p:spPr>
          <a:xfrm>
            <a:off x="2296800" y="900000"/>
            <a:ext cx="374400" cy="159120"/>
          </a:xfrm>
          <a:custGeom>
            <a:avLst/>
            <a:gdLst/>
            <a:ahLst/>
            <a:cxnLst/>
            <a:rect l="l" t="t" r="r" b="b"/>
            <a:pathLst>
              <a:path w="374400" h="159120">
                <a:moveTo>
                  <a:pt x="374400" y="0"/>
                </a:moveTo>
                <a:lnTo>
                  <a:pt x="369707" y="35408"/>
                </a:lnTo>
                <a:lnTo>
                  <a:pt x="355861" y="69040"/>
                </a:lnTo>
                <a:lnTo>
                  <a:pt x="333559" y="99210"/>
                </a:lnTo>
                <a:lnTo>
                  <a:pt x="303917" y="124405"/>
                </a:lnTo>
                <a:lnTo>
                  <a:pt x="268423" y="143362"/>
                </a:lnTo>
                <a:lnTo>
                  <a:pt x="228856" y="155131"/>
                </a:lnTo>
                <a:lnTo>
                  <a:pt x="187200" y="159120"/>
                </a:lnTo>
                <a:lnTo>
                  <a:pt x="145544" y="155131"/>
                </a:lnTo>
                <a:lnTo>
                  <a:pt x="105977" y="143362"/>
                </a:lnTo>
                <a:lnTo>
                  <a:pt x="70483" y="124405"/>
                </a:lnTo>
                <a:lnTo>
                  <a:pt x="40841" y="99210"/>
                </a:lnTo>
                <a:lnTo>
                  <a:pt x="18539" y="69040"/>
                </a:lnTo>
                <a:lnTo>
                  <a:pt x="4693" y="35408"/>
                </a:lnTo>
                <a:lnTo>
                  <a:pt x="0" y="0"/>
                </a:lnTo>
                <a:close/>
              </a:path>
            </a:pathLst>
          </a:custGeom>
          <a:solidFill>
            <a:srgbClr val="1B223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362320" y="1054440"/>
            <a:ext cx="243360" cy="32760"/>
          </a:xfrm>
          <a:prstGeom prst="roundRect">
            <a:avLst>
              <a:gd name="adj" fmla="val 42857"/>
            </a:avLst>
          </a:prstGeom>
          <a:solidFill>
            <a:srgbClr val="705E36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>
            <a:off x="2455920" y="740880"/>
            <a:ext cx="168480" cy="140400"/>
          </a:xfrm>
          <a:prstGeom prst="line">
            <a:avLst/>
          </a:prstGeom>
          <a:ln w="23400">
            <a:solidFill>
              <a:srgbClr val="705E36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2512080" y="740880"/>
            <a:ext cx="159120" cy="121680"/>
          </a:xfrm>
          <a:prstGeom prst="line">
            <a:avLst/>
          </a:prstGeom>
          <a:ln w="23400">
            <a:solidFill>
              <a:srgbClr val="705E36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38BB8"/>
                </a:solidFill>
                <a:latin typeface="맑은 고딕"/>
                <a:ea typeface="맑은 고딕"/>
              </a:rPr>
              <a:t>상호명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6336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B2230"/>
                </a:solidFill>
                <a:latin typeface="맑은 고딕"/>
                <a:ea typeface="맑은 고딕"/>
              </a:rPr>
              <a:t>신OO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8856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554B34"/>
                </a:solidFill>
                <a:latin typeface="맑은 고딕"/>
                <a:ea typeface="맑은 고딕"/>
              </a:rPr>
              <a:t>사장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52000" y="1144800"/>
            <a:ext cx="1260000" cy="0"/>
          </a:xfrm>
          <a:prstGeom prst="line">
            <a:avLst/>
          </a:prstGeom>
          <a:ln w="3600">
            <a:solidFill>
              <a:srgbClr val="ECDDBD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252000" y="12276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B34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554400" y="12168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52000" y="13500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B34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554400" y="13392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52000" y="1472400"/>
            <a:ext cx="3024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554B34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554400" y="1461600"/>
            <a:ext cx="108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B2230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A9BFD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252000" y="216000"/>
            <a:ext cx="1944000" cy="1080000"/>
          </a:xfrm>
          <a:prstGeom prst="roundRect">
            <a:avLst>
              <a:gd name="adj" fmla="val 12000"/>
            </a:avLst>
          </a:prstGeom>
          <a:solidFill>
            <a:srgbClr val="CBD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540000" y="1288800"/>
            <a:ext cx="216000" cy="223200"/>
          </a:xfrm>
          <a:custGeom>
            <a:avLst/>
            <a:gdLst/>
            <a:ahLst/>
            <a:cxnLst/>
            <a:rect l="l" t="t" r="r" b="b"/>
            <a:pathLst>
              <a:path w="216000" h="223200">
                <a:moveTo>
                  <a:pt x="0" y="0"/>
                </a:moveTo>
                <a:lnTo>
                  <a:pt x="216000" y="0"/>
                </a:lnTo>
                <a:lnTo>
                  <a:pt x="36000" y="223200"/>
                </a:lnTo>
                <a:close/>
              </a:path>
            </a:pathLst>
          </a:custGeom>
          <a:solidFill>
            <a:srgbClr val="CBD9E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396000" y="302400"/>
            <a:ext cx="1656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1B2230">
                    <a:alpha val="80000"/>
                  </a:srgbClr>
                </a:solidFill>
                <a:latin typeface="맑은 고딕"/>
                <a:ea typeface="맑은 고딕"/>
              </a:rPr>
              <a:t>대표 메뉴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396000" y="4680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브런치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396000" y="6696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케이터링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396000" y="8712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베이커리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396000" y="1072800"/>
            <a:ext cx="169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B2230"/>
                </a:solidFill>
                <a:latin typeface="맑은 고딕"/>
                <a:ea typeface="맑은 고딕"/>
              </a:rPr>
              <a:t>원두 판매</a:t>
            </a:r>
          </a:p>
        </p:txBody>
      </p:sp>
      <p:sp>
        <p:nvSpPr>
          <p:cNvPr id="9" name="Oval 8"/>
          <p:cNvSpPr/>
          <p:nvPr/>
        </p:nvSpPr>
        <p:spPr>
          <a:xfrm>
            <a:off x="2433600" y="381600"/>
            <a:ext cx="100800" cy="100800"/>
          </a:xfrm>
          <a:prstGeom prst="ellipse">
            <a:avLst/>
          </a:prstGeom>
          <a:solidFill>
            <a:srgbClr val="886A28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 rot="1080000">
            <a:off x="2664000" y="324000"/>
            <a:ext cx="144000" cy="144000"/>
          </a:xfrm>
          <a:prstGeom prst="roundRect">
            <a:avLst>
              <a:gd name="adj" fmla="val 15000"/>
            </a:avLst>
          </a:prstGeom>
          <a:solidFill>
            <a:srgbClr val="515E7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2376000" y="10800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1B2230"/>
                </a:solidFill>
                <a:latin typeface="맑은 고딕"/>
                <a:ea typeface="맑은 고딕"/>
              </a:rPr>
              <a:t>매장 · 포장 · 배달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1209600"/>
            <a:ext cx="684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465162"/>
                </a:solidFill>
                <a:latin typeface="맑은 고딕"/>
                <a:ea typeface="맑은 고딕"/>
              </a:rPr>
              <a:t>@채널아이디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사장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