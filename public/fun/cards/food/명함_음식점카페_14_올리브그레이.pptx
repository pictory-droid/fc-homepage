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3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980000" y="396000"/>
            <a:ext cx="1008000" cy="1008000"/>
          </a:xfrm>
          <a:prstGeom prst="ellipse">
            <a:avLst/>
          </a:prstGeom>
          <a:solidFill>
            <a:srgbClr val="7075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864800" y="280800"/>
            <a:ext cx="1238400" cy="1238400"/>
          </a:xfrm>
          <a:prstGeom prst="ellipse">
            <a:avLst/>
          </a:prstGeom>
          <a:noFill/>
          <a:ln w="4320">
            <a:solidFill>
              <a:srgbClr val="DBDD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2296800" y="900000"/>
            <a:ext cx="374400" cy="159120"/>
          </a:xfrm>
          <a:custGeom>
            <a:avLst/>
            <a:gdLst/>
            <a:ahLst/>
            <a:cxnLst/>
            <a:rect l="l" t="t" r="r" b="b"/>
            <a:pathLst>
              <a:path w="374400" h="159120">
                <a:moveTo>
                  <a:pt x="374400" y="0"/>
                </a:moveTo>
                <a:lnTo>
                  <a:pt x="369707" y="35408"/>
                </a:lnTo>
                <a:lnTo>
                  <a:pt x="355861" y="69040"/>
                </a:lnTo>
                <a:lnTo>
                  <a:pt x="333559" y="99210"/>
                </a:lnTo>
                <a:lnTo>
                  <a:pt x="303917" y="124405"/>
                </a:lnTo>
                <a:lnTo>
                  <a:pt x="268423" y="143362"/>
                </a:lnTo>
                <a:lnTo>
                  <a:pt x="228856" y="155131"/>
                </a:lnTo>
                <a:lnTo>
                  <a:pt x="187200" y="159120"/>
                </a:lnTo>
                <a:lnTo>
                  <a:pt x="145544" y="155131"/>
                </a:lnTo>
                <a:lnTo>
                  <a:pt x="105977" y="143362"/>
                </a:lnTo>
                <a:lnTo>
                  <a:pt x="70483" y="124405"/>
                </a:lnTo>
                <a:lnTo>
                  <a:pt x="40841" y="99210"/>
                </a:lnTo>
                <a:lnTo>
                  <a:pt x="18539" y="69040"/>
                </a:lnTo>
                <a:lnTo>
                  <a:pt x="4693" y="3540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362320" y="1054440"/>
            <a:ext cx="243360" cy="32760"/>
          </a:xfrm>
          <a:prstGeom prst="roundRect">
            <a:avLst>
              <a:gd name="adj" fmla="val 42857"/>
            </a:avLst>
          </a:prstGeom>
          <a:solidFill>
            <a:srgbClr val="B8BAA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2455920" y="740880"/>
            <a:ext cx="168480" cy="140400"/>
          </a:xfrm>
          <a:prstGeom prst="line">
            <a:avLst/>
          </a:prstGeom>
          <a:ln w="23400">
            <a:solidFill>
              <a:srgbClr val="B8BAAC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2512080" y="740880"/>
            <a:ext cx="159120" cy="121680"/>
          </a:xfrm>
          <a:prstGeom prst="line">
            <a:avLst/>
          </a:prstGeom>
          <a:ln w="23400">
            <a:solidFill>
              <a:srgbClr val="B8BAAC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3D4039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6336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신OO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8856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3D4039"/>
                </a:solidFill>
                <a:latin typeface="맑은 고딕"/>
                <a:ea typeface="맑은 고딕"/>
              </a:rPr>
              <a:t>사장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52000" y="1144800"/>
            <a:ext cx="1260000" cy="0"/>
          </a:xfrm>
          <a:prstGeom prst="line">
            <a:avLst/>
          </a:prstGeom>
          <a:ln w="3600">
            <a:solidFill>
              <a:srgbClr val="DBDDD4"/>
            </a:solidFill>
          </a:ln>
        </p:spPr>
      </p:cxnSp>
      <p:sp>
        <p:nvSpPr>
          <p:cNvPr id="12" name="텍스트"/>
          <p:cNvSpPr txBox="1"/>
          <p:nvPr/>
        </p:nvSpPr>
        <p:spPr>
          <a:xfrm>
            <a:off x="252000" y="12276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D4039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554400" y="12168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350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D4039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554400" y="13392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52000" y="14724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D4039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554400" y="14616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52000" y="216000"/>
            <a:ext cx="1944000" cy="1080000"/>
          </a:xfrm>
          <a:prstGeom prst="roundRect">
            <a:avLst>
              <a:gd name="adj" fmla="val 12000"/>
            </a:avLst>
          </a:prstGeom>
          <a:solidFill>
            <a:srgbClr val="C98B9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540000" y="1288800"/>
            <a:ext cx="216000" cy="223200"/>
          </a:xfrm>
          <a:custGeom>
            <a:avLst/>
            <a:gdLst/>
            <a:ahLst/>
            <a:cxnLst/>
            <a:rect l="l" t="t" r="r" b="b"/>
            <a:pathLst>
              <a:path w="216000" h="223200">
                <a:moveTo>
                  <a:pt x="0" y="0"/>
                </a:moveTo>
                <a:lnTo>
                  <a:pt x="216000" y="0"/>
                </a:lnTo>
                <a:lnTo>
                  <a:pt x="36000" y="223200"/>
                </a:lnTo>
                <a:close/>
              </a:path>
            </a:pathLst>
          </a:custGeom>
          <a:solidFill>
            <a:srgbClr val="C98B9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96000" y="302400"/>
            <a:ext cx="165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14171D">
                    <a:alpha val="80000"/>
                  </a:srgbClr>
                </a:solidFill>
                <a:latin typeface="맑은 고딕"/>
                <a:ea typeface="맑은 고딕"/>
              </a:rPr>
              <a:t>대표 메뉴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396000" y="468000"/>
            <a:ext cx="169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4171D"/>
                </a:solidFill>
                <a:latin typeface="맑은 고딕"/>
                <a:ea typeface="맑은 고딕"/>
              </a:rPr>
              <a:t>브런치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396000" y="669600"/>
            <a:ext cx="169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4171D"/>
                </a:solidFill>
                <a:latin typeface="맑은 고딕"/>
                <a:ea typeface="맑은 고딕"/>
              </a:rPr>
              <a:t>케이터링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396000" y="871200"/>
            <a:ext cx="169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4171D"/>
                </a:solidFill>
                <a:latin typeface="맑은 고딕"/>
                <a:ea typeface="맑은 고딕"/>
              </a:rPr>
              <a:t>베이커리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396000" y="1072800"/>
            <a:ext cx="169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4171D"/>
                </a:solidFill>
                <a:latin typeface="맑은 고딕"/>
                <a:ea typeface="맑은 고딕"/>
              </a:rPr>
              <a:t>원두 판매</a:t>
            </a:r>
          </a:p>
        </p:txBody>
      </p:sp>
      <p:sp>
        <p:nvSpPr>
          <p:cNvPr id="9" name="Oval 8"/>
          <p:cNvSpPr/>
          <p:nvPr/>
        </p:nvSpPr>
        <p:spPr>
          <a:xfrm>
            <a:off x="2433600" y="381600"/>
            <a:ext cx="100800" cy="100800"/>
          </a:xfrm>
          <a:prstGeom prst="ellipse">
            <a:avLst/>
          </a:prstGeom>
          <a:solidFill>
            <a:srgbClr val="7B8C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 rot="1080000">
            <a:off x="2664000" y="324000"/>
            <a:ext cx="144000" cy="144000"/>
          </a:xfrm>
          <a:prstGeom prst="roundRect">
            <a:avLst>
              <a:gd name="adj" fmla="val 15000"/>
            </a:avLst>
          </a:prstGeom>
          <a:solidFill>
            <a:srgbClr val="C98B9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2376000" y="1080000"/>
            <a:ext cx="684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FFFFFF"/>
                </a:solidFill>
                <a:latin typeface="맑은 고딕"/>
                <a:ea typeface="맑은 고딕"/>
              </a:rPr>
              <a:t>매일 10:00 – 22:00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376000" y="1209600"/>
            <a:ext cx="684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A7ABB4"/>
                </a:solidFill>
                <a:latin typeface="맑은 고딕"/>
                <a:ea typeface="맑은 고딕"/>
              </a:rPr>
              <a:t>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사장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