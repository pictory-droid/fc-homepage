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0" y="576000"/>
            <a:ext cx="720000" cy="1224000"/>
          </a:xfrm>
          <a:prstGeom prst="rect">
            <a:avLst/>
          </a:prstGeom>
          <a:solidFill>
            <a:srgbClr val="617C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0" y="216000"/>
            <a:ext cx="720000" cy="360000"/>
          </a:xfrm>
          <a:custGeom>
            <a:avLst/>
            <a:gdLst/>
            <a:ahLst/>
            <a:cxnLst/>
            <a:rect l="l" t="t" r="r" b="b"/>
            <a:pathLst>
              <a:path w="720000" h="360000">
                <a:moveTo>
                  <a:pt x="0" y="360000"/>
                </a:moveTo>
                <a:lnTo>
                  <a:pt x="3080" y="313011"/>
                </a:lnTo>
                <a:lnTo>
                  <a:pt x="12267" y="266825"/>
                </a:lnTo>
                <a:lnTo>
                  <a:pt x="27403" y="222234"/>
                </a:lnTo>
                <a:lnTo>
                  <a:pt x="48231" y="180000"/>
                </a:lnTo>
                <a:lnTo>
                  <a:pt x="74393" y="140846"/>
                </a:lnTo>
                <a:lnTo>
                  <a:pt x="105442" y="105442"/>
                </a:lnTo>
                <a:lnTo>
                  <a:pt x="140846" y="74393"/>
                </a:lnTo>
                <a:lnTo>
                  <a:pt x="180000" y="48231"/>
                </a:lnTo>
                <a:lnTo>
                  <a:pt x="222234" y="27403"/>
                </a:lnTo>
                <a:lnTo>
                  <a:pt x="266825" y="12267"/>
                </a:lnTo>
                <a:lnTo>
                  <a:pt x="313011" y="3080"/>
                </a:lnTo>
                <a:lnTo>
                  <a:pt x="360000" y="0"/>
                </a:lnTo>
                <a:lnTo>
                  <a:pt x="406989" y="3080"/>
                </a:lnTo>
                <a:lnTo>
                  <a:pt x="453175" y="12267"/>
                </a:lnTo>
                <a:lnTo>
                  <a:pt x="497766" y="27403"/>
                </a:lnTo>
                <a:lnTo>
                  <a:pt x="540000" y="48231"/>
                </a:lnTo>
                <a:lnTo>
                  <a:pt x="579154" y="74393"/>
                </a:lnTo>
                <a:lnTo>
                  <a:pt x="614558" y="105442"/>
                </a:lnTo>
                <a:lnTo>
                  <a:pt x="645607" y="140846"/>
                </a:lnTo>
                <a:lnTo>
                  <a:pt x="671769" y="180000"/>
                </a:lnTo>
                <a:lnTo>
                  <a:pt x="692597" y="222234"/>
                </a:lnTo>
                <a:lnTo>
                  <a:pt x="707733" y="266825"/>
                </a:lnTo>
                <a:lnTo>
                  <a:pt x="716920" y="313011"/>
                </a:lnTo>
                <a:lnTo>
                  <a:pt x="720000" y="360000"/>
                </a:lnTo>
                <a:close/>
              </a:path>
            </a:pathLst>
          </a:custGeom>
          <a:solidFill>
            <a:srgbClr val="617C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376000" y="1044000"/>
            <a:ext cx="288000" cy="122400"/>
          </a:xfrm>
          <a:custGeom>
            <a:avLst/>
            <a:gdLst/>
            <a:ahLst/>
            <a:cxnLst/>
            <a:rect l="l" t="t" r="r" b="b"/>
            <a:pathLst>
              <a:path w="288000" h="122400">
                <a:moveTo>
                  <a:pt x="288000" y="0"/>
                </a:moveTo>
                <a:lnTo>
                  <a:pt x="284390" y="27237"/>
                </a:lnTo>
                <a:lnTo>
                  <a:pt x="273740" y="53107"/>
                </a:lnTo>
                <a:lnTo>
                  <a:pt x="256584" y="76315"/>
                </a:lnTo>
                <a:lnTo>
                  <a:pt x="233783" y="95696"/>
                </a:lnTo>
                <a:lnTo>
                  <a:pt x="206479" y="110279"/>
                </a:lnTo>
                <a:lnTo>
                  <a:pt x="176043" y="119331"/>
                </a:lnTo>
                <a:lnTo>
                  <a:pt x="144000" y="122400"/>
                </a:lnTo>
                <a:lnTo>
                  <a:pt x="111957" y="119331"/>
                </a:lnTo>
                <a:lnTo>
                  <a:pt x="81521" y="110279"/>
                </a:lnTo>
                <a:lnTo>
                  <a:pt x="54217" y="95696"/>
                </a:lnTo>
                <a:lnTo>
                  <a:pt x="31416" y="76315"/>
                </a:lnTo>
                <a:lnTo>
                  <a:pt x="14260" y="53107"/>
                </a:lnTo>
                <a:lnTo>
                  <a:pt x="3610" y="272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426400" y="1162800"/>
            <a:ext cx="187200" cy="25200"/>
          </a:xfrm>
          <a:prstGeom prst="roundRect">
            <a:avLst>
              <a:gd name="adj" fmla="val 42857"/>
            </a:avLst>
          </a:prstGeom>
          <a:solidFill>
            <a:srgbClr val="B0BE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2498400" y="921600"/>
            <a:ext cx="129600" cy="108000"/>
          </a:xfrm>
          <a:prstGeom prst="line">
            <a:avLst/>
          </a:prstGeom>
          <a:ln w="18000">
            <a:solidFill>
              <a:srgbClr val="B0BECC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2541600" y="921600"/>
            <a:ext cx="122400" cy="93600"/>
          </a:xfrm>
          <a:prstGeom prst="line">
            <a:avLst/>
          </a:prstGeom>
          <a:ln w="18000">
            <a:solidFill>
              <a:srgbClr val="B0BECC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현OO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7ABB4"/>
                </a:solidFill>
                <a:latin typeface="맑은 고딕"/>
                <a:ea typeface="맑은 고딕"/>
              </a:rPr>
              <a:t>분식집 사장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66B73"/>
                </a:solidFill>
                <a:latin typeface="맑은 고딕"/>
                <a:ea typeface="맑은 고딕"/>
              </a:rPr>
              <a:t>대표 메뉴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C08A2E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4171D"/>
                </a:solidFill>
                <a:latin typeface="맑은 고딕"/>
                <a:ea typeface="맑은 고딕"/>
              </a:rPr>
              <a:t>아메리카노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C08A2E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4171D"/>
                </a:solidFill>
                <a:latin typeface="맑은 고딕"/>
                <a:ea typeface="맑은 고딕"/>
              </a:rPr>
              <a:t>케이터링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C08A2E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4171D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C08A2E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4171D"/>
                </a:solidFill>
                <a:latin typeface="맑은 고딕"/>
                <a:ea typeface="맑은 고딕"/>
              </a:rPr>
              <a:t>원두 판매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66B73"/>
                </a:solidFill>
                <a:latin typeface="맑은 고딕"/>
                <a:ea typeface="맑은 고딕"/>
              </a:rPr>
              <a:t>매일 10:00 – 22:00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666B73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분식집 사장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