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E2D4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A2794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A27944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A2794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A2794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A27944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A27944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A27944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A2794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024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6B6B6E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504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안OO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756000"/>
            <a:ext cx="252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6B6B6E"/>
                </a:solidFill>
                <a:latin typeface="맑은 고딕"/>
                <a:ea typeface="맑은 고딕"/>
              </a:rPr>
              <a:t>파티시에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12000" y="993600"/>
            <a:ext cx="216000" cy="0"/>
          </a:xfrm>
          <a:prstGeom prst="line">
            <a:avLst/>
          </a:prstGeom>
          <a:ln w="7200">
            <a:solidFill>
              <a:srgbClr val="A27944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360000" y="11448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2744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6B6B6E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4E7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9F7742"/>
                </a:solidFill>
                <a:latin typeface="맑은 고딕"/>
                <a:ea typeface="맑은 고딕"/>
              </a:rPr>
              <a:t>대표 메뉴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60000"/>
            <a:ext cx="2736000" cy="0"/>
          </a:xfrm>
          <a:prstGeom prst="line">
            <a:avLst/>
          </a:prstGeom>
          <a:ln w="4320">
            <a:solidFill>
              <a:srgbClr val="1B2230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464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22345E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576000" y="4320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아메리카노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76000" y="640800"/>
            <a:ext cx="2412000" cy="0"/>
          </a:xfrm>
          <a:prstGeom prst="line">
            <a:avLst/>
          </a:prstGeom>
          <a:ln w="3600">
            <a:solidFill>
              <a:srgbClr val="B4BAC8"/>
            </a:solidFill>
            <a:prstDash val="dash"/>
          </a:ln>
        </p:spPr>
      </p:cxnSp>
      <p:sp>
        <p:nvSpPr>
          <p:cNvPr id="7" name="텍스트"/>
          <p:cNvSpPr txBox="1"/>
          <p:nvPr/>
        </p:nvSpPr>
        <p:spPr>
          <a:xfrm>
            <a:off x="252000" y="6840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22345E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76000" y="6696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샐러드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76000" y="878400"/>
            <a:ext cx="2412000" cy="0"/>
          </a:xfrm>
          <a:prstGeom prst="line">
            <a:avLst/>
          </a:prstGeom>
          <a:ln w="3600">
            <a:solidFill>
              <a:srgbClr val="B4BAC8"/>
            </a:solidFill>
            <a:prstDash val="dash"/>
          </a:ln>
        </p:spPr>
      </p:cxnSp>
      <p:sp>
        <p:nvSpPr>
          <p:cNvPr id="10" name="텍스트"/>
          <p:cNvSpPr txBox="1"/>
          <p:nvPr/>
        </p:nvSpPr>
        <p:spPr>
          <a:xfrm>
            <a:off x="252000" y="9216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22345E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76000" y="9072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런치 세트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76000" y="1116000"/>
            <a:ext cx="2412000" cy="0"/>
          </a:xfrm>
          <a:prstGeom prst="line">
            <a:avLst/>
          </a:prstGeom>
          <a:ln w="3600">
            <a:solidFill>
              <a:srgbClr val="B4BAC8"/>
            </a:solidFill>
            <a:prstDash val="dash"/>
          </a:ln>
        </p:spPr>
      </p:cxnSp>
      <p:sp>
        <p:nvSpPr>
          <p:cNvPr id="13" name="텍스트"/>
          <p:cNvSpPr txBox="1"/>
          <p:nvPr/>
        </p:nvSpPr>
        <p:spPr>
          <a:xfrm>
            <a:off x="252000" y="11592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22345E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1448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원두 판매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6000" y="1353600"/>
            <a:ext cx="2412000" cy="0"/>
          </a:xfrm>
          <a:prstGeom prst="line">
            <a:avLst/>
          </a:prstGeom>
          <a:ln w="3600">
            <a:solidFill>
              <a:srgbClr val="B4BAC8"/>
            </a:solidFill>
            <a:prstDash val="dash"/>
          </a:ln>
        </p:spPr>
      </p:cxnSp>
      <p:sp>
        <p:nvSpPr>
          <p:cNvPr id="16" name="텍스트"/>
          <p:cNvSpPr txBox="1"/>
          <p:nvPr/>
        </p:nvSpPr>
        <p:spPr>
          <a:xfrm>
            <a:off x="252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0">
                <a:solidFill>
                  <a:srgbClr val="1D2840"/>
                </a:solidFill>
                <a:latin typeface="맑은 고딕"/>
                <a:ea typeface="맑은 고딕"/>
              </a:rPr>
              <a:t>단체 예약 가능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1D2840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파티시에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