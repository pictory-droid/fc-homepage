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6858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88D30A32-48C9-40B7-B279-8EC7E8A9C43B}">
          <p14:sldIdLst>
            <p14:sldId id="256"/>
          </p14:sldIdLst>
        </p14:section>
        <p14:section name="본문" id="{FFDACA0D-37B1-423E-B226-4178377FE99D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331243AC-CA45-4B23-A2BB-75E590EEC80E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사진"/>
          <p:cNvSpPr>
            <a:spLocks noGrp="1"/>
          </p:cNvSpPr>
          <p:nvPr>
            <p:ph type="pic" sz="quarter" idx="13"/>
          </p:nvPr>
        </p:nvSpPr>
        <p:spPr>
          <a:xfrm>
            <a:off x="2125980" y="480060"/>
            <a:ext cx="2606040" cy="3017520"/>
          </a:xfrm>
          <a:prstGeom prst="round2SameRect">
            <a:avLst>
              <a:gd name="adj1" fmla="val 50000"/>
              <a:gd name="adj2" fmla="val 0"/>
            </a:avLst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685800" y="3771900"/>
            <a:ext cx="5486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685800" y="4155948"/>
            <a:ext cx="5486400" cy="11430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200" b="0" spc="0">
                <a:solidFill>
                  <a:srgbClr val="F7FAF9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685800" y="5372100"/>
            <a:ext cx="5486400" cy="45720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rgbClr val="B5BEBD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685800" y="5875020"/>
            <a:ext cx="548640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rgbClr val="82908D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어긋난 아치 선"/>
          <p:cNvSpPr/>
          <p:nvPr/>
        </p:nvSpPr>
        <p:spPr>
          <a:xfrm>
            <a:off x="2400300" y="708660"/>
            <a:ext cx="2606040" cy="3017520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사진 바탕"/>
          <p:cNvSpPr/>
          <p:nvPr/>
        </p:nvSpPr>
        <p:spPr>
          <a:xfrm>
            <a:off x="2125980" y="480060"/>
            <a:ext cx="2606040" cy="301752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0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59436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40080"/>
            <a:ext cx="576072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3063240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233E9409-DA8B-4A26-A4DB-CBEA40FCD237}" type="slidenum">
              <a:rPr lang="en-US"/>
              <a:t>‹#›</a:t>
            </a:fld>
          </a:p>
        </p:txBody>
      </p:sp>
      <p:cxnSp>
        <p:nvCxnSpPr>
          <p:cNvPr id="2" name="Connector 1"/>
          <p:cNvCxnSpPr/>
          <p:nvPr/>
        </p:nvCxnSpPr>
        <p:spPr>
          <a:xfrm>
            <a:off x="2240280" y="1444752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240280" y="1499616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4" name="Diamond 3"/>
          <p:cNvSpPr/>
          <p:nvPr/>
        </p:nvSpPr>
        <p:spPr>
          <a:xfrm>
            <a:off x="3364992" y="1408176"/>
            <a:ext cx="128016" cy="12801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2331720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3794760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bg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사진"/>
          <p:cNvSpPr>
            <a:spLocks noGrp="1"/>
          </p:cNvSpPr>
          <p:nvPr>
            <p:ph type="pic" sz="quarter" idx="13"/>
          </p:nvPr>
        </p:nvSpPr>
        <p:spPr>
          <a:xfrm>
            <a:off x="2125980" y="480060"/>
            <a:ext cx="2606040" cy="3017520"/>
          </a:xfrm>
          <a:prstGeom prst="round2SameRect">
            <a:avLst>
              <a:gd name="adj1" fmla="val 50000"/>
              <a:gd name="adj2" fmla="val 0"/>
            </a:avLst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685800" y="3771900"/>
            <a:ext cx="5486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685800" y="4155948"/>
            <a:ext cx="5486400" cy="11430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200" b="0" spc="0">
                <a:solidFill>
                  <a:srgbClr val="F7FAF9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685800" y="5372100"/>
            <a:ext cx="5486400" cy="45720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rgbClr val="B5BEBD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685800" y="5875020"/>
            <a:ext cx="548640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rgbClr val="82908D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어긋난 아치 선"/>
          <p:cNvSpPr/>
          <p:nvPr/>
        </p:nvSpPr>
        <p:spPr>
          <a:xfrm>
            <a:off x="2400300" y="708660"/>
            <a:ext cx="2606040" cy="3017520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사진 바탕"/>
          <p:cNvSpPr/>
          <p:nvPr/>
        </p:nvSpPr>
        <p:spPr>
          <a:xfrm>
            <a:off x="2125980" y="480060"/>
            <a:ext cx="2606040" cy="301752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0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59436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40080"/>
            <a:ext cx="576072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3063240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B812BBFC-08E9-46EB-B95D-1DAE296CEE5D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5486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19202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2918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6634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5486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19202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2918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6634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240280" y="1444752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240280" y="1499616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4" name="Diamond 3"/>
          <p:cNvSpPr/>
          <p:nvPr/>
        </p:nvSpPr>
        <p:spPr>
          <a:xfrm>
            <a:off x="3364992" y="1408176"/>
            <a:ext cx="128016" cy="12801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2331720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3794760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59436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3063240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B6478139-1B1B-403A-8441-CEE98F61E5FB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822959" y="2331720"/>
            <a:ext cx="5212080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26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331720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3794760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2926080" y="1520189"/>
            <a:ext cx="1005840" cy="251460"/>
            <a:chOff x="2926080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3303270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292608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363474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2880360" y="5349240"/>
            <a:ext cx="1097279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3369564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JADE  ·  CARD NEWS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미끄러운 길 조심하세요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옆으로 넘겨 보세요 →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건강·안심 습관 · 카드뉴스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01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아침 물 한 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4E8A70-0496-4032-94D2-380B4652DD83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일어나자마자 미지근한 물 한 잔으로 하루를 시작해 보세요.</a:t>
            </a:r>
          </a:p>
        </p:txBody>
      </p:sp>
    </p:spTree>
  </p:cSld>
  <p:clrMapOvr>
    <a:masterClrMapping/>
  </p:clrMapOvr>
  <p:transition spd="med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02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하루 십 분 걷기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298AE-83BE-40E2-9F8B-1502870C0B8B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점심 식사 후 십 분만 걸어도 몸이 한결 가벼워져요.</a:t>
            </a:r>
          </a:p>
        </p:txBody>
      </p:sp>
    </p:spTree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03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검진 날짜 적어 두기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9E049-5BE0-48B0-BC40-D1BDD75C6C7E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달력에 검진 예정일을 적어 두면 미루지 않게 돼요.</a:t>
            </a:r>
          </a:p>
        </p:txBody>
      </p:sp>
    </p:spTree>
  </p:cSld>
  <p:clrMapOvr>
    <a:masterClrMapping/>
  </p:clrMapOvr>
  <p:transition spd="med">
    <p:push dir="u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04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잠들기 전 스마트폰 내려놓기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88C7C-4350-4B0D-A4EC-D207CFAA0524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잠자리에 들기 삼십 분 전에는 화면을 꺼 보세요.</a:t>
            </a:r>
          </a:p>
        </p:txBody>
      </p:sp>
    </p:spTree>
  </p:cSld>
  <p:clrMapOvr>
    <a:masterClrMapping/>
  </p:clrMapOvr>
  <p:transition spd="med">
    <p:push dir="u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05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건강 이야기 나누기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70B7C1-E5BE-4D70-9FEC-8BB25BC1D6E5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일주일에 한 번, 서로의 안부와 컨디션을 물어보세요.</a:t>
            </a:r>
          </a:p>
        </p:txBody>
      </p:sp>
    </p:spTree>
  </p:cSld>
  <p:clrMapOvr>
    <a:masterClrMapping/>
  </p:clrMapOvr>
  <p:transition spd="med">
    <p:push dir="u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JADE  ·  CARD NEWS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저장해 두고 필요할 때 꺼내 보세요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마음에 들면 공유해 주세요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이름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카드뉴스(건강·안심 습관)">
  <a:themeElements>
    <a:clrScheme name="카드뉴스(건강·안심 습관)">
      <a:dk1>
        <a:srgbClr val="F7FAF9"/>
      </a:dk1>
      <a:lt1>
        <a:srgbClr val="133630"/>
      </a:lt1>
      <a:dk2>
        <a:srgbClr val="E4ECE9"/>
      </a:dk2>
      <a:lt2>
        <a:srgbClr val="0D2521"/>
      </a:lt2>
      <a:accent1>
        <a:srgbClr val="BFC9C6"/>
      </a:accent1>
      <a:accent2>
        <a:srgbClr val="3F9C85"/>
      </a:accent2>
      <a:accent3>
        <a:srgbClr val="081714"/>
      </a:accent3>
      <a:accent4>
        <a:srgbClr val="1A4B43"/>
      </a:accent4>
      <a:accent5>
        <a:srgbClr val="CDD6D3"/>
      </a:accent5>
      <a:accent6>
        <a:srgbClr val="307867"/>
      </a:accent6>
      <a:hlink>
        <a:srgbClr val="E4ECE9"/>
      </a:hlink>
      <a:folHlink>
        <a:srgbClr val="081714"/>
      </a:folHlink>
    </a:clrScheme>
    <a:fontScheme name="카드뉴스(건강·안심 습관)">
      <a:majorFont>
        <a:latin typeface="Garamond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카드뉴스(건강·안심 습관)</dc:title>
  <dc:subject>카드뉴스 · 건강·안심 습관</dc:subject>
  <dc:creator>반딧불이의 곳간</dc:creator>
  <cp:keywords>카드뉴스,PPT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