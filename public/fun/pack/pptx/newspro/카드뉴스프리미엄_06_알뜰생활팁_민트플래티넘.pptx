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7E0C046-2F0E-4EF8-BF11-99D397F7A7E1}">
          <p14:sldIdLst>
            <p14:sldId id="256"/>
          </p14:sldIdLst>
        </p14:section>
        <p14:section name="본문" id="{1449232E-ED00-4642-B01F-BB1C904D398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C2B27F38-09CF-483E-BA44-A59DAEB9D808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bg2">
              <a:alpha val="100000"/>
            </a:schemeClr>
          </a:solidFill>
          <a:ln w="15875">
            <a:solidFill>
              <a:schemeClr val="accent1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Rectangle 4"/>
            <p:cNvSpPr/>
            <p:nvPr/>
          </p:nvSpPr>
          <p:spPr>
            <a:xfrm rot="2700000">
              <a:off x="3273552" y="176479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 rot="2700000">
              <a:off x="3323295" y="1814535"/>
              <a:ext cx="211409" cy="211409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373038" y="1864278"/>
              <a:ext cx="111922" cy="11192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16C71003-AEB3-494B-B614-3BDE354BE234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685800" y="205739"/>
            <a:ext cx="5486400" cy="1508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8803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85800" y="3264408"/>
            <a:ext cx="5486400" cy="13258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85800" y="466344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D6DA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521208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B1B9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색 면"/>
          <p:cNvSpPr/>
          <p:nvPr/>
        </p:nvSpPr>
        <p:spPr>
          <a:xfrm>
            <a:off x="0" y="0"/>
            <a:ext cx="6858000" cy="19202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81528" y="1572768"/>
            <a:ext cx="694944" cy="694944"/>
          </a:xfrm>
          <a:prstGeom prst="ellipse">
            <a:avLst/>
          </a:prstGeom>
          <a:solidFill>
            <a:schemeClr val="accent3">
              <a:alpha val="100000"/>
            </a:schemeClr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grpSp>
        <p:nvGrpSpPr>
          <p:cNvPr id="4" name="테마 장식"/>
          <p:cNvGrpSpPr/>
          <p:nvPr/>
        </p:nvGrpSpPr>
        <p:grpSpPr>
          <a:xfrm>
            <a:off x="3273552" y="1764792"/>
            <a:ext cx="310896" cy="310896"/>
            <a:chOff x="3273552" y="1764792"/>
            <a:chExt cx="310896" cy="310896"/>
          </a:xfrm>
        </p:grpSpPr>
        <p:sp>
          <p:nvSpPr>
            <p:cNvPr id="5" name="Rectangle 4"/>
            <p:cNvSpPr/>
            <p:nvPr/>
          </p:nvSpPr>
          <p:spPr>
            <a:xfrm rot="2700000">
              <a:off x="3273552" y="1764792"/>
              <a:ext cx="310896" cy="310896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 rot="2700000">
              <a:off x="3323295" y="1814535"/>
              <a:ext cx="211409" cy="211409"/>
            </a:xfrm>
            <a:prstGeom prst="rect">
              <a:avLst/>
            </a:prstGeom>
            <a:noFill/>
            <a:ln w="127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 rot="2700000">
              <a:off x="3373038" y="1864278"/>
              <a:ext cx="111922" cy="111922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EF83B9A4-5C94-423E-968A-B068AD01D143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286000" y="676656"/>
            <a:ext cx="402336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20000"/>
              <a:lumOff val="80000"/>
            </a:schemeClr>
          </a:fgClr>
          <a:bgClr>
            <a:schemeClr val="accent4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45720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0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fld id="{A459083D-D8A8-4F84-BA93-488FCF5FA9D9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286000" y="384048"/>
            <a:ext cx="402336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14884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548640" y="1572768"/>
            <a:ext cx="5760720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548640" y="1627632"/>
            <a:ext cx="576072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이번 달 고정지출, 한 번 적어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알뜰 생활 팁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이번 달 고정지출부터 적어요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D9C6B-8562-428A-9444-389052BEF94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월세·통신비·구독료처럼 매달 나가는 돈부터 한곳에 적어 보면 새는 곳이 보여요.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카드 대신 현금 한 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C52DF-8465-4A7B-83E3-E0F43FF85192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일주일만 현금으로 써 보면 충동구매가 눈에 띄게 줄어요.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장보기 전 냉장고 사진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74AD94-D36D-46E3-A707-48410C2290E9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있는 재료를 확인하고 가면 같은 식재료를 또 사는 일이 줄어요.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작은 목표 통장 만들기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632477-6976-4011-9E24-C3A520D8CF7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여행·선물·비상금처럼 이름을 붙이면 모으는 재미가 커져요.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주말 5분 가계부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F0DA64-AA66-45AA-B69C-2D285F583B1C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영수증을 모아 두었다가 주말에 5분만 적어 보세요.</a:t>
            </a:r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MINT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MINT  ·  CARD NEWS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알뜰 생활 팁)">
  <a:themeElements>
    <a:clrScheme name="카드뉴스(알뜰 생활 팁)">
      <a:dk1>
        <a:srgbClr val="374846"/>
      </a:dk1>
      <a:lt1>
        <a:srgbClr val="FBFCFC"/>
      </a:lt1>
      <a:dk2>
        <a:srgbClr val="22413D"/>
      </a:dk2>
      <a:lt2>
        <a:srgbClr val="F0F6F4"/>
      </a:lt2>
      <a:accent1>
        <a:srgbClr val="6E9C92"/>
      </a:accent1>
      <a:accent2>
        <a:srgbClr val="A2ADB3"/>
      </a:accent2>
      <a:accent3>
        <a:srgbClr val="465957"/>
      </a:accent3>
      <a:accent4>
        <a:srgbClr val="D6E4E0"/>
      </a:accent4>
      <a:accent5>
        <a:srgbClr val="BCC5C4"/>
      </a:accent5>
      <a:accent6>
        <a:srgbClr val="C5CED0"/>
      </a:accent6>
      <a:hlink>
        <a:srgbClr val="22413D"/>
      </a:hlink>
      <a:folHlink>
        <a:srgbClr val="465957"/>
      </a:folHlink>
    </a:clrScheme>
    <a:fontScheme name="카드뉴스(알뜰 생활 팁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>카드뉴스 · 알뜰 생활 팁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