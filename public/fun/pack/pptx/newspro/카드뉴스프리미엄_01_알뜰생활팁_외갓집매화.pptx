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7B803AB3-CAE8-4E96-8C86-5081796B1738}">
          <p14:sldIdLst>
            <p14:sldId id="256"/>
          </p14:sldIdLst>
        </p14:section>
        <p14:section name="본문" id="{7B02D954-EE6C-4E29-95DC-80611A322865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C5FC5112-A7C4-4B8C-A6C6-684725DD70AE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2217420" y="502919"/>
            <a:ext cx="2423160" cy="2697479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56616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685800" y="395020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85800" y="534924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8978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뒤 아치"/>
          <p:cNvSpPr/>
          <p:nvPr/>
        </p:nvSpPr>
        <p:spPr>
          <a:xfrm>
            <a:off x="1805940" y="685800"/>
            <a:ext cx="2606040" cy="288036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2125980" y="411479"/>
            <a:ext cx="2606040" cy="288036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2217420" y="502919"/>
            <a:ext cx="2423160" cy="269747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57607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00F4473A-76BC-4C0F-98BE-28A8F0D5A312}" type="slidenum">
              <a:rPr lang="en-US"/>
              <a:t>‹#›</a:t>
            </a:fld>
          </a:p>
        </p:txBody>
      </p:sp>
      <p:cxnSp>
        <p:nvCxnSpPr>
          <p:cNvPr id="2" name="제목 밑줄"/>
          <p:cNvCxnSpPr/>
          <p:nvPr/>
        </p:nvCxnSpPr>
        <p:spPr>
          <a:xfrm>
            <a:off x="2880360" y="1481328"/>
            <a:ext cx="1097279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3236976" y="1357884"/>
            <a:ext cx="384048" cy="246888"/>
            <a:chOff x="3236976" y="1357884"/>
            <a:chExt cx="384048" cy="246888"/>
          </a:xfrm>
        </p:grpSpPr>
        <p:sp>
          <p:nvSpPr>
            <p:cNvPr id="4" name="Cloud 3"/>
            <p:cNvSpPr/>
            <p:nvPr/>
          </p:nvSpPr>
          <p:spPr>
            <a:xfrm>
              <a:off x="3236976" y="1357884"/>
              <a:ext cx="384048" cy="246888"/>
            </a:xfrm>
            <a:prstGeom prst="clou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2217420" y="502919"/>
            <a:ext cx="2423160" cy="2697479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56616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685800" y="395020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85800" y="534924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8978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뒤 아치"/>
          <p:cNvSpPr/>
          <p:nvPr/>
        </p:nvSpPr>
        <p:spPr>
          <a:xfrm>
            <a:off x="1805940" y="685800"/>
            <a:ext cx="2606040" cy="288036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2125980" y="411479"/>
            <a:ext cx="2606040" cy="288036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2217420" y="502919"/>
            <a:ext cx="2423160" cy="269747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57607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B67AEB36-922B-49CC-9633-A3C9AF9DF205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제목 밑줄"/>
          <p:cNvCxnSpPr/>
          <p:nvPr/>
        </p:nvCxnSpPr>
        <p:spPr>
          <a:xfrm>
            <a:off x="2880360" y="1481328"/>
            <a:ext cx="1097279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3236976" y="1357884"/>
            <a:ext cx="384048" cy="246888"/>
            <a:chOff x="3236976" y="1357884"/>
            <a:chExt cx="384048" cy="246888"/>
          </a:xfrm>
        </p:grpSpPr>
        <p:sp>
          <p:nvSpPr>
            <p:cNvPr id="4" name="Cloud 3"/>
            <p:cNvSpPr/>
            <p:nvPr/>
          </p:nvSpPr>
          <p:spPr>
            <a:xfrm>
              <a:off x="3236976" y="1357884"/>
              <a:ext cx="384048" cy="246888"/>
            </a:xfrm>
            <a:prstGeom prst="clou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67E160B8-28CC-475E-8E10-248A72BCB1A6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2770632" y="1371600"/>
            <a:ext cx="1316736" cy="548640"/>
            <a:chOff x="2770632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2770632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3538728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3044952" y="5239512"/>
            <a:ext cx="768096" cy="493776"/>
            <a:chOff x="3044952" y="5239512"/>
            <a:chExt cx="768096" cy="493776"/>
          </a:xfrm>
        </p:grpSpPr>
        <p:sp>
          <p:nvSpPr>
            <p:cNvPr id="6" name="Cloud 5"/>
            <p:cNvSpPr/>
            <p:nvPr/>
          </p:nvSpPr>
          <p:spPr>
            <a:xfrm>
              <a:off x="3044952" y="5239512"/>
              <a:ext cx="768096" cy="493776"/>
            </a:xfrm>
            <a:prstGeom prst="cloud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새 학기 전에 점검할 지출 다섯 가지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알뜰 생활 팁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이번 달 고정지출부터 적어요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BE9D1-7916-41C9-B381-21F5D6312DA6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월세·통신비·구독료처럼 매달 나가는 돈부터 한곳에 적어 보면 새는 곳이 보여요.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카드 대신 현금 한 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55216-997B-400E-B2D9-8356297085CD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일주일만 현금으로 써 보면 충동구매가 눈에 띄게 줄어요.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장보기 전 냉장고 사진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59C25-4086-4B59-8544-965784C1C522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있는 재료를 확인하고 가면 같은 식재료를 또 사는 일이 줄어요.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작은 목표 통장 만들기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FEEB4-CD90-4B48-9588-CFC352F5A46A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여행·선물·비상금처럼 이름을 붙이면 모으는 재미가 커져요.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주말 5분 가계부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D01E7-DB42-4D43-A60D-BFE3E10DA453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영수증을 모아 두었다가 주말에 5분만 적어 보세요.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알뜰 생활 팁)">
  <a:themeElements>
    <a:clrScheme name="카드뉴스(알뜰 생활 팁)">
      <a:dk1>
        <a:srgbClr val="2B2724"/>
      </a:dk1>
      <a:lt1>
        <a:srgbClr val="FFFFFF"/>
      </a:lt1>
      <a:dk2>
        <a:srgbClr val="64523A"/>
      </a:dk2>
      <a:lt2>
        <a:srgbClr val="F9E4ED"/>
      </a:lt2>
      <a:accent1>
        <a:srgbClr val="D8739D"/>
      </a:accent1>
      <a:accent2>
        <a:srgbClr val="7CC5A7"/>
      </a:accent2>
      <a:accent3>
        <a:srgbClr val="4E2C3A"/>
      </a:accent3>
      <a:accent4>
        <a:srgbClr val="F4C7DA"/>
      </a:accent4>
      <a:accent5>
        <a:srgbClr val="E0C9A3"/>
      </a:accent5>
      <a:accent6>
        <a:srgbClr val="DABCE6"/>
      </a:accent6>
      <a:hlink>
        <a:srgbClr val="64523A"/>
      </a:hlink>
      <a:folHlink>
        <a:srgbClr val="4E2C3A"/>
      </a:folHlink>
    </a:clrScheme>
    <a:fontScheme name="카드뉴스(알뜰 생활 팁)">
      <a:majorFont>
        <a:latin typeface="Constant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카드뉴스(알뜰 생활 팁)</dc:title>
  <dc:subject>카드뉴스 · 알뜰 생활 팁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