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2FBF787-6D27-477E-B0F1-0DC5846A75F6}">
          <p14:sldIdLst>
            <p14:sldId id="256"/>
          </p14:sldIdLst>
        </p14:section>
        <p14:section name="본문" id="{695CD9C2-B99C-4845-9A7E-B799EBA64658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B330AF3C-9929-4426-AD82-A3F712FA705A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132588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85800" y="1709928"/>
            <a:ext cx="548640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3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3246120"/>
            <a:ext cx="5486400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E0E3E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38404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C4CAC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548640" y="566928"/>
            <a:ext cx="5760720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548640" y="658368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291072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548640" y="6199632"/>
            <a:ext cx="5760720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sp>
        <p:nvSpPr>
          <p:cNvPr id="6" name="Diamond 5"/>
          <p:cNvSpPr/>
          <p:nvPr/>
        </p:nvSpPr>
        <p:spPr>
          <a:xfrm>
            <a:off x="3337560" y="5394960"/>
            <a:ext cx="182880" cy="182880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331720" y="5486400"/>
            <a:ext cx="82296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703320" y="5486400"/>
            <a:ext cx="82296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466344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1DE229F6-04F4-46C2-B098-1871C713D50E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6620256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21208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1536192"/>
            <a:ext cx="4663440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54864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132588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85800" y="1709928"/>
            <a:ext cx="548640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3246120"/>
            <a:ext cx="5486400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38404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548640" y="566928"/>
            <a:ext cx="5760720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548640" y="658368"/>
            <a:ext cx="5760720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291072"/>
            <a:ext cx="5760720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548640" y="6199632"/>
            <a:ext cx="5760720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sp>
        <p:nvSpPr>
          <p:cNvPr id="6" name="Diamond 5"/>
          <p:cNvSpPr/>
          <p:nvPr/>
        </p:nvSpPr>
        <p:spPr>
          <a:xfrm>
            <a:off x="3337560" y="5394960"/>
            <a:ext cx="182880" cy="182880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331720" y="5486400"/>
            <a:ext cx="822960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703320" y="5486400"/>
            <a:ext cx="822960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466344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BD0EEF97-F091-46EA-A341-BA89F59F5910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6620256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21208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1536192"/>
            <a:ext cx="4663440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54864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C43A2793-0AF8-4E5C-B1D7-A88A65FB3620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6620256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54864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MARINE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한 달 용돈, 어디로 갔을까요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알뜰 생활 팁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이번 달 고정지출부터 적어요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CF337-A998-4930-8149-991521333643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월세·통신비·구독료처럼 매달 나가는 돈부터 한곳에 적어 보면 새는 곳이 보여요.</a:t>
            </a:r>
          </a:p>
        </p:txBody>
      </p:sp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카드 대신 현금 한 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E9EB2-937A-437F-85F0-1A581727E136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일주일만 현금으로 써 보면 충동구매가 눈에 띄게 줄어요.</a:t>
            </a:r>
          </a:p>
        </p:txBody>
      </p:sp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장보기 전 냉장고 사진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711A-1989-4281-99C4-A6F5C2147E99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있는 재료를 확인하고 가면 같은 식재료를 또 사는 일이 줄어요.</a:t>
            </a:r>
          </a:p>
        </p:txBody>
      </p:sp>
    </p:spTree>
  </p:cSld>
  <p:clrMapOvr>
    <a:masterClrMapping/>
  </p:clrMapOvr>
  <p:transition spd="med">
    <p:pull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작은 목표 통장 만들기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D1D07-0775-4769-BAD0-0C426E6D7581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여행·선물·비상금처럼 이름을 붙이면 모으는 재미가 커져요.</a:t>
            </a:r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주말 5분 가계부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F9874-A611-498D-B4B2-9B8C6EFC6EC2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영수증을 모아 두었다가 주말에 5분만 적어 보세요.</a:t>
            </a:r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MARINE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알뜰 생활 팁)">
  <a:themeElements>
    <a:clrScheme name="카드뉴스(알뜰 생활 팁)">
      <a:dk1>
        <a:srgbClr val="374048"/>
      </a:dk1>
      <a:lt1>
        <a:srgbClr val="FCFDFE"/>
      </a:lt1>
      <a:dk2>
        <a:srgbClr val="0F2F4A"/>
      </a:dk2>
      <a:lt2>
        <a:srgbClr val="F4F8FA"/>
      </a:lt2>
      <a:accent1>
        <a:srgbClr val="1F5C86"/>
      </a:accent1>
      <a:accent2>
        <a:srgbClr val="5BA3C4"/>
      </a:accent2>
      <a:accent3>
        <a:srgbClr val="72818D"/>
      </a:accent3>
      <a:accent4>
        <a:srgbClr val="C9D9E3"/>
      </a:accent4>
      <a:accent5>
        <a:srgbClr val="B7C4CE"/>
      </a:accent5>
      <a:accent6>
        <a:srgbClr val="A0C9DC"/>
      </a:accent6>
      <a:hlink>
        <a:srgbClr val="0F2F4A"/>
      </a:hlink>
      <a:folHlink>
        <a:srgbClr val="72818D"/>
      </a:folHlink>
    </a:clrScheme>
    <a:fontScheme name="카드뉴스(알뜰 생활 팁)">
      <a:majorFont>
        <a:latin typeface="Franklin Gothic Medium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>카드뉴스 · 알뜰 생활 팁</dc:subject>
  <dc:creator>우체국보험 상담 안내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