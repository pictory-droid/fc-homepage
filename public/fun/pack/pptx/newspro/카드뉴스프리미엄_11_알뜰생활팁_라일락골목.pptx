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557613D-D2DA-4B38-8C26-4FE345C9ECBD}">
          <p14:sldIdLst>
            <p14:sldId id="256"/>
          </p14:sldIdLst>
        </p14:section>
        <p14:section name="본문" id="{3737D395-A1CD-4A9F-81A0-DABD963EAED3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DDEE9A7F-50CA-402C-8A6E-C22664832A65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858000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7719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85800" y="41559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555498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60579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글 면"/>
          <p:cNvSpPr/>
          <p:nvPr/>
        </p:nvSpPr>
        <p:spPr>
          <a:xfrm>
            <a:off x="0" y="3429000"/>
            <a:ext cx="6858000" cy="34290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5216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8AECB27A-493B-47AB-A54F-324B40BACE8B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585216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858000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7719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85800" y="41559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555498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60579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글 면"/>
          <p:cNvSpPr/>
          <p:nvPr/>
        </p:nvSpPr>
        <p:spPr>
          <a:xfrm>
            <a:off x="0" y="3429000"/>
            <a:ext cx="6858000" cy="3429000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5216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D925695A-21B1-426D-838D-13977170ADB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585216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568AC14-9F38-498E-9A67-CE2C3E6A8894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099816" y="5365699"/>
            <a:ext cx="658368" cy="241401"/>
            <a:chOff x="3099816" y="5365699"/>
            <a:chExt cx="658368" cy="241401"/>
          </a:xfrm>
        </p:grpSpPr>
        <p:sp>
          <p:nvSpPr>
            <p:cNvPr id="6" name="Wave 5"/>
            <p:cNvSpPr/>
            <p:nvPr/>
          </p:nvSpPr>
          <p:spPr>
            <a:xfrm>
              <a:off x="3099816" y="5365699"/>
              <a:ext cx="658368" cy="241401"/>
            </a:xfrm>
            <a:prstGeom prst="wav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장보기 전에 냉장고부터 열어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알뜰 생활 팁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이번 달 고정지출부터 적어요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AE6A0-F865-4BD1-9041-C396A21FF39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월세·통신비·구독료처럼 매달 나가는 돈부터 한곳에 적어 보면 새는 곳이 보여요.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카드 대신 현금 한 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A8141-5C05-4475-9232-CCE9457AA81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일주일만 현금으로 써 보면 충동구매가 눈에 띄게 줄어요.</a:t>
            </a:r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장보기 전 냉장고 사진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CFD7A-5D52-45EB-9410-68796838C6F5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있는 재료를 확인하고 가면 같은 식재료를 또 사는 일이 줄어요.</a:t>
            </a:r>
          </a:p>
        </p:txBody>
      </p:sp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작은 목표 통장 만들기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61CE-CCA9-4082-B753-6FE356C7F85C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여행·선물·비상금처럼 이름을 붙이면 모으는 재미가 커져요.</a:t>
            </a:r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주말 5분 가계부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06857-8654-4461-B9B3-9C4831A7679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영수증을 모아 두었다가 주말에 5분만 적어 보세요.</a:t>
            </a: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알뜰 생활 팁)">
  <a:themeElements>
    <a:clrScheme name="카드뉴스(알뜰 생활 팁)">
      <a:dk1>
        <a:srgbClr val="2B2724"/>
      </a:dk1>
      <a:lt1>
        <a:srgbClr val="FFFFFF"/>
      </a:lt1>
      <a:dk2>
        <a:srgbClr val="593A64"/>
      </a:dk2>
      <a:lt2>
        <a:srgbClr val="F0E4F9"/>
      </a:lt2>
      <a:accent1>
        <a:srgbClr val="AE73D8"/>
      </a:accent1>
      <a:accent2>
        <a:srgbClr val="C57CBF"/>
      </a:accent2>
      <a:accent3>
        <a:srgbClr val="402C4E"/>
      </a:accent3>
      <a:accent4>
        <a:srgbClr val="E2C7F4"/>
      </a:accent4>
      <a:accent5>
        <a:srgbClr val="E0A3BB"/>
      </a:accent5>
      <a:accent6>
        <a:srgbClr val="BCC8E6"/>
      </a:accent6>
      <a:hlink>
        <a:srgbClr val="593A64"/>
      </a:hlink>
      <a:folHlink>
        <a:srgbClr val="402C4E"/>
      </a:folHlink>
    </a:clrScheme>
    <a:fontScheme name="카드뉴스(알뜰 생활 팁)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>카드뉴스 · 알뜰 생활 팁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