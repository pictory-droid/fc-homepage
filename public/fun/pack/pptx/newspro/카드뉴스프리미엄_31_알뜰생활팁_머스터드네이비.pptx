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2841D22E-7DF4-4F4C-8A4C-2D4B27FC50AD}">
          <p14:sldIdLst>
            <p14:sldId id="256"/>
          </p14:sldIdLst>
        </p14:section>
        <p14:section name="본문" id="{0744F4E2-77DE-406B-8519-E39A17B9B594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6479E97B-C184-4AC9-BB2F-87A5492BB4BB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38328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3767328"/>
            <a:ext cx="548640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6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1965960" y="274319"/>
            <a:ext cx="2926080" cy="292608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0" y="594359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06040" y="914399"/>
            <a:ext cx="1645920" cy="164592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1325880"/>
            <a:ext cx="822960" cy="8229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장식"/>
          <p:cNvGrpSpPr/>
          <p:nvPr/>
        </p:nvGrpSpPr>
        <p:grpSpPr>
          <a:xfrm>
            <a:off x="3246120" y="1554480"/>
            <a:ext cx="365760" cy="365760"/>
            <a:chOff x="3246120" y="1554480"/>
            <a:chExt cx="365760" cy="365760"/>
          </a:xfrm>
        </p:grpSpPr>
        <p:sp>
          <p:nvSpPr>
            <p:cNvPr id="7" name="4-Point Star 6"/>
            <p:cNvSpPr/>
            <p:nvPr/>
          </p:nvSpPr>
          <p:spPr>
            <a:xfrm>
              <a:off x="3246120" y="1554480"/>
              <a:ext cx="365760" cy="365760"/>
            </a:xfrm>
            <a:prstGeom prst="star4">
              <a:avLst>
                <a:gd name="adj" fmla="val 14000"/>
              </a:avLst>
            </a:prstGeom>
            <a:solidFill>
              <a:srgbClr val="1A161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71E043FA-0CA1-4B02-BD4A-1046521D5F7B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3749041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38328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3767328"/>
            <a:ext cx="5486400" cy="10972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32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937760"/>
            <a:ext cx="5486400" cy="45720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rgbClr val="D7D8DD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4068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rgbClr val="B3B6BD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Oval 1"/>
          <p:cNvSpPr/>
          <p:nvPr/>
        </p:nvSpPr>
        <p:spPr>
          <a:xfrm>
            <a:off x="1965960" y="274319"/>
            <a:ext cx="2926080" cy="2926080"/>
          </a:xfrm>
          <a:prstGeom prst="ellipse">
            <a:avLst/>
          </a:prstGeom>
          <a:noFill/>
          <a:ln w="1587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0" y="594359"/>
            <a:ext cx="2286000" cy="228600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06040" y="914399"/>
            <a:ext cx="1645920" cy="1645920"/>
          </a:xfrm>
          <a:prstGeom prst="ellipse">
            <a:avLst/>
          </a:prstGeom>
          <a:noFill/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017520" y="1325880"/>
            <a:ext cx="822960" cy="82296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장식"/>
          <p:cNvGrpSpPr/>
          <p:nvPr/>
        </p:nvGrpSpPr>
        <p:grpSpPr>
          <a:xfrm>
            <a:off x="3246120" y="1554480"/>
            <a:ext cx="365760" cy="365760"/>
            <a:chOff x="3246120" y="1554480"/>
            <a:chExt cx="365760" cy="365760"/>
          </a:xfrm>
        </p:grpSpPr>
        <p:sp>
          <p:nvSpPr>
            <p:cNvPr id="7" name="4-Point Star 6"/>
            <p:cNvSpPr/>
            <p:nvPr/>
          </p:nvSpPr>
          <p:spPr>
            <a:xfrm>
              <a:off x="3246120" y="1554480"/>
              <a:ext cx="365760" cy="365760"/>
            </a:xfrm>
            <a:prstGeom prst="star4">
              <a:avLst>
                <a:gd name="adj" fmla="val 14000"/>
              </a:avLst>
            </a:prstGeom>
            <a:solidFill>
              <a:srgbClr val="FFFF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8FF866AF-ECE3-4F27-A744-552A8681CFFC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640080" y="658368"/>
            <a:ext cx="502920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6400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0116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33832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475488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6400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0116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33832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475488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640080" y="1572768"/>
            <a:ext cx="1280159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920239" y="1572768"/>
            <a:ext cx="3749041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10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6400800" y="914400"/>
            <a:ext cx="365759" cy="4663440"/>
          </a:xfrm>
          <a:noFill/>
        </p:spPr>
        <p:txBody>
          <a:bodyPr lIns="45720" rIns="45720" tIns="27432" bIns="27432" anchor="ctr" vert="vert270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900">
                <a:solidFill>
                  <a:srgbClr val="1A1613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6309360" y="6172200"/>
            <a:ext cx="5486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rgbClr val="1A1613"/>
                </a:solidFill>
              </a:defRPr>
            </a:lvl1pPr>
          </a:lstStyle>
          <a:p>
            <a:fld id="{F5FF839F-AADE-4730-B6D6-B61E1C3711E1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640080" y="365760"/>
            <a:ext cx="50292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6309360" y="0"/>
            <a:ext cx="548640" cy="68580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2926080" y="1520189"/>
            <a:ext cx="1005840" cy="251460"/>
            <a:chOff x="2926080" y="1520189"/>
            <a:chExt cx="1005840" cy="251460"/>
          </a:xfrm>
        </p:grpSpPr>
        <p:sp>
          <p:nvSpPr>
            <p:cNvPr id="4" name="Diamond 3"/>
            <p:cNvSpPr/>
            <p:nvPr/>
          </p:nvSpPr>
          <p:spPr>
            <a:xfrm>
              <a:off x="3303270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Connector 4"/>
            <p:cNvCxnSpPr/>
            <p:nvPr/>
          </p:nvCxnSpPr>
          <p:spPr>
            <a:xfrm>
              <a:off x="292608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>
              <a:off x="3634740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7" name="Connector 6"/>
          <p:cNvCxnSpPr/>
          <p:nvPr/>
        </p:nvCxnSpPr>
        <p:spPr>
          <a:xfrm>
            <a:off x="2880360" y="5349240"/>
            <a:ext cx="1097279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8" name="Diamond 7"/>
          <p:cNvSpPr/>
          <p:nvPr/>
        </p:nvSpPr>
        <p:spPr>
          <a:xfrm>
            <a:off x="3369564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MUSTARD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옷 정리하고 알뜰하게 시작하기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알뜰 생활 팁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MUSTARD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이번 달 고정지출부터 적어요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804704-4732-47C6-AEF5-44C041F8AFDF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월세·통신비·구독료처럼 매달 나가는 돈부터 한곳에 적어 보면 새는 곳이 보여요.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MUSTARD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카드 대신 현금 한 주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D8015C-CC92-4A07-A96B-208024925477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일주일만 현금으로 써 보면 충동구매가 눈에 띄게 줄어요.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MUSTARD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장보기 전 냉장고 사진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651C0-D7E1-4CFA-AA96-46482BE49782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있는 재료를 확인하고 가면 같은 식재료를 또 사는 일이 줄어요.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MUSTARD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작은 목표 통장 만들기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E094-B786-483F-99E4-EC70A13608EA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여행·선물·비상금처럼 이름을 붙이면 모으는 재미가 커져요.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MUSTARD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주말 5분 가계부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C9233-88E8-4FF4-ADE7-E4D7779FE64D}" type="slidenum">
              <a:rPr lang="en-US"/>
              <a:t>‹#›</a:t>
            </a:fld>
            <a:endParaRPr lang="en-US"/>
          </a:p>
        </p:txBody>
      </p:sp>
      <p:sp>
        <p:nvSpPr>
          <p:cNvPr id="6" name="번호"/>
          <p:cNvSpPr txBox="1"/>
          <p:nvPr/>
        </p:nvSpPr>
        <p:spPr>
          <a:xfrm>
            <a:off x="64008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7" name="본문"/>
          <p:cNvSpPr txBox="1"/>
          <p:nvPr/>
        </p:nvSpPr>
        <p:spPr>
          <a:xfrm>
            <a:off x="640080" y="3291840"/>
            <a:ext cx="502920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영수증을 모아 두었다가 주말에 5분만 적어 보세요.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MUSTARD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알뜰 생활 팁)">
  <a:themeElements>
    <a:clrScheme name="카드뉴스(알뜰 생활 팁)">
      <a:dk1>
        <a:srgbClr val="373B48"/>
      </a:dk1>
      <a:lt1>
        <a:srgbClr val="FEFCF8"/>
      </a:lt1>
      <a:dk2>
        <a:srgbClr val="262F4D"/>
      </a:dk2>
      <a:lt2>
        <a:srgbClr val="FBF6E6"/>
      </a:lt2>
      <a:accent1>
        <a:srgbClr val="D0A02A"/>
      </a:accent1>
      <a:accent2>
        <a:srgbClr val="2E3A5C"/>
      </a:accent2>
      <a:accent3>
        <a:srgbClr val="4A5063"/>
      </a:accent3>
      <a:accent4>
        <a:srgbClr val="F2E5C0"/>
      </a:accent4>
      <a:accent5>
        <a:srgbClr val="C8A040"/>
      </a:accent5>
      <a:accent6>
        <a:srgbClr val="8A8F9A"/>
      </a:accent6>
      <a:hlink>
        <a:srgbClr val="262F4D"/>
      </a:hlink>
      <a:folHlink>
        <a:srgbClr val="4A5063"/>
      </a:folHlink>
    </a:clrScheme>
    <a:fontScheme name="카드뉴스(알뜰 생활 팁)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카드뉴스(알뜰 생활 팁)</dc:title>
  <dc:subject>카드뉴스 · 알뜰 생활 팁</dc:subject>
  <dc:creator>반딧불이의 곳간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