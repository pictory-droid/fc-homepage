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E582CD4C-C6BA-41E1-B86D-BF8A32567FC3}">
          <p14:sldIdLst>
            <p14:sldId id="256"/>
          </p14:sldIdLst>
        </p14:section>
        <p14:section name="본문" id="{11EA84C4-82C1-4BFE-8698-3CEE325634D8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5D3D8CCF-2ECF-446D-85CD-233105B3C1BF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60120" y="1965960"/>
            <a:ext cx="493775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60120" y="2350008"/>
            <a:ext cx="4937759" cy="1188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60120" y="3611880"/>
            <a:ext cx="4937759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60120" y="4114800"/>
            <a:ext cx="4937759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선"/>
          <p:cNvSpPr/>
          <p:nvPr/>
        </p:nvSpPr>
        <p:spPr>
          <a:xfrm>
            <a:off x="320040" y="320040"/>
            <a:ext cx="6217920" cy="6217920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475488" y="475488"/>
            <a:ext cx="5907024" cy="590702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6428232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6428232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081528" y="1115568"/>
            <a:ext cx="694944" cy="694944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모노그램"/>
          <p:cNvGrpSpPr/>
          <p:nvPr/>
        </p:nvGrpSpPr>
        <p:grpSpPr>
          <a:xfrm>
            <a:off x="3333902" y="1367942"/>
            <a:ext cx="190195" cy="190195"/>
            <a:chOff x="3333902" y="1367942"/>
            <a:chExt cx="190195" cy="190195"/>
          </a:xfrm>
        </p:grpSpPr>
        <p:sp>
          <p:nvSpPr>
            <p:cNvPr id="10" name="Diamond 9"/>
            <p:cNvSpPr/>
            <p:nvPr/>
          </p:nvSpPr>
          <p:spPr>
            <a:xfrm>
              <a:off x="3333902" y="1367942"/>
              <a:ext cx="190195" cy="190195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1" name="Connector 10"/>
          <p:cNvCxnSpPr/>
          <p:nvPr/>
        </p:nvCxnSpPr>
        <p:spPr>
          <a:xfrm flipH="1">
            <a:off x="2057400" y="1463040"/>
            <a:ext cx="86868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3931920" y="1463040"/>
            <a:ext cx="86868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57607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749808"/>
            <a:ext cx="5394960" cy="7315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3063240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AFB2DEC8-DB8D-4E73-B660-42C271693F81}" type="slidenum">
              <a:rPr lang="en-US"/>
              <a:t>‹#›</a:t>
            </a:fld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6163056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6510528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6510528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60120" y="1965960"/>
            <a:ext cx="493775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60120" y="2350008"/>
            <a:ext cx="4937759" cy="1188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60120" y="3611880"/>
            <a:ext cx="4937759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D8D5D4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60120" y="4114800"/>
            <a:ext cx="4937759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B5AEAD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선"/>
          <p:cNvSpPr/>
          <p:nvPr/>
        </p:nvSpPr>
        <p:spPr>
          <a:xfrm>
            <a:off x="320040" y="320040"/>
            <a:ext cx="6217920" cy="6217920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475488" y="475488"/>
            <a:ext cx="5907024" cy="590702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6428232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6428232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081528" y="1115568"/>
            <a:ext cx="694944" cy="694944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모노그램"/>
          <p:cNvGrpSpPr/>
          <p:nvPr/>
        </p:nvGrpSpPr>
        <p:grpSpPr>
          <a:xfrm>
            <a:off x="3333902" y="1367942"/>
            <a:ext cx="190195" cy="190195"/>
            <a:chOff x="3333902" y="1367942"/>
            <a:chExt cx="190195" cy="190195"/>
          </a:xfrm>
        </p:grpSpPr>
        <p:sp>
          <p:nvSpPr>
            <p:cNvPr id="10" name="Diamond 9"/>
            <p:cNvSpPr/>
            <p:nvPr/>
          </p:nvSpPr>
          <p:spPr>
            <a:xfrm>
              <a:off x="3333902" y="1367942"/>
              <a:ext cx="190195" cy="190195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1" name="Connector 10"/>
          <p:cNvCxnSpPr/>
          <p:nvPr/>
        </p:nvCxnSpPr>
        <p:spPr>
          <a:xfrm flipH="1">
            <a:off x="2057400" y="1463040"/>
            <a:ext cx="86868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3931920" y="1463040"/>
            <a:ext cx="86868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57607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749808"/>
            <a:ext cx="5394960" cy="7315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3063240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611739A-4736-4650-9863-253231EF9150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6163056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6510528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6510528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57607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3063240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A14C697-5B7D-41DA-A752-E51AC7C719F3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6163056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6510528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6510528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9" name="Diamond 8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1" name="Connector 10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12" name="Connector 11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3" name="Diamond 12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IVORY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새 학기 전에 점검할 지출 다섯 가지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알뜰 생활 팁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이번 달 고정지출부터 적어요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59AC2-16E0-447A-B38B-DD19C459FB82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월세·통신비·구독료처럼 매달 나가는 돈부터 한곳에 적어 보면 새는 곳이 보여요.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카드 대신 현금 한 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F3B72-79DA-45ED-BFB8-523DE9DB9A66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일주일만 현금으로 써 보면 충동구매가 눈에 띄게 줄어요.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장보기 전 냉장고 사진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7173-7533-4264-BABF-08FAC0E02A9C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있는 재료를 확인하고 가면 같은 식재료를 또 사는 일이 줄어요.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작은 목표 통장 만들기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3FFE1-FDB9-4ADA-AEB5-9A73D87C2690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여행·선물·비상금처럼 이름을 붙이면 모으는 재미가 커져요.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주말 5분 가계부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61D5B-F90B-4A95-A9E7-85409D6070CF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영수증을 모아 두었다가 주말에 5분만 적어 보세요.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IVORY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알뜰 생활 팁)">
  <a:themeElements>
    <a:clrScheme name="카드뉴스(알뜰 생활 팁)">
      <a:dk1>
        <a:srgbClr val="483A37"/>
      </a:dk1>
      <a:lt1>
        <a:srgbClr val="FEFCFB"/>
      </a:lt1>
      <a:dk2>
        <a:srgbClr val="4B2F2B"/>
      </a:dk2>
      <a:lt2>
        <a:srgbClr val="FAF5EF"/>
      </a:lt2>
      <a:accent1>
        <a:srgbClr val="B97A6E"/>
      </a:accent1>
      <a:accent2>
        <a:srgbClr val="8E5F57"/>
      </a:accent2>
      <a:accent3>
        <a:srgbClr val="4F3E3B"/>
      </a:accent3>
      <a:accent4>
        <a:srgbClr val="EDDCD5"/>
      </a:accent4>
      <a:accent5>
        <a:srgbClr val="C9A27A"/>
      </a:accent5>
      <a:accent6>
        <a:srgbClr val="BFA29B"/>
      </a:accent6>
      <a:hlink>
        <a:srgbClr val="4B2F2B"/>
      </a:hlink>
      <a:folHlink>
        <a:srgbClr val="4F3E3B"/>
      </a:folHlink>
    </a:clrScheme>
    <a:fontScheme name="카드뉴스(알뜰 생활 팁)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카드뉴스(알뜰 생활 팁)</dc:title>
  <dc:subject>카드뉴스 · 알뜰 생활 팁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