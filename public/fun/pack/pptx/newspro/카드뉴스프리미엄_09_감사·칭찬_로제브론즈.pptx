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6858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3DCE1052-434F-47FE-9E66-8707569C3069}">
          <p14:sldIdLst>
            <p14:sldId id="256"/>
          </p14:sldIdLst>
        </p14:section>
        <p14:section name="본문" id="{E7D4E508-BB71-437B-91BC-8F024E06A179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09A6ACF4-3B20-4E8F-B1F0-0CD5630D72D8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85800" y="3383280"/>
            <a:ext cx="5486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685800" y="3767328"/>
            <a:ext cx="5486400" cy="10972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3200" b="0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85800" y="4937760"/>
            <a:ext cx="5486400" cy="45720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rgbClr val="DFD9DB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85800" y="5440680"/>
            <a:ext cx="548640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rgbClr val="C2B7BB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Oval 1"/>
          <p:cNvSpPr/>
          <p:nvPr/>
        </p:nvSpPr>
        <p:spPr>
          <a:xfrm>
            <a:off x="1965960" y="274319"/>
            <a:ext cx="2926080" cy="2926080"/>
          </a:xfrm>
          <a:prstGeom prst="ellipse">
            <a:avLst/>
          </a:prstGeom>
          <a:noFill/>
          <a:ln w="158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286000" y="594359"/>
            <a:ext cx="2286000" cy="2286000"/>
          </a:xfrm>
          <a:prstGeom prst="ellipse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606040" y="914399"/>
            <a:ext cx="1645920" cy="1645920"/>
          </a:xfrm>
          <a:prstGeom prst="ellipse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017520" y="1325880"/>
            <a:ext cx="822960" cy="82296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6" name="장식"/>
          <p:cNvGrpSpPr/>
          <p:nvPr/>
        </p:nvGrpSpPr>
        <p:grpSpPr>
          <a:xfrm>
            <a:off x="3246120" y="1554480"/>
            <a:ext cx="365760" cy="365760"/>
            <a:chOff x="3246120" y="1554480"/>
            <a:chExt cx="365760" cy="365760"/>
          </a:xfrm>
        </p:grpSpPr>
        <p:sp>
          <p:nvSpPr>
            <p:cNvPr id="7" name="4-Point Star 6"/>
            <p:cNvSpPr/>
            <p:nvPr/>
          </p:nvSpPr>
          <p:spPr>
            <a:xfrm>
              <a:off x="3246120" y="1554480"/>
              <a:ext cx="365760" cy="365760"/>
            </a:xfrm>
            <a:prstGeom prst="star4">
              <a:avLst>
                <a:gd name="adj" fmla="val 14000"/>
              </a:avLst>
            </a:pr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59436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576072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3063240" y="6291072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CA8FA994-5176-427F-A3E8-1C93EE1E3B0B}" type="slidenum">
              <a:rPr lang="en-US"/>
              <a:t>‹#›</a:t>
            </a:fld>
          </a:p>
        </p:txBody>
      </p:sp>
      <p:cxnSp>
        <p:nvCxnSpPr>
          <p:cNvPr id="2" name="Connector 1"/>
          <p:cNvCxnSpPr/>
          <p:nvPr/>
        </p:nvCxnSpPr>
        <p:spPr>
          <a:xfrm>
            <a:off x="2240280" y="1444752"/>
            <a:ext cx="23774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2240280" y="1499616"/>
            <a:ext cx="23774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4" name="Diamond 3"/>
          <p:cNvSpPr/>
          <p:nvPr/>
        </p:nvSpPr>
        <p:spPr>
          <a:xfrm>
            <a:off x="3364992" y="1408176"/>
            <a:ext cx="128016" cy="12801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2331720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3794760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85800" y="3383280"/>
            <a:ext cx="5486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685800" y="3767328"/>
            <a:ext cx="5486400" cy="10972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32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85800" y="4937760"/>
            <a:ext cx="5486400" cy="45720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85800" y="5440680"/>
            <a:ext cx="548640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Oval 1"/>
          <p:cNvSpPr/>
          <p:nvPr/>
        </p:nvSpPr>
        <p:spPr>
          <a:xfrm>
            <a:off x="1965960" y="274319"/>
            <a:ext cx="2926080" cy="2926080"/>
          </a:xfrm>
          <a:prstGeom prst="ellipse">
            <a:avLst/>
          </a:prstGeom>
          <a:noFill/>
          <a:ln w="158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286000" y="594359"/>
            <a:ext cx="2286000" cy="2286000"/>
          </a:xfrm>
          <a:prstGeom prst="ellipse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606040" y="914399"/>
            <a:ext cx="1645920" cy="1645920"/>
          </a:xfrm>
          <a:prstGeom prst="ellipse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017520" y="1325880"/>
            <a:ext cx="822960" cy="82296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6" name="장식"/>
          <p:cNvGrpSpPr/>
          <p:nvPr/>
        </p:nvGrpSpPr>
        <p:grpSpPr>
          <a:xfrm>
            <a:off x="3246120" y="1554480"/>
            <a:ext cx="365760" cy="365760"/>
            <a:chOff x="3246120" y="1554480"/>
            <a:chExt cx="365760" cy="365760"/>
          </a:xfrm>
        </p:grpSpPr>
        <p:sp>
          <p:nvSpPr>
            <p:cNvPr id="7" name="4-Point Star 6"/>
            <p:cNvSpPr/>
            <p:nvPr/>
          </p:nvSpPr>
          <p:spPr>
            <a:xfrm>
              <a:off x="3246120" y="1554480"/>
              <a:ext cx="365760" cy="365760"/>
            </a:xfrm>
            <a:prstGeom prst="star4">
              <a:avLst>
                <a:gd name="adj" fmla="val 14000"/>
              </a:avLst>
            </a:pr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59436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576072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3063240" y="6291072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B7AC5C30-4981-440B-B6B1-75F87DE4553F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5486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19202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2918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6634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5486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19202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2918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6634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2240280" y="1444752"/>
            <a:ext cx="23774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2240280" y="1499616"/>
            <a:ext cx="23774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4" name="Diamond 3"/>
          <p:cNvSpPr/>
          <p:nvPr/>
        </p:nvSpPr>
        <p:spPr>
          <a:xfrm>
            <a:off x="3364992" y="1408176"/>
            <a:ext cx="128016" cy="12801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2331720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3794760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59436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3063240" y="6291072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0DE4DF39-04FC-440D-ACF6-BF2E2091FCC7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822959" y="2331720"/>
            <a:ext cx="5212080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6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2331720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3794760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grpSp>
        <p:nvGrpSpPr>
          <p:cNvPr id="4" name="따옴표 장식"/>
          <p:cNvGrpSpPr/>
          <p:nvPr/>
        </p:nvGrpSpPr>
        <p:grpSpPr>
          <a:xfrm>
            <a:off x="2926080" y="1520189"/>
            <a:ext cx="1005840" cy="251460"/>
            <a:chOff x="2926080" y="1520189"/>
            <a:chExt cx="1005840" cy="251460"/>
          </a:xfrm>
        </p:grpSpPr>
        <p:sp>
          <p:nvSpPr>
            <p:cNvPr id="5" name="Diamond 4"/>
            <p:cNvSpPr/>
            <p:nvPr/>
          </p:nvSpPr>
          <p:spPr>
            <a:xfrm>
              <a:off x="3303270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6" name="Connector 5"/>
            <p:cNvCxnSpPr/>
            <p:nvPr/>
          </p:nvCxnSpPr>
          <p:spPr>
            <a:xfrm>
              <a:off x="2926080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3634740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8" name="Connector 7"/>
          <p:cNvCxnSpPr/>
          <p:nvPr/>
        </p:nvCxnSpPr>
        <p:spPr>
          <a:xfrm>
            <a:off x="2880360" y="5349240"/>
            <a:ext cx="1097279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9" name="Diamond 8"/>
          <p:cNvSpPr/>
          <p:nvPr/>
        </p:nvSpPr>
        <p:spPr>
          <a:xfrm>
            <a:off x="3369564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ROSE  ·  CARD NEWS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가족에게 칭찬 한 줄 써 주기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옆으로 넘겨 보세요 →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감사·칭찬 · 카드뉴스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01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고맙다는 말 먼저 건네기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16DAD-7C88-4577-9F5A-8A5454C2A56F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01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작은 일에도 ‘고마워요’를 먼저 말해 보세요.</a:t>
            </a:r>
          </a:p>
        </p:txBody>
      </p:sp>
    </p:spTree>
  </p:cSld>
  <p:clrMapOvr>
    <a:masterClrMapping/>
  </p:clrMapOvr>
  <p:transition spd="med">
    <p:split orient="horz" dir="out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02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칭찬 한 줄 적어 주기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D14C9-D33B-48FE-97C2-7E1CC497F076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02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메모지에 칭찬 한 줄을 적어 가족 책상에 붙여 보세요.</a:t>
            </a:r>
          </a:p>
        </p:txBody>
      </p:sp>
    </p:spTree>
  </p:cSld>
  <p:clrMapOvr>
    <a:masterClrMapping/>
  </p:clrMapOvr>
  <p:transition spd="med">
    <p:split orient="horz" dir="out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03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퇴근한 사람에게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71758-9A97-4129-81EA-5C6342503C5A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03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‘오늘도 고생했어’ 한마디면 충분해요.</a:t>
            </a:r>
          </a:p>
        </p:txBody>
      </p:sp>
    </p:spTree>
  </p:cSld>
  <p:clrMapOvr>
    <a:masterClrMapping/>
  </p:clrMapOvr>
  <p:transition spd="med">
    <p:split orient="horz" dir="out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04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감사 일기 세 줄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74462-DA95-4058-B76C-E658F74D7663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04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오늘 고마웠던 일 세 가지를 적어 보세요.</a:t>
            </a:r>
          </a:p>
        </p:txBody>
      </p:sp>
    </p:spTree>
  </p:cSld>
  <p:clrMapOvr>
    <a:masterClrMapping/>
  </p:clrMapOvr>
  <p:transition spd="med">
    <p:split orient="horz" dir="out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05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엽서 한 장 쓰기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02354-6E56-4B19-B2CF-0C82CFD40E10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05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짧아도 좋아요. 우체통에 넣는 순간 설레요.</a:t>
            </a:r>
          </a:p>
        </p:txBody>
      </p:sp>
    </p:spTree>
  </p:cSld>
  <p:clrMapOvr>
    <a:masterClrMapping/>
  </p:clrMapOvr>
  <p:transition spd="med">
    <p:split orient="horz" dir="out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ROSE  ·  CARD NEWS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저장해 두고 필요할 때 꺼내 보세요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마음에 들면 공유해 주세요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이름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카드뉴스(감사·칭찬)">
  <a:themeElements>
    <a:clrScheme name="카드뉴스(감사·칭찬)">
      <a:dk1>
        <a:srgbClr val="48373D"/>
      </a:dk1>
      <a:lt1>
        <a:srgbClr val="FEFCFB"/>
      </a:lt1>
      <a:dk2>
        <a:srgbClr val="4C2230"/>
      </a:dk2>
      <a:lt2>
        <a:srgbClr val="FBF4F2"/>
      </a:lt2>
      <a:accent1>
        <a:srgbClr val="B3626E"/>
      </a:accent1>
      <a:accent2>
        <a:srgbClr val="9A7A5E"/>
      </a:accent2>
      <a:accent3>
        <a:srgbClr val="6E545D"/>
      </a:accent3>
      <a:accent4>
        <a:srgbClr val="EDD7D8"/>
      </a:accent4>
      <a:accent5>
        <a:srgbClr val="B88A60"/>
      </a:accent5>
      <a:accent6>
        <a:srgbClr val="C6B1A1"/>
      </a:accent6>
      <a:hlink>
        <a:srgbClr val="4C2230"/>
      </a:hlink>
      <a:folHlink>
        <a:srgbClr val="6E545D"/>
      </a:folHlink>
    </a:clrScheme>
    <a:fontScheme name="카드뉴스(감사·칭찬)">
      <a:majorFont>
        <a:latin typeface="Book Antiqua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카드뉴스(감사·칭찬)</dc:title>
  <dc:subject>카드뉴스 · 감사·칭찬</dc:subject>
  <dc:creator>우체국보험 상담 안내</dc:creator>
  <cp:keywords>카드뉴스,PPT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