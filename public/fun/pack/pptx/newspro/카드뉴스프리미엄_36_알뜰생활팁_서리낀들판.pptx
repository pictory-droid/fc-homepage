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5A4CA3A3-5B8A-48AE-A05E-9D8C44A59EAE}">
          <p14:sldIdLst>
            <p14:sldId id="256"/>
          </p14:sldIdLst>
        </p14:section>
        <p14:section name="본문" id="{F443C781-C4F1-498C-8399-6E3C53B2C344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BBFE4427-324F-46BC-9543-AF75EB4B5DB8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smConfetti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211580" y="891539"/>
            <a:ext cx="443484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211580" y="1275587"/>
            <a:ext cx="4434840" cy="10972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3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211580" y="2446020"/>
            <a:ext cx="4434840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234440" y="5554980"/>
            <a:ext cx="4389120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편지지"/>
          <p:cNvSpPr/>
          <p:nvPr/>
        </p:nvSpPr>
        <p:spPr>
          <a:xfrm>
            <a:off x="891540" y="617219"/>
            <a:ext cx="5074920" cy="493775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봉투 앞면"/>
          <p:cNvSpPr/>
          <p:nvPr/>
        </p:nvSpPr>
        <p:spPr>
          <a:xfrm>
            <a:off x="685800" y="3291839"/>
            <a:ext cx="5486400" cy="3291840"/>
          </a:xfrm>
          <a:custGeom>
            <a:avLst/>
            <a:gdLst/>
            <a:ahLst/>
            <a:cxnLst/>
            <a:rect l="l" t="t" r="r" b="b"/>
            <a:pathLst>
              <a:path w="5486400" h="3291840">
                <a:moveTo>
                  <a:pt x="0" y="0"/>
                </a:moveTo>
                <a:lnTo>
                  <a:pt x="2743200" y="1508761"/>
                </a:lnTo>
                <a:lnTo>
                  <a:pt x="5486400" y="0"/>
                </a:lnTo>
                <a:lnTo>
                  <a:pt x="5486400" y="3291840"/>
                </a:lnTo>
                <a:lnTo>
                  <a:pt x="0" y="329184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685800" y="3291839"/>
            <a:ext cx="2743200" cy="1508761"/>
          </a:xfrm>
          <a:prstGeom prst="line">
            <a:avLst/>
          </a:prstGeom>
          <a:ln w="19050" cap="rnd">
            <a:solidFill>
              <a:schemeClr val="bg1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3429000" y="3291839"/>
            <a:ext cx="2743200" cy="1508761"/>
          </a:xfrm>
          <a:prstGeom prst="line">
            <a:avLst/>
          </a:prstGeom>
          <a:ln w="19050" cap="rnd">
            <a:solidFill>
              <a:schemeClr val="bg1"/>
            </a:solidFill>
          </a:ln>
        </p:spPr>
      </p:cxnSp>
      <p:sp>
        <p:nvSpPr>
          <p:cNvPr id="6" name="봉인"/>
          <p:cNvSpPr/>
          <p:nvPr/>
        </p:nvSpPr>
        <p:spPr>
          <a:xfrm>
            <a:off x="3017520" y="4389120"/>
            <a:ext cx="822959" cy="822959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7" name="봉인 하트"/>
          <p:cNvSpPr/>
          <p:nvPr/>
        </p:nvSpPr>
        <p:spPr>
          <a:xfrm>
            <a:off x="3278124" y="4663440"/>
            <a:ext cx="301751" cy="274320"/>
          </a:xfrm>
          <a:prstGeom prst="hear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smConfetti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539496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539496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212080" y="457200"/>
            <a:ext cx="91440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678C9905-156B-4377-A4BC-DE929EB74886}" type="slidenum">
              <a:rPr lang="en-US"/>
              <a:t>‹#›</a:t>
            </a:fld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5394960" cy="0"/>
          </a:xfrm>
          <a:prstGeom prst="line">
            <a:avLst/>
          </a:prstGeom>
          <a:ln w="12700" cap="rnd">
            <a:solidFill>
              <a:schemeClr val="accent4"/>
            </a:solidFill>
          </a:ln>
        </p:spPr>
      </p:cxnSp>
      <p:sp>
        <p:nvSpPr>
          <p:cNvPr id="3" name="쪽 번호 알약"/>
          <p:cNvSpPr/>
          <p:nvPr/>
        </p:nvSpPr>
        <p:spPr>
          <a:xfrm>
            <a:off x="5166360" y="457200"/>
            <a:ext cx="100584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4" name="테마 장식"/>
          <p:cNvGrpSpPr/>
          <p:nvPr/>
        </p:nvGrpSpPr>
        <p:grpSpPr>
          <a:xfrm>
            <a:off x="5943600" y="6172200"/>
            <a:ext cx="365760" cy="365760"/>
            <a:chOff x="5943600" y="6172200"/>
            <a:chExt cx="365760" cy="365760"/>
          </a:xfrm>
        </p:grpSpPr>
        <p:sp>
          <p:nvSpPr>
            <p:cNvPr id="5" name="Teardrop 4"/>
            <p:cNvSpPr/>
            <p:nvPr/>
          </p:nvSpPr>
          <p:spPr>
            <a:xfrm rot="18900000">
              <a:off x="5943600" y="6172200"/>
              <a:ext cx="365760" cy="365760"/>
            </a:xfrm>
            <a:prstGeom prst="teardrop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211580" y="891539"/>
            <a:ext cx="443484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211580" y="1275587"/>
            <a:ext cx="4434840" cy="10972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3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211580" y="2446020"/>
            <a:ext cx="4434840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234440" y="5554980"/>
            <a:ext cx="4389120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편지지"/>
          <p:cNvSpPr/>
          <p:nvPr/>
        </p:nvSpPr>
        <p:spPr>
          <a:xfrm>
            <a:off x="891540" y="617219"/>
            <a:ext cx="5074920" cy="493775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봉투 앞면"/>
          <p:cNvSpPr/>
          <p:nvPr/>
        </p:nvSpPr>
        <p:spPr>
          <a:xfrm>
            <a:off x="685800" y="3291839"/>
            <a:ext cx="5486400" cy="3291840"/>
          </a:xfrm>
          <a:custGeom>
            <a:avLst/>
            <a:gdLst/>
            <a:ahLst/>
            <a:cxnLst/>
            <a:rect l="l" t="t" r="r" b="b"/>
            <a:pathLst>
              <a:path w="5486400" h="3291840">
                <a:moveTo>
                  <a:pt x="0" y="0"/>
                </a:moveTo>
                <a:lnTo>
                  <a:pt x="2743200" y="1508761"/>
                </a:lnTo>
                <a:lnTo>
                  <a:pt x="5486400" y="0"/>
                </a:lnTo>
                <a:lnTo>
                  <a:pt x="5486400" y="3291840"/>
                </a:lnTo>
                <a:lnTo>
                  <a:pt x="0" y="329184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685800" y="3291839"/>
            <a:ext cx="2743200" cy="1508761"/>
          </a:xfrm>
          <a:prstGeom prst="line">
            <a:avLst/>
          </a:prstGeom>
          <a:ln w="19050" cap="rnd">
            <a:solidFill>
              <a:schemeClr val="bg1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3429000" y="3291839"/>
            <a:ext cx="2743200" cy="1508761"/>
          </a:xfrm>
          <a:prstGeom prst="line">
            <a:avLst/>
          </a:prstGeom>
          <a:ln w="19050" cap="rnd">
            <a:solidFill>
              <a:schemeClr val="bg1"/>
            </a:solidFill>
          </a:ln>
        </p:spPr>
      </p:cxnSp>
      <p:sp>
        <p:nvSpPr>
          <p:cNvPr id="6" name="봉인"/>
          <p:cNvSpPr/>
          <p:nvPr/>
        </p:nvSpPr>
        <p:spPr>
          <a:xfrm>
            <a:off x="3017520" y="4389120"/>
            <a:ext cx="822959" cy="822959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7" name="봉인 하트"/>
          <p:cNvSpPr/>
          <p:nvPr/>
        </p:nvSpPr>
        <p:spPr>
          <a:xfrm>
            <a:off x="3278124" y="4663440"/>
            <a:ext cx="301751" cy="274320"/>
          </a:xfrm>
          <a:prstGeom prst="hear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smConfetti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539496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539496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212080" y="457200"/>
            <a:ext cx="91440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79B14A3E-73D2-429B-978A-442CD9E98375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5486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19202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2918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6634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5486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19202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2918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6634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5394960" cy="0"/>
          </a:xfrm>
          <a:prstGeom prst="line">
            <a:avLst/>
          </a:prstGeom>
          <a:ln w="12700" cap="rnd">
            <a:solidFill>
              <a:schemeClr val="accent4"/>
            </a:solidFill>
          </a:ln>
        </p:spPr>
      </p:cxnSp>
      <p:sp>
        <p:nvSpPr>
          <p:cNvPr id="3" name="쪽 번호 알약"/>
          <p:cNvSpPr/>
          <p:nvPr/>
        </p:nvSpPr>
        <p:spPr>
          <a:xfrm>
            <a:off x="5166360" y="457200"/>
            <a:ext cx="100584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4" name="테마 장식"/>
          <p:cNvGrpSpPr/>
          <p:nvPr/>
        </p:nvGrpSpPr>
        <p:grpSpPr>
          <a:xfrm>
            <a:off x="5943600" y="6172200"/>
            <a:ext cx="365760" cy="365760"/>
            <a:chOff x="5943600" y="6172200"/>
            <a:chExt cx="365760" cy="365760"/>
          </a:xfrm>
        </p:grpSpPr>
        <p:sp>
          <p:nvSpPr>
            <p:cNvPr id="5" name="Teardrop 4"/>
            <p:cNvSpPr/>
            <p:nvPr/>
          </p:nvSpPr>
          <p:spPr>
            <a:xfrm rot="18900000">
              <a:off x="5943600" y="6172200"/>
              <a:ext cx="365760" cy="365760"/>
            </a:xfrm>
            <a:prstGeom prst="teardrop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smConfetti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297180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ABB9CE57-2188-49A5-BF37-9FE63BA65BD3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59436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822959" y="2331720"/>
            <a:ext cx="5212080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2770632" y="1371600"/>
            <a:ext cx="1316736" cy="548640"/>
            <a:chOff x="2770632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2770632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3538728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3154680" y="5212080"/>
            <a:ext cx="548640" cy="548640"/>
            <a:chOff x="3154680" y="5212080"/>
            <a:chExt cx="548640" cy="548640"/>
          </a:xfrm>
        </p:grpSpPr>
        <p:sp>
          <p:nvSpPr>
            <p:cNvPr id="6" name="Teardrop 5"/>
            <p:cNvSpPr/>
            <p:nvPr/>
          </p:nvSpPr>
          <p:spPr>
            <a:xfrm rot="18900000">
              <a:off x="3154680" y="5212080"/>
              <a:ext cx="548640" cy="548640"/>
            </a:xfrm>
            <a:prstGeom prst="teardrop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통장 쪼개기, 이렇게 시작하세요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옆으로 넘겨 보세요 →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알뜰 생활 팁 · 카드뉴스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01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이번 달 고정지출부터 적어요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CC985-B27A-4669-9AD5-889AD69E373A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월세·통신비·구독료처럼 매달 나가는 돈부터 한곳에 적어 보면 새는 곳이 보여요.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02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카드 대신 현금 한 주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8E751-FBC0-4A57-AF03-5F66A27C1CAC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일주일만 현금으로 써 보면 충동구매가 눈에 띄게 줄어요.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03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장보기 전 냉장고 사진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AF9D0-C7DC-4CFC-A2F1-5B703264F5E5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있는 재료를 확인하고 가면 같은 식재료를 또 사는 일이 줄어요.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04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작은 목표 통장 만들기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8C2CD-D5DE-49B5-9242-D11D6B6E265B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여행·선물·비상금처럼 이름을 붙이면 모으는 재미가 커져요.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05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주말 5분 가계부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A1175-43C0-4E18-94CD-22DF0A1699E2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영수증을 모아 두었다가 주말에 5분만 적어 보세요.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저장해 두고 필요할 때 꺼내 보세요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마음에 들면 공유해 주세요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이름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카드뉴스(알뜰 생활 팁)">
  <a:themeElements>
    <a:clrScheme name="카드뉴스(알뜰 생활 팁)">
      <a:dk1>
        <a:srgbClr val="2B2724"/>
      </a:dk1>
      <a:lt1>
        <a:srgbClr val="FFFFFF"/>
      </a:lt1>
      <a:dk2>
        <a:srgbClr val="3A4F64"/>
      </a:dk2>
      <a:lt2>
        <a:srgbClr val="E2EFF5"/>
      </a:lt2>
      <a:accent1>
        <a:srgbClr val="7CB4CF"/>
      </a:accent1>
      <a:accent2>
        <a:srgbClr val="838DBE"/>
      </a:accent2>
      <a:accent3>
        <a:srgbClr val="2C434E"/>
      </a:accent3>
      <a:accent4>
        <a:srgbClr val="CBE4F0"/>
      </a:accent4>
      <a:accent5>
        <a:srgbClr val="BAA3E0"/>
      </a:accent5>
      <a:accent6>
        <a:srgbClr val="BCE6D0"/>
      </a:accent6>
      <a:hlink>
        <a:srgbClr val="3A4F64"/>
      </a:hlink>
      <a:folHlink>
        <a:srgbClr val="2C434E"/>
      </a:folHlink>
    </a:clrScheme>
    <a:fontScheme name="카드뉴스(알뜰 생활 팁)">
      <a:majorFont>
        <a:latin typeface="Georgia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카드뉴스(알뜰 생활 팁)</dc:title>
  <dc:subject>카드뉴스 · 알뜰 생활 팁</dc:subject>
  <dc:creator>우체국보험 상담 안내</dc:creator>
  <cp:keywords>카드뉴스,PPT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