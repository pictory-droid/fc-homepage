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6858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B68AD691-BD5A-454C-B435-142B3C87F8AD}">
          <p14:sldIdLst>
            <p14:sldId id="256"/>
          </p14:sldIdLst>
        </p14:section>
        <p14:section name="본문" id="{5AE0F438-1DCC-4D45-97B3-3117A4440469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E0B88414-E8D0-48D6-8DA1-EC3EEE4DDC50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pattFill prst="ltVert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85800" y="1325880"/>
            <a:ext cx="5486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685800" y="1709928"/>
            <a:ext cx="5486400" cy="14630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85800" y="3246120"/>
            <a:ext cx="5486400" cy="54864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85800" y="3840480"/>
            <a:ext cx="548640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548640" y="566928"/>
            <a:ext cx="5760720" cy="0"/>
          </a:xfrm>
          <a:prstGeom prst="line">
            <a:avLst/>
          </a:prstGeom>
          <a:ln w="38100" cap="rnd">
            <a:solidFill>
              <a:schemeClr val="tx2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548640" y="658368"/>
            <a:ext cx="57607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48640" y="6291072"/>
            <a:ext cx="57607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548640" y="6199632"/>
            <a:ext cx="5760720" cy="0"/>
          </a:xfrm>
          <a:prstGeom prst="line">
            <a:avLst/>
          </a:prstGeom>
          <a:ln w="38100" cap="rnd">
            <a:solidFill>
              <a:schemeClr val="tx2"/>
            </a:solidFill>
          </a:ln>
        </p:spPr>
      </p:cxnSp>
      <p:sp>
        <p:nvSpPr>
          <p:cNvPr id="6" name="Diamond 5"/>
          <p:cNvSpPr/>
          <p:nvPr/>
        </p:nvSpPr>
        <p:spPr>
          <a:xfrm>
            <a:off x="3337560" y="5394960"/>
            <a:ext cx="182880" cy="182880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2331720" y="5486400"/>
            <a:ext cx="82296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703320" y="5486400"/>
            <a:ext cx="82296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pattFill prst="ltVert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48640" y="347472"/>
            <a:ext cx="4297679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548640" y="658368"/>
            <a:ext cx="4663440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486400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E49EF2C9-CD20-43EF-BCEF-9AFC0155A722}" type="slidenum">
              <a:rPr lang="en-US"/>
              <a:t>‹#›</a:t>
            </a:fld>
          </a:p>
        </p:txBody>
      </p:sp>
      <p:sp>
        <p:nvSpPr>
          <p:cNvPr id="2" name="색 탭"/>
          <p:cNvSpPr/>
          <p:nvPr/>
        </p:nvSpPr>
        <p:spPr>
          <a:xfrm>
            <a:off x="0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548640" y="1536192"/>
            <a:ext cx="1097279" cy="0"/>
          </a:xfrm>
          <a:prstGeom prst="line">
            <a:avLst/>
          </a:prstGeom>
          <a:ln w="31750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1645919" y="1536192"/>
            <a:ext cx="4663441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5" name="쪽 번호 알약"/>
          <p:cNvSpPr/>
          <p:nvPr/>
        </p:nvSpPr>
        <p:spPr>
          <a:xfrm>
            <a:off x="5486400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85800" y="1325880"/>
            <a:ext cx="5486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685800" y="1709928"/>
            <a:ext cx="5486400" cy="14630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34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85800" y="3246120"/>
            <a:ext cx="5486400" cy="54864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 b="0" spc="0">
                <a:solidFill>
                  <a:srgbClr val="D1CFCF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85800" y="3840480"/>
            <a:ext cx="548640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rgbClr val="A7A4A3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548640" y="566928"/>
            <a:ext cx="5760720" cy="0"/>
          </a:xfrm>
          <a:prstGeom prst="line">
            <a:avLst/>
          </a:prstGeom>
          <a:ln w="38100" cap="rnd">
            <a:solidFill>
              <a:srgbClr val="FFFFFF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548640" y="658368"/>
            <a:ext cx="57607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48640" y="6291072"/>
            <a:ext cx="57607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548640" y="6199632"/>
            <a:ext cx="5760720" cy="0"/>
          </a:xfrm>
          <a:prstGeom prst="line">
            <a:avLst/>
          </a:prstGeom>
          <a:ln w="38100" cap="rnd">
            <a:solidFill>
              <a:srgbClr val="FFFFFF"/>
            </a:solidFill>
          </a:ln>
        </p:spPr>
      </p:cxnSp>
      <p:sp>
        <p:nvSpPr>
          <p:cNvPr id="6" name="Diamond 5"/>
          <p:cNvSpPr/>
          <p:nvPr/>
        </p:nvSpPr>
        <p:spPr>
          <a:xfrm>
            <a:off x="3337560" y="5394960"/>
            <a:ext cx="182880" cy="182880"/>
          </a:xfrm>
          <a:prstGeom prst="diamond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2331720" y="5486400"/>
            <a:ext cx="82296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703320" y="5486400"/>
            <a:ext cx="82296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pattFill prst="ltVert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48640" y="347472"/>
            <a:ext cx="4297679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548640" y="658368"/>
            <a:ext cx="4663440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486400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AAF9164C-9A39-48A5-8CFB-0FCC332A32E8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5486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19202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2918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6634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5486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19202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2918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6634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색 탭"/>
          <p:cNvSpPr/>
          <p:nvPr/>
        </p:nvSpPr>
        <p:spPr>
          <a:xfrm>
            <a:off x="0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548640" y="1536192"/>
            <a:ext cx="1097279" cy="0"/>
          </a:xfrm>
          <a:prstGeom prst="line">
            <a:avLst/>
          </a:prstGeom>
          <a:ln w="31750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1645919" y="1536192"/>
            <a:ext cx="4663441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5" name="쪽 번호 알약"/>
          <p:cNvSpPr/>
          <p:nvPr/>
        </p:nvSpPr>
        <p:spPr>
          <a:xfrm>
            <a:off x="5486400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pattFill prst="ltVert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48640" y="347472"/>
            <a:ext cx="4297679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5486400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9FAE4113-17D7-4B86-8D83-AE40FF812E4F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822959" y="2331720"/>
            <a:ext cx="5212080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26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색 탭"/>
          <p:cNvSpPr/>
          <p:nvPr/>
        </p:nvSpPr>
        <p:spPr>
          <a:xfrm>
            <a:off x="0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쪽 번호 알약"/>
          <p:cNvSpPr/>
          <p:nvPr/>
        </p:nvSpPr>
        <p:spPr>
          <a:xfrm>
            <a:off x="5486400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4" name="따옴표 장식"/>
          <p:cNvGrpSpPr/>
          <p:nvPr/>
        </p:nvGrpSpPr>
        <p:grpSpPr>
          <a:xfrm>
            <a:off x="2926080" y="1520189"/>
            <a:ext cx="1005840" cy="251460"/>
            <a:chOff x="2926080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3303270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2926080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3634740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2880360" y="5349240"/>
            <a:ext cx="1097279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3369564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TAUPE  ·  CARD NEWS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잠들기 전 삼십 분, 화면 끄기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옆으로 넘겨 보세요 →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건강·안심 습관 · 카드뉴스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01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아침 물 한 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2B017F-2644-4F43-95B0-CDDF6E97B0C8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01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일어나자마자 미지근한 물 한 잔으로 하루를 시작해 보세요.</a:t>
            </a:r>
          </a:p>
        </p:txBody>
      </p:sp>
    </p:spTree>
  </p:cSld>
  <p:clrMapOvr>
    <a:masterClrMapping/>
  </p:clrMapOvr>
  <p:transition spd="med">
    <p:pull dir="r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02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하루 십 분 걷기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1CB00A-B45D-4FAD-BC52-D9CB877ECBB4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02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점심 식사 후 십 분만 걸어도 몸이 한결 가벼워져요.</a:t>
            </a:r>
          </a:p>
        </p:txBody>
      </p:sp>
    </p:spTree>
  </p:cSld>
  <p:clrMapOvr>
    <a:masterClrMapping/>
  </p:clrMapOvr>
  <p:transition spd="med">
    <p:pull dir="r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03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검진 날짜 적어 두기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CFE4FA-EEE3-498E-BDE0-BA5E28D0D512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03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달력에 검진 예정일을 적어 두면 미루지 않게 돼요.</a:t>
            </a:r>
          </a:p>
        </p:txBody>
      </p:sp>
    </p:spTree>
  </p:cSld>
  <p:clrMapOvr>
    <a:masterClrMapping/>
  </p:clrMapOvr>
  <p:transition spd="med">
    <p:pull dir="r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04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잠들기 전 스마트폰 내려놓기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059AB9-C0BB-432C-909C-1D710060C97C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04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잠자리에 들기 삼십 분 전에는 화면을 꺼 보세요.</a:t>
            </a:r>
          </a:p>
        </p:txBody>
      </p:sp>
    </p:spTree>
  </p:cSld>
  <p:clrMapOvr>
    <a:masterClrMapping/>
  </p:clrMapOvr>
  <p:transition spd="med">
    <p:pull dir="r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05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건강 이야기 나누기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012A9A-8A2E-4AEC-A0CE-5E805EAD99E5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05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일주일에 한 번, 서로의 안부와 컨디션을 물어보세요.</a:t>
            </a:r>
          </a:p>
        </p:txBody>
      </p:sp>
    </p:spTree>
  </p:cSld>
  <p:clrMapOvr>
    <a:masterClrMapping/>
  </p:clrMapOvr>
  <p:transition spd="med">
    <p:pull dir="r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TAUPE  ·  CARD NEWS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저장해 두고 필요할 때 꺼내 보세요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마음에 들면 공유해 주세요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이름 · 연락처를 입력하세요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카드뉴스(건강·안심 습관)">
  <a:themeElements>
    <a:clrScheme name="카드뉴스(건강·안심 습관)">
      <a:dk1>
        <a:srgbClr val="2D2723"/>
      </a:dk1>
      <a:lt1>
        <a:srgbClr val="FCFBFA"/>
      </a:lt1>
      <a:dk2>
        <a:srgbClr val="3B322B"/>
      </a:dk2>
      <a:lt2>
        <a:srgbClr val="F6F2EC"/>
      </a:lt2>
      <a:accent1>
        <a:srgbClr val="8C7A6B"/>
      </a:accent1>
      <a:accent2>
        <a:srgbClr val="B7A692"/>
      </a:accent2>
      <a:accent3>
        <a:srgbClr val="2D2723"/>
      </a:accent3>
      <a:accent4>
        <a:srgbClr val="E1DAD2"/>
      </a:accent4>
      <a:accent5>
        <a:srgbClr val="B09C7C"/>
      </a:accent5>
      <a:accent6>
        <a:srgbClr val="D3C8BB"/>
      </a:accent6>
      <a:hlink>
        <a:srgbClr val="3B322B"/>
      </a:hlink>
      <a:folHlink>
        <a:srgbClr val="2D2723"/>
      </a:folHlink>
    </a:clrScheme>
    <a:fontScheme name="카드뉴스(건강·안심 습관)">
      <a:majorFont>
        <a:latin typeface="Gill Sans MT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카드뉴스(건강·안심 습관)</dc:title>
  <dc:subject>카드뉴스 · 건강·안심 습관</dc:subject>
  <dc:creator>우체국보험 상담 안내</dc:creator>
  <cp:keywords>카드뉴스,PPT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