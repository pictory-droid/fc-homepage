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DF7149B-2EA1-49D1-8A5B-AB528C635F6F}">
          <p14:sldIdLst>
            <p14:sldId id="256"/>
          </p14:sldIdLst>
        </p14:section>
        <p14:section name="본문" id="{45F6E220-2287-45AA-8FAA-F1778B23A00A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5E5D9A74-9D22-409B-9D4E-48644F50B5BC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600149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5242428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5242428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5242428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5242428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4023259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389019" y="685800"/>
            <a:ext cx="0" cy="5486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4" name="Oval 3"/>
          <p:cNvSpPr/>
          <p:nvPr/>
        </p:nvSpPr>
        <p:spPr>
          <a:xfrm>
            <a:off x="3456331" y="2862072"/>
            <a:ext cx="1133856" cy="1133856"/>
          </a:xfrm>
          <a:prstGeom prst="ellipse">
            <a:avLst/>
          </a:prstGeom>
          <a:solidFill>
            <a:schemeClr val="bg2">
              <a:alpha val="100000"/>
            </a:schemeClr>
          </a:solidFill>
          <a:ln w="15875">
            <a:solidFill>
              <a:schemeClr val="accent1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3794659" y="3200400"/>
            <a:ext cx="457200" cy="457200"/>
            <a:chOff x="3794659" y="3200400"/>
            <a:chExt cx="457200" cy="457200"/>
          </a:xfrm>
        </p:grpSpPr>
        <p:sp>
          <p:nvSpPr>
            <p:cNvPr id="6" name="Oval 5"/>
            <p:cNvSpPr/>
            <p:nvPr/>
          </p:nvSpPr>
          <p:spPr>
            <a:xfrm>
              <a:off x="3794659" y="3200400"/>
              <a:ext cx="457200" cy="457200"/>
            </a:xfrm>
            <a:prstGeom prst="ellipse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3959251" y="3364992"/>
              <a:ext cx="128016" cy="12801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9EBAFB3F-CFFC-46E8-8BF6-D0D4D33CEAE6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600149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5242428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5242428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5242428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6DADA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5242428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1B9B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402325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389019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3456331" y="2862072"/>
            <a:ext cx="1133856" cy="1133856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3794659" y="3200400"/>
            <a:ext cx="457200" cy="457200"/>
            <a:chOff x="3794659" y="3200400"/>
            <a:chExt cx="457200" cy="457200"/>
          </a:xfrm>
        </p:grpSpPr>
        <p:sp>
          <p:nvSpPr>
            <p:cNvPr id="6" name="Oval 5"/>
            <p:cNvSpPr/>
            <p:nvPr/>
          </p:nvSpPr>
          <p:spPr>
            <a:xfrm>
              <a:off x="3794659" y="3200400"/>
              <a:ext cx="457200" cy="457200"/>
            </a:xfrm>
            <a:prstGeom prst="ellipse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3959251" y="3364992"/>
              <a:ext cx="128016" cy="12801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194EFE75-E7C3-4B23-A975-883EEB08666B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F15958A4-6366-495D-8B1D-CBC05F43C581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MINT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MINT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결론부터 말씀드리고 근거를 보여 드립니다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사업 제안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A1C56D-5A54-462B-9765-78E7667D68C9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60120" y="210312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No.01</a:t>
              </a:r>
            </a:p>
          </p:txBody>
        </p:sp>
        <p:cxnSp>
          <p:nvCxnSpPr>
            <p:cNvPr id="8" name="번호 밑줄"/>
            <p:cNvCxnSpPr/>
            <p:nvPr/>
          </p:nvCxnSpPr>
          <p:spPr>
            <a:xfrm>
              <a:off x="1005840" y="2441448"/>
              <a:ext cx="457200" cy="0"/>
            </a:xfrm>
            <a:prstGeom prst="line">
              <a:avLst/>
            </a:prstGeom>
            <a:ln w="12700" cap="rnd">
              <a:solidFill>
                <a:schemeClr val="accent1"/>
              </a:solidFill>
            </a:ln>
          </p:spPr>
        </p:cxn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문제와 기회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3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960120" y="315467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No.02</a:t>
              </a:r>
            </a:p>
          </p:txBody>
        </p:sp>
        <p:cxnSp>
          <p:nvCxnSpPr>
            <p:cNvPr id="15" name="번호 밑줄"/>
            <p:cNvCxnSpPr/>
            <p:nvPr/>
          </p:nvCxnSpPr>
          <p:spPr>
            <a:xfrm>
              <a:off x="1005840" y="3493008"/>
              <a:ext cx="457200" cy="0"/>
            </a:xfrm>
            <a:prstGeom prst="line">
              <a:avLst/>
            </a:prstGeom>
            <a:ln w="12700" cap="rnd">
              <a:solidFill>
                <a:schemeClr val="accent1"/>
              </a:solidFill>
            </a:ln>
          </p:spPr>
        </p:cxnSp>
        <p:sp>
          <p:nvSpPr>
            <p:cNvPr id="16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해결 방법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0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번호 3"/>
            <p:cNvSpPr txBox="1"/>
            <p:nvPr/>
          </p:nvSpPr>
          <p:spPr>
            <a:xfrm>
              <a:off x="960120" y="420624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No.03</a:t>
              </a:r>
            </a:p>
          </p:txBody>
        </p:sp>
        <p:cxnSp>
          <p:nvCxnSpPr>
            <p:cNvPr id="22" name="번호 밑줄"/>
            <p:cNvCxnSpPr/>
            <p:nvPr/>
          </p:nvCxnSpPr>
          <p:spPr>
            <a:xfrm>
              <a:off x="1005840" y="4544568"/>
              <a:ext cx="457200" cy="0"/>
            </a:xfrm>
            <a:prstGeom prst="line">
              <a:avLst/>
            </a:prstGeom>
            <a:ln w="12700" cap="rnd">
              <a:solidFill>
                <a:schemeClr val="accent1"/>
              </a:solidFill>
            </a:ln>
          </p:spPr>
        </p:cxnSp>
        <p:sp>
          <p:nvSpPr>
            <p:cNvPr id="23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기대 효과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6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7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번호 4"/>
            <p:cNvSpPr txBox="1"/>
            <p:nvPr/>
          </p:nvSpPr>
          <p:spPr>
            <a:xfrm>
              <a:off x="960120" y="525779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No.04</a:t>
              </a:r>
            </a:p>
          </p:txBody>
        </p:sp>
        <p:cxnSp>
          <p:nvCxnSpPr>
            <p:cNvPr id="29" name="번호 밑줄"/>
            <p:cNvCxnSpPr/>
            <p:nvPr/>
          </p:nvCxnSpPr>
          <p:spPr>
            <a:xfrm>
              <a:off x="1005840" y="5596127"/>
              <a:ext cx="457200" cy="0"/>
            </a:xfrm>
            <a:prstGeom prst="line">
              <a:avLst/>
            </a:prstGeom>
            <a:ln w="12700" cap="rnd">
              <a:solidFill>
                <a:schemeClr val="accent1"/>
              </a:solidFill>
            </a:ln>
          </p:spPr>
        </p:cxnSp>
        <p:sp>
          <p:nvSpPr>
            <p:cNvPr id="30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진행 계획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32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07BF5B-D810-48BE-BF6E-BE98670AEF0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E23EE-6A3D-4B91-977C-D91B483D3E0A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No.01</a:t>
              </a:r>
            </a:p>
          </p:txBody>
        </p:sp>
        <p:cxnSp>
          <p:nvCxnSpPr>
            <p:cNvPr id="8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1"/>
              </a:solidFill>
            </a:ln>
          </p:spPr>
        </p:cxn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현황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No.02</a:t>
              </a:r>
            </a:p>
          </p:txBody>
        </p:sp>
        <p:cxnSp>
          <p:nvCxnSpPr>
            <p:cNvPr id="15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1"/>
              </a:solidFill>
            </a:ln>
          </p:spPr>
        </p:cxn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제안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No.03</a:t>
              </a:r>
            </a:p>
          </p:txBody>
        </p:sp>
        <p:cxnSp>
          <p:nvCxnSpPr>
            <p:cNvPr id="22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1"/>
              </a:solidFill>
            </a:ln>
          </p:spPr>
        </p:cxn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효과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23BB0-CDB0-472C-B7FC-0405CEB45C2B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현재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제안 후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3C233-52C9-40E0-80BB-3BE621FD6F63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79FC9-F106-48C0-B7DD-A75DA1DC514B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단계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기간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담당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060F3-CD55-4258-B054-14573BABD6F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MINT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MINT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사업 제안 발표 템플릿">
  <a:themeElements>
    <a:clrScheme name="사업 제안 발표 템플릿">
      <a:dk1>
        <a:srgbClr val="374846"/>
      </a:dk1>
      <a:lt1>
        <a:srgbClr val="FBFCFC"/>
      </a:lt1>
      <a:dk2>
        <a:srgbClr val="22413D"/>
      </a:dk2>
      <a:lt2>
        <a:srgbClr val="F0F6F4"/>
      </a:lt2>
      <a:accent1>
        <a:srgbClr val="6E9C92"/>
      </a:accent1>
      <a:accent2>
        <a:srgbClr val="A2ADB3"/>
      </a:accent2>
      <a:accent3>
        <a:srgbClr val="465957"/>
      </a:accent3>
      <a:accent4>
        <a:srgbClr val="D6E4E0"/>
      </a:accent4>
      <a:accent5>
        <a:srgbClr val="BCC5C4"/>
      </a:accent5>
      <a:accent6>
        <a:srgbClr val="C5CED0"/>
      </a:accent6>
      <a:hlink>
        <a:srgbClr val="22413D"/>
      </a:hlink>
      <a:folHlink>
        <a:srgbClr val="465957"/>
      </a:folHlink>
    </a:clrScheme>
    <a:fontScheme name="사업 제안 발표 템플릿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>사업 제안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