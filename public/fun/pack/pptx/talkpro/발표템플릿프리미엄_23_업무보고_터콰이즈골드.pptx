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3845AC7A-B23E-455A-8B9D-C7942F46EA91}">
          <p14:sldIdLst>
            <p14:sldId id="256"/>
          </p14:sldIdLst>
        </p14:section>
        <p14:section name="본문" id="{1B2349A3-5B64-4BD2-B427-E7E43D97ABF0}">
          <p14:sldIdLst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마무리" id="{B3D37DF4-38AE-4E67-B69C-7033BEBC83F8}">
          <p14:sldIdLst>
            <p14:sldId id="264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목표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</c:v>
                </c:pt>
                <c:pt idx="1">
                  <c:v>70</c:v>
                </c:pt>
                <c:pt idx="2">
                  <c:v>80</c:v>
                </c:pt>
                <c:pt idx="3">
                  <c:v>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실적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55</c:v>
                </c:pt>
                <c:pt idx="1">
                  <c:v>72</c:v>
                </c:pt>
                <c:pt idx="2">
                  <c:v>78</c:v>
                </c:pt>
                <c:pt idx="3">
                  <c:v>95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chemeClr val="accent4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chemeClr val="accent4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100">
          <a:solidFill>
            <a:schemeClr val="tx1"/>
          </a:solidFill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날짜·발표자는 아래 안내 문구를 눌러 고치세요.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목차의 각 줄을 누르면 해당 쪽으로 이동합니다(슬라이드 쇼에서). 줄을 지우거나 늘려도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발표 전체를 한 문장으로 줄여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카드 제목과 내용을 고치세요. 카드는 슬라이드 쇼에서 차례로 나타납니다.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왼쪽과 오른쪽 칸의 제목·내용을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차트를 우클릭 &gt; [데이터 편집]으로 숫자를 바꾸면 그래프가 자동으로 바뀝니다. 지금 숫자는 예시입니다.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 행은 Tab 키로 추가됩니다.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질문 받는 시간입니다.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마지막 쪽입니다.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463003" y="1874519"/>
            <a:ext cx="9265688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1463003" y="2258568"/>
            <a:ext cx="9265688" cy="13716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463003" y="3703320"/>
            <a:ext cx="9265688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463003" y="4389120"/>
            <a:ext cx="9265688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리본 띠"/>
          <p:cNvSpPr/>
          <p:nvPr/>
        </p:nvSpPr>
        <p:spPr>
          <a:xfrm>
            <a:off x="0" y="2148839"/>
            <a:ext cx="12191695" cy="1527048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2212847"/>
            <a:ext cx="12191695" cy="0"/>
          </a:xfrm>
          <a:prstGeom prst="line">
            <a:avLst/>
          </a:prstGeom>
          <a:ln w="9525" cap="rnd">
            <a:solidFill>
              <a:srgbClr val="FFFFFF">
                <a:alpha val="45000"/>
              </a:srgbClr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0" y="3611879"/>
            <a:ext cx="12191695" cy="0"/>
          </a:xfrm>
          <a:prstGeom prst="line">
            <a:avLst/>
          </a:prstGeom>
          <a:ln w="9525" cap="rnd">
            <a:solidFill>
              <a:srgbClr val="FFFFFF">
                <a:alpha val="45000"/>
              </a:srgbClr>
            </a:solidFill>
          </a:ln>
        </p:spPr>
      </p:cxnSp>
      <p:sp>
        <p:nvSpPr>
          <p:cNvPr id="5" name="Diamond 4"/>
          <p:cNvSpPr/>
          <p:nvPr/>
        </p:nvSpPr>
        <p:spPr>
          <a:xfrm>
            <a:off x="457200" y="2820923"/>
            <a:ext cx="182880" cy="182880"/>
          </a:xfrm>
          <a:prstGeom prst="diamond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11551615" y="2820923"/>
            <a:ext cx="182880" cy="182880"/>
          </a:xfrm>
          <a:prstGeom prst="diamond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548640" y="475488"/>
            <a:ext cx="110944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749808"/>
            <a:ext cx="10728655" cy="7315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6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199632"/>
            <a:ext cx="73152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BCDCDBA0-EA8E-4BBD-89EA-19F7A66F78DD}" type="slidenum">
              <a:rPr lang="en-US"/>
              <a:t>‹#›</a:t>
            </a:fld>
          </a:p>
        </p:txBody>
      </p:sp>
      <p:sp>
        <p:nvSpPr>
          <p:cNvPr id="2" name="바깥 선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선"/>
          <p:cNvSpPr/>
          <p:nvPr/>
        </p:nvSpPr>
        <p:spPr>
          <a:xfrm>
            <a:off x="347472" y="347472"/>
            <a:ext cx="11496751" cy="6163056"/>
          </a:xfrm>
          <a:prstGeom prst="rect">
            <a:avLst/>
          </a:prstGeom>
          <a:noFill/>
          <a:ln w="317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모서리 장식"/>
          <p:cNvSpPr/>
          <p:nvPr/>
        </p:nvSpPr>
        <p:spPr>
          <a:xfrm>
            <a:off x="201167" y="201167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모서리 장식"/>
          <p:cNvSpPr/>
          <p:nvPr/>
        </p:nvSpPr>
        <p:spPr>
          <a:xfrm>
            <a:off x="11844223" y="201167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모서리 장식"/>
          <p:cNvSpPr/>
          <p:nvPr/>
        </p:nvSpPr>
        <p:spPr>
          <a:xfrm>
            <a:off x="201167" y="6510528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모서리 장식"/>
          <p:cNvSpPr/>
          <p:nvPr/>
        </p:nvSpPr>
        <p:spPr>
          <a:xfrm>
            <a:off x="11844223" y="6510528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pattFill prst="dotGrid">
          <a:fgClr>
            <a:schemeClr val="tx2"/>
          </a:fgClr>
          <a:bgClr>
            <a:schemeClr val="accent3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463003" y="1874519"/>
            <a:ext cx="9265688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463003" y="2258568"/>
            <a:ext cx="9265688" cy="13716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463003" y="3703320"/>
            <a:ext cx="9265688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E0E5E5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463003" y="4389120"/>
            <a:ext cx="9265688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C3CECE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리본 띠"/>
          <p:cNvSpPr/>
          <p:nvPr/>
        </p:nvSpPr>
        <p:spPr>
          <a:xfrm>
            <a:off x="0" y="2148839"/>
            <a:ext cx="12191695" cy="152704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2212847"/>
            <a:ext cx="12191695" cy="0"/>
          </a:xfrm>
          <a:prstGeom prst="line">
            <a:avLst/>
          </a:prstGeom>
          <a:ln w="9525" cap="rnd">
            <a:solidFill>
              <a:srgbClr val="FFFFFF">
                <a:alpha val="45000"/>
              </a:srgbClr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0" y="3611879"/>
            <a:ext cx="12191695" cy="0"/>
          </a:xfrm>
          <a:prstGeom prst="line">
            <a:avLst/>
          </a:prstGeom>
          <a:ln w="9525" cap="rnd">
            <a:solidFill>
              <a:srgbClr val="FFFFFF">
                <a:alpha val="45000"/>
              </a:srgbClr>
            </a:solidFill>
          </a:ln>
        </p:spPr>
      </p:cxnSp>
      <p:sp>
        <p:nvSpPr>
          <p:cNvPr id="5" name="Diamond 4"/>
          <p:cNvSpPr/>
          <p:nvPr/>
        </p:nvSpPr>
        <p:spPr>
          <a:xfrm>
            <a:off x="457200" y="2820923"/>
            <a:ext cx="182880" cy="182880"/>
          </a:xfrm>
          <a:prstGeom prst="diamond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11551615" y="2820923"/>
            <a:ext cx="182880" cy="182880"/>
          </a:xfrm>
          <a:prstGeom prst="diamond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548640" y="475488"/>
            <a:ext cx="110944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749808"/>
            <a:ext cx="10728655" cy="7315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6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199632"/>
            <a:ext cx="73152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87AB51CC-6B1A-482B-9CCB-2353189F8607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바깥 선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선"/>
          <p:cNvSpPr/>
          <p:nvPr/>
        </p:nvSpPr>
        <p:spPr>
          <a:xfrm>
            <a:off x="347472" y="347472"/>
            <a:ext cx="11496751" cy="6163056"/>
          </a:xfrm>
          <a:prstGeom prst="rect">
            <a:avLst/>
          </a:prstGeom>
          <a:noFill/>
          <a:ln w="317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모서리 장식"/>
          <p:cNvSpPr/>
          <p:nvPr/>
        </p:nvSpPr>
        <p:spPr>
          <a:xfrm>
            <a:off x="201167" y="201167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모서리 장식"/>
          <p:cNvSpPr/>
          <p:nvPr/>
        </p:nvSpPr>
        <p:spPr>
          <a:xfrm>
            <a:off x="11844223" y="201167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모서리 장식"/>
          <p:cNvSpPr/>
          <p:nvPr/>
        </p:nvSpPr>
        <p:spPr>
          <a:xfrm>
            <a:off x="201167" y="6510528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모서리 장식"/>
          <p:cNvSpPr/>
          <p:nvPr/>
        </p:nvSpPr>
        <p:spPr>
          <a:xfrm>
            <a:off x="11844223" y="6510528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548640" y="475488"/>
            <a:ext cx="110944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199632"/>
            <a:ext cx="73152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AC5B2421-6C9A-4041-B812-9C186B5BE143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바깥 선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선"/>
          <p:cNvSpPr/>
          <p:nvPr/>
        </p:nvSpPr>
        <p:spPr>
          <a:xfrm>
            <a:off x="347472" y="347472"/>
            <a:ext cx="11496751" cy="6163056"/>
          </a:xfrm>
          <a:prstGeom prst="rect">
            <a:avLst/>
          </a:prstGeom>
          <a:noFill/>
          <a:ln w="317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모서리 장식"/>
          <p:cNvSpPr/>
          <p:nvPr/>
        </p:nvSpPr>
        <p:spPr>
          <a:xfrm>
            <a:off x="201167" y="201167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모서리 장식"/>
          <p:cNvSpPr/>
          <p:nvPr/>
        </p:nvSpPr>
        <p:spPr>
          <a:xfrm>
            <a:off x="11844223" y="201167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모서리 장식"/>
          <p:cNvSpPr/>
          <p:nvPr/>
        </p:nvSpPr>
        <p:spPr>
          <a:xfrm>
            <a:off x="201167" y="6510528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모서리 장식"/>
          <p:cNvSpPr/>
          <p:nvPr/>
        </p:nvSpPr>
        <p:spPr>
          <a:xfrm>
            <a:off x="11844223" y="6510528"/>
            <a:ext cx="146304" cy="146304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8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9" name="Diamond 8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10" name="Connector 9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11" name="Connector 10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12" name="Connector 11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13" name="Diamond 12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" Target="slide6.xml"/><Relationship Id="rId6" Type="http://schemas.openxmlformats.org/officeDocument/2006/relationships/slide" Target="slide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TURQUOISE  ·  PRESENTATION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발표 제목을 입력하세요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상반기 실적과 남은 일정입니다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업무 보고 · 발표자 이름</a:t>
            </a:r>
          </a:p>
          <a:p>
            <a:r>
              <a:rPr lang="ko-KR"/>
              <a:t>0000. 00. 00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CONTENTS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목차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1564E-FC5B-42FC-A502-3DEC269A0857}" type="slidenum">
              <a:rPr lang="en-US"/>
              <a:t>‹#›</a:t>
            </a:fld>
            <a:endParaRPr lang="en-US"/>
          </a:p>
        </p:txBody>
      </p:sp>
      <p:grpSp>
        <p:nvGrpSpPr>
          <p:cNvPr id="5" name="줄 1"/>
          <p:cNvGrpSpPr/>
          <p:nvPr/>
        </p:nvGrpSpPr>
        <p:grpSpPr>
          <a:xfrm>
            <a:off x="731520" y="1828800"/>
            <a:ext cx="10728655" cy="914400"/>
            <a:chOff x="731520" y="1828800"/>
            <a:chExt cx="10728655" cy="914400"/>
          </a:xfrm>
        </p:grpSpPr>
        <p:sp>
          <p:nvSpPr>
            <p:cNvPr id="6" name="줄 바탕">
              <a:hlinkClick action="ppaction://hlinksldjump" r:id="rId3"/>
            </p:cNvPr>
            <p:cNvSpPr/>
            <p:nvPr/>
          </p:nvSpPr>
          <p:spPr>
            <a:xfrm>
              <a:off x="731520" y="1828800"/>
              <a:ext cx="10728655" cy="914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 txBox="1"/>
            <p:nvPr/>
          </p:nvSpPr>
          <p:spPr>
            <a:xfrm>
              <a:off x="960120" y="2011680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accent1"/>
                  </a:solidFill>
                  <a:latin typeface="+mj-lt"/>
                  <a:ea typeface="+mj-ea"/>
                </a:rPr>
                <a:t>01</a:t>
              </a:r>
            </a:p>
          </p:txBody>
        </p:sp>
        <p:sp>
          <p:nvSpPr>
            <p:cNvPr id="8" name="줄 제목"/>
            <p:cNvSpPr txBox="1"/>
            <p:nvPr/>
          </p:nvSpPr>
          <p:spPr>
            <a:xfrm>
              <a:off x="1737360" y="187451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추진 경과</a:t>
              </a:r>
            </a:p>
          </p:txBody>
        </p:sp>
        <p:cxnSp>
          <p:nvCxnSpPr>
            <p:cNvPr id="9" name="구분선"/>
            <p:cNvCxnSpPr/>
            <p:nvPr/>
          </p:nvCxnSpPr>
          <p:spPr>
            <a:xfrm>
              <a:off x="4572000" y="1993392"/>
              <a:ext cx="0" cy="58521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0" name="줄 내용"/>
            <p:cNvSpPr txBox="1"/>
            <p:nvPr/>
          </p:nvSpPr>
          <p:spPr>
            <a:xfrm>
              <a:off x="4754880" y="187451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11" name="줄 2"/>
          <p:cNvGrpSpPr/>
          <p:nvPr/>
        </p:nvGrpSpPr>
        <p:grpSpPr>
          <a:xfrm>
            <a:off x="731520" y="2880360"/>
            <a:ext cx="10728655" cy="914400"/>
            <a:chOff x="731520" y="2880360"/>
            <a:chExt cx="10728655" cy="914400"/>
          </a:xfrm>
        </p:grpSpPr>
        <p:sp>
          <p:nvSpPr>
            <p:cNvPr id="12" name="줄 바탕">
              <a:hlinkClick action="ppaction://hlinksldjump" r:id="rId4"/>
            </p:cNvPr>
            <p:cNvSpPr/>
            <p:nvPr/>
          </p:nvSpPr>
          <p:spPr>
            <a:xfrm>
              <a:off x="731520" y="2880360"/>
              <a:ext cx="10728655" cy="914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번호 2"/>
            <p:cNvSpPr txBox="1"/>
            <p:nvPr/>
          </p:nvSpPr>
          <p:spPr>
            <a:xfrm>
              <a:off x="960120" y="3063240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accent1"/>
                  </a:solidFill>
                  <a:latin typeface="+mj-lt"/>
                  <a:ea typeface="+mj-ea"/>
                </a:rPr>
                <a:t>02</a:t>
              </a:r>
            </a:p>
          </p:txBody>
        </p:sp>
        <p:sp>
          <p:nvSpPr>
            <p:cNvPr id="14" name="줄 제목"/>
            <p:cNvSpPr txBox="1"/>
            <p:nvPr/>
          </p:nvSpPr>
          <p:spPr>
            <a:xfrm>
              <a:off x="1737360" y="292607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주요 성과</a:t>
              </a:r>
            </a:p>
          </p:txBody>
        </p:sp>
        <p:cxnSp>
          <p:nvCxnSpPr>
            <p:cNvPr id="15" name="구분선"/>
            <p:cNvCxnSpPr/>
            <p:nvPr/>
          </p:nvCxnSpPr>
          <p:spPr>
            <a:xfrm>
              <a:off x="4572000" y="3044952"/>
              <a:ext cx="0" cy="58521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6" name="줄 내용"/>
            <p:cNvSpPr txBox="1"/>
            <p:nvPr/>
          </p:nvSpPr>
          <p:spPr>
            <a:xfrm>
              <a:off x="4754880" y="292607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17" name="줄 3"/>
          <p:cNvGrpSpPr/>
          <p:nvPr/>
        </p:nvGrpSpPr>
        <p:grpSpPr>
          <a:xfrm>
            <a:off x="731520" y="3931920"/>
            <a:ext cx="10728655" cy="914400"/>
            <a:chOff x="731520" y="3931920"/>
            <a:chExt cx="10728655" cy="914400"/>
          </a:xfrm>
        </p:grpSpPr>
        <p:sp>
          <p:nvSpPr>
            <p:cNvPr id="18" name="줄 바탕">
              <a:hlinkClick action="ppaction://hlinksldjump" r:id="rId5"/>
            </p:cNvPr>
            <p:cNvSpPr/>
            <p:nvPr/>
          </p:nvSpPr>
          <p:spPr>
            <a:xfrm>
              <a:off x="731520" y="3931920"/>
              <a:ext cx="10728655" cy="914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번호 3"/>
            <p:cNvSpPr txBox="1"/>
            <p:nvPr/>
          </p:nvSpPr>
          <p:spPr>
            <a:xfrm>
              <a:off x="960120" y="4114800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accent1"/>
                  </a:solidFill>
                  <a:latin typeface="+mj-lt"/>
                  <a:ea typeface="+mj-ea"/>
                </a:rPr>
                <a:t>03</a:t>
              </a:r>
            </a:p>
          </p:txBody>
        </p:sp>
        <p:sp>
          <p:nvSpPr>
            <p:cNvPr id="20" name="줄 제목"/>
            <p:cNvSpPr txBox="1"/>
            <p:nvPr/>
          </p:nvSpPr>
          <p:spPr>
            <a:xfrm>
              <a:off x="1737360" y="397763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이슈와 대응</a:t>
              </a:r>
            </a:p>
          </p:txBody>
        </p:sp>
        <p:cxnSp>
          <p:nvCxnSpPr>
            <p:cNvPr id="21" name="구분선"/>
            <p:cNvCxnSpPr/>
            <p:nvPr/>
          </p:nvCxnSpPr>
          <p:spPr>
            <a:xfrm>
              <a:off x="4572000" y="4096511"/>
              <a:ext cx="0" cy="585217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2" name="줄 내용"/>
            <p:cNvSpPr txBox="1"/>
            <p:nvPr/>
          </p:nvSpPr>
          <p:spPr>
            <a:xfrm>
              <a:off x="4754880" y="397763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23" name="줄 4"/>
          <p:cNvGrpSpPr/>
          <p:nvPr/>
        </p:nvGrpSpPr>
        <p:grpSpPr>
          <a:xfrm>
            <a:off x="731520" y="4983479"/>
            <a:ext cx="10728655" cy="914400"/>
            <a:chOff x="731520" y="4983479"/>
            <a:chExt cx="10728655" cy="914400"/>
          </a:xfrm>
        </p:grpSpPr>
        <p:sp>
          <p:nvSpPr>
            <p:cNvPr id="24" name="줄 바탕">
              <a:hlinkClick action="ppaction://hlinksldjump" r:id="rId6"/>
            </p:cNvPr>
            <p:cNvSpPr/>
            <p:nvPr/>
          </p:nvSpPr>
          <p:spPr>
            <a:xfrm>
              <a:off x="731520" y="4983479"/>
              <a:ext cx="10728655" cy="914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번호 4"/>
            <p:cNvSpPr txBox="1"/>
            <p:nvPr/>
          </p:nvSpPr>
          <p:spPr>
            <a:xfrm>
              <a:off x="960120" y="5166359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accent1"/>
                  </a:solidFill>
                  <a:latin typeface="+mj-lt"/>
                  <a:ea typeface="+mj-ea"/>
                </a:rPr>
                <a:t>04</a:t>
              </a:r>
            </a:p>
          </p:txBody>
        </p:sp>
        <p:sp>
          <p:nvSpPr>
            <p:cNvPr id="26" name="줄 제목"/>
            <p:cNvSpPr txBox="1"/>
            <p:nvPr/>
          </p:nvSpPr>
          <p:spPr>
            <a:xfrm>
              <a:off x="1737360" y="502919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향후 계획</a:t>
              </a:r>
            </a:p>
          </p:txBody>
        </p:sp>
        <p:cxnSp>
          <p:nvCxnSpPr>
            <p:cNvPr id="27" name="구분선"/>
            <p:cNvCxnSpPr/>
            <p:nvPr/>
          </p:nvCxnSpPr>
          <p:spPr>
            <a:xfrm>
              <a:off x="4572000" y="5148071"/>
              <a:ext cx="0" cy="585217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8" name="줄 내용"/>
            <p:cNvSpPr txBox="1"/>
            <p:nvPr/>
          </p:nvSpPr>
          <p:spPr>
            <a:xfrm>
              <a:off x="4754880" y="502919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 문장으로 말하면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5A529-3ED6-4911-B931-DB853FA453C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sh dir="u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POINTS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핵심 3가지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91937-008D-4FFC-B01C-8D9322C8ED62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474720"/>
            <a:chOff x="731520" y="1828800"/>
            <a:chExt cx="3393338" cy="347472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47472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 txBox="1"/>
            <p:nvPr/>
          </p:nvSpPr>
          <p:spPr>
            <a:xfrm>
              <a:off x="914400" y="2039112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accent1"/>
                  </a:solidFill>
                  <a:latin typeface="+mj-lt"/>
                  <a:ea typeface="+mj-ea"/>
                </a:rPr>
                <a:t>01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진행</a:t>
              </a:r>
            </a:p>
          </p:txBody>
        </p:sp>
        <p:cxnSp>
          <p:nvCxnSpPr>
            <p:cNvPr id="9" name="구분선"/>
            <p:cNvCxnSpPr/>
            <p:nvPr/>
          </p:nvCxnSpPr>
          <p:spPr>
            <a:xfrm>
              <a:off x="960120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0" name="카드 내용"/>
            <p:cNvSpPr txBox="1"/>
            <p:nvPr/>
          </p:nvSpPr>
          <p:spPr>
            <a:xfrm>
              <a:off x="914400" y="3456432"/>
              <a:ext cx="3027578" cy="173735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1" name="카드 2"/>
          <p:cNvGrpSpPr/>
          <p:nvPr/>
        </p:nvGrpSpPr>
        <p:grpSpPr>
          <a:xfrm>
            <a:off x="4399178" y="1828800"/>
            <a:ext cx="3393338" cy="3474720"/>
            <a:chOff x="4399178" y="1828800"/>
            <a:chExt cx="3393338" cy="3474720"/>
          </a:xfrm>
        </p:grpSpPr>
        <p:sp>
          <p:nvSpPr>
            <p:cNvPr id="12" name="카드 바탕"/>
            <p:cNvSpPr/>
            <p:nvPr/>
          </p:nvSpPr>
          <p:spPr>
            <a:xfrm>
              <a:off x="4399178" y="1828800"/>
              <a:ext cx="3393338" cy="347472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번호 2"/>
            <p:cNvSpPr txBox="1"/>
            <p:nvPr/>
          </p:nvSpPr>
          <p:spPr>
            <a:xfrm>
              <a:off x="4582058" y="2039112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accent1"/>
                  </a:solidFill>
                  <a:latin typeface="+mj-lt"/>
                  <a:ea typeface="+mj-ea"/>
                </a:rPr>
                <a:t>02</a:t>
              </a:r>
            </a:p>
          </p:txBody>
        </p:sp>
        <p:sp>
          <p:nvSpPr>
            <p:cNvPr id="14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성과</a:t>
              </a:r>
            </a:p>
          </p:txBody>
        </p:sp>
        <p:cxnSp>
          <p:nvCxnSpPr>
            <p:cNvPr id="15" name="구분선"/>
            <p:cNvCxnSpPr/>
            <p:nvPr/>
          </p:nvCxnSpPr>
          <p:spPr>
            <a:xfrm>
              <a:off x="4627778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6" name="카드 내용"/>
            <p:cNvSpPr txBox="1"/>
            <p:nvPr/>
          </p:nvSpPr>
          <p:spPr>
            <a:xfrm>
              <a:off x="4582058" y="3456432"/>
              <a:ext cx="3027578" cy="173735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7" name="카드 3"/>
          <p:cNvGrpSpPr/>
          <p:nvPr/>
        </p:nvGrpSpPr>
        <p:grpSpPr>
          <a:xfrm>
            <a:off x="8066836" y="1828800"/>
            <a:ext cx="3393338" cy="3474720"/>
            <a:chOff x="8066836" y="1828800"/>
            <a:chExt cx="3393338" cy="3474720"/>
          </a:xfrm>
        </p:grpSpPr>
        <p:sp>
          <p:nvSpPr>
            <p:cNvPr id="18" name="카드 바탕"/>
            <p:cNvSpPr/>
            <p:nvPr/>
          </p:nvSpPr>
          <p:spPr>
            <a:xfrm>
              <a:off x="8066836" y="1828800"/>
              <a:ext cx="3393338" cy="347472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번호 3"/>
            <p:cNvSpPr txBox="1"/>
            <p:nvPr/>
          </p:nvSpPr>
          <p:spPr>
            <a:xfrm>
              <a:off x="8249716" y="2039112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accent1"/>
                  </a:solidFill>
                  <a:latin typeface="+mj-lt"/>
                  <a:ea typeface="+mj-ea"/>
                </a:rPr>
                <a:t>03</a:t>
              </a:r>
            </a:p>
          </p:txBody>
        </p:sp>
        <p:sp>
          <p:nvSpPr>
            <p:cNvPr id="20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이슈</a:t>
              </a:r>
            </a:p>
          </p:txBody>
        </p:sp>
        <p:cxnSp>
          <p:nvCxnSpPr>
            <p:cNvPr id="21" name="구분선"/>
            <p:cNvCxnSpPr/>
            <p:nvPr/>
          </p:nvCxnSpPr>
          <p:spPr>
            <a:xfrm>
              <a:off x="8295436" y="3364991"/>
              <a:ext cx="2936139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2" name="카드 내용"/>
            <p:cNvSpPr txBox="1"/>
            <p:nvPr/>
          </p:nvSpPr>
          <p:spPr>
            <a:xfrm>
              <a:off x="8249716" y="3456432"/>
              <a:ext cx="3027578" cy="173735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COMPARE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한눈에 비교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30C1D-AAD1-4073-8735-789846689B7C}" type="slidenum">
              <a:rPr lang="en-US"/>
              <a:t>‹#›</a:t>
            </a:fld>
            <a:endParaRPr lang="en-US"/>
          </a:p>
        </p:txBody>
      </p:sp>
      <p:grpSp>
        <p:nvGrpSpPr>
          <p:cNvPr id="5" name="왼쪽 칸"/>
          <p:cNvGrpSpPr/>
          <p:nvPr/>
        </p:nvGrpSpPr>
        <p:grpSpPr>
          <a:xfrm>
            <a:off x="731520" y="1828800"/>
            <a:ext cx="5181447" cy="3566160"/>
            <a:chOff x="731520" y="1828800"/>
            <a:chExt cx="5181447" cy="3566160"/>
          </a:xfrm>
        </p:grpSpPr>
        <p:sp>
          <p:nvSpPr>
            <p:cNvPr id="6" name="칸 바탕"/>
            <p:cNvSpPr/>
            <p:nvPr/>
          </p:nvSpPr>
          <p:spPr>
            <a:xfrm>
              <a:off x="731520" y="1828800"/>
              <a:ext cx="5181447" cy="356616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칸 제목 띠"/>
            <p:cNvSpPr/>
            <p:nvPr/>
          </p:nvSpPr>
          <p:spPr>
            <a:xfrm>
              <a:off x="914400" y="2011680"/>
              <a:ext cx="4815687" cy="5943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rgbClr val="FFFFFF"/>
                  </a:solidFill>
                </a:rPr>
                <a:t>계획</a:t>
              </a:r>
            </a:p>
          </p:txBody>
        </p:sp>
        <p:sp>
          <p:nvSpPr>
            <p:cNvPr id="8" name="칸 내용"/>
            <p:cNvSpPr txBox="1"/>
            <p:nvPr/>
          </p:nvSpPr>
          <p:spPr>
            <a:xfrm>
              <a:off x="1005840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9" name="오른쪽 칸"/>
          <p:cNvGrpSpPr/>
          <p:nvPr/>
        </p:nvGrpSpPr>
        <p:grpSpPr>
          <a:xfrm>
            <a:off x="6278727" y="1828800"/>
            <a:ext cx="5181447" cy="3566160"/>
            <a:chOff x="6278727" y="1828800"/>
            <a:chExt cx="5181447" cy="3566160"/>
          </a:xfrm>
        </p:grpSpPr>
        <p:sp>
          <p:nvSpPr>
            <p:cNvPr id="10" name="칸 바탕"/>
            <p:cNvSpPr/>
            <p:nvPr/>
          </p:nvSpPr>
          <p:spPr>
            <a:xfrm>
              <a:off x="6278727" y="1828800"/>
              <a:ext cx="5181447" cy="356616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칸 제목 띠"/>
            <p:cNvSpPr/>
            <p:nvPr/>
          </p:nvSpPr>
          <p:spPr>
            <a:xfrm>
              <a:off x="6461607" y="2011680"/>
              <a:ext cx="4815687" cy="59436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rgbClr val="1A1613"/>
                  </a:solidFill>
                </a:rPr>
                <a:t>실적</a:t>
              </a:r>
            </a:p>
          </p:txBody>
        </p:sp>
        <p:sp>
          <p:nvSpPr>
            <p:cNvPr id="12" name="칸 내용"/>
            <p:cNvSpPr txBox="1"/>
            <p:nvPr/>
          </p:nvSpPr>
          <p:spPr>
            <a:xfrm>
              <a:off x="6553047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NUMBERS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숫자로 보기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E6DFF-BE40-408E-BF73-AAFCDB7CD359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차트"/>
          <p:cNvGraphicFramePr>
            <a:graphicFrameLocks noGrp="1"/>
          </p:cNvGraphicFramePr>
          <p:nvPr/>
        </p:nvGraphicFramePr>
        <p:xfrm>
          <a:off x="731520" y="1828800"/>
          <a:ext cx="7619695" cy="40690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차트 안내"/>
          <p:cNvSpPr txBox="1"/>
          <p:nvPr/>
        </p:nvSpPr>
        <p:spPr>
          <a:xfrm>
            <a:off x="8625535" y="2103120"/>
            <a:ext cx="283464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예시 숫자입니다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차트를 우클릭해서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데이터를 고치세요</a:t>
            </a:r>
          </a:p>
        </p:txBody>
      </p:sp>
    </p:spTree>
  </p:cSld>
  <p:clrMapOvr>
    <a:masterClrMapping/>
  </p:clrMapOvr>
  <p:transition spd="med">
    <p:push dir="u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SCHEDULE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일정·현황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F8151-2E0A-4597-8794-FAEE5FD730C6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2" cy="395020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682163"/>
                <a:gridCol w="2682163"/>
                <a:gridCol w="2682163"/>
                <a:gridCol w="2682163"/>
              </a:tblGrid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FFFFFF"/>
                          </a:solidFill>
                        </a:rPr>
                        <a:t>항목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FFFFFF"/>
                          </a:solidFill>
                        </a:rPr>
                        <a:t>목표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FFFFFF"/>
                          </a:solidFill>
                        </a:rPr>
                        <a:t>실적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FFFFFF"/>
                          </a:solidFill>
                        </a:rPr>
                        <a:t>달성률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1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2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3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4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5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sh dir="u"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Q &amp; 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질문과 의견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F6325-088F-41DB-B617-22EAEB0ED8AE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sh dir="u"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TURQUOISE  ·  PRESENTATION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감사합니다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끝까지 들어 주셔서 고맙습니다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문의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업무 보고 발표 템플릿">
  <a:themeElements>
    <a:clrScheme name="업무 보고 발표 템플릿">
      <a:dk1>
        <a:srgbClr val="374847"/>
      </a:dk1>
      <a:lt1>
        <a:srgbClr val="FCFDFC"/>
      </a:lt1>
      <a:dk2>
        <a:srgbClr val="16413F"/>
      </a:dk2>
      <a:lt2>
        <a:srgbClr val="F5F8F4"/>
      </a:lt2>
      <a:accent1>
        <a:srgbClr val="1D7F7A"/>
      </a:accent1>
      <a:accent2>
        <a:srgbClr val="C2A25A"/>
      </a:accent2>
      <a:accent3>
        <a:srgbClr val="718B8A"/>
      </a:accent3>
      <a:accent4>
        <a:srgbClr val="CAE0DC"/>
      </a:accent4>
      <a:accent5>
        <a:srgbClr val="C4A45C"/>
      </a:accent5>
      <a:accent6>
        <a:srgbClr val="D9C99F"/>
      </a:accent6>
      <a:hlink>
        <a:srgbClr val="16413F"/>
      </a:hlink>
      <a:folHlink>
        <a:srgbClr val="718B8A"/>
      </a:folHlink>
    </a:clrScheme>
    <a:fontScheme name="업무 보고 발표 템플릿">
      <a:majorFont>
        <a:latin typeface="Bodoni MT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업무 보고 발표 템플릿</dc:title>
  <dc:subject>업무 보고 발표 자료</dc:subject>
  <dc:creator>우체국보험 상담 안내</dc:creator>
  <cp:keywords>발표,PPT,템플릿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