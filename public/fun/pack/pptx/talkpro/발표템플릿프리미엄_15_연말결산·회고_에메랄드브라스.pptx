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C4DF345-63E2-496D-94A4-88A767100BD0}">
          <p14:sldIdLst>
            <p14:sldId id="256"/>
          </p14:sldIdLst>
        </p14:section>
        <p14:section name="본문" id="{EBC43114-8DBF-41F7-978F-1E810A6D8E97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D01C3B39-5A85-444B-A9B1-5E3AD5CB6DD3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3"/>
            </a:gs>
            <a:gs pos="100000">
              <a:schemeClr val="bg1"/>
            </a:gs>
          </a:gsLst>
          <a:lin ang="7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6BCB3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2908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80C51666-3DD5-4BA3-B905-810BE988295C}" type="slidenum">
              <a:rPr lang="en-US"/>
              <a:t>‹#›</a:t>
            </a:fld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bg1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03" y="1874519"/>
            <a:ext cx="9265688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03" y="2258568"/>
            <a:ext cx="9265688" cy="13716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0" spc="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463003" y="3703320"/>
            <a:ext cx="9265688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B6BCB3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463003" y="4389120"/>
            <a:ext cx="9265688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829088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리본 띠"/>
          <p:cNvSpPr/>
          <p:nvPr/>
        </p:nvSpPr>
        <p:spPr>
          <a:xfrm>
            <a:off x="0" y="2148839"/>
            <a:ext cx="12191695" cy="1527048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2212847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0" y="3611879"/>
            <a:ext cx="12191695" cy="0"/>
          </a:xfrm>
          <a:prstGeom prst="line">
            <a:avLst/>
          </a:prstGeom>
          <a:ln w="9525" cap="rnd">
            <a:solidFill>
              <a:srgbClr val="1A1613">
                <a:alpha val="45000"/>
              </a:srgbClr>
            </a:solidFill>
          </a:ln>
        </p:spPr>
      </p:cxnSp>
      <p:sp>
        <p:nvSpPr>
          <p:cNvPr id="5" name="Diamond 4"/>
          <p:cNvSpPr/>
          <p:nvPr/>
        </p:nvSpPr>
        <p:spPr>
          <a:xfrm>
            <a:off x="457200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1551615" y="2820923"/>
            <a:ext cx="182880" cy="182880"/>
          </a:xfrm>
          <a:prstGeom prst="diamond">
            <a:avLst/>
          </a:prstGeom>
          <a:solidFill>
            <a:srgbClr val="1A161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463040" y="658368"/>
            <a:ext cx="92656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C53DECB7-6850-41DC-8D7B-69C93B61BB1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463280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278727" y="1517904"/>
            <a:ext cx="128016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18" name="Diamond 17"/>
          <p:cNvSpPr/>
          <p:nvPr/>
        </p:nvSpPr>
        <p:spPr>
          <a:xfrm>
            <a:off x="6036411" y="1458468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3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463040" y="365760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5730087" y="6309360"/>
            <a:ext cx="731520" cy="329184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62000"/>
                    <a:lumOff val="0"/>
                  </a:schemeClr>
                </a:solidFill>
              </a:defRPr>
            </a:lvl1pPr>
          </a:lstStyle>
          <a:p>
            <a:fld id="{28ECAB7A-3E6B-470E-AECD-B93F02809B7D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0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Arc 1"/>
          <p:cNvSpPr/>
          <p:nvPr/>
        </p:nvSpPr>
        <p:spPr>
          <a:xfrm>
            <a:off x="-182880" y="-182880"/>
            <a:ext cx="914400" cy="91440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-548640" y="-548640"/>
            <a:ext cx="1645920" cy="164592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914400" y="-914400"/>
            <a:ext cx="2377440" cy="2377440"/>
          </a:xfrm>
          <a:prstGeom prst="arc">
            <a:avLst>
              <a:gd name="adj1" fmla="val 10800000"/>
              <a:gd name="adj2" fmla="val 1620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454421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432698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391872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36868" y="446170"/>
            <a:ext cx="344018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9" name="Arc 8"/>
          <p:cNvSpPr/>
          <p:nvPr/>
        </p:nvSpPr>
        <p:spPr>
          <a:xfrm>
            <a:off x="11460175" y="-182880"/>
            <a:ext cx="914400" cy="91440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Arc 9"/>
          <p:cNvSpPr/>
          <p:nvPr/>
        </p:nvSpPr>
        <p:spPr>
          <a:xfrm>
            <a:off x="11094415" y="-548640"/>
            <a:ext cx="1645920" cy="164592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Arc 10"/>
          <p:cNvSpPr/>
          <p:nvPr/>
        </p:nvSpPr>
        <p:spPr>
          <a:xfrm>
            <a:off x="10728655" y="-914400"/>
            <a:ext cx="2377440" cy="2377440"/>
          </a:xfrm>
          <a:prstGeom prst="arc">
            <a:avLst>
              <a:gd name="adj1" fmla="val 16200000"/>
              <a:gd name="adj2" fmla="val 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" name="Connector 11"/>
          <p:cNvCxnSpPr/>
          <p:nvPr/>
        </p:nvCxnSpPr>
        <p:spPr>
          <a:xfrm flipH="1">
            <a:off x="10746714" y="306076"/>
            <a:ext cx="990559" cy="174663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3" name="Connector 12"/>
          <p:cNvCxnSpPr/>
          <p:nvPr/>
        </p:nvCxnSpPr>
        <p:spPr>
          <a:xfrm flipH="1">
            <a:off x="10887913" y="365759"/>
            <a:ext cx="871083" cy="50292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4" name="Connector 13"/>
          <p:cNvCxnSpPr/>
          <p:nvPr/>
        </p:nvCxnSpPr>
        <p:spPr>
          <a:xfrm flipH="1">
            <a:off x="11153280" y="414414"/>
            <a:ext cx="646542" cy="770518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cxnSp>
        <p:nvCxnSpPr>
          <p:cNvPr id="15" name="Connector 14"/>
          <p:cNvCxnSpPr/>
          <p:nvPr/>
        </p:nvCxnSpPr>
        <p:spPr>
          <a:xfrm flipH="1">
            <a:off x="11510809" y="446170"/>
            <a:ext cx="344017" cy="945181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grpSp>
        <p:nvGrpSpPr>
          <p:cNvPr id="16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17" name="Diamond 16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19" name="Connector 18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20" name="Connector 19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21" name="Diamond 20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EMERALD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처음에 세운 목표를 지금 기준으로 다시 봅니다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연말 결산·회고 · 발표자 이름</a:t>
            </a:r>
          </a:p>
          <a:p>
            <a:r>
              <a:rPr lang="ko-KR"/>
              <a:t>날짜 입력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6C20DD-3E3F-4C48-92CF-9DB98021F5A5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올해의 한 줄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4572000" y="199339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일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572000" y="3044952"/>
              <a:ext cx="0" cy="58521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아쉬운 일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4572000" y="409651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4</a:t>
              </a:r>
            </a:p>
          </p:txBody>
        </p:sp>
        <p:sp>
          <p:nvSpPr>
            <p:cNvPr id="26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내년의 다짐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4572000" y="5148071"/>
              <a:ext cx="0" cy="585217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3337F-21B2-429C-860A-0CCE934D710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D4D94-D056-49E2-AFD4-64CE40DF8839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잘한 점</a:t>
              </a:r>
            </a:p>
          </p:txBody>
        </p:sp>
        <p:cxnSp>
          <p:nvCxnSpPr>
            <p:cNvPr id="9" name="구분선"/>
            <p:cNvCxnSpPr/>
            <p:nvPr/>
          </p:nvCxnSpPr>
          <p:spPr>
            <a:xfrm>
              <a:off x="960120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0" name="카드 내용"/>
            <p:cNvSpPr txBox="1"/>
            <p:nvPr/>
          </p:nvSpPr>
          <p:spPr>
            <a:xfrm>
              <a:off x="914400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4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배운 점</a:t>
              </a:r>
            </a:p>
          </p:txBody>
        </p:sp>
        <p:cxnSp>
          <p:nvCxnSpPr>
            <p:cNvPr id="15" name="구분선"/>
            <p:cNvCxnSpPr/>
            <p:nvPr/>
          </p:nvCxnSpPr>
          <p:spPr>
            <a:xfrm>
              <a:off x="4627778" y="3364991"/>
              <a:ext cx="2936138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6" name="카드 내용"/>
            <p:cNvSpPr txBox="1"/>
            <p:nvPr/>
          </p:nvSpPr>
          <p:spPr>
            <a:xfrm>
              <a:off x="4582058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5875">
              <a:solidFill>
                <a:schemeClr val="accent5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20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다음 목표</a:t>
              </a:r>
            </a:p>
          </p:txBody>
        </p:sp>
        <p:cxnSp>
          <p:nvCxnSpPr>
            <p:cNvPr id="21" name="구분선"/>
            <p:cNvCxnSpPr/>
            <p:nvPr/>
          </p:nvCxnSpPr>
          <p:spPr>
            <a:xfrm>
              <a:off x="8295436" y="3364991"/>
              <a:ext cx="2936139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2" name="카드 내용"/>
            <p:cNvSpPr txBox="1"/>
            <p:nvPr/>
          </p:nvSpPr>
          <p:spPr>
            <a:xfrm>
              <a:off x="8249716" y="3456432"/>
              <a:ext cx="3027578" cy="173735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39327-8D2A-4089-93F7-9F3E6C39C7F4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칸 제목 띠"/>
            <p:cNvSpPr/>
            <p:nvPr/>
          </p:nvSpPr>
          <p:spPr>
            <a:xfrm>
              <a:off x="914400" y="2011680"/>
              <a:ext cx="4815687" cy="5943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올해 초</a:t>
              </a:r>
            </a:p>
          </p:txBody>
        </p:sp>
        <p:sp>
          <p:nvSpPr>
            <p:cNvPr id="8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9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0" name="칸 바탕"/>
            <p:cNvSpPr/>
            <p:nvPr/>
          </p:nvSpPr>
          <p:spPr>
            <a:xfrm>
              <a:off x="6278727" y="1828800"/>
              <a:ext cx="5181447" cy="3566160"/>
            </a:xfrm>
            <a:prstGeom prst="snip2DiagRect">
              <a:avLst>
                <a:gd name="adj1" fmla="val 11000"/>
                <a:gd name="adj2" fmla="val 0"/>
              </a:avLst>
            </a:prstGeom>
            <a:solidFill>
              <a:schemeClr val="bg1"/>
            </a:solidFill>
            <a:ln w="9525">
              <a:solidFill>
                <a:schemeClr val="accent5">
                  <a:alpha val="85000"/>
                </a:schemeClr>
              </a:solidFill>
            </a:ln>
            <a:effectLst>
              <a:outerShdw blurRad="76200" dist="19050" dir="5400000" algn="t" rotWithShape="0">
                <a:srgbClr val="000000">
                  <a:alpha val="24000"/>
                </a:srgb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칸 제목 띠"/>
            <p:cNvSpPr/>
            <p:nvPr/>
          </p:nvSpPr>
          <p:spPr>
            <a:xfrm>
              <a:off x="6461607" y="2011680"/>
              <a:ext cx="4815687" cy="59436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rgbClr val="1A1613"/>
                  </a:solidFill>
                </a:rPr>
                <a:t>올해 말</a:t>
              </a:r>
            </a:p>
          </p:txBody>
        </p:sp>
        <p:sp>
          <p:nvSpPr>
            <p:cNvPr id="12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40F341-5621-4382-B724-1267D5739254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62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sh dir="u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641304-763D-4E4B-AD46-D4CCECC7C886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한 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배운 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rgbClr val="1A1613"/>
                          </a:solidFill>
                        </a:rPr>
                        <a:t>점수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4000"/>
                        <a:lumOff val="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EF8BF8-F132-4768-B5F7-E212F5D9C9F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EMERALD  ·  PRESENTATION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연말 결산·회고 발표 템플릿">
  <a:themeElements>
    <a:clrScheme name="연말 결산·회고 발표 템플릿">
      <a:dk1>
        <a:srgbClr val="F8F5EB"/>
      </a:dk1>
      <a:lt1>
        <a:srgbClr val="113C33"/>
      </a:lt1>
      <a:dk2>
        <a:srgbClr val="E6DCB8"/>
      </a:dk2>
      <a:lt2>
        <a:srgbClr val="0C2A24"/>
      </a:lt2>
      <a:accent1>
        <a:srgbClr val="C0A15A"/>
      </a:accent1>
      <a:accent2>
        <a:srgbClr val="4FA58C"/>
      </a:accent2>
      <a:accent3>
        <a:srgbClr val="071A16"/>
      </a:accent3>
      <a:accent4>
        <a:srgbClr val="175246"/>
      </a:accent4>
      <a:accent5>
        <a:srgbClr val="CDB06C"/>
      </a:accent5>
      <a:accent6>
        <a:srgbClr val="3B806D"/>
      </a:accent6>
      <a:hlink>
        <a:srgbClr val="E6DCB8"/>
      </a:hlink>
      <a:folHlink>
        <a:srgbClr val="071A16"/>
      </a:folHlink>
    </a:clrScheme>
    <a:fontScheme name="연말 결산·회고 발표 템플릿">
      <a:majorFont>
        <a:latin typeface="Georg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>연말 결산·회고 발표 자료</dc:subject>
  <dc:creator>반딧불이의 곳간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