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F3A5FBA-8DA1-47A4-BC15-20331278D361}">
          <p14:sldIdLst>
            <p14:sldId id="256"/>
          </p14:sldIdLst>
        </p14:section>
        <p14:section name="본문" id="{6A326B62-4A1B-41BA-810E-45D255A8B0A8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A2428E70-57AE-4B5A-82F6-74AF56AB4470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DBDEE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BABFC6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tx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70CDABF1-3C4B-4849-A6F8-4A2052BD4E78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Rectangle 1"/>
          <p:cNvSpPr/>
          <p:nvPr/>
        </p:nvSpPr>
        <p:spPr>
          <a:xfrm>
            <a:off x="7132091" y="1417319"/>
            <a:ext cx="4023360" cy="4023360"/>
          </a:xfrm>
          <a:prstGeom prst="rect">
            <a:avLst/>
          </a:prstGeom>
          <a:noFill/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900000">
            <a:off x="7433843" y="1719072"/>
            <a:ext cx="3419856" cy="3419856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7735595" y="2020824"/>
            <a:ext cx="2816352" cy="2816352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채운 사각"/>
          <p:cNvSpPr/>
          <p:nvPr/>
        </p:nvSpPr>
        <p:spPr>
          <a:xfrm rot="2700000">
            <a:off x="8037347" y="2322576"/>
            <a:ext cx="2212848" cy="22128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3600000">
            <a:off x="8339099" y="2624328"/>
            <a:ext cx="1609344" cy="1609344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4500000">
            <a:off x="8640851" y="2926080"/>
            <a:ext cx="1005840" cy="100584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23070" y="3308299"/>
            <a:ext cx="241401" cy="2414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8B9B439D-08E2-41DB-918D-67B9E8AE90A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963137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365760"/>
            <a:ext cx="914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6C69BDCB-161C-4DC6-BF2F-32C7DD0F2E19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" name="Diamond 2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" name="Connector 3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6" name="Connector 5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7" name="Diamond 6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달라진 숫자부터 보여 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업무 보고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EA9DD-BD59-497C-A741-ED0D79A8DC0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추진 경과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3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731520" y="288036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주요 성과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20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731520" y="3931920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이슈와 대응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6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7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윗선"/>
            <p:cNvSpPr/>
            <p:nvPr/>
          </p:nvSpPr>
          <p:spPr>
            <a:xfrm>
              <a:off x="731520" y="4983479"/>
              <a:ext cx="10728655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4</a:t>
              </a:r>
            </a:p>
          </p:txBody>
        </p:sp>
        <p:sp>
          <p:nvSpPr>
            <p:cNvPr id="30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향후 계획</a:t>
              </a:r>
            </a:p>
          </p:txBody>
        </p:sp>
        <p:cxnSp>
          <p:nvCxnSpPr>
            <p:cNvPr id="31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32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7259C-D9E9-49F0-98AF-A80014F839B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4F5266-14AA-4649-9AC6-FE536D7DDAB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진행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윗선"/>
            <p:cNvSpPr/>
            <p:nvPr/>
          </p:nvSpPr>
          <p:spPr>
            <a:xfrm>
              <a:off x="4399178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성과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윗선"/>
            <p:cNvSpPr/>
            <p:nvPr/>
          </p:nvSpPr>
          <p:spPr>
            <a:xfrm>
              <a:off x="8066836" y="1828800"/>
              <a:ext cx="3393338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이슈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1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1113-6BB7-4E1B-BB76-DB2660FF9595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계획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윗선"/>
            <p:cNvSpPr/>
            <p:nvPr/>
          </p:nvSpPr>
          <p:spPr>
            <a:xfrm>
              <a:off x="6278727" y="1828800"/>
              <a:ext cx="5181447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실적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40DDB3-BE11-4DA6-8A0D-B3F795CD57E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86B6D-3E50-489F-B3CF-47EE382BB27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목표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실적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달성률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DB988-4350-4F6F-AA13-3AC695C9649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ICE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업무 보고 발표 템플릿">
  <a:themeElements>
    <a:clrScheme name="업무 보고 발표 템플릿">
      <a:dk1>
        <a:srgbClr val="373F48"/>
      </a:dk1>
      <a:lt1>
        <a:srgbClr val="FBFCFE"/>
      </a:lt1>
      <a:dk2>
        <a:srgbClr val="21354F"/>
      </a:dk2>
      <a:lt2>
        <a:srgbClr val="F2F6FA"/>
      </a:lt2>
      <a:accent1>
        <a:srgbClr val="6C8EB6"/>
      </a:accent1>
      <a:accent2>
        <a:srgbClr val="AABDD2"/>
      </a:accent2>
      <a:accent3>
        <a:srgbClr val="5A6777"/>
      </a:accent3>
      <a:accent4>
        <a:srgbClr val="D7E1EC"/>
      </a:accent4>
      <a:accent5>
        <a:srgbClr val="C2CBD6"/>
      </a:accent5>
      <a:accent6>
        <a:srgbClr val="CAD7E4"/>
      </a:accent6>
      <a:hlink>
        <a:srgbClr val="21354F"/>
      </a:hlink>
      <a:folHlink>
        <a:srgbClr val="5A6777"/>
      </a:folHlink>
    </a:clrScheme>
    <a:fontScheme name="업무 보고 발표 템플릿">
      <a:majorFont>
        <a:latin typeface="Franklin Gothic Medium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업무 보고 발표 템플릿</dc:title>
  <dc:subject>업무 보고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