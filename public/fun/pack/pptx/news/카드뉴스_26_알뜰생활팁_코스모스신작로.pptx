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6858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2130425"/>
            <a:ext cx="58293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700" y="3886200"/>
            <a:ext cx="48006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734" y="4406900"/>
            <a:ext cx="58293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1734" y="2906713"/>
            <a:ext cx="58293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2900" y="1600200"/>
            <a:ext cx="30289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86150" y="1600200"/>
            <a:ext cx="30289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535113"/>
            <a:ext cx="3030141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2900" y="2174875"/>
            <a:ext cx="303014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83768" y="1535113"/>
            <a:ext cx="3031331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83768" y="2174875"/>
            <a:ext cx="303133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273050"/>
            <a:ext cx="225623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81287" y="273050"/>
            <a:ext cx="3833812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1435100"/>
            <a:ext cx="225623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4216" y="4800600"/>
            <a:ext cx="41148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344216" y="612775"/>
            <a:ext cx="41148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44216" y="5367338"/>
            <a:ext cx="41148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7175" y="0"/>
            <a:ext cx="4629150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72050" y="274638"/>
            <a:ext cx="154305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2900" y="274638"/>
            <a:ext cx="451485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274638"/>
            <a:ext cx="61722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600200"/>
            <a:ext cx="61722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6356350"/>
            <a:ext cx="21717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news-2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58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960120"/>
            <a:ext cx="5486400" cy="146304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701A53"/>
                </a:solidFill>
              </a:rPr>
              <a:t>추석 전에 미리 적어 두는 지출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685800" y="2560320"/>
            <a:ext cx="5486400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1">
                <a:solidFill>
                  <a:srgbClr val="701A53"/>
                </a:solidFill>
              </a:rPr>
              <a:t>옆으로 넘겨 보세요 →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685800" y="3429000"/>
            <a:ext cx="5486400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66666"/>
                </a:solidFill>
              </a:rPr>
              <a:t>알뜰 생활 팁 · 카드뉴스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E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035040"/>
            <a:ext cx="1737360" cy="822960"/>
          </a:xfrm>
          <a:prstGeom prst="rtTriangle">
            <a:avLst/>
          </a:prstGeom>
          <a:solidFill>
            <a:srgbClr val="FDDDF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6400800"/>
            <a:ext cx="914400" cy="457200"/>
          </a:xfrm>
          <a:prstGeom prst="rtTriangle">
            <a:avLst/>
          </a:prstGeom>
          <a:solidFill>
            <a:srgbClr val="ED31A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438912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701A53"/>
                </a:solidFill>
              </a:rPr>
              <a:t>이번 달 고정지출부터 적어요</a:t>
            </a:r>
          </a:p>
        </p:txBody>
      </p:sp>
      <p:sp>
        <p:nvSpPr>
          <p:cNvPr id="5" name="번호"/>
          <p:cNvSpPr txBox="1"/>
          <p:nvPr/>
        </p:nvSpPr>
        <p:spPr>
          <a:xfrm>
            <a:off x="640080" y="169164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ED31AE"/>
                </a:solidFill>
              </a:rPr>
              <a:t>01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640080" y="315468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월세·통신비·구독료처럼 매달 나가는 돈부터 한곳에 적어 보면 새는 곳이 보여요.</a:t>
            </a:r>
          </a:p>
        </p:txBody>
      </p:sp>
      <p:sp>
        <p:nvSpPr>
          <p:cNvPr id="7" name="쪽 번호"/>
          <p:cNvSpPr txBox="1"/>
          <p:nvPr/>
        </p:nvSpPr>
        <p:spPr>
          <a:xfrm>
            <a:off x="640080" y="603504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1 /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E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035040"/>
            <a:ext cx="1737360" cy="822960"/>
          </a:xfrm>
          <a:prstGeom prst="rtTriangle">
            <a:avLst/>
          </a:prstGeom>
          <a:solidFill>
            <a:srgbClr val="FDDDF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6400800"/>
            <a:ext cx="914400" cy="457200"/>
          </a:xfrm>
          <a:prstGeom prst="rtTriangle">
            <a:avLst/>
          </a:prstGeom>
          <a:solidFill>
            <a:srgbClr val="ED31A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438912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701A53"/>
                </a:solidFill>
              </a:rPr>
              <a:t>카드 대신 현금 한 주</a:t>
            </a:r>
          </a:p>
        </p:txBody>
      </p:sp>
      <p:sp>
        <p:nvSpPr>
          <p:cNvPr id="5" name="번호"/>
          <p:cNvSpPr txBox="1"/>
          <p:nvPr/>
        </p:nvSpPr>
        <p:spPr>
          <a:xfrm>
            <a:off x="640080" y="169164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ED31AE"/>
                </a:solidFill>
              </a:rPr>
              <a:t>02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640080" y="315468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일주일만 현금으로 써 보면 충동구매가 눈에 띄게 줄어요.</a:t>
            </a:r>
          </a:p>
        </p:txBody>
      </p:sp>
      <p:sp>
        <p:nvSpPr>
          <p:cNvPr id="7" name="쪽 번호"/>
          <p:cNvSpPr txBox="1"/>
          <p:nvPr/>
        </p:nvSpPr>
        <p:spPr>
          <a:xfrm>
            <a:off x="640080" y="603504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2 /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E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035040"/>
            <a:ext cx="1737360" cy="822960"/>
          </a:xfrm>
          <a:prstGeom prst="rtTriangle">
            <a:avLst/>
          </a:prstGeom>
          <a:solidFill>
            <a:srgbClr val="FDDDF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6400800"/>
            <a:ext cx="914400" cy="457200"/>
          </a:xfrm>
          <a:prstGeom prst="rtTriangle">
            <a:avLst/>
          </a:prstGeom>
          <a:solidFill>
            <a:srgbClr val="ED31A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438912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701A53"/>
                </a:solidFill>
              </a:rPr>
              <a:t>장보기 전 냉장고 사진</a:t>
            </a:r>
          </a:p>
        </p:txBody>
      </p:sp>
      <p:sp>
        <p:nvSpPr>
          <p:cNvPr id="5" name="번호"/>
          <p:cNvSpPr txBox="1"/>
          <p:nvPr/>
        </p:nvSpPr>
        <p:spPr>
          <a:xfrm>
            <a:off x="640080" y="169164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ED31AE"/>
                </a:solidFill>
              </a:rPr>
              <a:t>03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640080" y="315468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있는 재료를 확인하고 가면 같은 식재료를 또 사는 일이 줄어요.</a:t>
            </a:r>
          </a:p>
        </p:txBody>
      </p:sp>
      <p:sp>
        <p:nvSpPr>
          <p:cNvPr id="7" name="쪽 번호"/>
          <p:cNvSpPr txBox="1"/>
          <p:nvPr/>
        </p:nvSpPr>
        <p:spPr>
          <a:xfrm>
            <a:off x="640080" y="603504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3 /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E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035040"/>
            <a:ext cx="1737360" cy="822960"/>
          </a:xfrm>
          <a:prstGeom prst="rtTriangle">
            <a:avLst/>
          </a:prstGeom>
          <a:solidFill>
            <a:srgbClr val="FDDDF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6400800"/>
            <a:ext cx="914400" cy="457200"/>
          </a:xfrm>
          <a:prstGeom prst="rtTriangle">
            <a:avLst/>
          </a:prstGeom>
          <a:solidFill>
            <a:srgbClr val="ED31A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438912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701A53"/>
                </a:solidFill>
              </a:rPr>
              <a:t>작은 목표 통장 만들기</a:t>
            </a:r>
          </a:p>
        </p:txBody>
      </p:sp>
      <p:sp>
        <p:nvSpPr>
          <p:cNvPr id="5" name="번호"/>
          <p:cNvSpPr txBox="1"/>
          <p:nvPr/>
        </p:nvSpPr>
        <p:spPr>
          <a:xfrm>
            <a:off x="640080" y="169164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ED31AE"/>
                </a:solidFill>
              </a:rPr>
              <a:t>04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640080" y="315468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여행·선물·비상금처럼 이름을 붙이면 모으는 재미가 커져요.</a:t>
            </a:r>
          </a:p>
        </p:txBody>
      </p:sp>
      <p:sp>
        <p:nvSpPr>
          <p:cNvPr id="7" name="쪽 번호"/>
          <p:cNvSpPr txBox="1"/>
          <p:nvPr/>
        </p:nvSpPr>
        <p:spPr>
          <a:xfrm>
            <a:off x="640080" y="603504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4 /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E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035040"/>
            <a:ext cx="1737360" cy="822960"/>
          </a:xfrm>
          <a:prstGeom prst="rtTriangle">
            <a:avLst/>
          </a:prstGeom>
          <a:solidFill>
            <a:srgbClr val="FDDDF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6400800"/>
            <a:ext cx="914400" cy="457200"/>
          </a:xfrm>
          <a:prstGeom prst="rtTriangle">
            <a:avLst/>
          </a:prstGeom>
          <a:solidFill>
            <a:srgbClr val="ED31A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438912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701A53"/>
                </a:solidFill>
              </a:rPr>
              <a:t>주말 5분 가계부</a:t>
            </a:r>
          </a:p>
        </p:txBody>
      </p:sp>
      <p:sp>
        <p:nvSpPr>
          <p:cNvPr id="5" name="번호"/>
          <p:cNvSpPr txBox="1"/>
          <p:nvPr/>
        </p:nvSpPr>
        <p:spPr>
          <a:xfrm>
            <a:off x="640080" y="169164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ED31AE"/>
                </a:solidFill>
              </a:rPr>
              <a:t>05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640080" y="315468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영수증을 모아 두었다가 주말에 5분만 적어 보세요.</a:t>
            </a:r>
          </a:p>
        </p:txBody>
      </p:sp>
      <p:sp>
        <p:nvSpPr>
          <p:cNvPr id="7" name="쪽 번호"/>
          <p:cNvSpPr txBox="1"/>
          <p:nvPr/>
        </p:nvSpPr>
        <p:spPr>
          <a:xfrm>
            <a:off x="640080" y="603504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5 / 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news-2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58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960120"/>
            <a:ext cx="5486400" cy="146304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701A53"/>
                </a:solidFill>
              </a:rPr>
              <a:t>저장해 두고 필요할 때 꺼내 보세요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685800" y="2560320"/>
            <a:ext cx="5486400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1">
                <a:solidFill>
                  <a:srgbClr val="701A53"/>
                </a:solidFill>
              </a:rPr>
              <a:t>마음에 들면 공유해 주세요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685800" y="3429000"/>
            <a:ext cx="5486400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66666"/>
                </a:solidFill>
              </a:rPr>
              <a:t>이름 · 연락처를 입력하세요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카드뉴스(알뜰 생활 팁)">
  <a:themeElements>
    <a:clrScheme name="Office">
      <a:dk1>
        <a:sysClr val="windowText" lastClr="000000"/>
      </a:dk1>
      <a:lt1>
        <a:sysClr val="window" lastClr="FFFFFF"/>
      </a:lt1>
      <a:dk2>
        <a:srgbClr val="701A53"/>
      </a:dk2>
      <a:lt2>
        <a:srgbClr val="FEF6FB"/>
      </a:lt2>
      <a:accent1>
        <a:srgbClr val="ED31AE"/>
      </a:accent1>
      <a:accent2>
        <a:srgbClr val="29A39B"/>
      </a:accent2>
      <a:accent3>
        <a:srgbClr val="701A53"/>
      </a:accent3>
      <a:accent4>
        <a:srgbClr val="FDDDF3"/>
      </a:accent4>
      <a:accent5>
        <a:srgbClr val="8B6AA4"/>
      </a:accent5>
      <a:accent6>
        <a:srgbClr val="A97698"/>
      </a:accent6>
      <a:hlink>
        <a:srgbClr val="ED31AE"/>
      </a:hlink>
      <a:folHlink>
        <a:srgbClr val="701A53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카드뉴스(알뜰 생활 팁)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