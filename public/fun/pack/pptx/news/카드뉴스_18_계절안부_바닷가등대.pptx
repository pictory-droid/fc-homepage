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6858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14350" y="2130425"/>
            <a:ext cx="58293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028700" y="3886200"/>
            <a:ext cx="48006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7175" y="0"/>
            <a:ext cx="4629150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57175" y="0"/>
            <a:ext cx="4629150" cy="0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1734" y="4406900"/>
            <a:ext cx="58293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41734" y="2906713"/>
            <a:ext cx="58293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7175" y="0"/>
            <a:ext cx="4629150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42900" y="1600200"/>
            <a:ext cx="302895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486150" y="1600200"/>
            <a:ext cx="302895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7175" y="0"/>
            <a:ext cx="4629150" cy="0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42900" y="1535113"/>
            <a:ext cx="3030141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42900" y="2174875"/>
            <a:ext cx="3030141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483768" y="1535113"/>
            <a:ext cx="3031331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483768" y="2174875"/>
            <a:ext cx="3031331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7175" y="0"/>
            <a:ext cx="4629150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42900" y="273050"/>
            <a:ext cx="225623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681287" y="273050"/>
            <a:ext cx="3833812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42900" y="1435100"/>
            <a:ext cx="225623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44216" y="4800600"/>
            <a:ext cx="41148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344216" y="612775"/>
            <a:ext cx="41148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344216" y="5367338"/>
            <a:ext cx="41148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7175" y="0"/>
            <a:ext cx="4629150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57175" y="0"/>
            <a:ext cx="4629150" cy="0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4972050" y="274638"/>
            <a:ext cx="154305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342900" y="274638"/>
            <a:ext cx="451485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342900" y="274638"/>
            <a:ext cx="61722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42900" y="1600200"/>
            <a:ext cx="61722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342900" y="6356350"/>
            <a:ext cx="1600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343150" y="6356350"/>
            <a:ext cx="21717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914900" y="6356350"/>
            <a:ext cx="1600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표지 그림" descr="news-1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6858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960120"/>
            <a:ext cx="5486400" cy="146304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1485F"/>
                </a:solidFill>
              </a:rPr>
              <a:t>장마철 빨래 잘 말리는 법</a:t>
            </a:r>
          </a:p>
        </p:txBody>
      </p:sp>
      <p:sp>
        <p:nvSpPr>
          <p:cNvPr id="4" name="한 줄 문구"/>
          <p:cNvSpPr txBox="1"/>
          <p:nvPr/>
        </p:nvSpPr>
        <p:spPr>
          <a:xfrm>
            <a:off x="685800" y="2560320"/>
            <a:ext cx="5486400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500" b="0" i="1">
                <a:solidFill>
                  <a:srgbClr val="11485F"/>
                </a:solidFill>
              </a:rPr>
              <a:t>옆으로 넘겨 보세요 →</a:t>
            </a:r>
          </a:p>
        </p:txBody>
      </p:sp>
      <p:sp>
        <p:nvSpPr>
          <p:cNvPr id="5" name="안내 문구"/>
          <p:cNvSpPr txBox="1"/>
          <p:nvPr/>
        </p:nvSpPr>
        <p:spPr>
          <a:xfrm>
            <a:off x="685800" y="3429000"/>
            <a:ext cx="5486400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666666"/>
                </a:solidFill>
              </a:rPr>
              <a:t>계절 안부 · 카드뉴스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384048"/>
            <a:ext cx="5349240" cy="896112"/>
          </a:xfrm>
          <a:prstGeom prst="homePlate">
            <a:avLst/>
          </a:prstGeom>
          <a:solidFill>
            <a:srgbClr val="2695C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11480"/>
            <a:ext cx="4251960" cy="82296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FFFFFF"/>
                </a:solidFill>
              </a:rPr>
              <a:t>겉옷 한 벌 챙기세요</a:t>
            </a:r>
          </a:p>
        </p:txBody>
      </p:sp>
      <p:sp>
        <p:nvSpPr>
          <p:cNvPr id="4" name="번호"/>
          <p:cNvSpPr txBox="1"/>
          <p:nvPr/>
        </p:nvSpPr>
        <p:spPr>
          <a:xfrm>
            <a:off x="640080" y="1737360"/>
            <a:ext cx="2194560" cy="12801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6600" b="1" i="0">
                <a:solidFill>
                  <a:srgbClr val="2695C5"/>
                </a:solidFill>
              </a:rPr>
              <a:t>01</a:t>
            </a:r>
          </a:p>
        </p:txBody>
      </p:sp>
      <p:sp>
        <p:nvSpPr>
          <p:cNvPr id="5" name="본문"/>
          <p:cNvSpPr txBox="1"/>
          <p:nvPr/>
        </p:nvSpPr>
        <p:spPr>
          <a:xfrm>
            <a:off x="640080" y="3200400"/>
            <a:ext cx="5577840" cy="2651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2800" b="0" i="0">
                <a:solidFill>
                  <a:srgbClr val="2B2B2B"/>
                </a:solidFill>
              </a:rPr>
              <a:t>아침저녁 기온 차가 큰 때에는 얇은 겉옷이 든든해요.</a:t>
            </a:r>
          </a:p>
        </p:txBody>
      </p:sp>
      <p:sp>
        <p:nvSpPr>
          <p:cNvPr id="6" name="쪽 번호"/>
          <p:cNvSpPr txBox="1"/>
          <p:nvPr/>
        </p:nvSpPr>
        <p:spPr>
          <a:xfrm>
            <a:off x="640080" y="6035040"/>
            <a:ext cx="5577840" cy="365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888888"/>
                </a:solidFill>
              </a:rPr>
              <a:t>1 / 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384048"/>
            <a:ext cx="5349240" cy="896112"/>
          </a:xfrm>
          <a:prstGeom prst="homePlate">
            <a:avLst/>
          </a:prstGeom>
          <a:solidFill>
            <a:srgbClr val="2695C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11480"/>
            <a:ext cx="4251960" cy="82296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FFFFFF"/>
                </a:solidFill>
              </a:rPr>
              <a:t>계절 인사 한 줄 보내기</a:t>
            </a:r>
          </a:p>
        </p:txBody>
      </p:sp>
      <p:sp>
        <p:nvSpPr>
          <p:cNvPr id="4" name="번호"/>
          <p:cNvSpPr txBox="1"/>
          <p:nvPr/>
        </p:nvSpPr>
        <p:spPr>
          <a:xfrm>
            <a:off x="640080" y="1737360"/>
            <a:ext cx="2194560" cy="12801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6600" b="1" i="0">
                <a:solidFill>
                  <a:srgbClr val="2695C5"/>
                </a:solidFill>
              </a:rPr>
              <a:t>02</a:t>
            </a:r>
          </a:p>
        </p:txBody>
      </p:sp>
      <p:sp>
        <p:nvSpPr>
          <p:cNvPr id="5" name="본문"/>
          <p:cNvSpPr txBox="1"/>
          <p:nvPr/>
        </p:nvSpPr>
        <p:spPr>
          <a:xfrm>
            <a:off x="640080" y="3200400"/>
            <a:ext cx="5577840" cy="2651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2800" b="0" i="0">
                <a:solidFill>
                  <a:srgbClr val="2B2B2B"/>
                </a:solidFill>
              </a:rPr>
              <a:t>안부를 묻는 짧은 메시지가 하루를 따뜻하게 해요.</a:t>
            </a:r>
          </a:p>
        </p:txBody>
      </p:sp>
      <p:sp>
        <p:nvSpPr>
          <p:cNvPr id="6" name="쪽 번호"/>
          <p:cNvSpPr txBox="1"/>
          <p:nvPr/>
        </p:nvSpPr>
        <p:spPr>
          <a:xfrm>
            <a:off x="640080" y="6035040"/>
            <a:ext cx="5577840" cy="365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888888"/>
                </a:solidFill>
              </a:rPr>
              <a:t>2 / 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384048"/>
            <a:ext cx="5349240" cy="896112"/>
          </a:xfrm>
          <a:prstGeom prst="homePlate">
            <a:avLst/>
          </a:prstGeom>
          <a:solidFill>
            <a:srgbClr val="2695C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11480"/>
            <a:ext cx="4251960" cy="82296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FFFFFF"/>
                </a:solidFill>
              </a:rPr>
              <a:t>제철 음식으로 기운 채우기</a:t>
            </a:r>
          </a:p>
        </p:txBody>
      </p:sp>
      <p:sp>
        <p:nvSpPr>
          <p:cNvPr id="4" name="번호"/>
          <p:cNvSpPr txBox="1"/>
          <p:nvPr/>
        </p:nvSpPr>
        <p:spPr>
          <a:xfrm>
            <a:off x="640080" y="1737360"/>
            <a:ext cx="2194560" cy="12801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6600" b="1" i="0">
                <a:solidFill>
                  <a:srgbClr val="2695C5"/>
                </a:solidFill>
              </a:rPr>
              <a:t>03</a:t>
            </a:r>
          </a:p>
        </p:txBody>
      </p:sp>
      <p:sp>
        <p:nvSpPr>
          <p:cNvPr id="5" name="본문"/>
          <p:cNvSpPr txBox="1"/>
          <p:nvPr/>
        </p:nvSpPr>
        <p:spPr>
          <a:xfrm>
            <a:off x="640080" y="3200400"/>
            <a:ext cx="5577840" cy="2651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2800" b="0" i="0">
                <a:solidFill>
                  <a:srgbClr val="2B2B2B"/>
                </a:solidFill>
              </a:rPr>
              <a:t>지금 가장 맛있는 제철 음식을 가족과 나눠 보세요.</a:t>
            </a:r>
          </a:p>
        </p:txBody>
      </p:sp>
      <p:sp>
        <p:nvSpPr>
          <p:cNvPr id="6" name="쪽 번호"/>
          <p:cNvSpPr txBox="1"/>
          <p:nvPr/>
        </p:nvSpPr>
        <p:spPr>
          <a:xfrm>
            <a:off x="640080" y="6035040"/>
            <a:ext cx="5577840" cy="365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888888"/>
                </a:solidFill>
              </a:rPr>
              <a:t>3 / 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384048"/>
            <a:ext cx="5349240" cy="896112"/>
          </a:xfrm>
          <a:prstGeom prst="homePlate">
            <a:avLst/>
          </a:prstGeom>
          <a:solidFill>
            <a:srgbClr val="2695C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11480"/>
            <a:ext cx="4251960" cy="82296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FFFFFF"/>
                </a:solidFill>
              </a:rPr>
              <a:t>창문 열고 환기하기</a:t>
            </a:r>
          </a:p>
        </p:txBody>
      </p:sp>
      <p:sp>
        <p:nvSpPr>
          <p:cNvPr id="4" name="번호"/>
          <p:cNvSpPr txBox="1"/>
          <p:nvPr/>
        </p:nvSpPr>
        <p:spPr>
          <a:xfrm>
            <a:off x="640080" y="1737360"/>
            <a:ext cx="2194560" cy="12801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6600" b="1" i="0">
                <a:solidFill>
                  <a:srgbClr val="2695C5"/>
                </a:solidFill>
              </a:rPr>
              <a:t>04</a:t>
            </a:r>
          </a:p>
        </p:txBody>
      </p:sp>
      <p:sp>
        <p:nvSpPr>
          <p:cNvPr id="5" name="본문"/>
          <p:cNvSpPr txBox="1"/>
          <p:nvPr/>
        </p:nvSpPr>
        <p:spPr>
          <a:xfrm>
            <a:off x="640080" y="3200400"/>
            <a:ext cx="5577840" cy="2651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2800" b="0" i="0">
                <a:solidFill>
                  <a:srgbClr val="2B2B2B"/>
                </a:solidFill>
              </a:rPr>
              <a:t>하루 두 번 십 분씩 환기하면 집 안 공기가 달라져요.</a:t>
            </a:r>
          </a:p>
        </p:txBody>
      </p:sp>
      <p:sp>
        <p:nvSpPr>
          <p:cNvPr id="6" name="쪽 번호"/>
          <p:cNvSpPr txBox="1"/>
          <p:nvPr/>
        </p:nvSpPr>
        <p:spPr>
          <a:xfrm>
            <a:off x="640080" y="6035040"/>
            <a:ext cx="5577840" cy="365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888888"/>
                </a:solidFill>
              </a:rPr>
              <a:t>4 / 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384048"/>
            <a:ext cx="5349240" cy="896112"/>
          </a:xfrm>
          <a:prstGeom prst="homePlate">
            <a:avLst/>
          </a:prstGeom>
          <a:solidFill>
            <a:srgbClr val="2695C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11480"/>
            <a:ext cx="4251960" cy="82296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FFFFFF"/>
                </a:solidFill>
              </a:rPr>
              <a:t>계절 사진 한 장 남기기</a:t>
            </a:r>
          </a:p>
        </p:txBody>
      </p:sp>
      <p:sp>
        <p:nvSpPr>
          <p:cNvPr id="4" name="번호"/>
          <p:cNvSpPr txBox="1"/>
          <p:nvPr/>
        </p:nvSpPr>
        <p:spPr>
          <a:xfrm>
            <a:off x="640080" y="1737360"/>
            <a:ext cx="2194560" cy="12801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6600" b="1" i="0">
                <a:solidFill>
                  <a:srgbClr val="2695C5"/>
                </a:solidFill>
              </a:rPr>
              <a:t>05</a:t>
            </a:r>
          </a:p>
        </p:txBody>
      </p:sp>
      <p:sp>
        <p:nvSpPr>
          <p:cNvPr id="5" name="본문"/>
          <p:cNvSpPr txBox="1"/>
          <p:nvPr/>
        </p:nvSpPr>
        <p:spPr>
          <a:xfrm>
            <a:off x="640080" y="3200400"/>
            <a:ext cx="5577840" cy="2651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2800" b="0" i="0">
                <a:solidFill>
                  <a:srgbClr val="2B2B2B"/>
                </a:solidFill>
              </a:rPr>
              <a:t>같은 자리에서 계절마다 사진을 찍어 보세요.</a:t>
            </a:r>
          </a:p>
        </p:txBody>
      </p:sp>
      <p:sp>
        <p:nvSpPr>
          <p:cNvPr id="6" name="쪽 번호"/>
          <p:cNvSpPr txBox="1"/>
          <p:nvPr/>
        </p:nvSpPr>
        <p:spPr>
          <a:xfrm>
            <a:off x="640080" y="6035040"/>
            <a:ext cx="5577840" cy="365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888888"/>
                </a:solidFill>
              </a:rPr>
              <a:t>5 / 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표지 그림" descr="news-1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6858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960120"/>
            <a:ext cx="5486400" cy="146304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1485F"/>
                </a:solidFill>
              </a:rPr>
              <a:t>저장해 두고 필요할 때 꺼내 보세요</a:t>
            </a:r>
          </a:p>
        </p:txBody>
      </p:sp>
      <p:sp>
        <p:nvSpPr>
          <p:cNvPr id="4" name="한 줄 문구"/>
          <p:cNvSpPr txBox="1"/>
          <p:nvPr/>
        </p:nvSpPr>
        <p:spPr>
          <a:xfrm>
            <a:off x="685800" y="2560320"/>
            <a:ext cx="5486400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500" b="0" i="1">
                <a:solidFill>
                  <a:srgbClr val="11485F"/>
                </a:solidFill>
              </a:rPr>
              <a:t>마음에 들면 공유해 주세요</a:t>
            </a:r>
          </a:p>
        </p:txBody>
      </p:sp>
      <p:sp>
        <p:nvSpPr>
          <p:cNvPr id="5" name="안내 문구"/>
          <p:cNvSpPr txBox="1"/>
          <p:nvPr/>
        </p:nvSpPr>
        <p:spPr>
          <a:xfrm>
            <a:off x="685800" y="3429000"/>
            <a:ext cx="5486400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666666"/>
                </a:solidFill>
              </a:rPr>
              <a:t>이름 · 연락처를 입력하세요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카드뉴스(계절 안부)">
  <a:themeElements>
    <a:clrScheme name="Office">
      <a:dk1>
        <a:sysClr val="windowText" lastClr="000000"/>
      </a:dk1>
      <a:lt1>
        <a:sysClr val="window" lastClr="FFFFFF"/>
      </a:lt1>
      <a:dk2>
        <a:srgbClr val="11485F"/>
      </a:dk2>
      <a:lt2>
        <a:srgbClr val="EEF8FC"/>
      </a:lt2>
      <a:accent1>
        <a:srgbClr val="2695C5"/>
      </a:accent1>
      <a:accent2>
        <a:srgbClr val="209DB6"/>
      </a:accent2>
      <a:accent3>
        <a:srgbClr val="11485F"/>
      </a:accent3>
      <a:accent4>
        <a:srgbClr val="D1EEFA"/>
      </a:accent4>
      <a:accent5>
        <a:srgbClr val="2399BE"/>
      </a:accent5>
      <a:accent6>
        <a:srgbClr val="70919F"/>
      </a:accent6>
      <a:hlink>
        <a:srgbClr val="2695C5"/>
      </a:hlink>
      <a:folHlink>
        <a:srgbClr val="11485F"/>
      </a:folHlink>
    </a:clrScheme>
    <a:fontScheme name="Office">
      <a:maj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카드뉴스(계절 안부)</dc:title>
  <dc:subject/>
  <dc:creator>우체국보험 상담 안내</dc:creator>
  <cp:keywords/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