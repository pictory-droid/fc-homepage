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6858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2130425"/>
            <a:ext cx="58293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3886200"/>
            <a:ext cx="48006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4" y="4406900"/>
            <a:ext cx="58293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4" y="2906713"/>
            <a:ext cx="58293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535113"/>
            <a:ext cx="303014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2174875"/>
            <a:ext cx="303014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68" y="1535113"/>
            <a:ext cx="303133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68" y="2174875"/>
            <a:ext cx="303133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273050"/>
            <a:ext cx="225623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7" y="273050"/>
            <a:ext cx="383381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1435100"/>
            <a:ext cx="225623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6" y="4800600"/>
            <a:ext cx="41148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6" y="612775"/>
            <a:ext cx="41148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6" y="5367338"/>
            <a:ext cx="41148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7175" y="0"/>
            <a:ext cx="4629150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50" y="274638"/>
            <a:ext cx="154305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274638"/>
            <a:ext cx="451485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2057400"/>
            <a:ext cx="5760720" cy="1828800"/>
          </a:xfrm>
          <a:prstGeom prst="homePlate">
            <a:avLst/>
          </a:prstGeom>
          <a:solidFill>
            <a:srgbClr val="25799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3886200"/>
            <a:ext cx="5349240" cy="64008"/>
          </a:xfrm>
          <a:prstGeom prst="rect">
            <a:avLst/>
          </a:prstGeom>
          <a:solidFill>
            <a:srgbClr val="913B4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4636007" y="672084"/>
            <a:ext cx="2798064" cy="699516"/>
          </a:xfrm>
          <a:prstGeom prst="wave">
            <a:avLst/>
          </a:prstGeom>
          <a:solidFill>
            <a:srgbClr val="CCE9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4636007" y="1278331"/>
            <a:ext cx="2798064" cy="699516"/>
          </a:xfrm>
          <a:prstGeom prst="wave">
            <a:avLst/>
          </a:prstGeom>
          <a:solidFill>
            <a:srgbClr val="25799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4636007" y="1884578"/>
            <a:ext cx="2798064" cy="699516"/>
          </a:xfrm>
          <a:prstGeom prst="wave">
            <a:avLst/>
          </a:prstGeom>
          <a:solidFill>
            <a:srgbClr val="913B4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79" y="2167128"/>
            <a:ext cx="4937759" cy="1609344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FFFFFF"/>
                </a:solidFill>
              </a:rPr>
              <a:t>등대 같은 사람이 되어 주세요</a:t>
            </a:r>
          </a:p>
        </p:txBody>
      </p:sp>
      <p:sp>
        <p:nvSpPr>
          <p:cNvPr id="8" name="한 줄 문구"/>
          <p:cNvSpPr txBox="1"/>
          <p:nvPr/>
        </p:nvSpPr>
        <p:spPr>
          <a:xfrm>
            <a:off x="411479" y="4160520"/>
            <a:ext cx="480060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11394A"/>
                </a:solidFill>
              </a:rPr>
              <a:t>옆으로 넘겨 보세요 →</a:t>
            </a:r>
          </a:p>
        </p:txBody>
      </p:sp>
      <p:sp>
        <p:nvSpPr>
          <p:cNvPr id="9" name="안내 문구"/>
          <p:cNvSpPr txBox="1"/>
          <p:nvPr/>
        </p:nvSpPr>
        <p:spPr>
          <a:xfrm>
            <a:off x="411479" y="5029200"/>
            <a:ext cx="480060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66666"/>
                </a:solidFill>
              </a:rPr>
              <a:t>계절 안부 · 카드뉴스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384048"/>
            <a:ext cx="5349240" cy="896112"/>
          </a:xfrm>
          <a:prstGeom prst="homePlate">
            <a:avLst/>
          </a:prstGeom>
          <a:solidFill>
            <a:srgbClr val="25799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5385816" y="475488"/>
            <a:ext cx="1207008" cy="301752"/>
          </a:xfrm>
          <a:prstGeom prst="wave">
            <a:avLst/>
          </a:prstGeom>
          <a:solidFill>
            <a:srgbClr val="CCE9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5385816" y="737006"/>
            <a:ext cx="1207008" cy="301752"/>
          </a:xfrm>
          <a:prstGeom prst="wave">
            <a:avLst/>
          </a:prstGeom>
          <a:solidFill>
            <a:srgbClr val="25799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5385816" y="998524"/>
            <a:ext cx="1207008" cy="301752"/>
          </a:xfrm>
          <a:prstGeom prst="wave">
            <a:avLst/>
          </a:prstGeom>
          <a:solidFill>
            <a:srgbClr val="913B4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4251960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FFFFFF"/>
                </a:solidFill>
              </a:rPr>
              <a:t>겉옷 한 벌 챙기세요</a:t>
            </a:r>
          </a:p>
        </p:txBody>
      </p:sp>
      <p:sp>
        <p:nvSpPr>
          <p:cNvPr id="7" name="번호"/>
          <p:cNvSpPr txBox="1"/>
          <p:nvPr/>
        </p:nvSpPr>
        <p:spPr>
          <a:xfrm>
            <a:off x="640080" y="173736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25799D"/>
                </a:solidFill>
              </a:rPr>
              <a:t>01</a:t>
            </a:r>
          </a:p>
        </p:txBody>
      </p:sp>
      <p:sp>
        <p:nvSpPr>
          <p:cNvPr id="8" name="본문"/>
          <p:cNvSpPr txBox="1"/>
          <p:nvPr/>
        </p:nvSpPr>
        <p:spPr>
          <a:xfrm>
            <a:off x="640080" y="320040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아침저녁 기온 차가 큰 때에는 얇은 겉옷이 든든해요.</a:t>
            </a:r>
          </a:p>
        </p:txBody>
      </p:sp>
      <p:sp>
        <p:nvSpPr>
          <p:cNvPr id="9" name="쪽 번호"/>
          <p:cNvSpPr txBox="1"/>
          <p:nvPr/>
        </p:nvSpPr>
        <p:spPr>
          <a:xfrm>
            <a:off x="640080" y="60350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1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384048"/>
            <a:ext cx="5349240" cy="896112"/>
          </a:xfrm>
          <a:prstGeom prst="homePlate">
            <a:avLst/>
          </a:prstGeom>
          <a:solidFill>
            <a:srgbClr val="25799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5385816" y="475488"/>
            <a:ext cx="1207008" cy="301752"/>
          </a:xfrm>
          <a:prstGeom prst="wave">
            <a:avLst/>
          </a:prstGeom>
          <a:solidFill>
            <a:srgbClr val="CCE9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5385816" y="737006"/>
            <a:ext cx="1207008" cy="301752"/>
          </a:xfrm>
          <a:prstGeom prst="wave">
            <a:avLst/>
          </a:prstGeom>
          <a:solidFill>
            <a:srgbClr val="25799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5385816" y="998524"/>
            <a:ext cx="1207008" cy="301752"/>
          </a:xfrm>
          <a:prstGeom prst="wave">
            <a:avLst/>
          </a:prstGeom>
          <a:solidFill>
            <a:srgbClr val="913B4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4251960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FFFFFF"/>
                </a:solidFill>
              </a:rPr>
              <a:t>계절 인사 한 줄 보내기</a:t>
            </a:r>
          </a:p>
        </p:txBody>
      </p:sp>
      <p:sp>
        <p:nvSpPr>
          <p:cNvPr id="7" name="번호"/>
          <p:cNvSpPr txBox="1"/>
          <p:nvPr/>
        </p:nvSpPr>
        <p:spPr>
          <a:xfrm>
            <a:off x="640080" y="173736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25799D"/>
                </a:solidFill>
              </a:rPr>
              <a:t>02</a:t>
            </a:r>
          </a:p>
        </p:txBody>
      </p:sp>
      <p:sp>
        <p:nvSpPr>
          <p:cNvPr id="8" name="본문"/>
          <p:cNvSpPr txBox="1"/>
          <p:nvPr/>
        </p:nvSpPr>
        <p:spPr>
          <a:xfrm>
            <a:off x="640080" y="320040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안부를 묻는 짧은 메시지가 하루를 따뜻하게 해요.</a:t>
            </a:r>
          </a:p>
        </p:txBody>
      </p:sp>
      <p:sp>
        <p:nvSpPr>
          <p:cNvPr id="9" name="쪽 번호"/>
          <p:cNvSpPr txBox="1"/>
          <p:nvPr/>
        </p:nvSpPr>
        <p:spPr>
          <a:xfrm>
            <a:off x="640080" y="60350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2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384048"/>
            <a:ext cx="5349240" cy="896112"/>
          </a:xfrm>
          <a:prstGeom prst="homePlate">
            <a:avLst/>
          </a:prstGeom>
          <a:solidFill>
            <a:srgbClr val="25799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5385816" y="475488"/>
            <a:ext cx="1207008" cy="301752"/>
          </a:xfrm>
          <a:prstGeom prst="wave">
            <a:avLst/>
          </a:prstGeom>
          <a:solidFill>
            <a:srgbClr val="CCE9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5385816" y="737006"/>
            <a:ext cx="1207008" cy="301752"/>
          </a:xfrm>
          <a:prstGeom prst="wave">
            <a:avLst/>
          </a:prstGeom>
          <a:solidFill>
            <a:srgbClr val="25799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5385816" y="998524"/>
            <a:ext cx="1207008" cy="301752"/>
          </a:xfrm>
          <a:prstGeom prst="wave">
            <a:avLst/>
          </a:prstGeom>
          <a:solidFill>
            <a:srgbClr val="913B4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4251960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FFFFFF"/>
                </a:solidFill>
              </a:rPr>
              <a:t>제철 음식으로 기운 채우기</a:t>
            </a:r>
          </a:p>
        </p:txBody>
      </p:sp>
      <p:sp>
        <p:nvSpPr>
          <p:cNvPr id="7" name="번호"/>
          <p:cNvSpPr txBox="1"/>
          <p:nvPr/>
        </p:nvSpPr>
        <p:spPr>
          <a:xfrm>
            <a:off x="640080" y="173736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25799D"/>
                </a:solidFill>
              </a:rPr>
              <a:t>03</a:t>
            </a:r>
          </a:p>
        </p:txBody>
      </p:sp>
      <p:sp>
        <p:nvSpPr>
          <p:cNvPr id="8" name="본문"/>
          <p:cNvSpPr txBox="1"/>
          <p:nvPr/>
        </p:nvSpPr>
        <p:spPr>
          <a:xfrm>
            <a:off x="640080" y="320040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지금 가장 맛있는 제철 음식을 가족과 나눠 보세요.</a:t>
            </a:r>
          </a:p>
        </p:txBody>
      </p:sp>
      <p:sp>
        <p:nvSpPr>
          <p:cNvPr id="9" name="쪽 번호"/>
          <p:cNvSpPr txBox="1"/>
          <p:nvPr/>
        </p:nvSpPr>
        <p:spPr>
          <a:xfrm>
            <a:off x="640080" y="60350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3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384048"/>
            <a:ext cx="5349240" cy="896112"/>
          </a:xfrm>
          <a:prstGeom prst="homePlate">
            <a:avLst/>
          </a:prstGeom>
          <a:solidFill>
            <a:srgbClr val="25799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5385816" y="475488"/>
            <a:ext cx="1207008" cy="301752"/>
          </a:xfrm>
          <a:prstGeom prst="wave">
            <a:avLst/>
          </a:prstGeom>
          <a:solidFill>
            <a:srgbClr val="CCE9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5385816" y="737006"/>
            <a:ext cx="1207008" cy="301752"/>
          </a:xfrm>
          <a:prstGeom prst="wave">
            <a:avLst/>
          </a:prstGeom>
          <a:solidFill>
            <a:srgbClr val="25799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5385816" y="998524"/>
            <a:ext cx="1207008" cy="301752"/>
          </a:xfrm>
          <a:prstGeom prst="wave">
            <a:avLst/>
          </a:prstGeom>
          <a:solidFill>
            <a:srgbClr val="913B4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4251960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FFFFFF"/>
                </a:solidFill>
              </a:rPr>
              <a:t>창문 열고 환기하기</a:t>
            </a:r>
          </a:p>
        </p:txBody>
      </p:sp>
      <p:sp>
        <p:nvSpPr>
          <p:cNvPr id="7" name="번호"/>
          <p:cNvSpPr txBox="1"/>
          <p:nvPr/>
        </p:nvSpPr>
        <p:spPr>
          <a:xfrm>
            <a:off x="640080" y="173736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25799D"/>
                </a:solidFill>
              </a:rPr>
              <a:t>04</a:t>
            </a:r>
          </a:p>
        </p:txBody>
      </p:sp>
      <p:sp>
        <p:nvSpPr>
          <p:cNvPr id="8" name="본문"/>
          <p:cNvSpPr txBox="1"/>
          <p:nvPr/>
        </p:nvSpPr>
        <p:spPr>
          <a:xfrm>
            <a:off x="640080" y="320040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하루 두 번 십 분씩 환기하면 집 안 공기가 달라져요.</a:t>
            </a:r>
          </a:p>
        </p:txBody>
      </p:sp>
      <p:sp>
        <p:nvSpPr>
          <p:cNvPr id="9" name="쪽 번호"/>
          <p:cNvSpPr txBox="1"/>
          <p:nvPr/>
        </p:nvSpPr>
        <p:spPr>
          <a:xfrm>
            <a:off x="640080" y="60350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4 /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384048"/>
            <a:ext cx="5349240" cy="896112"/>
          </a:xfrm>
          <a:prstGeom prst="homePlate">
            <a:avLst/>
          </a:prstGeom>
          <a:solidFill>
            <a:srgbClr val="25799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5385816" y="475488"/>
            <a:ext cx="1207008" cy="301752"/>
          </a:xfrm>
          <a:prstGeom prst="wave">
            <a:avLst/>
          </a:prstGeom>
          <a:solidFill>
            <a:srgbClr val="CCE9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5385816" y="737006"/>
            <a:ext cx="1207008" cy="301752"/>
          </a:xfrm>
          <a:prstGeom prst="wave">
            <a:avLst/>
          </a:prstGeom>
          <a:solidFill>
            <a:srgbClr val="25799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5385816" y="998524"/>
            <a:ext cx="1207008" cy="301752"/>
          </a:xfrm>
          <a:prstGeom prst="wave">
            <a:avLst/>
          </a:prstGeom>
          <a:solidFill>
            <a:srgbClr val="913B4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4251960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FFFFFF"/>
                </a:solidFill>
              </a:rPr>
              <a:t>계절 사진 한 장 남기기</a:t>
            </a:r>
          </a:p>
        </p:txBody>
      </p:sp>
      <p:sp>
        <p:nvSpPr>
          <p:cNvPr id="7" name="번호"/>
          <p:cNvSpPr txBox="1"/>
          <p:nvPr/>
        </p:nvSpPr>
        <p:spPr>
          <a:xfrm>
            <a:off x="640080" y="173736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25799D"/>
                </a:solidFill>
              </a:rPr>
              <a:t>05</a:t>
            </a:r>
          </a:p>
        </p:txBody>
      </p:sp>
      <p:sp>
        <p:nvSpPr>
          <p:cNvPr id="8" name="본문"/>
          <p:cNvSpPr txBox="1"/>
          <p:nvPr/>
        </p:nvSpPr>
        <p:spPr>
          <a:xfrm>
            <a:off x="640080" y="320040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같은 자리에서 계절마다 사진을 찍어 보세요.</a:t>
            </a:r>
          </a:p>
        </p:txBody>
      </p:sp>
      <p:sp>
        <p:nvSpPr>
          <p:cNvPr id="9" name="쪽 번호"/>
          <p:cNvSpPr txBox="1"/>
          <p:nvPr/>
        </p:nvSpPr>
        <p:spPr>
          <a:xfrm>
            <a:off x="640080" y="60350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5 /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2057400"/>
            <a:ext cx="5760720" cy="1828800"/>
          </a:xfrm>
          <a:prstGeom prst="homePlate">
            <a:avLst/>
          </a:prstGeom>
          <a:solidFill>
            <a:srgbClr val="25799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3886200"/>
            <a:ext cx="5349240" cy="64008"/>
          </a:xfrm>
          <a:prstGeom prst="rect">
            <a:avLst/>
          </a:prstGeom>
          <a:solidFill>
            <a:srgbClr val="913B4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4636007" y="672084"/>
            <a:ext cx="2798064" cy="699516"/>
          </a:xfrm>
          <a:prstGeom prst="wave">
            <a:avLst/>
          </a:prstGeom>
          <a:solidFill>
            <a:srgbClr val="CCE9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4636007" y="1278331"/>
            <a:ext cx="2798064" cy="699516"/>
          </a:xfrm>
          <a:prstGeom prst="wave">
            <a:avLst/>
          </a:prstGeom>
          <a:solidFill>
            <a:srgbClr val="25799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4636007" y="1884578"/>
            <a:ext cx="2798064" cy="699516"/>
          </a:xfrm>
          <a:prstGeom prst="wave">
            <a:avLst/>
          </a:prstGeom>
          <a:solidFill>
            <a:srgbClr val="913B4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79" y="2167128"/>
            <a:ext cx="4937759" cy="1609344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FFFFFF"/>
                </a:solidFill>
              </a:rPr>
              <a:t>저장해 두고 필요할 때 꺼내 보세요</a:t>
            </a:r>
          </a:p>
        </p:txBody>
      </p:sp>
      <p:sp>
        <p:nvSpPr>
          <p:cNvPr id="8" name="한 줄 문구"/>
          <p:cNvSpPr txBox="1"/>
          <p:nvPr/>
        </p:nvSpPr>
        <p:spPr>
          <a:xfrm>
            <a:off x="411479" y="4160520"/>
            <a:ext cx="480060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11394A"/>
                </a:solidFill>
              </a:rPr>
              <a:t>마음에 들면 공유해 주세요</a:t>
            </a:r>
          </a:p>
        </p:txBody>
      </p:sp>
      <p:sp>
        <p:nvSpPr>
          <p:cNvPr id="9" name="안내 문구"/>
          <p:cNvSpPr txBox="1"/>
          <p:nvPr/>
        </p:nvSpPr>
        <p:spPr>
          <a:xfrm>
            <a:off x="411479" y="5029200"/>
            <a:ext cx="480060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66666"/>
                </a:solidFill>
              </a:rPr>
              <a:t>이름 · 연락처를 입력하세요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카드뉴스(계절 안부)">
  <a:themeElements>
    <a:clrScheme name="Office">
      <a:dk1>
        <a:sysClr val="windowText" lastClr="000000"/>
      </a:dk1>
      <a:lt1>
        <a:sysClr val="window" lastClr="FFFFFF"/>
      </a:lt1>
      <a:dk2>
        <a:srgbClr val="11394A"/>
      </a:dk2>
      <a:lt2>
        <a:srgbClr val="EEF7FB"/>
      </a:lt2>
      <a:accent1>
        <a:srgbClr val="25799D"/>
      </a:accent1>
      <a:accent2>
        <a:srgbClr val="913B4C"/>
      </a:accent2>
      <a:accent3>
        <a:srgbClr val="11394A"/>
      </a:accent3>
      <a:accent4>
        <a:srgbClr val="CCE9F5"/>
      </a:accent4>
      <a:accent5>
        <a:srgbClr val="5B5A74"/>
      </a:accent5>
      <a:accent6>
        <a:srgbClr val="708892"/>
      </a:accent6>
      <a:hlink>
        <a:srgbClr val="25799D"/>
      </a:hlink>
      <a:folHlink>
        <a:srgbClr val="11394A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카드뉴스(계절 안부)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