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noFill/>
          <a:ln w="38100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5943600" cy="5943600"/>
          </a:xfrm>
          <a:prstGeom prst="rect">
            <a:avLst/>
          </a:prstGeom>
          <a:noFill/>
          <a:ln w="12700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2843751" y="1892961"/>
            <a:ext cx="162537" cy="162537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2873926" y="1406538"/>
            <a:ext cx="121904" cy="121904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4140710" y="1032861"/>
            <a:ext cx="291588" cy="291588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3934785" y="1925783"/>
            <a:ext cx="196685" cy="196685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3369676" y="1163085"/>
            <a:ext cx="175281" cy="175281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4107494" y="422702"/>
            <a:ext cx="269928" cy="269928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3030186" y="864261"/>
            <a:ext cx="350758" cy="350758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2476306" y="1481383"/>
            <a:ext cx="279133" cy="279133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2654203" y="1210073"/>
            <a:ext cx="227398" cy="227398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3239302" y="491309"/>
            <a:ext cx="355363" cy="355363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2772919" y="946715"/>
            <a:ext cx="115868" cy="115868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153C26"/>
                </a:solidFill>
              </a:rPr>
              <a:t>여름 건강 지킴이 한 줄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822959" y="3794760"/>
            <a:ext cx="521208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1">
                <a:solidFill>
                  <a:srgbClr val="153C26"/>
                </a:solidFill>
              </a:rPr>
              <a:t>옆으로 넘겨 보세요 →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822959" y="4663440"/>
            <a:ext cx="521208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알뜰 생활 팁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389862" y="1249765"/>
            <a:ext cx="90298" cy="90298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406625" y="979530"/>
            <a:ext cx="67724" cy="67724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110394" y="771931"/>
            <a:ext cx="161993" cy="161993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995991" y="1267999"/>
            <a:ext cx="109269" cy="109269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682042" y="844278"/>
            <a:ext cx="97378" cy="97378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091941" y="432954"/>
            <a:ext cx="149960" cy="149960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5493437" y="678265"/>
            <a:ext cx="194866" cy="194866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185725" y="1021110"/>
            <a:ext cx="155073" cy="155073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284557" y="870382"/>
            <a:ext cx="126332" cy="126332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609612" y="471069"/>
            <a:ext cx="197424" cy="197424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350510" y="724073"/>
            <a:ext cx="64371" cy="64371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53C26"/>
                </a:solidFill>
              </a:rPr>
              <a:t>이번 달 고정지출부터 적어요</a:t>
            </a:r>
          </a:p>
        </p:txBody>
      </p:sp>
      <p:sp>
        <p:nvSpPr>
          <p:cNvPr id="16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08854"/>
                </a:solidFill>
              </a:rPr>
              <a:t>01</a:t>
            </a:r>
          </a:p>
        </p:txBody>
      </p:sp>
      <p:sp>
        <p:nvSpPr>
          <p:cNvPr id="17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월세·통신비·구독료처럼 매달 나가는 돈부터 한곳에 적어 보면 새는 곳이 보여요.</a:t>
            </a:r>
          </a:p>
        </p:txBody>
      </p:sp>
      <p:sp>
        <p:nvSpPr>
          <p:cNvPr id="18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389862" y="1249765"/>
            <a:ext cx="90298" cy="90298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406625" y="979530"/>
            <a:ext cx="67724" cy="67724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110394" y="771931"/>
            <a:ext cx="161993" cy="161993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995991" y="1267999"/>
            <a:ext cx="109269" cy="109269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682042" y="844278"/>
            <a:ext cx="97378" cy="97378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091941" y="432954"/>
            <a:ext cx="149960" cy="149960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5493437" y="678265"/>
            <a:ext cx="194866" cy="194866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185725" y="1021110"/>
            <a:ext cx="155073" cy="155073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284557" y="870382"/>
            <a:ext cx="126332" cy="126332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609612" y="471069"/>
            <a:ext cx="197424" cy="197424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350510" y="724073"/>
            <a:ext cx="64371" cy="64371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53C26"/>
                </a:solidFill>
              </a:rPr>
              <a:t>카드 대신 현금 한 주</a:t>
            </a:r>
          </a:p>
        </p:txBody>
      </p:sp>
      <p:sp>
        <p:nvSpPr>
          <p:cNvPr id="16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08854"/>
                </a:solidFill>
              </a:rPr>
              <a:t>02</a:t>
            </a:r>
          </a:p>
        </p:txBody>
      </p:sp>
      <p:sp>
        <p:nvSpPr>
          <p:cNvPr id="17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일주일만 현금으로 써 보면 충동구매가 눈에 띄게 줄어요.</a:t>
            </a:r>
          </a:p>
        </p:txBody>
      </p:sp>
      <p:sp>
        <p:nvSpPr>
          <p:cNvPr id="18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389862" y="1249765"/>
            <a:ext cx="90298" cy="90298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406625" y="979530"/>
            <a:ext cx="67724" cy="67724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110394" y="771931"/>
            <a:ext cx="161993" cy="161993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995991" y="1267999"/>
            <a:ext cx="109269" cy="109269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682042" y="844278"/>
            <a:ext cx="97378" cy="97378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091941" y="432954"/>
            <a:ext cx="149960" cy="149960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5493437" y="678265"/>
            <a:ext cx="194866" cy="194866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185725" y="1021110"/>
            <a:ext cx="155073" cy="155073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284557" y="870382"/>
            <a:ext cx="126332" cy="126332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609612" y="471069"/>
            <a:ext cx="197424" cy="197424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350510" y="724073"/>
            <a:ext cx="64371" cy="64371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53C26"/>
                </a:solidFill>
              </a:rPr>
              <a:t>장보기 전 냉장고 사진</a:t>
            </a:r>
          </a:p>
        </p:txBody>
      </p:sp>
      <p:sp>
        <p:nvSpPr>
          <p:cNvPr id="16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08854"/>
                </a:solidFill>
              </a:rPr>
              <a:t>03</a:t>
            </a:r>
          </a:p>
        </p:txBody>
      </p:sp>
      <p:sp>
        <p:nvSpPr>
          <p:cNvPr id="17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있는 재료를 확인하고 가면 같은 식재료를 또 사는 일이 줄어요.</a:t>
            </a:r>
          </a:p>
        </p:txBody>
      </p:sp>
      <p:sp>
        <p:nvSpPr>
          <p:cNvPr id="18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389862" y="1249765"/>
            <a:ext cx="90298" cy="90298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406625" y="979530"/>
            <a:ext cx="67724" cy="67724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110394" y="771931"/>
            <a:ext cx="161993" cy="161993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995991" y="1267999"/>
            <a:ext cx="109269" cy="109269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682042" y="844278"/>
            <a:ext cx="97378" cy="97378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091941" y="432954"/>
            <a:ext cx="149960" cy="149960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5493437" y="678265"/>
            <a:ext cx="194866" cy="194866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185725" y="1021110"/>
            <a:ext cx="155073" cy="155073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284557" y="870382"/>
            <a:ext cx="126332" cy="126332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609612" y="471069"/>
            <a:ext cx="197424" cy="197424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350510" y="724073"/>
            <a:ext cx="64371" cy="64371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53C26"/>
                </a:solidFill>
              </a:rPr>
              <a:t>작은 목표 통장 만들기</a:t>
            </a:r>
          </a:p>
        </p:txBody>
      </p:sp>
      <p:sp>
        <p:nvSpPr>
          <p:cNvPr id="16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08854"/>
                </a:solidFill>
              </a:rPr>
              <a:t>04</a:t>
            </a:r>
          </a:p>
        </p:txBody>
      </p:sp>
      <p:sp>
        <p:nvSpPr>
          <p:cNvPr id="17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여행·선물·비상금처럼 이름을 붙이면 모으는 재미가 커져요.</a:t>
            </a:r>
          </a:p>
        </p:txBody>
      </p:sp>
      <p:sp>
        <p:nvSpPr>
          <p:cNvPr id="18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389862" y="1249765"/>
            <a:ext cx="90298" cy="90298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406625" y="979530"/>
            <a:ext cx="67724" cy="67724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110394" y="771931"/>
            <a:ext cx="161993" cy="161993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995991" y="1267999"/>
            <a:ext cx="109269" cy="109269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682042" y="844278"/>
            <a:ext cx="97378" cy="97378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091941" y="432954"/>
            <a:ext cx="149960" cy="149960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5493437" y="678265"/>
            <a:ext cx="194866" cy="194866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185725" y="1021110"/>
            <a:ext cx="155073" cy="155073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284557" y="870382"/>
            <a:ext cx="126332" cy="126332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609612" y="471069"/>
            <a:ext cx="197424" cy="197424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350510" y="724073"/>
            <a:ext cx="64371" cy="64371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53C26"/>
                </a:solidFill>
              </a:rPr>
              <a:t>주말 5분 가계부</a:t>
            </a:r>
          </a:p>
        </p:txBody>
      </p:sp>
      <p:sp>
        <p:nvSpPr>
          <p:cNvPr id="16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08854"/>
                </a:solidFill>
              </a:rPr>
              <a:t>05</a:t>
            </a:r>
          </a:p>
        </p:txBody>
      </p:sp>
      <p:sp>
        <p:nvSpPr>
          <p:cNvPr id="17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영수증을 모아 두었다가 주말에 5분만 적어 보세요.</a:t>
            </a:r>
          </a:p>
        </p:txBody>
      </p:sp>
      <p:sp>
        <p:nvSpPr>
          <p:cNvPr id="18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noFill/>
          <a:ln w="38100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5943600" cy="5943600"/>
          </a:xfrm>
          <a:prstGeom prst="rect">
            <a:avLst/>
          </a:prstGeom>
          <a:noFill/>
          <a:ln w="12700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2843751" y="1892961"/>
            <a:ext cx="162537" cy="162537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2873926" y="1406538"/>
            <a:ext cx="121904" cy="121904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4140710" y="1032861"/>
            <a:ext cx="291588" cy="291588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3934785" y="1925783"/>
            <a:ext cx="196685" cy="196685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3369676" y="1163085"/>
            <a:ext cx="175281" cy="175281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4107494" y="422702"/>
            <a:ext cx="269928" cy="269928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3030186" y="864261"/>
            <a:ext cx="350758" cy="350758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2476306" y="1481383"/>
            <a:ext cx="279133" cy="279133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2654203" y="1210073"/>
            <a:ext cx="227398" cy="227398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3239302" y="491309"/>
            <a:ext cx="355363" cy="355363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2772919" y="946715"/>
            <a:ext cx="115868" cy="115868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153C26"/>
                </a:solidFill>
              </a:rPr>
              <a:t>저장해 두고 필요할 때 꺼내 보세요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822959" y="3794760"/>
            <a:ext cx="521208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1">
                <a:solidFill>
                  <a:srgbClr val="153C26"/>
                </a:solidFill>
              </a:rPr>
              <a:t>마음에 들면 공유해 주세요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822959" y="4663440"/>
            <a:ext cx="521208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알뜰 생활 팁)">
  <a:themeElements>
    <a:clrScheme name="Office">
      <a:dk1>
        <a:sysClr val="windowText" lastClr="000000"/>
      </a:dk1>
      <a:lt1>
        <a:sysClr val="window" lastClr="FFFFFF"/>
      </a:lt1>
      <a:dk2>
        <a:srgbClr val="153C26"/>
      </a:dk2>
      <a:lt2>
        <a:srgbClr val="F0FAF4"/>
      </a:lt2>
      <a:accent1>
        <a:srgbClr val="308854"/>
      </a:accent1>
      <a:accent2>
        <a:srgbClr val="8A3B91"/>
      </a:accent2>
      <a:accent3>
        <a:srgbClr val="153C26"/>
      </a:accent3>
      <a:accent4>
        <a:srgbClr val="D0F1DE"/>
      </a:accent4>
      <a:accent5>
        <a:srgbClr val="5D6272"/>
      </a:accent5>
      <a:accent6>
        <a:srgbClr val="738A7D"/>
      </a:accent6>
      <a:hlink>
        <a:srgbClr val="308854"/>
      </a:hlink>
      <a:folHlink>
        <a:srgbClr val="153C26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