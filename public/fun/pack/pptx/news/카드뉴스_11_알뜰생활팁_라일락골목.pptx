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6858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2130425"/>
            <a:ext cx="58293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028700" y="3886200"/>
            <a:ext cx="48006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1734" y="4406900"/>
            <a:ext cx="58293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41734" y="2906713"/>
            <a:ext cx="58293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4290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86150" y="1600200"/>
            <a:ext cx="302895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535113"/>
            <a:ext cx="303014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2900" y="2174875"/>
            <a:ext cx="303014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83768" y="1535113"/>
            <a:ext cx="3031331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83768" y="2174875"/>
            <a:ext cx="3031331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273050"/>
            <a:ext cx="225623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681287" y="273050"/>
            <a:ext cx="3833812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1435100"/>
            <a:ext cx="225623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44216" y="4800600"/>
            <a:ext cx="41148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344216" y="612775"/>
            <a:ext cx="41148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344216" y="5367338"/>
            <a:ext cx="41148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7175" y="0"/>
            <a:ext cx="4629150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7175" y="0"/>
            <a:ext cx="4629150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72050" y="274638"/>
            <a:ext cx="154305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42900" y="274638"/>
            <a:ext cx="451485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257175" y="0"/>
            <a:ext cx="1200150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757362" y="0"/>
            <a:ext cx="16287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3686175" y="0"/>
            <a:ext cx="1200150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42900" y="274638"/>
            <a:ext cx="61722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2900" y="1600200"/>
            <a:ext cx="61722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42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343150" y="6356350"/>
            <a:ext cx="21717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914900" y="635635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4E226D"/>
                </a:solidFill>
              </a:rPr>
              <a:t>장보기 전에 냉장고부터 열어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E226D"/>
                </a:solidFill>
              </a:rPr>
              <a:t>옆으로 넘겨 보세요 →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알뜰 생활 팁 · 카드뉴스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E226D"/>
                </a:solidFill>
              </a:rPr>
              <a:t>이번 달 고정지출부터 적어요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651C8"/>
                </a:solidFill>
              </a:rPr>
              <a:t>01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월세·통신비·구독료처럼 매달 나가는 돈부터 한곳에 적어 보면 새는 곳이 보여요.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1 / 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E226D"/>
                </a:solidFill>
              </a:rPr>
              <a:t>카드 대신 현금 한 주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651C8"/>
                </a:solidFill>
              </a:rPr>
              <a:t>02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일주일만 현금으로 써 보면 충동구매가 눈에 띄게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2 / 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E226D"/>
                </a:solidFill>
              </a:rPr>
              <a:t>장보기 전 냉장고 사진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651C8"/>
                </a:solidFill>
              </a:rPr>
              <a:t>03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있는 재료를 확인하고 가면 같은 식재료를 또 사는 일이 줄어요.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3 / 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E226D"/>
                </a:solidFill>
              </a:rPr>
              <a:t>작은 목표 통장 만들기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651C8"/>
                </a:solidFill>
              </a:rPr>
              <a:t>04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여행·선물·비상금처럼 이름을 붙이면 모으는 재미가 커져요.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4 / 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4572000" y="-1463040"/>
            <a:ext cx="3840480" cy="3840480"/>
          </a:xfrm>
          <a:prstGeom prst="ellipse">
            <a:avLst/>
          </a:prstGeom>
          <a:solidFill>
            <a:srgbClr val="E8D4F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장식"/>
          <p:cNvSpPr/>
          <p:nvPr/>
        </p:nvSpPr>
        <p:spPr>
          <a:xfrm>
            <a:off x="5760720" y="274320"/>
            <a:ext cx="411480" cy="411480"/>
          </a:xfrm>
          <a:prstGeom prst="ellipse">
            <a:avLst/>
          </a:prstGeom>
          <a:solidFill>
            <a:srgbClr val="9651C8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57200"/>
            <a:ext cx="4389120" cy="8686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4E226D"/>
                </a:solidFill>
              </a:rPr>
              <a:t>주말 5분 가계부</a:t>
            </a:r>
          </a:p>
        </p:txBody>
      </p:sp>
      <p:sp>
        <p:nvSpPr>
          <p:cNvPr id="5" name="번호"/>
          <p:cNvSpPr txBox="1"/>
          <p:nvPr/>
        </p:nvSpPr>
        <p:spPr>
          <a:xfrm>
            <a:off x="640080" y="1691640"/>
            <a:ext cx="2194560" cy="12801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6600" b="1" i="0">
                <a:solidFill>
                  <a:srgbClr val="9651C8"/>
                </a:solidFill>
              </a:rPr>
              <a:t>05</a:t>
            </a:r>
          </a:p>
        </p:txBody>
      </p:sp>
      <p:sp>
        <p:nvSpPr>
          <p:cNvPr id="6" name="본문"/>
          <p:cNvSpPr txBox="1"/>
          <p:nvPr/>
        </p:nvSpPr>
        <p:spPr>
          <a:xfrm>
            <a:off x="640080" y="3154680"/>
            <a:ext cx="5577840" cy="2651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40000"/>
              </a:lnSpc>
            </a:pPr>
            <a:r>
              <a:rPr sz="2800" b="0" i="0">
                <a:solidFill>
                  <a:srgbClr val="2B2B2B"/>
                </a:solidFill>
              </a:rPr>
              <a:t>영수증을 모아 두었다가 주말에 5분만 적어 보세요.</a:t>
            </a:r>
          </a:p>
        </p:txBody>
      </p:sp>
      <p:sp>
        <p:nvSpPr>
          <p:cNvPr id="7" name="쪽 번호"/>
          <p:cNvSpPr txBox="1"/>
          <p:nvPr/>
        </p:nvSpPr>
        <p:spPr>
          <a:xfrm>
            <a:off x="640080" y="6035040"/>
            <a:ext cx="5577840" cy="3657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r">
              <a:lnSpc>
                <a:spcPct val="115000"/>
              </a:lnSpc>
            </a:pPr>
            <a:r>
              <a:rPr sz="1200" b="0" i="0">
                <a:solidFill>
                  <a:srgbClr val="888888"/>
                </a:solidFill>
              </a:rPr>
              <a:t>5 / 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news-1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6858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960120"/>
            <a:ext cx="5486400" cy="146304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2800" b="1" i="0">
                <a:solidFill>
                  <a:srgbClr val="4E226D"/>
                </a:solidFill>
              </a:rPr>
              <a:t>저장해 두고 필요할 때 꺼내 보세요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685800" y="2560320"/>
            <a:ext cx="5486400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4E226D"/>
                </a:solidFill>
              </a:rPr>
              <a:t>마음에 들면 공유해 주세요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685800" y="3429000"/>
            <a:ext cx="5486400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66666"/>
                </a:solidFill>
              </a:rPr>
              <a:t>이름 · 연락처를 입력하세요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카드뉴스(알뜰 생활 팁)">
  <a:themeElements>
    <a:clrScheme name="Office">
      <a:dk1>
        <a:sysClr val="windowText" lastClr="000000"/>
      </a:dk1>
      <a:lt1>
        <a:sysClr val="window" lastClr="FFFFFF"/>
      </a:lt1>
      <a:dk2>
        <a:srgbClr val="4E226D"/>
      </a:dk2>
      <a:lt2>
        <a:srgbClr val="F8F3FC"/>
      </a:lt2>
      <a:accent1>
        <a:srgbClr val="9651C8"/>
      </a:accent1>
      <a:accent2>
        <a:srgbClr val="339941"/>
      </a:accent2>
      <a:accent3>
        <a:srgbClr val="4E226D"/>
      </a:accent3>
      <a:accent4>
        <a:srgbClr val="E8D4F7"/>
      </a:accent4>
      <a:accent5>
        <a:srgbClr val="647584"/>
      </a:accent5>
      <a:accent6>
        <a:srgbClr val="957AA7"/>
      </a:accent6>
      <a:hlink>
        <a:srgbClr val="9651C8"/>
      </a:hlink>
      <a:folHlink>
        <a:srgbClr val="4E226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카드뉴스(알뜰 생활 팁)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