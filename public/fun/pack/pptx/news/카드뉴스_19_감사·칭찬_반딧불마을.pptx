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6858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2130425"/>
            <a:ext cx="58293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28700" y="3886200"/>
            <a:ext cx="48006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1734" y="4406900"/>
            <a:ext cx="58293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1734" y="2906713"/>
            <a:ext cx="58293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42900" y="1600200"/>
            <a:ext cx="302895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86150" y="1600200"/>
            <a:ext cx="302895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2900" y="1535113"/>
            <a:ext cx="3030141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2900" y="2174875"/>
            <a:ext cx="3030141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83768" y="1535113"/>
            <a:ext cx="3031331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83768" y="2174875"/>
            <a:ext cx="3031331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2900" y="273050"/>
            <a:ext cx="225623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681287" y="273050"/>
            <a:ext cx="3833812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42900" y="1435100"/>
            <a:ext cx="225623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44216" y="4800600"/>
            <a:ext cx="41148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344216" y="612775"/>
            <a:ext cx="41148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344216" y="5367338"/>
            <a:ext cx="41148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57175" y="0"/>
            <a:ext cx="4629150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72050" y="274638"/>
            <a:ext cx="154305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42900" y="274638"/>
            <a:ext cx="451485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42900" y="274638"/>
            <a:ext cx="61722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2900" y="1600200"/>
            <a:ext cx="61722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42900" y="635635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343150" y="6356350"/>
            <a:ext cx="21717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914900" y="635635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news-1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960120"/>
            <a:ext cx="5486400" cy="146304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43D30"/>
                </a:solidFill>
              </a:rPr>
              <a:t>동료에게 고맙다고 말해 본 적 있나요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685800" y="2560320"/>
            <a:ext cx="5486400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1">
                <a:solidFill>
                  <a:srgbClr val="143D30"/>
                </a:solidFill>
              </a:rPr>
              <a:t>옆으로 넘겨 보세요 →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685800" y="3429000"/>
            <a:ext cx="5486400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66666"/>
                </a:solidFill>
              </a:rPr>
              <a:t>감사·칭찬 · 카드뉴스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4572000" y="-1463040"/>
            <a:ext cx="3840480" cy="3840480"/>
          </a:xfrm>
          <a:prstGeom prst="ellipse">
            <a:avLst/>
          </a:prstGeom>
          <a:solidFill>
            <a:srgbClr val="D0F1E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5760720" y="274320"/>
            <a:ext cx="411480" cy="411480"/>
          </a:xfrm>
          <a:prstGeom prst="ellipse">
            <a:avLst/>
          </a:prstGeom>
          <a:solidFill>
            <a:srgbClr val="246B5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438912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43D30"/>
                </a:solidFill>
              </a:rPr>
              <a:t>고맙다는 말 먼저 건네기</a:t>
            </a:r>
          </a:p>
        </p:txBody>
      </p:sp>
      <p:sp>
        <p:nvSpPr>
          <p:cNvPr id="5" name="번호"/>
          <p:cNvSpPr txBox="1"/>
          <p:nvPr/>
        </p:nvSpPr>
        <p:spPr>
          <a:xfrm>
            <a:off x="64008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246B53"/>
                </a:solidFill>
              </a:rPr>
              <a:t>01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640080" y="315468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작은 일에도 ‘고마워요’를 먼저 말해 보세요.</a:t>
            </a:r>
          </a:p>
        </p:txBody>
      </p:sp>
      <p:sp>
        <p:nvSpPr>
          <p:cNvPr id="7" name="쪽 번호"/>
          <p:cNvSpPr txBox="1"/>
          <p:nvPr/>
        </p:nvSpPr>
        <p:spPr>
          <a:xfrm>
            <a:off x="640080" y="60350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1 / 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4572000" y="-1463040"/>
            <a:ext cx="3840480" cy="3840480"/>
          </a:xfrm>
          <a:prstGeom prst="ellipse">
            <a:avLst/>
          </a:prstGeom>
          <a:solidFill>
            <a:srgbClr val="D0F1E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5760720" y="274320"/>
            <a:ext cx="411480" cy="411480"/>
          </a:xfrm>
          <a:prstGeom prst="ellipse">
            <a:avLst/>
          </a:prstGeom>
          <a:solidFill>
            <a:srgbClr val="246B5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438912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43D30"/>
                </a:solidFill>
              </a:rPr>
              <a:t>칭찬 한 줄 적어 주기</a:t>
            </a:r>
          </a:p>
        </p:txBody>
      </p:sp>
      <p:sp>
        <p:nvSpPr>
          <p:cNvPr id="5" name="번호"/>
          <p:cNvSpPr txBox="1"/>
          <p:nvPr/>
        </p:nvSpPr>
        <p:spPr>
          <a:xfrm>
            <a:off x="64008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246B53"/>
                </a:solidFill>
              </a:rPr>
              <a:t>02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640080" y="315468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메모지에 칭찬 한 줄을 적어 가족 책상에 붙여 보세요.</a:t>
            </a:r>
          </a:p>
        </p:txBody>
      </p:sp>
      <p:sp>
        <p:nvSpPr>
          <p:cNvPr id="7" name="쪽 번호"/>
          <p:cNvSpPr txBox="1"/>
          <p:nvPr/>
        </p:nvSpPr>
        <p:spPr>
          <a:xfrm>
            <a:off x="640080" y="60350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2 / 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4572000" y="-1463040"/>
            <a:ext cx="3840480" cy="3840480"/>
          </a:xfrm>
          <a:prstGeom prst="ellipse">
            <a:avLst/>
          </a:prstGeom>
          <a:solidFill>
            <a:srgbClr val="D0F1E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5760720" y="274320"/>
            <a:ext cx="411480" cy="411480"/>
          </a:xfrm>
          <a:prstGeom prst="ellipse">
            <a:avLst/>
          </a:prstGeom>
          <a:solidFill>
            <a:srgbClr val="246B5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438912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43D30"/>
                </a:solidFill>
              </a:rPr>
              <a:t>퇴근한 사람에게 한마디</a:t>
            </a:r>
          </a:p>
        </p:txBody>
      </p:sp>
      <p:sp>
        <p:nvSpPr>
          <p:cNvPr id="5" name="번호"/>
          <p:cNvSpPr txBox="1"/>
          <p:nvPr/>
        </p:nvSpPr>
        <p:spPr>
          <a:xfrm>
            <a:off x="64008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246B53"/>
                </a:solidFill>
              </a:rPr>
              <a:t>03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640080" y="315468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‘오늘도 고생했어’ 한마디면 충분해요.</a:t>
            </a:r>
          </a:p>
        </p:txBody>
      </p:sp>
      <p:sp>
        <p:nvSpPr>
          <p:cNvPr id="7" name="쪽 번호"/>
          <p:cNvSpPr txBox="1"/>
          <p:nvPr/>
        </p:nvSpPr>
        <p:spPr>
          <a:xfrm>
            <a:off x="640080" y="60350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3 / 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4572000" y="-1463040"/>
            <a:ext cx="3840480" cy="3840480"/>
          </a:xfrm>
          <a:prstGeom prst="ellipse">
            <a:avLst/>
          </a:prstGeom>
          <a:solidFill>
            <a:srgbClr val="D0F1E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5760720" y="274320"/>
            <a:ext cx="411480" cy="411480"/>
          </a:xfrm>
          <a:prstGeom prst="ellipse">
            <a:avLst/>
          </a:prstGeom>
          <a:solidFill>
            <a:srgbClr val="246B5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438912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43D30"/>
                </a:solidFill>
              </a:rPr>
              <a:t>감사 일기 세 줄</a:t>
            </a:r>
          </a:p>
        </p:txBody>
      </p:sp>
      <p:sp>
        <p:nvSpPr>
          <p:cNvPr id="5" name="번호"/>
          <p:cNvSpPr txBox="1"/>
          <p:nvPr/>
        </p:nvSpPr>
        <p:spPr>
          <a:xfrm>
            <a:off x="64008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246B53"/>
                </a:solidFill>
              </a:rPr>
              <a:t>04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640080" y="315468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오늘 고마웠던 일 세 가지를 적어 보세요.</a:t>
            </a:r>
          </a:p>
        </p:txBody>
      </p:sp>
      <p:sp>
        <p:nvSpPr>
          <p:cNvPr id="7" name="쪽 번호"/>
          <p:cNvSpPr txBox="1"/>
          <p:nvPr/>
        </p:nvSpPr>
        <p:spPr>
          <a:xfrm>
            <a:off x="640080" y="60350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4 /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4572000" y="-1463040"/>
            <a:ext cx="3840480" cy="3840480"/>
          </a:xfrm>
          <a:prstGeom prst="ellipse">
            <a:avLst/>
          </a:prstGeom>
          <a:solidFill>
            <a:srgbClr val="D0F1E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5760720" y="274320"/>
            <a:ext cx="411480" cy="411480"/>
          </a:xfrm>
          <a:prstGeom prst="ellipse">
            <a:avLst/>
          </a:prstGeom>
          <a:solidFill>
            <a:srgbClr val="246B5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438912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43D30"/>
                </a:solidFill>
              </a:rPr>
              <a:t>엽서 한 장 쓰기</a:t>
            </a:r>
          </a:p>
        </p:txBody>
      </p:sp>
      <p:sp>
        <p:nvSpPr>
          <p:cNvPr id="5" name="번호"/>
          <p:cNvSpPr txBox="1"/>
          <p:nvPr/>
        </p:nvSpPr>
        <p:spPr>
          <a:xfrm>
            <a:off x="64008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246B53"/>
                </a:solidFill>
              </a:rPr>
              <a:t>05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640080" y="315468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짧아도 좋아요. 우체통에 넣는 순간 설레요.</a:t>
            </a:r>
          </a:p>
        </p:txBody>
      </p:sp>
      <p:sp>
        <p:nvSpPr>
          <p:cNvPr id="7" name="쪽 번호"/>
          <p:cNvSpPr txBox="1"/>
          <p:nvPr/>
        </p:nvSpPr>
        <p:spPr>
          <a:xfrm>
            <a:off x="640080" y="60350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5 / 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news-1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960120"/>
            <a:ext cx="5486400" cy="146304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43D30"/>
                </a:solidFill>
              </a:rPr>
              <a:t>저장해 두고 필요할 때 꺼내 보세요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685800" y="2560320"/>
            <a:ext cx="5486400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1">
                <a:solidFill>
                  <a:srgbClr val="143D30"/>
                </a:solidFill>
              </a:rPr>
              <a:t>마음에 들면 공유해 주세요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685800" y="3429000"/>
            <a:ext cx="5486400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66666"/>
                </a:solidFill>
              </a:rPr>
              <a:t>이름 · 연락처를 입력하세요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카드뉴스(감사·칭찬)">
  <a:themeElements>
    <a:clrScheme name="Office">
      <a:dk1>
        <a:sysClr val="windowText" lastClr="000000"/>
      </a:dk1>
      <a:lt1>
        <a:sysClr val="window" lastClr="FFFFFF"/>
      </a:lt1>
      <a:dk2>
        <a:srgbClr val="143D30"/>
      </a:dk2>
      <a:lt2>
        <a:srgbClr val="F0FAF6"/>
      </a:lt2>
      <a:accent1>
        <a:srgbClr val="246B53"/>
      </a:accent1>
      <a:accent2>
        <a:srgbClr val="913B83"/>
      </a:accent2>
      <a:accent3>
        <a:srgbClr val="143D30"/>
      </a:accent3>
      <a:accent4>
        <a:srgbClr val="D0F1E6"/>
      </a:accent4>
      <a:accent5>
        <a:srgbClr val="5A536B"/>
      </a:accent5>
      <a:accent6>
        <a:srgbClr val="728B83"/>
      </a:accent6>
      <a:hlink>
        <a:srgbClr val="246B53"/>
      </a:hlink>
      <a:folHlink>
        <a:srgbClr val="143D30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카드뉴스(감사·칭찬)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