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6858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2130425"/>
            <a:ext cx="58293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0" y="3886200"/>
            <a:ext cx="48006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734" y="4406900"/>
            <a:ext cx="58293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1734" y="2906713"/>
            <a:ext cx="58293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2900" y="1600200"/>
            <a:ext cx="30289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86150" y="1600200"/>
            <a:ext cx="30289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535113"/>
            <a:ext cx="3030141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2900" y="2174875"/>
            <a:ext cx="303014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83768" y="1535113"/>
            <a:ext cx="3031331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83768" y="2174875"/>
            <a:ext cx="303133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273050"/>
            <a:ext cx="225623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1287" y="273050"/>
            <a:ext cx="3833812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1435100"/>
            <a:ext cx="225623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4216" y="4800600"/>
            <a:ext cx="41148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344216" y="612775"/>
            <a:ext cx="41148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44216" y="5367338"/>
            <a:ext cx="41148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7175" y="0"/>
            <a:ext cx="4629150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72050" y="274638"/>
            <a:ext cx="154305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2900" y="274638"/>
            <a:ext cx="451485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274638"/>
            <a:ext cx="61722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600200"/>
            <a:ext cx="61722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6356350"/>
            <a:ext cx="21717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93A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1600200" y="822960"/>
            <a:ext cx="3657600" cy="3657600"/>
          </a:xfrm>
          <a:prstGeom prst="ellipse">
            <a:avLst/>
          </a:prstGeom>
          <a:solidFill>
            <a:srgbClr val="E1C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3246120" y="502920"/>
            <a:ext cx="822960" cy="822960"/>
          </a:xfrm>
          <a:prstGeom prst="ellipse">
            <a:avLst/>
          </a:prstGeom>
          <a:solidFill>
            <a:srgbClr val="AC927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라벨"/>
          <p:cNvSpPr txBox="1"/>
          <p:nvPr/>
        </p:nvSpPr>
        <p:spPr>
          <a:xfrm>
            <a:off x="731520" y="4572000"/>
            <a:ext cx="5394960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000" b="1" i="0" spc="250">
                <a:solidFill>
                  <a:srgbClr val="FFFFFF"/>
                </a:solidFill>
              </a:rPr>
              <a:t>CARD NEWS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4892040"/>
            <a:ext cx="5394960" cy="91440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3000" b="1" i="0">
                <a:solidFill>
                  <a:srgbClr val="FFFFFF"/>
                </a:solidFill>
              </a:rPr>
              <a:t>서두르지 않아도 됩니다</a:t>
            </a:r>
          </a:p>
        </p:txBody>
      </p:sp>
      <p:sp>
        <p:nvSpPr>
          <p:cNvPr id="6" name="한 줄 문구"/>
          <p:cNvSpPr txBox="1"/>
          <p:nvPr/>
        </p:nvSpPr>
        <p:spPr>
          <a:xfrm>
            <a:off x="731520" y="5806440"/>
            <a:ext cx="5394960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500" b="0" i="0">
                <a:solidFill>
                  <a:srgbClr val="FFFFFF"/>
                </a:solidFill>
              </a:rPr>
              <a:t>옆으로 넘겨 보세요 →</a:t>
            </a:r>
          </a:p>
        </p:txBody>
      </p:sp>
      <p:sp>
        <p:nvSpPr>
          <p:cNvPr id="7" name="안내 문구"/>
          <p:cNvSpPr txBox="1"/>
          <p:nvPr/>
        </p:nvSpPr>
        <p:spPr>
          <a:xfrm>
            <a:off x="731520" y="6675120"/>
            <a:ext cx="5394960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FFFFFF"/>
                </a:solidFill>
              </a:rPr>
              <a:t>오늘의 한마디 · 카드뉴스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E8D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4846320" y="-1645920"/>
            <a:ext cx="3474720" cy="3474720"/>
          </a:xfrm>
          <a:prstGeom prst="ellipse">
            <a:avLst/>
          </a:prstGeom>
          <a:solidFill>
            <a:srgbClr val="EBD0A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상단 라벨"/>
          <p:cNvSpPr txBox="1"/>
          <p:nvPr/>
        </p:nvSpPr>
        <p:spPr>
          <a:xfrm>
            <a:off x="640080" y="274320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CARD NEWS</a:t>
            </a:r>
          </a:p>
        </p:txBody>
      </p:sp>
      <p:sp>
        <p:nvSpPr>
          <p:cNvPr id="5" name="포인트"/>
          <p:cNvSpPr/>
          <p:nvPr/>
        </p:nvSpPr>
        <p:spPr>
          <a:xfrm>
            <a:off x="5715000" y="502919"/>
            <a:ext cx="274320" cy="274320"/>
          </a:xfrm>
          <a:prstGeom prst="mathPlus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658368"/>
            <a:ext cx="3749039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26231F"/>
                </a:solidFill>
              </a:rPr>
              <a:t>점심은 거르지 마세요</a:t>
            </a:r>
          </a:p>
        </p:txBody>
      </p:sp>
      <p:sp>
        <p:nvSpPr>
          <p:cNvPr id="6" name="번호"/>
          <p:cNvSpPr txBox="1"/>
          <p:nvPr/>
        </p:nvSpPr>
        <p:spPr>
          <a:xfrm>
            <a:off x="640080" y="1874519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E1C298"/>
                </a:solidFill>
              </a:rPr>
              <a:t>01</a:t>
            </a:r>
          </a:p>
        </p:txBody>
      </p:sp>
      <p:sp>
        <p:nvSpPr>
          <p:cNvPr id="7" name="본문"/>
          <p:cNvSpPr txBox="1"/>
          <p:nvPr/>
        </p:nvSpPr>
        <p:spPr>
          <a:xfrm>
            <a:off x="640080" y="333756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6231F"/>
                </a:solidFill>
              </a:rPr>
              <a:t>바빠도 한 끼는 앉아서 먹어요. 오후가 달라져요.</a:t>
            </a:r>
          </a:p>
        </p:txBody>
      </p:sp>
      <p:sp>
        <p:nvSpPr>
          <p:cNvPr id="8" name="쪽 번호"/>
          <p:cNvSpPr txBox="1"/>
          <p:nvPr/>
        </p:nvSpPr>
        <p:spPr>
          <a:xfrm>
            <a:off x="640080" y="598932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1 /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E8D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4846320" y="-1645920"/>
            <a:ext cx="3474720" cy="3474720"/>
          </a:xfrm>
          <a:prstGeom prst="ellipse">
            <a:avLst/>
          </a:prstGeom>
          <a:solidFill>
            <a:srgbClr val="EBD0A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상단 라벨"/>
          <p:cNvSpPr txBox="1"/>
          <p:nvPr/>
        </p:nvSpPr>
        <p:spPr>
          <a:xfrm>
            <a:off x="640080" y="274320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CARD NEWS</a:t>
            </a:r>
          </a:p>
        </p:txBody>
      </p:sp>
      <p:sp>
        <p:nvSpPr>
          <p:cNvPr id="5" name="포인트"/>
          <p:cNvSpPr/>
          <p:nvPr/>
        </p:nvSpPr>
        <p:spPr>
          <a:xfrm>
            <a:off x="5715000" y="502919"/>
            <a:ext cx="274320" cy="274320"/>
          </a:xfrm>
          <a:prstGeom prst="mathPlus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658368"/>
            <a:ext cx="3749039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26231F"/>
                </a:solidFill>
              </a:rPr>
              <a:t>전화 한 통 걸어 보세요</a:t>
            </a:r>
          </a:p>
        </p:txBody>
      </p:sp>
      <p:sp>
        <p:nvSpPr>
          <p:cNvPr id="6" name="번호"/>
          <p:cNvSpPr txBox="1"/>
          <p:nvPr/>
        </p:nvSpPr>
        <p:spPr>
          <a:xfrm>
            <a:off x="640080" y="1874519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E1C298"/>
                </a:solidFill>
              </a:rPr>
              <a:t>02</a:t>
            </a:r>
          </a:p>
        </p:txBody>
      </p:sp>
      <p:sp>
        <p:nvSpPr>
          <p:cNvPr id="7" name="본문"/>
          <p:cNvSpPr txBox="1"/>
          <p:nvPr/>
        </p:nvSpPr>
        <p:spPr>
          <a:xfrm>
            <a:off x="640080" y="333756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6231F"/>
                </a:solidFill>
              </a:rPr>
              <a:t>문자보다 목소리가 먼저 떠오르는 사람이 있다면 지금 걸어 보세요.</a:t>
            </a:r>
          </a:p>
        </p:txBody>
      </p:sp>
      <p:sp>
        <p:nvSpPr>
          <p:cNvPr id="8" name="쪽 번호"/>
          <p:cNvSpPr txBox="1"/>
          <p:nvPr/>
        </p:nvSpPr>
        <p:spPr>
          <a:xfrm>
            <a:off x="640080" y="598932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2 /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E8D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4846320" y="-1645920"/>
            <a:ext cx="3474720" cy="3474720"/>
          </a:xfrm>
          <a:prstGeom prst="ellipse">
            <a:avLst/>
          </a:prstGeom>
          <a:solidFill>
            <a:srgbClr val="EBD0A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상단 라벨"/>
          <p:cNvSpPr txBox="1"/>
          <p:nvPr/>
        </p:nvSpPr>
        <p:spPr>
          <a:xfrm>
            <a:off x="640080" y="274320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CARD NEWS</a:t>
            </a:r>
          </a:p>
        </p:txBody>
      </p:sp>
      <p:sp>
        <p:nvSpPr>
          <p:cNvPr id="5" name="포인트"/>
          <p:cNvSpPr/>
          <p:nvPr/>
        </p:nvSpPr>
        <p:spPr>
          <a:xfrm>
            <a:off x="5715000" y="502919"/>
            <a:ext cx="274320" cy="274320"/>
          </a:xfrm>
          <a:prstGeom prst="mathPlus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658368"/>
            <a:ext cx="3749039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26231F"/>
                </a:solidFill>
              </a:rPr>
              <a:t>메모 한 장 남기기</a:t>
            </a:r>
          </a:p>
        </p:txBody>
      </p:sp>
      <p:sp>
        <p:nvSpPr>
          <p:cNvPr id="6" name="번호"/>
          <p:cNvSpPr txBox="1"/>
          <p:nvPr/>
        </p:nvSpPr>
        <p:spPr>
          <a:xfrm>
            <a:off x="640080" y="1874519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E1C298"/>
                </a:solidFill>
              </a:rPr>
              <a:t>03</a:t>
            </a:r>
          </a:p>
        </p:txBody>
      </p:sp>
      <p:sp>
        <p:nvSpPr>
          <p:cNvPr id="7" name="본문"/>
          <p:cNvSpPr txBox="1"/>
          <p:nvPr/>
        </p:nvSpPr>
        <p:spPr>
          <a:xfrm>
            <a:off x="640080" y="333756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6231F"/>
                </a:solidFill>
              </a:rPr>
              <a:t>생각났을 때 적어 두면 다음 주의 내가 고마워해요.</a:t>
            </a:r>
          </a:p>
        </p:txBody>
      </p:sp>
      <p:sp>
        <p:nvSpPr>
          <p:cNvPr id="8" name="쪽 번호"/>
          <p:cNvSpPr txBox="1"/>
          <p:nvPr/>
        </p:nvSpPr>
        <p:spPr>
          <a:xfrm>
            <a:off x="640080" y="598932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3 /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E8D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4846320" y="-1645920"/>
            <a:ext cx="3474720" cy="3474720"/>
          </a:xfrm>
          <a:prstGeom prst="ellipse">
            <a:avLst/>
          </a:prstGeom>
          <a:solidFill>
            <a:srgbClr val="EBD0A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상단 라벨"/>
          <p:cNvSpPr txBox="1"/>
          <p:nvPr/>
        </p:nvSpPr>
        <p:spPr>
          <a:xfrm>
            <a:off x="640080" y="274320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CARD NEWS</a:t>
            </a:r>
          </a:p>
        </p:txBody>
      </p:sp>
      <p:sp>
        <p:nvSpPr>
          <p:cNvPr id="5" name="포인트"/>
          <p:cNvSpPr/>
          <p:nvPr/>
        </p:nvSpPr>
        <p:spPr>
          <a:xfrm>
            <a:off x="5715000" y="502919"/>
            <a:ext cx="274320" cy="274320"/>
          </a:xfrm>
          <a:prstGeom prst="mathPlus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658368"/>
            <a:ext cx="3749039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26231F"/>
                </a:solidFill>
              </a:rPr>
              <a:t>퇴근길 한 정거장 걷기</a:t>
            </a:r>
          </a:p>
        </p:txBody>
      </p:sp>
      <p:sp>
        <p:nvSpPr>
          <p:cNvPr id="6" name="번호"/>
          <p:cNvSpPr txBox="1"/>
          <p:nvPr/>
        </p:nvSpPr>
        <p:spPr>
          <a:xfrm>
            <a:off x="640080" y="1874519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E1C298"/>
                </a:solidFill>
              </a:rPr>
              <a:t>04</a:t>
            </a:r>
          </a:p>
        </p:txBody>
      </p:sp>
      <p:sp>
        <p:nvSpPr>
          <p:cNvPr id="7" name="본문"/>
          <p:cNvSpPr txBox="1"/>
          <p:nvPr/>
        </p:nvSpPr>
        <p:spPr>
          <a:xfrm>
            <a:off x="640080" y="333756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6231F"/>
                </a:solidFill>
              </a:rPr>
              <a:t>한 정거장 먼저 내려 걸으면 머리가 정리돼요.</a:t>
            </a:r>
          </a:p>
        </p:txBody>
      </p:sp>
      <p:sp>
        <p:nvSpPr>
          <p:cNvPr id="8" name="쪽 번호"/>
          <p:cNvSpPr txBox="1"/>
          <p:nvPr/>
        </p:nvSpPr>
        <p:spPr>
          <a:xfrm>
            <a:off x="640080" y="598932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4 /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E8D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4846320" y="-1645920"/>
            <a:ext cx="3474720" cy="3474720"/>
          </a:xfrm>
          <a:prstGeom prst="ellipse">
            <a:avLst/>
          </a:prstGeom>
          <a:solidFill>
            <a:srgbClr val="EBD0A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상단 라벨"/>
          <p:cNvSpPr txBox="1"/>
          <p:nvPr/>
        </p:nvSpPr>
        <p:spPr>
          <a:xfrm>
            <a:off x="640080" y="274320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CARD NEWS</a:t>
            </a:r>
          </a:p>
        </p:txBody>
      </p:sp>
      <p:sp>
        <p:nvSpPr>
          <p:cNvPr id="5" name="포인트"/>
          <p:cNvSpPr/>
          <p:nvPr/>
        </p:nvSpPr>
        <p:spPr>
          <a:xfrm>
            <a:off x="5715000" y="502919"/>
            <a:ext cx="274320" cy="274320"/>
          </a:xfrm>
          <a:prstGeom prst="mathPlus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658368"/>
            <a:ext cx="3749039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26231F"/>
                </a:solidFill>
              </a:rPr>
              <a:t>오늘은 일찍 자기</a:t>
            </a:r>
          </a:p>
        </p:txBody>
      </p:sp>
      <p:sp>
        <p:nvSpPr>
          <p:cNvPr id="6" name="번호"/>
          <p:cNvSpPr txBox="1"/>
          <p:nvPr/>
        </p:nvSpPr>
        <p:spPr>
          <a:xfrm>
            <a:off x="640080" y="1874519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E1C298"/>
                </a:solidFill>
              </a:rPr>
              <a:t>05</a:t>
            </a:r>
          </a:p>
        </p:txBody>
      </p:sp>
      <p:sp>
        <p:nvSpPr>
          <p:cNvPr id="7" name="본문"/>
          <p:cNvSpPr txBox="1"/>
          <p:nvPr/>
        </p:nvSpPr>
        <p:spPr>
          <a:xfrm>
            <a:off x="640080" y="333756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6231F"/>
                </a:solidFill>
              </a:rPr>
              <a:t>미룬 일은 내일 해도 돼요. 오늘은 불을 일찍 끄세요.</a:t>
            </a:r>
          </a:p>
        </p:txBody>
      </p:sp>
      <p:sp>
        <p:nvSpPr>
          <p:cNvPr id="8" name="쪽 번호"/>
          <p:cNvSpPr txBox="1"/>
          <p:nvPr/>
        </p:nvSpPr>
        <p:spPr>
          <a:xfrm>
            <a:off x="640080" y="598932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5 / 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93A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1600200" y="822960"/>
            <a:ext cx="3657600" cy="3657600"/>
          </a:xfrm>
          <a:prstGeom prst="ellipse">
            <a:avLst/>
          </a:prstGeom>
          <a:solidFill>
            <a:srgbClr val="E1C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3246120" y="502920"/>
            <a:ext cx="822960" cy="822960"/>
          </a:xfrm>
          <a:prstGeom prst="ellipse">
            <a:avLst/>
          </a:prstGeom>
          <a:solidFill>
            <a:srgbClr val="AC927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라벨"/>
          <p:cNvSpPr txBox="1"/>
          <p:nvPr/>
        </p:nvSpPr>
        <p:spPr>
          <a:xfrm>
            <a:off x="731520" y="4572000"/>
            <a:ext cx="5394960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000" b="1" i="0" spc="250">
                <a:solidFill>
                  <a:srgbClr val="FFFFFF"/>
                </a:solidFill>
              </a:rPr>
              <a:t>CARD NEWS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4892040"/>
            <a:ext cx="5394960" cy="91440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2800" b="1" i="0">
                <a:solidFill>
                  <a:srgbClr val="FFFFFF"/>
                </a:solidFill>
              </a:rPr>
              <a:t>저장해 두고 필요할 때 꺼내 보세요</a:t>
            </a:r>
          </a:p>
        </p:txBody>
      </p:sp>
      <p:sp>
        <p:nvSpPr>
          <p:cNvPr id="6" name="한 줄 문구"/>
          <p:cNvSpPr txBox="1"/>
          <p:nvPr/>
        </p:nvSpPr>
        <p:spPr>
          <a:xfrm>
            <a:off x="731520" y="5806440"/>
            <a:ext cx="5394960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500" b="0" i="0">
                <a:solidFill>
                  <a:srgbClr val="FFFFFF"/>
                </a:solidFill>
              </a:rPr>
              <a:t>마음에 들면 공유해 주세요</a:t>
            </a:r>
          </a:p>
        </p:txBody>
      </p:sp>
      <p:sp>
        <p:nvSpPr>
          <p:cNvPr id="7" name="안내 문구"/>
          <p:cNvSpPr txBox="1"/>
          <p:nvPr/>
        </p:nvSpPr>
        <p:spPr>
          <a:xfrm>
            <a:off x="731520" y="6675120"/>
            <a:ext cx="5394960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FFFFFF"/>
                </a:solidFill>
              </a:rPr>
              <a:t>이름 · 연락처를 입력하세요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카드뉴스(오늘의 한마디)">
  <a:themeElements>
    <a:clrScheme name="Office">
      <a:dk1>
        <a:sysClr val="windowText" lastClr="000000"/>
      </a:dk1>
      <a:lt1>
        <a:sysClr val="window" lastClr="FFFFFF"/>
      </a:lt1>
      <a:dk2>
        <a:srgbClr val="493A27"/>
      </a:dk2>
      <a:lt2>
        <a:srgbClr val="FBF5EC"/>
      </a:lt2>
      <a:accent1>
        <a:srgbClr val="E1C298"/>
      </a:accent1>
      <a:accent2>
        <a:srgbClr val="E9EAB8"/>
      </a:accent2>
      <a:accent3>
        <a:srgbClr val="493A27"/>
      </a:accent3>
      <a:accent4>
        <a:srgbClr val="F6E8D5"/>
      </a:accent4>
      <a:accent5>
        <a:srgbClr val="E5D6A8"/>
      </a:accent5>
      <a:accent6>
        <a:srgbClr val="92897D"/>
      </a:accent6>
      <a:hlink>
        <a:srgbClr val="E1C298"/>
      </a:hlink>
      <a:folHlink>
        <a:srgbClr val="493A27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카드뉴스(오늘의 한마디)</dc:title>
  <dc:subject/>
  <dc:creator>반딧불이의 곳간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