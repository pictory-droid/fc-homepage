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274320" y="4251960"/>
            <a:ext cx="7406640" cy="2743200"/>
          </a:xfrm>
          <a:prstGeom prst="wav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274320" y="5074920"/>
            <a:ext cx="7406640" cy="2331720"/>
          </a:xfrm>
          <a:prstGeom prst="wav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240772">
            <a:off x="5409241" y="1460675"/>
            <a:ext cx="466344" cy="1274718"/>
          </a:xfrm>
          <a:prstGeom prst="ellips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9992481">
            <a:off x="5951050" y="1294785"/>
            <a:ext cx="466344" cy="1199234"/>
          </a:xfrm>
          <a:prstGeom prst="ellips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9645295">
            <a:off x="4744499" y="688293"/>
            <a:ext cx="466344" cy="1182110"/>
          </a:xfrm>
          <a:prstGeom prst="ellipse">
            <a:avLst/>
          </a:prstGeom>
          <a:solidFill>
            <a:srgbClr val="8745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7887547">
            <a:off x="4372370" y="1626618"/>
            <a:ext cx="466344" cy="1178628"/>
          </a:xfrm>
          <a:prstGeom prst="ellips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3178268">
            <a:off x="4577364" y="1690601"/>
            <a:ext cx="466344" cy="1678592"/>
          </a:xfrm>
          <a:prstGeom prst="ellips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675022">
            <a:off x="6348925" y="603125"/>
            <a:ext cx="466344" cy="1220400"/>
          </a:xfrm>
          <a:prstGeom prst="ellipse">
            <a:avLst/>
          </a:prstGeom>
          <a:solidFill>
            <a:srgbClr val="8745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1371600"/>
            <a:ext cx="425196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C3629"/>
                </a:solidFill>
              </a:rPr>
              <a:t>시원한 바람 같은 칭찬 한마디</a:t>
            </a:r>
          </a:p>
        </p:txBody>
      </p:sp>
      <p:sp>
        <p:nvSpPr>
          <p:cNvPr id="11" name="한 줄 문구"/>
          <p:cNvSpPr txBox="1"/>
          <p:nvPr/>
        </p:nvSpPr>
        <p:spPr>
          <a:xfrm>
            <a:off x="548640" y="2926080"/>
            <a:ext cx="41148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1C3629"/>
                </a:solidFill>
              </a:rPr>
              <a:t>옆으로 넘겨 보세요 →</a:t>
            </a:r>
          </a:p>
        </p:txBody>
      </p:sp>
      <p:sp>
        <p:nvSpPr>
          <p:cNvPr id="12" name="안내 문구"/>
          <p:cNvSpPr txBox="1"/>
          <p:nvPr/>
        </p:nvSpPr>
        <p:spPr>
          <a:xfrm>
            <a:off x="548640" y="3794760"/>
            <a:ext cx="41148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알뜰 생활 팁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7223760" cy="731520"/>
          </a:xfrm>
          <a:prstGeom prst="wav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7223760" cy="502920"/>
          </a:xfrm>
          <a:prstGeom prst="wav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240772">
            <a:off x="5910736" y="608733"/>
            <a:ext cx="170992" cy="467396"/>
          </a:xfrm>
          <a:prstGeom prst="ellips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9992481">
            <a:off x="6109399" y="547906"/>
            <a:ext cx="170992" cy="439719"/>
          </a:xfrm>
          <a:prstGeom prst="ellips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9645295">
            <a:off x="5666997" y="325526"/>
            <a:ext cx="170992" cy="433440"/>
          </a:xfrm>
          <a:prstGeom prst="ellipse">
            <a:avLst/>
          </a:prstGeom>
          <a:solidFill>
            <a:srgbClr val="8745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7887547">
            <a:off x="5530550" y="669578"/>
            <a:ext cx="170992" cy="432163"/>
          </a:xfrm>
          <a:prstGeom prst="ellips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3178268">
            <a:off x="5605715" y="693039"/>
            <a:ext cx="170992" cy="615483"/>
          </a:xfrm>
          <a:prstGeom prst="ellips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675022">
            <a:off x="6255287" y="294298"/>
            <a:ext cx="170992" cy="447480"/>
          </a:xfrm>
          <a:prstGeom prst="ellipse">
            <a:avLst/>
          </a:prstGeom>
          <a:solidFill>
            <a:srgbClr val="8745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C3629"/>
                </a:solidFill>
              </a:rPr>
              <a:t>이번 달 고정지출부터 적어요</a:t>
            </a:r>
          </a:p>
        </p:txBody>
      </p:sp>
      <p:sp>
        <p:nvSpPr>
          <p:cNvPr id="11" name="번호"/>
          <p:cNvSpPr txBox="1"/>
          <p:nvPr/>
        </p:nvSpPr>
        <p:spPr>
          <a:xfrm>
            <a:off x="64008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396F54"/>
                </a:solidFill>
              </a:rPr>
              <a:t>01</a:t>
            </a:r>
          </a:p>
        </p:txBody>
      </p:sp>
      <p:sp>
        <p:nvSpPr>
          <p:cNvPr id="12" name="본문"/>
          <p:cNvSpPr txBox="1"/>
          <p:nvPr/>
        </p:nvSpPr>
        <p:spPr>
          <a:xfrm>
            <a:off x="640080" y="31089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월세·통신비·구독료처럼 매달 나가는 돈부터 한곳에 적어 보면 새는 곳이 보여요.</a:t>
            </a:r>
          </a:p>
        </p:txBody>
      </p:sp>
      <p:sp>
        <p:nvSpPr>
          <p:cNvPr id="13" name="쪽 번호"/>
          <p:cNvSpPr txBox="1"/>
          <p:nvPr/>
        </p:nvSpPr>
        <p:spPr>
          <a:xfrm>
            <a:off x="640080" y="55778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7223760" cy="731520"/>
          </a:xfrm>
          <a:prstGeom prst="wav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7223760" cy="502920"/>
          </a:xfrm>
          <a:prstGeom prst="wav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240772">
            <a:off x="5910736" y="608733"/>
            <a:ext cx="170992" cy="467396"/>
          </a:xfrm>
          <a:prstGeom prst="ellips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9992481">
            <a:off x="6109399" y="547906"/>
            <a:ext cx="170992" cy="439719"/>
          </a:xfrm>
          <a:prstGeom prst="ellips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9645295">
            <a:off x="5666997" y="325526"/>
            <a:ext cx="170992" cy="433440"/>
          </a:xfrm>
          <a:prstGeom prst="ellipse">
            <a:avLst/>
          </a:prstGeom>
          <a:solidFill>
            <a:srgbClr val="8745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7887547">
            <a:off x="5530550" y="669578"/>
            <a:ext cx="170992" cy="432163"/>
          </a:xfrm>
          <a:prstGeom prst="ellips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3178268">
            <a:off x="5605715" y="693039"/>
            <a:ext cx="170992" cy="615483"/>
          </a:xfrm>
          <a:prstGeom prst="ellips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675022">
            <a:off x="6255287" y="294298"/>
            <a:ext cx="170992" cy="447480"/>
          </a:xfrm>
          <a:prstGeom prst="ellipse">
            <a:avLst/>
          </a:prstGeom>
          <a:solidFill>
            <a:srgbClr val="8745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C3629"/>
                </a:solidFill>
              </a:rPr>
              <a:t>카드 대신 현금 한 주</a:t>
            </a:r>
          </a:p>
        </p:txBody>
      </p:sp>
      <p:sp>
        <p:nvSpPr>
          <p:cNvPr id="11" name="번호"/>
          <p:cNvSpPr txBox="1"/>
          <p:nvPr/>
        </p:nvSpPr>
        <p:spPr>
          <a:xfrm>
            <a:off x="64008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396F54"/>
                </a:solidFill>
              </a:rPr>
              <a:t>02</a:t>
            </a:r>
          </a:p>
        </p:txBody>
      </p:sp>
      <p:sp>
        <p:nvSpPr>
          <p:cNvPr id="12" name="본문"/>
          <p:cNvSpPr txBox="1"/>
          <p:nvPr/>
        </p:nvSpPr>
        <p:spPr>
          <a:xfrm>
            <a:off x="640080" y="31089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일주일만 현금으로 써 보면 충동구매가 눈에 띄게 줄어요.</a:t>
            </a:r>
          </a:p>
        </p:txBody>
      </p:sp>
      <p:sp>
        <p:nvSpPr>
          <p:cNvPr id="13" name="쪽 번호"/>
          <p:cNvSpPr txBox="1"/>
          <p:nvPr/>
        </p:nvSpPr>
        <p:spPr>
          <a:xfrm>
            <a:off x="640080" y="55778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7223760" cy="731520"/>
          </a:xfrm>
          <a:prstGeom prst="wav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7223760" cy="502920"/>
          </a:xfrm>
          <a:prstGeom prst="wav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240772">
            <a:off x="5910736" y="608733"/>
            <a:ext cx="170992" cy="467396"/>
          </a:xfrm>
          <a:prstGeom prst="ellips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9992481">
            <a:off x="6109399" y="547906"/>
            <a:ext cx="170992" cy="439719"/>
          </a:xfrm>
          <a:prstGeom prst="ellips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9645295">
            <a:off x="5666997" y="325526"/>
            <a:ext cx="170992" cy="433440"/>
          </a:xfrm>
          <a:prstGeom prst="ellipse">
            <a:avLst/>
          </a:prstGeom>
          <a:solidFill>
            <a:srgbClr val="8745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7887547">
            <a:off x="5530550" y="669578"/>
            <a:ext cx="170992" cy="432163"/>
          </a:xfrm>
          <a:prstGeom prst="ellips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3178268">
            <a:off x="5605715" y="693039"/>
            <a:ext cx="170992" cy="615483"/>
          </a:xfrm>
          <a:prstGeom prst="ellips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675022">
            <a:off x="6255287" y="294298"/>
            <a:ext cx="170992" cy="447480"/>
          </a:xfrm>
          <a:prstGeom prst="ellipse">
            <a:avLst/>
          </a:prstGeom>
          <a:solidFill>
            <a:srgbClr val="8745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C3629"/>
                </a:solidFill>
              </a:rPr>
              <a:t>장보기 전 냉장고 사진</a:t>
            </a:r>
          </a:p>
        </p:txBody>
      </p:sp>
      <p:sp>
        <p:nvSpPr>
          <p:cNvPr id="11" name="번호"/>
          <p:cNvSpPr txBox="1"/>
          <p:nvPr/>
        </p:nvSpPr>
        <p:spPr>
          <a:xfrm>
            <a:off x="64008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396F54"/>
                </a:solidFill>
              </a:rPr>
              <a:t>03</a:t>
            </a:r>
          </a:p>
        </p:txBody>
      </p:sp>
      <p:sp>
        <p:nvSpPr>
          <p:cNvPr id="12" name="본문"/>
          <p:cNvSpPr txBox="1"/>
          <p:nvPr/>
        </p:nvSpPr>
        <p:spPr>
          <a:xfrm>
            <a:off x="640080" y="31089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있는 재료를 확인하고 가면 같은 식재료를 또 사는 일이 줄어요.</a:t>
            </a:r>
          </a:p>
        </p:txBody>
      </p:sp>
      <p:sp>
        <p:nvSpPr>
          <p:cNvPr id="13" name="쪽 번호"/>
          <p:cNvSpPr txBox="1"/>
          <p:nvPr/>
        </p:nvSpPr>
        <p:spPr>
          <a:xfrm>
            <a:off x="640080" y="55778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7223760" cy="731520"/>
          </a:xfrm>
          <a:prstGeom prst="wav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7223760" cy="502920"/>
          </a:xfrm>
          <a:prstGeom prst="wav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240772">
            <a:off x="5910736" y="608733"/>
            <a:ext cx="170992" cy="467396"/>
          </a:xfrm>
          <a:prstGeom prst="ellips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9992481">
            <a:off x="6109399" y="547906"/>
            <a:ext cx="170992" cy="439719"/>
          </a:xfrm>
          <a:prstGeom prst="ellips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9645295">
            <a:off x="5666997" y="325526"/>
            <a:ext cx="170992" cy="433440"/>
          </a:xfrm>
          <a:prstGeom prst="ellipse">
            <a:avLst/>
          </a:prstGeom>
          <a:solidFill>
            <a:srgbClr val="8745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7887547">
            <a:off x="5530550" y="669578"/>
            <a:ext cx="170992" cy="432163"/>
          </a:xfrm>
          <a:prstGeom prst="ellips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3178268">
            <a:off x="5605715" y="693039"/>
            <a:ext cx="170992" cy="615483"/>
          </a:xfrm>
          <a:prstGeom prst="ellips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675022">
            <a:off x="6255287" y="294298"/>
            <a:ext cx="170992" cy="447480"/>
          </a:xfrm>
          <a:prstGeom prst="ellipse">
            <a:avLst/>
          </a:prstGeom>
          <a:solidFill>
            <a:srgbClr val="8745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C3629"/>
                </a:solidFill>
              </a:rPr>
              <a:t>작은 목표 통장 만들기</a:t>
            </a:r>
          </a:p>
        </p:txBody>
      </p:sp>
      <p:sp>
        <p:nvSpPr>
          <p:cNvPr id="11" name="번호"/>
          <p:cNvSpPr txBox="1"/>
          <p:nvPr/>
        </p:nvSpPr>
        <p:spPr>
          <a:xfrm>
            <a:off x="64008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396F54"/>
                </a:solidFill>
              </a:rPr>
              <a:t>04</a:t>
            </a:r>
          </a:p>
        </p:txBody>
      </p:sp>
      <p:sp>
        <p:nvSpPr>
          <p:cNvPr id="12" name="본문"/>
          <p:cNvSpPr txBox="1"/>
          <p:nvPr/>
        </p:nvSpPr>
        <p:spPr>
          <a:xfrm>
            <a:off x="640080" y="31089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여행·선물·비상금처럼 이름을 붙이면 모으는 재미가 커져요.</a:t>
            </a:r>
          </a:p>
        </p:txBody>
      </p:sp>
      <p:sp>
        <p:nvSpPr>
          <p:cNvPr id="13" name="쪽 번호"/>
          <p:cNvSpPr txBox="1"/>
          <p:nvPr/>
        </p:nvSpPr>
        <p:spPr>
          <a:xfrm>
            <a:off x="640080" y="55778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7223760" cy="731520"/>
          </a:xfrm>
          <a:prstGeom prst="wav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7223760" cy="502920"/>
          </a:xfrm>
          <a:prstGeom prst="wav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240772">
            <a:off x="5910736" y="608733"/>
            <a:ext cx="170992" cy="467396"/>
          </a:xfrm>
          <a:prstGeom prst="ellips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9992481">
            <a:off x="6109399" y="547906"/>
            <a:ext cx="170992" cy="439719"/>
          </a:xfrm>
          <a:prstGeom prst="ellips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9645295">
            <a:off x="5666997" y="325526"/>
            <a:ext cx="170992" cy="433440"/>
          </a:xfrm>
          <a:prstGeom prst="ellipse">
            <a:avLst/>
          </a:prstGeom>
          <a:solidFill>
            <a:srgbClr val="8745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7887547">
            <a:off x="5530550" y="669578"/>
            <a:ext cx="170992" cy="432163"/>
          </a:xfrm>
          <a:prstGeom prst="ellips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3178268">
            <a:off x="5605715" y="693039"/>
            <a:ext cx="170992" cy="615483"/>
          </a:xfrm>
          <a:prstGeom prst="ellips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675022">
            <a:off x="6255287" y="294298"/>
            <a:ext cx="170992" cy="447480"/>
          </a:xfrm>
          <a:prstGeom prst="ellipse">
            <a:avLst/>
          </a:prstGeom>
          <a:solidFill>
            <a:srgbClr val="8745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C3629"/>
                </a:solidFill>
              </a:rPr>
              <a:t>주말 5분 가계부</a:t>
            </a:r>
          </a:p>
        </p:txBody>
      </p:sp>
      <p:sp>
        <p:nvSpPr>
          <p:cNvPr id="11" name="번호"/>
          <p:cNvSpPr txBox="1"/>
          <p:nvPr/>
        </p:nvSpPr>
        <p:spPr>
          <a:xfrm>
            <a:off x="64008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396F54"/>
                </a:solidFill>
              </a:rPr>
              <a:t>05</a:t>
            </a:r>
          </a:p>
        </p:txBody>
      </p:sp>
      <p:sp>
        <p:nvSpPr>
          <p:cNvPr id="12" name="본문"/>
          <p:cNvSpPr txBox="1"/>
          <p:nvPr/>
        </p:nvSpPr>
        <p:spPr>
          <a:xfrm>
            <a:off x="640080" y="31089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영수증을 모아 두었다가 주말에 5분만 적어 보세요.</a:t>
            </a:r>
          </a:p>
        </p:txBody>
      </p:sp>
      <p:sp>
        <p:nvSpPr>
          <p:cNvPr id="13" name="쪽 번호"/>
          <p:cNvSpPr txBox="1"/>
          <p:nvPr/>
        </p:nvSpPr>
        <p:spPr>
          <a:xfrm>
            <a:off x="640080" y="55778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274320" y="4251960"/>
            <a:ext cx="7406640" cy="2743200"/>
          </a:xfrm>
          <a:prstGeom prst="wav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274320" y="5074920"/>
            <a:ext cx="7406640" cy="2331720"/>
          </a:xfrm>
          <a:prstGeom prst="wav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240772">
            <a:off x="5409241" y="1460675"/>
            <a:ext cx="466344" cy="1274718"/>
          </a:xfrm>
          <a:prstGeom prst="ellips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9992481">
            <a:off x="5951050" y="1294785"/>
            <a:ext cx="466344" cy="1199234"/>
          </a:xfrm>
          <a:prstGeom prst="ellips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9645295">
            <a:off x="4744499" y="688293"/>
            <a:ext cx="466344" cy="1182110"/>
          </a:xfrm>
          <a:prstGeom prst="ellipse">
            <a:avLst/>
          </a:prstGeom>
          <a:solidFill>
            <a:srgbClr val="8745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7887547">
            <a:off x="4372370" y="1626618"/>
            <a:ext cx="466344" cy="1178628"/>
          </a:xfrm>
          <a:prstGeom prst="ellips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3178268">
            <a:off x="4577364" y="1690601"/>
            <a:ext cx="466344" cy="1678592"/>
          </a:xfrm>
          <a:prstGeom prst="ellips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675022">
            <a:off x="6348925" y="603125"/>
            <a:ext cx="466344" cy="1220400"/>
          </a:xfrm>
          <a:prstGeom prst="ellipse">
            <a:avLst/>
          </a:prstGeom>
          <a:solidFill>
            <a:srgbClr val="8745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1371600"/>
            <a:ext cx="425196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C3629"/>
                </a:solidFill>
              </a:rPr>
              <a:t>저장해 두고 필요할 때 꺼내 보세요</a:t>
            </a:r>
          </a:p>
        </p:txBody>
      </p:sp>
      <p:sp>
        <p:nvSpPr>
          <p:cNvPr id="11" name="한 줄 문구"/>
          <p:cNvSpPr txBox="1"/>
          <p:nvPr/>
        </p:nvSpPr>
        <p:spPr>
          <a:xfrm>
            <a:off x="548640" y="2926080"/>
            <a:ext cx="41148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1C3629"/>
                </a:solidFill>
              </a:rPr>
              <a:t>마음에 들면 공유해 주세요</a:t>
            </a:r>
          </a:p>
        </p:txBody>
      </p:sp>
      <p:sp>
        <p:nvSpPr>
          <p:cNvPr id="12" name="안내 문구"/>
          <p:cNvSpPr txBox="1"/>
          <p:nvPr/>
        </p:nvSpPr>
        <p:spPr>
          <a:xfrm>
            <a:off x="548640" y="3794760"/>
            <a:ext cx="41148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알뜰 생활 팁)">
  <a:themeElements>
    <a:clrScheme name="Office">
      <a:dk1>
        <a:sysClr val="windowText" lastClr="000000"/>
      </a:dk1>
      <a:lt1>
        <a:sysClr val="window" lastClr="FFFFFF"/>
      </a:lt1>
      <a:dk2>
        <a:srgbClr val="1C3629"/>
      </a:dk2>
      <a:lt2>
        <a:srgbClr val="F2F8F5"/>
      </a:lt2>
      <a:accent1>
        <a:srgbClr val="396F54"/>
      </a:accent1>
      <a:accent2>
        <a:srgbClr val="874587"/>
      </a:accent2>
      <a:accent3>
        <a:srgbClr val="1C3629"/>
      </a:accent3>
      <a:accent4>
        <a:srgbClr val="D5ECE0"/>
      </a:accent4>
      <a:accent5>
        <a:srgbClr val="605A6E"/>
      </a:accent5>
      <a:accent6>
        <a:srgbClr val="77867F"/>
      </a:accent6>
      <a:hlink>
        <a:srgbClr val="396F54"/>
      </a:hlink>
      <a:folHlink>
        <a:srgbClr val="1C362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카드뉴스(알뜰 생활 팁)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