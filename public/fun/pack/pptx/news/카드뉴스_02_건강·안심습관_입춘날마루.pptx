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6858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2130425"/>
            <a:ext cx="58293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700" y="3886200"/>
            <a:ext cx="48006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734" y="4406900"/>
            <a:ext cx="58293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1734" y="2906713"/>
            <a:ext cx="58293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2900" y="1600200"/>
            <a:ext cx="30289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86150" y="1600200"/>
            <a:ext cx="30289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535113"/>
            <a:ext cx="3030141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2900" y="2174875"/>
            <a:ext cx="3030141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83768" y="1535113"/>
            <a:ext cx="3031331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83768" y="2174875"/>
            <a:ext cx="3031331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273050"/>
            <a:ext cx="225623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81287" y="273050"/>
            <a:ext cx="3833812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1435100"/>
            <a:ext cx="225623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4216" y="4800600"/>
            <a:ext cx="41148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344216" y="612775"/>
            <a:ext cx="41148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44216" y="5367338"/>
            <a:ext cx="41148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7175" y="0"/>
            <a:ext cx="4629150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72050" y="274638"/>
            <a:ext cx="154305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42900" y="274638"/>
            <a:ext cx="451485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00" y="274638"/>
            <a:ext cx="61722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600200"/>
            <a:ext cx="61722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2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43150" y="6356350"/>
            <a:ext cx="21717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14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news-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858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960120"/>
            <a:ext cx="5486400" cy="146304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72591D"/>
                </a:solidFill>
              </a:rPr>
              <a:t>봄 알레르기 시즌 생활 습관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685800" y="2560320"/>
            <a:ext cx="5486400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1">
                <a:solidFill>
                  <a:srgbClr val="72591D"/>
                </a:solidFill>
              </a:rPr>
              <a:t>옆으로 넘겨 보세요 →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685800" y="3429000"/>
            <a:ext cx="5486400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66666"/>
                </a:solidFill>
              </a:rPr>
              <a:t>건강·안심 습관 · 카드뉴스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9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56032" y="256032"/>
            <a:ext cx="6345936" cy="6345936"/>
          </a:xfrm>
          <a:prstGeom prst="rect">
            <a:avLst/>
          </a:prstGeom>
          <a:noFill/>
          <a:ln w="28575">
            <a:solidFill>
              <a:srgbClr val="DFAD3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384048" y="384048"/>
            <a:ext cx="6089904" cy="6089904"/>
          </a:xfrm>
          <a:prstGeom prst="rect">
            <a:avLst/>
          </a:prstGeom>
          <a:noFill/>
          <a:ln w="9525">
            <a:solidFill>
              <a:srgbClr val="F7EDD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48640"/>
            <a:ext cx="3931920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72591D"/>
                </a:solidFill>
              </a:rPr>
              <a:t>아침 물 한 잔</a:t>
            </a:r>
          </a:p>
        </p:txBody>
      </p:sp>
      <p:sp>
        <p:nvSpPr>
          <p:cNvPr id="5" name="번호"/>
          <p:cNvSpPr txBox="1"/>
          <p:nvPr/>
        </p:nvSpPr>
        <p:spPr>
          <a:xfrm>
            <a:off x="822960" y="164592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DFAD3A"/>
                </a:solidFill>
              </a:rPr>
              <a:t>01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822960" y="3108960"/>
            <a:ext cx="5212079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일어나자마자 미지근한 물 한 잔으로 하루를 시작해 보세요.</a:t>
            </a:r>
          </a:p>
        </p:txBody>
      </p:sp>
      <p:sp>
        <p:nvSpPr>
          <p:cNvPr id="7" name="쪽 번호"/>
          <p:cNvSpPr txBox="1"/>
          <p:nvPr/>
        </p:nvSpPr>
        <p:spPr>
          <a:xfrm>
            <a:off x="822960" y="5806440"/>
            <a:ext cx="5212079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1 / 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9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56032" y="256032"/>
            <a:ext cx="6345936" cy="6345936"/>
          </a:xfrm>
          <a:prstGeom prst="rect">
            <a:avLst/>
          </a:prstGeom>
          <a:noFill/>
          <a:ln w="28575">
            <a:solidFill>
              <a:srgbClr val="DFAD3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384048" y="384048"/>
            <a:ext cx="6089904" cy="6089904"/>
          </a:xfrm>
          <a:prstGeom prst="rect">
            <a:avLst/>
          </a:prstGeom>
          <a:noFill/>
          <a:ln w="9525">
            <a:solidFill>
              <a:srgbClr val="F7EDD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48640"/>
            <a:ext cx="3931920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72591D"/>
                </a:solidFill>
              </a:rPr>
              <a:t>하루 십 분 걷기</a:t>
            </a:r>
          </a:p>
        </p:txBody>
      </p:sp>
      <p:sp>
        <p:nvSpPr>
          <p:cNvPr id="5" name="번호"/>
          <p:cNvSpPr txBox="1"/>
          <p:nvPr/>
        </p:nvSpPr>
        <p:spPr>
          <a:xfrm>
            <a:off x="822960" y="164592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DFAD3A"/>
                </a:solidFill>
              </a:rPr>
              <a:t>02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822960" y="3108960"/>
            <a:ext cx="5212079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점심 식사 후 십 분만 걸어도 몸이 한결 가벼워져요.</a:t>
            </a:r>
          </a:p>
        </p:txBody>
      </p:sp>
      <p:sp>
        <p:nvSpPr>
          <p:cNvPr id="7" name="쪽 번호"/>
          <p:cNvSpPr txBox="1"/>
          <p:nvPr/>
        </p:nvSpPr>
        <p:spPr>
          <a:xfrm>
            <a:off x="822960" y="5806440"/>
            <a:ext cx="5212079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2 / 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9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56032" y="256032"/>
            <a:ext cx="6345936" cy="6345936"/>
          </a:xfrm>
          <a:prstGeom prst="rect">
            <a:avLst/>
          </a:prstGeom>
          <a:noFill/>
          <a:ln w="28575">
            <a:solidFill>
              <a:srgbClr val="DFAD3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384048" y="384048"/>
            <a:ext cx="6089904" cy="6089904"/>
          </a:xfrm>
          <a:prstGeom prst="rect">
            <a:avLst/>
          </a:prstGeom>
          <a:noFill/>
          <a:ln w="9525">
            <a:solidFill>
              <a:srgbClr val="F7EDD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48640"/>
            <a:ext cx="3931920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72591D"/>
                </a:solidFill>
              </a:rPr>
              <a:t>검진 날짜 적어 두기</a:t>
            </a:r>
          </a:p>
        </p:txBody>
      </p:sp>
      <p:sp>
        <p:nvSpPr>
          <p:cNvPr id="5" name="번호"/>
          <p:cNvSpPr txBox="1"/>
          <p:nvPr/>
        </p:nvSpPr>
        <p:spPr>
          <a:xfrm>
            <a:off x="822960" y="164592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DFAD3A"/>
                </a:solidFill>
              </a:rPr>
              <a:t>03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822960" y="3108960"/>
            <a:ext cx="5212079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달력에 검진 예정일을 적어 두면 미루지 않게 돼요.</a:t>
            </a:r>
          </a:p>
        </p:txBody>
      </p:sp>
      <p:sp>
        <p:nvSpPr>
          <p:cNvPr id="7" name="쪽 번호"/>
          <p:cNvSpPr txBox="1"/>
          <p:nvPr/>
        </p:nvSpPr>
        <p:spPr>
          <a:xfrm>
            <a:off x="822960" y="5806440"/>
            <a:ext cx="5212079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3 / 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9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56032" y="256032"/>
            <a:ext cx="6345936" cy="6345936"/>
          </a:xfrm>
          <a:prstGeom prst="rect">
            <a:avLst/>
          </a:prstGeom>
          <a:noFill/>
          <a:ln w="28575">
            <a:solidFill>
              <a:srgbClr val="DFAD3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384048" y="384048"/>
            <a:ext cx="6089904" cy="6089904"/>
          </a:xfrm>
          <a:prstGeom prst="rect">
            <a:avLst/>
          </a:prstGeom>
          <a:noFill/>
          <a:ln w="9525">
            <a:solidFill>
              <a:srgbClr val="F7EDD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48640"/>
            <a:ext cx="3931920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72591D"/>
                </a:solidFill>
              </a:rPr>
              <a:t>잠들기 전 스마트폰 내려놓기</a:t>
            </a:r>
          </a:p>
        </p:txBody>
      </p:sp>
      <p:sp>
        <p:nvSpPr>
          <p:cNvPr id="5" name="번호"/>
          <p:cNvSpPr txBox="1"/>
          <p:nvPr/>
        </p:nvSpPr>
        <p:spPr>
          <a:xfrm>
            <a:off x="822960" y="164592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DFAD3A"/>
                </a:solidFill>
              </a:rPr>
              <a:t>04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822960" y="3108960"/>
            <a:ext cx="5212079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잠자리에 들기 삼십 분 전에는 화면을 꺼 보세요.</a:t>
            </a:r>
          </a:p>
        </p:txBody>
      </p:sp>
      <p:sp>
        <p:nvSpPr>
          <p:cNvPr id="7" name="쪽 번호"/>
          <p:cNvSpPr txBox="1"/>
          <p:nvPr/>
        </p:nvSpPr>
        <p:spPr>
          <a:xfrm>
            <a:off x="822960" y="5806440"/>
            <a:ext cx="5212079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4 /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9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56032" y="256032"/>
            <a:ext cx="6345936" cy="6345936"/>
          </a:xfrm>
          <a:prstGeom prst="rect">
            <a:avLst/>
          </a:prstGeom>
          <a:noFill/>
          <a:ln w="28575">
            <a:solidFill>
              <a:srgbClr val="DFAD3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384048" y="384048"/>
            <a:ext cx="6089904" cy="6089904"/>
          </a:xfrm>
          <a:prstGeom prst="rect">
            <a:avLst/>
          </a:prstGeom>
          <a:noFill/>
          <a:ln w="9525">
            <a:solidFill>
              <a:srgbClr val="F7EDD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48640"/>
            <a:ext cx="3931920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72591D"/>
                </a:solidFill>
              </a:rPr>
              <a:t>가족 건강 이야기 나누기</a:t>
            </a:r>
          </a:p>
        </p:txBody>
      </p:sp>
      <p:sp>
        <p:nvSpPr>
          <p:cNvPr id="5" name="번호"/>
          <p:cNvSpPr txBox="1"/>
          <p:nvPr/>
        </p:nvSpPr>
        <p:spPr>
          <a:xfrm>
            <a:off x="822960" y="164592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DFAD3A"/>
                </a:solidFill>
              </a:rPr>
              <a:t>05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822960" y="3108960"/>
            <a:ext cx="5212079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일주일에 한 번, 서로의 안부와 컨디션을 물어보세요.</a:t>
            </a:r>
          </a:p>
        </p:txBody>
      </p:sp>
      <p:sp>
        <p:nvSpPr>
          <p:cNvPr id="7" name="쪽 번호"/>
          <p:cNvSpPr txBox="1"/>
          <p:nvPr/>
        </p:nvSpPr>
        <p:spPr>
          <a:xfrm>
            <a:off x="822960" y="5806440"/>
            <a:ext cx="5212079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5 / 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news-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858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960120"/>
            <a:ext cx="5486400" cy="146304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72591D"/>
                </a:solidFill>
              </a:rPr>
              <a:t>저장해 두고 필요할 때 꺼내 보세요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685800" y="2560320"/>
            <a:ext cx="5486400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1">
                <a:solidFill>
                  <a:srgbClr val="72591D"/>
                </a:solidFill>
              </a:rPr>
              <a:t>마음에 들면 공유해 주세요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685800" y="3429000"/>
            <a:ext cx="5486400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66666"/>
                </a:solidFill>
              </a:rPr>
              <a:t>이름 · 연락처를 입력하세요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카드뉴스(건강·안심 습관)">
  <a:themeElements>
    <a:clrScheme name="Office">
      <a:dk1>
        <a:sysClr val="windowText" lastClr="000000"/>
      </a:dk1>
      <a:lt1>
        <a:sysClr val="window" lastClr="FFFFFF"/>
      </a:lt1>
      <a:dk2>
        <a:srgbClr val="72591D"/>
      </a:dk2>
      <a:lt2>
        <a:srgbClr val="FCF9F3"/>
      </a:lt2>
      <a:accent1>
        <a:srgbClr val="DFAD3A"/>
      </a:accent1>
      <a:accent2>
        <a:srgbClr val="339941"/>
      </a:accent2>
      <a:accent3>
        <a:srgbClr val="72591D"/>
      </a:accent3>
      <a:accent4>
        <a:srgbClr val="F7EDD4"/>
      </a:accent4>
      <a:accent5>
        <a:srgbClr val="89A33E"/>
      </a:accent5>
      <a:accent6>
        <a:srgbClr val="AA9B77"/>
      </a:accent6>
      <a:hlink>
        <a:srgbClr val="DFAD3A"/>
      </a:hlink>
      <a:folHlink>
        <a:srgbClr val="72591D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카드뉴스(건강·안심 습관)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