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880360"/>
            <a:ext cx="3086100" cy="3977639"/>
          </a:xfrm>
          <a:prstGeom prst="rtTriangl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4526280"/>
            <a:ext cx="1783080" cy="2331720"/>
          </a:xfrm>
          <a:prstGeom prst="rtTriangl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00000">
            <a:off x="4389120" y="0"/>
            <a:ext cx="2468879" cy="2743200"/>
          </a:xfrm>
          <a:prstGeom prst="rtTriangl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390388" y="3511296"/>
            <a:ext cx="740664" cy="1152143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4320000">
            <a:off x="6068711" y="4004127"/>
            <a:ext cx="740664" cy="1152143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8640000">
            <a:off x="5809615" y="4801544"/>
            <a:ext cx="740664" cy="1152143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2960000">
            <a:off x="4971160" y="4801544"/>
            <a:ext cx="740664" cy="1152143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7280000">
            <a:off x="4712064" y="4004127"/>
            <a:ext cx="740664" cy="1152143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5513832" y="4553712"/>
            <a:ext cx="493775" cy="493775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1200000">
            <a:off x="4188763" y="5411894"/>
            <a:ext cx="370332" cy="576071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5520000">
            <a:off x="4423192" y="5759449"/>
            <a:ext cx="370332" cy="576071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9840000">
            <a:off x="4165090" y="6089805"/>
            <a:ext cx="370332" cy="576071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4160000">
            <a:off x="3771145" y="5946421"/>
            <a:ext cx="370332" cy="576071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 rot="18480000">
            <a:off x="3785776" y="5527449"/>
            <a:ext cx="370332" cy="576071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>
            <a:off x="4128515" y="5911596"/>
            <a:ext cx="246887" cy="246887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2400000">
            <a:off x="7306492" y="5700775"/>
            <a:ext cx="311078" cy="48390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6720000">
            <a:off x="7391685" y="6042465"/>
            <a:ext cx="311078" cy="483900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1040000">
            <a:off x="7093044" y="6229077"/>
            <a:ext cx="311078" cy="48390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5360000">
            <a:off x="6823281" y="6002719"/>
            <a:ext cx="311078" cy="483900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 rot="19680000">
            <a:off x="6955199" y="5676210"/>
            <a:ext cx="311078" cy="48390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장식"/>
          <p:cNvSpPr/>
          <p:nvPr/>
        </p:nvSpPr>
        <p:spPr>
          <a:xfrm>
            <a:off x="7165787" y="6068507"/>
            <a:ext cx="207385" cy="207385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1097280"/>
            <a:ext cx="425196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85326A"/>
                </a:solidFill>
              </a:rPr>
              <a:t>코스모스 길 산책 코스</a:t>
            </a:r>
          </a:p>
        </p:txBody>
      </p:sp>
      <p:sp>
        <p:nvSpPr>
          <p:cNvPr id="24" name="한 줄 문구"/>
          <p:cNvSpPr txBox="1"/>
          <p:nvPr/>
        </p:nvSpPr>
        <p:spPr>
          <a:xfrm>
            <a:off x="548640" y="2651760"/>
            <a:ext cx="41148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85326A"/>
                </a:solidFill>
              </a:rPr>
              <a:t>옆으로 넘겨 보세요 →</a:t>
            </a:r>
          </a:p>
        </p:txBody>
      </p:sp>
      <p:sp>
        <p:nvSpPr>
          <p:cNvPr id="25" name="안내 문구"/>
          <p:cNvSpPr txBox="1"/>
          <p:nvPr/>
        </p:nvSpPr>
        <p:spPr>
          <a:xfrm>
            <a:off x="548640" y="3520439"/>
            <a:ext cx="41148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알뜰 생활 팁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853531" y="304495"/>
            <a:ext cx="271576" cy="422452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6102250" y="485199"/>
            <a:ext cx="271576" cy="422452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6007248" y="777586"/>
            <a:ext cx="271576" cy="422452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5699814" y="777586"/>
            <a:ext cx="271576" cy="422452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5604812" y="485199"/>
            <a:ext cx="271576" cy="422452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5898794" y="686714"/>
            <a:ext cx="181051" cy="181051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5412936" y="1001381"/>
            <a:ext cx="135788" cy="211226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5498893" y="1128818"/>
            <a:ext cx="135788" cy="211226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5404255" y="1249948"/>
            <a:ext cx="135788" cy="211226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5259809" y="1197374"/>
            <a:ext cx="135788" cy="211226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5265174" y="1043751"/>
            <a:ext cx="135788" cy="211226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5390845" y="1184605"/>
            <a:ext cx="90525" cy="90525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6556103" y="1107304"/>
            <a:ext cx="114062" cy="17743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6587340" y="1232590"/>
            <a:ext cx="114062" cy="177430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6477838" y="1301015"/>
            <a:ext cx="114062" cy="17743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6378925" y="1218017"/>
            <a:ext cx="114062" cy="177430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6427295" y="1098297"/>
            <a:ext cx="114062" cy="17743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6504511" y="1242139"/>
            <a:ext cx="76041" cy="76041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85326A"/>
                </a:solidFill>
              </a:rPr>
              <a:t>이번 달 고정지출부터 적어요</a:t>
            </a:r>
          </a:p>
        </p:txBody>
      </p:sp>
      <p:sp>
        <p:nvSpPr>
          <p:cNvPr id="23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C15CA0"/>
                </a:solidFill>
              </a:rPr>
              <a:t>01</a:t>
            </a:r>
          </a:p>
        </p:txBody>
      </p:sp>
      <p:sp>
        <p:nvSpPr>
          <p:cNvPr id="24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월세·통신비·구독료처럼 매달 나가는 돈부터 한곳에 적어 보면 새는 곳이 보여요.</a:t>
            </a:r>
          </a:p>
        </p:txBody>
      </p:sp>
      <p:sp>
        <p:nvSpPr>
          <p:cNvPr id="25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853531" y="304495"/>
            <a:ext cx="271576" cy="422452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6102250" y="485199"/>
            <a:ext cx="271576" cy="422452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6007248" y="777586"/>
            <a:ext cx="271576" cy="422452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5699814" y="777586"/>
            <a:ext cx="271576" cy="422452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5604812" y="485199"/>
            <a:ext cx="271576" cy="422452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5898794" y="686714"/>
            <a:ext cx="181051" cy="181051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5412936" y="1001381"/>
            <a:ext cx="135788" cy="211226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5498893" y="1128818"/>
            <a:ext cx="135788" cy="211226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5404255" y="1249948"/>
            <a:ext cx="135788" cy="211226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5259809" y="1197374"/>
            <a:ext cx="135788" cy="211226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5265174" y="1043751"/>
            <a:ext cx="135788" cy="211226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5390845" y="1184605"/>
            <a:ext cx="90525" cy="90525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6556103" y="1107304"/>
            <a:ext cx="114062" cy="17743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6587340" y="1232590"/>
            <a:ext cx="114062" cy="177430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6477838" y="1301015"/>
            <a:ext cx="114062" cy="17743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6378925" y="1218017"/>
            <a:ext cx="114062" cy="177430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6427295" y="1098297"/>
            <a:ext cx="114062" cy="17743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6504511" y="1242139"/>
            <a:ext cx="76041" cy="76041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85326A"/>
                </a:solidFill>
              </a:rPr>
              <a:t>카드 대신 현금 한 주</a:t>
            </a:r>
          </a:p>
        </p:txBody>
      </p:sp>
      <p:sp>
        <p:nvSpPr>
          <p:cNvPr id="23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C15CA0"/>
                </a:solidFill>
              </a:rPr>
              <a:t>02</a:t>
            </a:r>
          </a:p>
        </p:txBody>
      </p:sp>
      <p:sp>
        <p:nvSpPr>
          <p:cNvPr id="24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일주일만 현금으로 써 보면 충동구매가 눈에 띄게 줄어요.</a:t>
            </a:r>
          </a:p>
        </p:txBody>
      </p:sp>
      <p:sp>
        <p:nvSpPr>
          <p:cNvPr id="25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853531" y="304495"/>
            <a:ext cx="271576" cy="422452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6102250" y="485199"/>
            <a:ext cx="271576" cy="422452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6007248" y="777586"/>
            <a:ext cx="271576" cy="422452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5699814" y="777586"/>
            <a:ext cx="271576" cy="422452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5604812" y="485199"/>
            <a:ext cx="271576" cy="422452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5898794" y="686714"/>
            <a:ext cx="181051" cy="181051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5412936" y="1001381"/>
            <a:ext cx="135788" cy="211226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5498893" y="1128818"/>
            <a:ext cx="135788" cy="211226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5404255" y="1249948"/>
            <a:ext cx="135788" cy="211226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5259809" y="1197374"/>
            <a:ext cx="135788" cy="211226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5265174" y="1043751"/>
            <a:ext cx="135788" cy="211226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5390845" y="1184605"/>
            <a:ext cx="90525" cy="90525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6556103" y="1107304"/>
            <a:ext cx="114062" cy="17743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6587340" y="1232590"/>
            <a:ext cx="114062" cy="177430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6477838" y="1301015"/>
            <a:ext cx="114062" cy="17743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6378925" y="1218017"/>
            <a:ext cx="114062" cy="177430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6427295" y="1098297"/>
            <a:ext cx="114062" cy="17743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6504511" y="1242139"/>
            <a:ext cx="76041" cy="76041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85326A"/>
                </a:solidFill>
              </a:rPr>
              <a:t>장보기 전 냉장고 사진</a:t>
            </a:r>
          </a:p>
        </p:txBody>
      </p:sp>
      <p:sp>
        <p:nvSpPr>
          <p:cNvPr id="23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C15CA0"/>
                </a:solidFill>
              </a:rPr>
              <a:t>03</a:t>
            </a:r>
          </a:p>
        </p:txBody>
      </p:sp>
      <p:sp>
        <p:nvSpPr>
          <p:cNvPr id="24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있는 재료를 확인하고 가면 같은 식재료를 또 사는 일이 줄어요.</a:t>
            </a:r>
          </a:p>
        </p:txBody>
      </p:sp>
      <p:sp>
        <p:nvSpPr>
          <p:cNvPr id="25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853531" y="304495"/>
            <a:ext cx="271576" cy="422452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6102250" y="485199"/>
            <a:ext cx="271576" cy="422452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6007248" y="777586"/>
            <a:ext cx="271576" cy="422452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5699814" y="777586"/>
            <a:ext cx="271576" cy="422452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5604812" y="485199"/>
            <a:ext cx="271576" cy="422452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5898794" y="686714"/>
            <a:ext cx="181051" cy="181051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5412936" y="1001381"/>
            <a:ext cx="135788" cy="211226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5498893" y="1128818"/>
            <a:ext cx="135788" cy="211226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5404255" y="1249948"/>
            <a:ext cx="135788" cy="211226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5259809" y="1197374"/>
            <a:ext cx="135788" cy="211226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5265174" y="1043751"/>
            <a:ext cx="135788" cy="211226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5390845" y="1184605"/>
            <a:ext cx="90525" cy="90525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6556103" y="1107304"/>
            <a:ext cx="114062" cy="17743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6587340" y="1232590"/>
            <a:ext cx="114062" cy="177430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6477838" y="1301015"/>
            <a:ext cx="114062" cy="17743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6378925" y="1218017"/>
            <a:ext cx="114062" cy="177430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6427295" y="1098297"/>
            <a:ext cx="114062" cy="17743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6504511" y="1242139"/>
            <a:ext cx="76041" cy="76041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85326A"/>
                </a:solidFill>
              </a:rPr>
              <a:t>작은 목표 통장 만들기</a:t>
            </a:r>
          </a:p>
        </p:txBody>
      </p:sp>
      <p:sp>
        <p:nvSpPr>
          <p:cNvPr id="23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C15CA0"/>
                </a:solidFill>
              </a:rPr>
              <a:t>04</a:t>
            </a:r>
          </a:p>
        </p:txBody>
      </p:sp>
      <p:sp>
        <p:nvSpPr>
          <p:cNvPr id="24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여행·선물·비상금처럼 이름을 붙이면 모으는 재미가 커져요.</a:t>
            </a:r>
          </a:p>
        </p:txBody>
      </p:sp>
      <p:sp>
        <p:nvSpPr>
          <p:cNvPr id="25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853531" y="304495"/>
            <a:ext cx="271576" cy="422452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6102250" y="485199"/>
            <a:ext cx="271576" cy="422452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6007248" y="777586"/>
            <a:ext cx="271576" cy="422452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5699814" y="777586"/>
            <a:ext cx="271576" cy="422452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5604812" y="485199"/>
            <a:ext cx="271576" cy="422452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5898794" y="686714"/>
            <a:ext cx="181051" cy="181051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5412936" y="1001381"/>
            <a:ext cx="135788" cy="211226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5498893" y="1128818"/>
            <a:ext cx="135788" cy="211226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5404255" y="1249948"/>
            <a:ext cx="135788" cy="211226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5259809" y="1197374"/>
            <a:ext cx="135788" cy="211226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5265174" y="1043751"/>
            <a:ext cx="135788" cy="211226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5390845" y="1184605"/>
            <a:ext cx="90525" cy="90525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6556103" y="1107304"/>
            <a:ext cx="114062" cy="17743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6587340" y="1232590"/>
            <a:ext cx="114062" cy="177430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6477838" y="1301015"/>
            <a:ext cx="114062" cy="17743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6378925" y="1218017"/>
            <a:ext cx="114062" cy="177430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6427295" y="1098297"/>
            <a:ext cx="114062" cy="17743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6504511" y="1242139"/>
            <a:ext cx="76041" cy="76041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85326A"/>
                </a:solidFill>
              </a:rPr>
              <a:t>주말 5분 가계부</a:t>
            </a:r>
          </a:p>
        </p:txBody>
      </p:sp>
      <p:sp>
        <p:nvSpPr>
          <p:cNvPr id="23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C15CA0"/>
                </a:solidFill>
              </a:rPr>
              <a:t>05</a:t>
            </a:r>
          </a:p>
        </p:txBody>
      </p:sp>
      <p:sp>
        <p:nvSpPr>
          <p:cNvPr id="24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영수증을 모아 두었다가 주말에 5분만 적어 보세요.</a:t>
            </a:r>
          </a:p>
        </p:txBody>
      </p:sp>
      <p:sp>
        <p:nvSpPr>
          <p:cNvPr id="25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880360"/>
            <a:ext cx="3086100" cy="3977639"/>
          </a:xfrm>
          <a:prstGeom prst="rtTriangl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4526280"/>
            <a:ext cx="1783080" cy="2331720"/>
          </a:xfrm>
          <a:prstGeom prst="rtTriangl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00000">
            <a:off x="4389120" y="0"/>
            <a:ext cx="2468879" cy="2743200"/>
          </a:xfrm>
          <a:prstGeom prst="rtTriangl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390388" y="3511296"/>
            <a:ext cx="740664" cy="1152143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4320000">
            <a:off x="6068711" y="4004127"/>
            <a:ext cx="740664" cy="1152143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8640000">
            <a:off x="5809615" y="4801544"/>
            <a:ext cx="740664" cy="1152143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2960000">
            <a:off x="4971160" y="4801544"/>
            <a:ext cx="740664" cy="1152143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7280000">
            <a:off x="4712064" y="4004127"/>
            <a:ext cx="740664" cy="1152143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5513832" y="4553712"/>
            <a:ext cx="493775" cy="493775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1200000">
            <a:off x="4188763" y="5411894"/>
            <a:ext cx="370332" cy="576071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5520000">
            <a:off x="4423192" y="5759449"/>
            <a:ext cx="370332" cy="576071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9840000">
            <a:off x="4165090" y="6089805"/>
            <a:ext cx="370332" cy="576071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4160000">
            <a:off x="3771145" y="5946421"/>
            <a:ext cx="370332" cy="576071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 rot="18480000">
            <a:off x="3785776" y="5527449"/>
            <a:ext cx="370332" cy="576071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>
            <a:off x="4128515" y="5911596"/>
            <a:ext cx="246887" cy="246887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2400000">
            <a:off x="7306492" y="5700775"/>
            <a:ext cx="311078" cy="48390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6720000">
            <a:off x="7391685" y="6042465"/>
            <a:ext cx="311078" cy="483900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1040000">
            <a:off x="7093044" y="6229077"/>
            <a:ext cx="311078" cy="48390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5360000">
            <a:off x="6823281" y="6002719"/>
            <a:ext cx="311078" cy="483900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 rot="19680000">
            <a:off x="6955199" y="5676210"/>
            <a:ext cx="311078" cy="48390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장식"/>
          <p:cNvSpPr/>
          <p:nvPr/>
        </p:nvSpPr>
        <p:spPr>
          <a:xfrm>
            <a:off x="7165787" y="6068507"/>
            <a:ext cx="207385" cy="207385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1097280"/>
            <a:ext cx="425196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85326A"/>
                </a:solidFill>
              </a:rPr>
              <a:t>저장해 두고 필요할 때 꺼내 보세요</a:t>
            </a:r>
          </a:p>
        </p:txBody>
      </p:sp>
      <p:sp>
        <p:nvSpPr>
          <p:cNvPr id="24" name="한 줄 문구"/>
          <p:cNvSpPr txBox="1"/>
          <p:nvPr/>
        </p:nvSpPr>
        <p:spPr>
          <a:xfrm>
            <a:off x="548640" y="2651760"/>
            <a:ext cx="41148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85326A"/>
                </a:solidFill>
              </a:rPr>
              <a:t>마음에 들면 공유해 주세요</a:t>
            </a:r>
          </a:p>
        </p:txBody>
      </p:sp>
      <p:sp>
        <p:nvSpPr>
          <p:cNvPr id="25" name="안내 문구"/>
          <p:cNvSpPr txBox="1"/>
          <p:nvPr/>
        </p:nvSpPr>
        <p:spPr>
          <a:xfrm>
            <a:off x="548640" y="3520439"/>
            <a:ext cx="41148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알뜰 생활 팁)">
  <a:themeElements>
    <a:clrScheme name="Office">
      <a:dk1>
        <a:sysClr val="windowText" lastClr="000000"/>
      </a:dk1>
      <a:lt1>
        <a:sysClr val="window" lastClr="FFFFFF"/>
      </a:lt1>
      <a:dk2>
        <a:srgbClr val="85326A"/>
      </a:dk2>
      <a:lt2>
        <a:srgbClr val="F9F0F6"/>
      </a:lt2>
      <a:accent1>
        <a:srgbClr val="C15CA0"/>
      </a:accent1>
      <a:accent2>
        <a:srgbClr val="49913B"/>
      </a:accent2>
      <a:accent3>
        <a:srgbClr val="85326A"/>
      </a:accent3>
      <a:accent4>
        <a:srgbClr val="F0D1E5"/>
      </a:accent4>
      <a:accent5>
        <a:srgbClr val="85766E"/>
      </a:accent5>
      <a:accent6>
        <a:srgbClr val="B684A6"/>
      </a:accent6>
      <a:hlink>
        <a:srgbClr val="C15CA0"/>
      </a:hlink>
      <a:folHlink>
        <a:srgbClr val="85326A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카드뉴스(알뜰 생활 팁)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