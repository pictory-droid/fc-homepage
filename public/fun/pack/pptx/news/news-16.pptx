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26861"/>
                </a:solidFill>
              </a:rPr>
              <a:t>한 달 용돈, 어디로 갔을까요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26861"/>
                </a:solidFill>
              </a:rPr>
              <a:t>옆으로 넘겨 보세요 →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알뜰 생활 팁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6345936" cy="6345936"/>
          </a:xfrm>
          <a:prstGeom prst="rect">
            <a:avLst/>
          </a:prstGeom>
          <a:noFill/>
          <a:ln w="28575">
            <a:solidFill>
              <a:srgbClr val="3EE0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6089904" cy="6089904"/>
          </a:xfrm>
          <a:prstGeom prst="rect">
            <a:avLst/>
          </a:prstGeom>
          <a:noFill/>
          <a:ln w="9525">
            <a:solidFill>
              <a:srgbClr val="D9FCF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393192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26861"/>
                </a:solidFill>
              </a:rPr>
              <a:t>이번 달 고정지출부터 적어요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82296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EE0D2"/>
                </a:solidFill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822960" y="3108960"/>
            <a:ext cx="5212079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월세·통신비·구독료처럼 매달 나가는 돈부터 한곳에 적어 보면 새는 곳이 보여요.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822960" y="5806440"/>
            <a:ext cx="5212079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6345936" cy="6345936"/>
          </a:xfrm>
          <a:prstGeom prst="rect">
            <a:avLst/>
          </a:prstGeom>
          <a:noFill/>
          <a:ln w="28575">
            <a:solidFill>
              <a:srgbClr val="3EE0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6089904" cy="6089904"/>
          </a:xfrm>
          <a:prstGeom prst="rect">
            <a:avLst/>
          </a:prstGeom>
          <a:noFill/>
          <a:ln w="9525">
            <a:solidFill>
              <a:srgbClr val="D9FCF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393192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26861"/>
                </a:solidFill>
              </a:rPr>
              <a:t>카드 대신 현금 한 주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82296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EE0D2"/>
                </a:solidFill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822960" y="3108960"/>
            <a:ext cx="5212079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일주일만 현금으로 써 보면 충동구매가 눈에 띄게 줄어요.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822960" y="5806440"/>
            <a:ext cx="5212079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6345936" cy="6345936"/>
          </a:xfrm>
          <a:prstGeom prst="rect">
            <a:avLst/>
          </a:prstGeom>
          <a:noFill/>
          <a:ln w="28575">
            <a:solidFill>
              <a:srgbClr val="3EE0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6089904" cy="6089904"/>
          </a:xfrm>
          <a:prstGeom prst="rect">
            <a:avLst/>
          </a:prstGeom>
          <a:noFill/>
          <a:ln w="9525">
            <a:solidFill>
              <a:srgbClr val="D9FCF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393192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26861"/>
                </a:solidFill>
              </a:rPr>
              <a:t>장보기 전 냉장고 사진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82296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EE0D2"/>
                </a:solidFill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822960" y="3108960"/>
            <a:ext cx="5212079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있는 재료를 확인하고 가면 같은 식재료를 또 사는 일이 줄어요.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822960" y="5806440"/>
            <a:ext cx="5212079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6345936" cy="6345936"/>
          </a:xfrm>
          <a:prstGeom prst="rect">
            <a:avLst/>
          </a:prstGeom>
          <a:noFill/>
          <a:ln w="28575">
            <a:solidFill>
              <a:srgbClr val="3EE0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6089904" cy="6089904"/>
          </a:xfrm>
          <a:prstGeom prst="rect">
            <a:avLst/>
          </a:prstGeom>
          <a:noFill/>
          <a:ln w="9525">
            <a:solidFill>
              <a:srgbClr val="D9FCF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393192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26861"/>
                </a:solidFill>
              </a:rPr>
              <a:t>작은 목표 통장 만들기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82296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EE0D2"/>
                </a:solidFill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822960" y="3108960"/>
            <a:ext cx="5212079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여행·선물·비상금처럼 이름을 붙이면 모으는 재미가 커져요.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822960" y="5806440"/>
            <a:ext cx="5212079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6345936" cy="6345936"/>
          </a:xfrm>
          <a:prstGeom prst="rect">
            <a:avLst/>
          </a:prstGeom>
          <a:noFill/>
          <a:ln w="28575">
            <a:solidFill>
              <a:srgbClr val="3EE0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6089904" cy="6089904"/>
          </a:xfrm>
          <a:prstGeom prst="rect">
            <a:avLst/>
          </a:prstGeom>
          <a:noFill/>
          <a:ln w="9525">
            <a:solidFill>
              <a:srgbClr val="D9FCF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393192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26861"/>
                </a:solidFill>
              </a:rPr>
              <a:t>주말 5분 가계부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82296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EE0D2"/>
                </a:solidFill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822960" y="3108960"/>
            <a:ext cx="5212079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영수증을 모아 두었다가 주말에 5분만 적어 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822960" y="5806440"/>
            <a:ext cx="5212079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26861"/>
                </a:solidFill>
              </a:rPr>
              <a:t>저장해 두고 필요할 때 꺼내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26861"/>
                </a:solidFill>
              </a:rPr>
              <a:t>마음에 들면 공유해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알뜰 생활 팁)">
  <a:themeElements>
    <a:clrScheme name="Office">
      <a:dk1>
        <a:sysClr val="windowText" lastClr="000000"/>
      </a:dk1>
      <a:lt1>
        <a:sysClr val="window" lastClr="FFFFFF"/>
      </a:lt1>
      <a:dk2>
        <a:srgbClr val="126861"/>
      </a:dk2>
      <a:lt2>
        <a:srgbClr val="F4FDFD"/>
      </a:lt2>
      <a:accent1>
        <a:srgbClr val="3EE0D2"/>
      </a:accent1>
      <a:accent2>
        <a:srgbClr val="1CA8C4"/>
      </a:accent2>
      <a:accent3>
        <a:srgbClr val="126861"/>
      </a:accent3>
      <a:accent4>
        <a:srgbClr val="D9FCF9"/>
      </a:accent4>
      <a:accent5>
        <a:srgbClr val="2DC4CB"/>
      </a:accent5>
      <a:accent6>
        <a:srgbClr val="71A4A0"/>
      </a:accent6>
      <a:hlink>
        <a:srgbClr val="3EE0D2"/>
      </a:hlink>
      <a:folHlink>
        <a:srgbClr val="126861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카드뉴스(알뜰 생활 팁)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