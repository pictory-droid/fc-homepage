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6858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514350" y="2130425"/>
            <a:ext cx="58293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028700" y="3886200"/>
            <a:ext cx="48006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257175" y="0"/>
            <a:ext cx="1200150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1757362" y="0"/>
            <a:ext cx="16287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3686175" y="0"/>
            <a:ext cx="1200150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7175" y="0"/>
            <a:ext cx="4629150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57175" y="0"/>
            <a:ext cx="4629150" cy="0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257175" y="0"/>
            <a:ext cx="1200150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1757362" y="0"/>
            <a:ext cx="16287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3686175" y="0"/>
            <a:ext cx="1200150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1734" y="4406900"/>
            <a:ext cx="58293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41734" y="2906713"/>
            <a:ext cx="58293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257175" y="0"/>
            <a:ext cx="1200150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1757362" y="0"/>
            <a:ext cx="16287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3686175" y="0"/>
            <a:ext cx="1200150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7175" y="0"/>
            <a:ext cx="4629150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342900" y="1600200"/>
            <a:ext cx="302895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486150" y="1600200"/>
            <a:ext cx="302895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257175" y="0"/>
            <a:ext cx="1200150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1757362" y="0"/>
            <a:ext cx="1628775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3686175" y="0"/>
            <a:ext cx="1200150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7175" y="0"/>
            <a:ext cx="4629150" cy="0"/>
          </a:xfrm>
        </p:spPr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42900" y="1535113"/>
            <a:ext cx="3030141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42900" y="2174875"/>
            <a:ext cx="3030141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483768" y="1535113"/>
            <a:ext cx="3031331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3483768" y="2174875"/>
            <a:ext cx="3031331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257175" y="0"/>
            <a:ext cx="1200150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1757362" y="0"/>
            <a:ext cx="1628775" cy="0"/>
          </a:xfr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3686175" y="0"/>
            <a:ext cx="1200150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7175" y="0"/>
            <a:ext cx="4629150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257175" y="0"/>
            <a:ext cx="1200150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1757362" y="0"/>
            <a:ext cx="1628775" cy="0"/>
          </a:xfrm>
        </p:spPr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3686175" y="0"/>
            <a:ext cx="1200150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257175" y="0"/>
            <a:ext cx="1200150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1757362" y="0"/>
            <a:ext cx="1628775" cy="0"/>
          </a:xfr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3686175" y="0"/>
            <a:ext cx="1200150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42900" y="273050"/>
            <a:ext cx="2256234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681287" y="273050"/>
            <a:ext cx="3833812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342900" y="1435100"/>
            <a:ext cx="2256234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257175" y="0"/>
            <a:ext cx="1200150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1757362" y="0"/>
            <a:ext cx="1628775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3686175" y="0"/>
            <a:ext cx="1200150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44216" y="4800600"/>
            <a:ext cx="41148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344216" y="612775"/>
            <a:ext cx="41148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344216" y="5367338"/>
            <a:ext cx="41148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257175" y="0"/>
            <a:ext cx="1200150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1757362" y="0"/>
            <a:ext cx="1628775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3686175" y="0"/>
            <a:ext cx="1200150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7175" y="0"/>
            <a:ext cx="4629150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257175" y="0"/>
            <a:ext cx="4629150" cy="0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257175" y="0"/>
            <a:ext cx="1200150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1757362" y="0"/>
            <a:ext cx="16287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3686175" y="0"/>
            <a:ext cx="1200150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4972050" y="274638"/>
            <a:ext cx="154305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342900" y="274638"/>
            <a:ext cx="451485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257175" y="0"/>
            <a:ext cx="1200150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1757362" y="0"/>
            <a:ext cx="16287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3686175" y="0"/>
            <a:ext cx="1200150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342900" y="274638"/>
            <a:ext cx="61722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42900" y="1600200"/>
            <a:ext cx="61722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342900" y="6356350"/>
            <a:ext cx="1600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343150" y="6356350"/>
            <a:ext cx="21717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4914900" y="6356350"/>
            <a:ext cx="1600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jp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3" name="표지 그림" descr="news-01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6858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0" y="960120"/>
            <a:ext cx="5486400" cy="146304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742F4C"/>
                </a:solidFill>
              </a:rPr>
              <a:t>새 학기 전에 점검할 지출 다섯 가지</a:t>
            </a:r>
          </a:p>
        </p:txBody>
      </p:sp>
      <p:sp>
        <p:nvSpPr>
          <p:cNvPr id="4" name="한 줄 문구"/>
          <p:cNvSpPr txBox="1"/>
          <p:nvPr/>
        </p:nvSpPr>
        <p:spPr>
          <a:xfrm>
            <a:off x="685800" y="2560320"/>
            <a:ext cx="5486400" cy="8229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500" b="0" i="1">
                <a:solidFill>
                  <a:srgbClr val="742F4C"/>
                </a:solidFill>
              </a:rPr>
              <a:t>옆으로 넘겨 보세요 →</a:t>
            </a:r>
          </a:p>
        </p:txBody>
      </p:sp>
      <p:sp>
        <p:nvSpPr>
          <p:cNvPr id="5" name="안내 문구"/>
          <p:cNvSpPr txBox="1"/>
          <p:nvPr/>
        </p:nvSpPr>
        <p:spPr>
          <a:xfrm>
            <a:off x="685800" y="3429000"/>
            <a:ext cx="5486400" cy="9144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666666"/>
                </a:solidFill>
              </a:rPr>
              <a:t>알뜰 생활 팁 · 카드뉴스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9F1F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0" y="0"/>
            <a:ext cx="6858000" cy="274320"/>
          </a:xfrm>
          <a:prstGeom prst="rect">
            <a:avLst/>
          </a:prstGeom>
          <a:solidFill>
            <a:srgbClr val="B8517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장식"/>
          <p:cNvSpPr/>
          <p:nvPr/>
        </p:nvSpPr>
        <p:spPr>
          <a:xfrm>
            <a:off x="0" y="274320"/>
            <a:ext cx="6858000" cy="54864"/>
          </a:xfrm>
          <a:prstGeom prst="rect">
            <a:avLst/>
          </a:prstGeom>
          <a:solidFill>
            <a:srgbClr val="3B914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457200"/>
            <a:ext cx="4389120" cy="8686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742F4C"/>
                </a:solidFill>
              </a:rPr>
              <a:t>이번 달 고정지출부터 적어요</a:t>
            </a:r>
          </a:p>
        </p:txBody>
      </p:sp>
      <p:sp>
        <p:nvSpPr>
          <p:cNvPr id="5" name="번호"/>
          <p:cNvSpPr txBox="1"/>
          <p:nvPr/>
        </p:nvSpPr>
        <p:spPr>
          <a:xfrm>
            <a:off x="640080" y="1691640"/>
            <a:ext cx="2194560" cy="12801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6600" b="1" i="0">
                <a:solidFill>
                  <a:srgbClr val="B8517C"/>
                </a:solidFill>
              </a:rPr>
              <a:t>01</a:t>
            </a:r>
          </a:p>
        </p:txBody>
      </p:sp>
      <p:sp>
        <p:nvSpPr>
          <p:cNvPr id="6" name="본문"/>
          <p:cNvSpPr txBox="1"/>
          <p:nvPr/>
        </p:nvSpPr>
        <p:spPr>
          <a:xfrm>
            <a:off x="640080" y="3154680"/>
            <a:ext cx="5577840" cy="26517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40000"/>
              </a:lnSpc>
            </a:pPr>
            <a:r>
              <a:rPr sz="2800" b="0" i="0">
                <a:solidFill>
                  <a:srgbClr val="2B2B2B"/>
                </a:solidFill>
              </a:rPr>
              <a:t>월세·통신비·구독료처럼 매달 나가는 돈부터 한곳에 적어 보면 새는 곳이 보여요.</a:t>
            </a:r>
          </a:p>
        </p:txBody>
      </p:sp>
      <p:sp>
        <p:nvSpPr>
          <p:cNvPr id="7" name="쪽 번호"/>
          <p:cNvSpPr txBox="1"/>
          <p:nvPr/>
        </p:nvSpPr>
        <p:spPr>
          <a:xfrm>
            <a:off x="640080" y="6035040"/>
            <a:ext cx="5577840" cy="3657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r">
              <a:lnSpc>
                <a:spcPct val="115000"/>
              </a:lnSpc>
            </a:pPr>
            <a:r>
              <a:rPr sz="1200" b="0" i="0">
                <a:solidFill>
                  <a:srgbClr val="888888"/>
                </a:solidFill>
              </a:rPr>
              <a:t>1 / 5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9F1F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0" y="0"/>
            <a:ext cx="6858000" cy="274320"/>
          </a:xfrm>
          <a:prstGeom prst="rect">
            <a:avLst/>
          </a:prstGeom>
          <a:solidFill>
            <a:srgbClr val="B8517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장식"/>
          <p:cNvSpPr/>
          <p:nvPr/>
        </p:nvSpPr>
        <p:spPr>
          <a:xfrm>
            <a:off x="0" y="274320"/>
            <a:ext cx="6858000" cy="54864"/>
          </a:xfrm>
          <a:prstGeom prst="rect">
            <a:avLst/>
          </a:prstGeom>
          <a:solidFill>
            <a:srgbClr val="3B914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457200"/>
            <a:ext cx="4389120" cy="8686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742F4C"/>
                </a:solidFill>
              </a:rPr>
              <a:t>카드 대신 현금 한 주</a:t>
            </a:r>
          </a:p>
        </p:txBody>
      </p:sp>
      <p:sp>
        <p:nvSpPr>
          <p:cNvPr id="5" name="번호"/>
          <p:cNvSpPr txBox="1"/>
          <p:nvPr/>
        </p:nvSpPr>
        <p:spPr>
          <a:xfrm>
            <a:off x="640080" y="1691640"/>
            <a:ext cx="2194560" cy="12801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6600" b="1" i="0">
                <a:solidFill>
                  <a:srgbClr val="B8517C"/>
                </a:solidFill>
              </a:rPr>
              <a:t>02</a:t>
            </a:r>
          </a:p>
        </p:txBody>
      </p:sp>
      <p:sp>
        <p:nvSpPr>
          <p:cNvPr id="6" name="본문"/>
          <p:cNvSpPr txBox="1"/>
          <p:nvPr/>
        </p:nvSpPr>
        <p:spPr>
          <a:xfrm>
            <a:off x="640080" y="3154680"/>
            <a:ext cx="5577840" cy="26517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40000"/>
              </a:lnSpc>
            </a:pPr>
            <a:r>
              <a:rPr sz="2800" b="0" i="0">
                <a:solidFill>
                  <a:srgbClr val="2B2B2B"/>
                </a:solidFill>
              </a:rPr>
              <a:t>일주일만 현금으로 써 보면 충동구매가 눈에 띄게 줄어요.</a:t>
            </a:r>
          </a:p>
        </p:txBody>
      </p:sp>
      <p:sp>
        <p:nvSpPr>
          <p:cNvPr id="7" name="쪽 번호"/>
          <p:cNvSpPr txBox="1"/>
          <p:nvPr/>
        </p:nvSpPr>
        <p:spPr>
          <a:xfrm>
            <a:off x="640080" y="6035040"/>
            <a:ext cx="5577840" cy="3657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r">
              <a:lnSpc>
                <a:spcPct val="115000"/>
              </a:lnSpc>
            </a:pPr>
            <a:r>
              <a:rPr sz="1200" b="0" i="0">
                <a:solidFill>
                  <a:srgbClr val="888888"/>
                </a:solidFill>
              </a:rPr>
              <a:t>2 / 5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9F1F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0" y="0"/>
            <a:ext cx="6858000" cy="274320"/>
          </a:xfrm>
          <a:prstGeom prst="rect">
            <a:avLst/>
          </a:prstGeom>
          <a:solidFill>
            <a:srgbClr val="B8517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장식"/>
          <p:cNvSpPr/>
          <p:nvPr/>
        </p:nvSpPr>
        <p:spPr>
          <a:xfrm>
            <a:off x="0" y="274320"/>
            <a:ext cx="6858000" cy="54864"/>
          </a:xfrm>
          <a:prstGeom prst="rect">
            <a:avLst/>
          </a:prstGeom>
          <a:solidFill>
            <a:srgbClr val="3B914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457200"/>
            <a:ext cx="4389120" cy="8686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742F4C"/>
                </a:solidFill>
              </a:rPr>
              <a:t>장보기 전 냉장고 사진</a:t>
            </a:r>
          </a:p>
        </p:txBody>
      </p:sp>
      <p:sp>
        <p:nvSpPr>
          <p:cNvPr id="5" name="번호"/>
          <p:cNvSpPr txBox="1"/>
          <p:nvPr/>
        </p:nvSpPr>
        <p:spPr>
          <a:xfrm>
            <a:off x="640080" y="1691640"/>
            <a:ext cx="2194560" cy="12801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6600" b="1" i="0">
                <a:solidFill>
                  <a:srgbClr val="B8517C"/>
                </a:solidFill>
              </a:rPr>
              <a:t>03</a:t>
            </a:r>
          </a:p>
        </p:txBody>
      </p:sp>
      <p:sp>
        <p:nvSpPr>
          <p:cNvPr id="6" name="본문"/>
          <p:cNvSpPr txBox="1"/>
          <p:nvPr/>
        </p:nvSpPr>
        <p:spPr>
          <a:xfrm>
            <a:off x="640080" y="3154680"/>
            <a:ext cx="5577840" cy="26517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40000"/>
              </a:lnSpc>
            </a:pPr>
            <a:r>
              <a:rPr sz="2800" b="0" i="0">
                <a:solidFill>
                  <a:srgbClr val="2B2B2B"/>
                </a:solidFill>
              </a:rPr>
              <a:t>있는 재료를 확인하고 가면 같은 식재료를 또 사는 일이 줄어요.</a:t>
            </a:r>
          </a:p>
        </p:txBody>
      </p:sp>
      <p:sp>
        <p:nvSpPr>
          <p:cNvPr id="7" name="쪽 번호"/>
          <p:cNvSpPr txBox="1"/>
          <p:nvPr/>
        </p:nvSpPr>
        <p:spPr>
          <a:xfrm>
            <a:off x="640080" y="6035040"/>
            <a:ext cx="5577840" cy="3657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r">
              <a:lnSpc>
                <a:spcPct val="115000"/>
              </a:lnSpc>
            </a:pPr>
            <a:r>
              <a:rPr sz="1200" b="0" i="0">
                <a:solidFill>
                  <a:srgbClr val="888888"/>
                </a:solidFill>
              </a:rPr>
              <a:t>3 / 5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9F1F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0" y="0"/>
            <a:ext cx="6858000" cy="274320"/>
          </a:xfrm>
          <a:prstGeom prst="rect">
            <a:avLst/>
          </a:prstGeom>
          <a:solidFill>
            <a:srgbClr val="B8517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장식"/>
          <p:cNvSpPr/>
          <p:nvPr/>
        </p:nvSpPr>
        <p:spPr>
          <a:xfrm>
            <a:off x="0" y="274320"/>
            <a:ext cx="6858000" cy="54864"/>
          </a:xfrm>
          <a:prstGeom prst="rect">
            <a:avLst/>
          </a:prstGeom>
          <a:solidFill>
            <a:srgbClr val="3B914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457200"/>
            <a:ext cx="4389120" cy="8686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742F4C"/>
                </a:solidFill>
              </a:rPr>
              <a:t>작은 목표 통장 만들기</a:t>
            </a:r>
          </a:p>
        </p:txBody>
      </p:sp>
      <p:sp>
        <p:nvSpPr>
          <p:cNvPr id="5" name="번호"/>
          <p:cNvSpPr txBox="1"/>
          <p:nvPr/>
        </p:nvSpPr>
        <p:spPr>
          <a:xfrm>
            <a:off x="640080" y="1691640"/>
            <a:ext cx="2194560" cy="12801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6600" b="1" i="0">
                <a:solidFill>
                  <a:srgbClr val="B8517C"/>
                </a:solidFill>
              </a:rPr>
              <a:t>04</a:t>
            </a:r>
          </a:p>
        </p:txBody>
      </p:sp>
      <p:sp>
        <p:nvSpPr>
          <p:cNvPr id="6" name="본문"/>
          <p:cNvSpPr txBox="1"/>
          <p:nvPr/>
        </p:nvSpPr>
        <p:spPr>
          <a:xfrm>
            <a:off x="640080" y="3154680"/>
            <a:ext cx="5577840" cy="26517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40000"/>
              </a:lnSpc>
            </a:pPr>
            <a:r>
              <a:rPr sz="2800" b="0" i="0">
                <a:solidFill>
                  <a:srgbClr val="2B2B2B"/>
                </a:solidFill>
              </a:rPr>
              <a:t>여행·선물·비상금처럼 이름을 붙이면 모으는 재미가 커져요.</a:t>
            </a:r>
          </a:p>
        </p:txBody>
      </p:sp>
      <p:sp>
        <p:nvSpPr>
          <p:cNvPr id="7" name="쪽 번호"/>
          <p:cNvSpPr txBox="1"/>
          <p:nvPr/>
        </p:nvSpPr>
        <p:spPr>
          <a:xfrm>
            <a:off x="640080" y="6035040"/>
            <a:ext cx="5577840" cy="3657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r">
              <a:lnSpc>
                <a:spcPct val="115000"/>
              </a:lnSpc>
            </a:pPr>
            <a:r>
              <a:rPr sz="1200" b="0" i="0">
                <a:solidFill>
                  <a:srgbClr val="888888"/>
                </a:solidFill>
              </a:rPr>
              <a:t>4 / 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9F1F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0" y="0"/>
            <a:ext cx="6858000" cy="274320"/>
          </a:xfrm>
          <a:prstGeom prst="rect">
            <a:avLst/>
          </a:prstGeom>
          <a:solidFill>
            <a:srgbClr val="B8517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장식"/>
          <p:cNvSpPr/>
          <p:nvPr/>
        </p:nvSpPr>
        <p:spPr>
          <a:xfrm>
            <a:off x="0" y="274320"/>
            <a:ext cx="6858000" cy="54864"/>
          </a:xfrm>
          <a:prstGeom prst="rect">
            <a:avLst/>
          </a:prstGeom>
          <a:solidFill>
            <a:srgbClr val="3B914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457200"/>
            <a:ext cx="4389120" cy="8686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742F4C"/>
                </a:solidFill>
              </a:rPr>
              <a:t>주말 5분 가계부</a:t>
            </a:r>
          </a:p>
        </p:txBody>
      </p:sp>
      <p:sp>
        <p:nvSpPr>
          <p:cNvPr id="5" name="번호"/>
          <p:cNvSpPr txBox="1"/>
          <p:nvPr/>
        </p:nvSpPr>
        <p:spPr>
          <a:xfrm>
            <a:off x="640080" y="1691640"/>
            <a:ext cx="2194560" cy="12801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6600" b="1" i="0">
                <a:solidFill>
                  <a:srgbClr val="B8517C"/>
                </a:solidFill>
              </a:rPr>
              <a:t>05</a:t>
            </a:r>
          </a:p>
        </p:txBody>
      </p:sp>
      <p:sp>
        <p:nvSpPr>
          <p:cNvPr id="6" name="본문"/>
          <p:cNvSpPr txBox="1"/>
          <p:nvPr/>
        </p:nvSpPr>
        <p:spPr>
          <a:xfrm>
            <a:off x="640080" y="3154680"/>
            <a:ext cx="5577840" cy="26517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40000"/>
              </a:lnSpc>
            </a:pPr>
            <a:r>
              <a:rPr sz="2800" b="0" i="0">
                <a:solidFill>
                  <a:srgbClr val="2B2B2B"/>
                </a:solidFill>
              </a:rPr>
              <a:t>영수증을 모아 두었다가 주말에 5분만 적어 보세요.</a:t>
            </a:r>
          </a:p>
        </p:txBody>
      </p:sp>
      <p:sp>
        <p:nvSpPr>
          <p:cNvPr id="7" name="쪽 번호"/>
          <p:cNvSpPr txBox="1"/>
          <p:nvPr/>
        </p:nvSpPr>
        <p:spPr>
          <a:xfrm>
            <a:off x="640080" y="6035040"/>
            <a:ext cx="5577840" cy="3657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r">
              <a:lnSpc>
                <a:spcPct val="115000"/>
              </a:lnSpc>
            </a:pPr>
            <a:r>
              <a:rPr sz="1200" b="0" i="0">
                <a:solidFill>
                  <a:srgbClr val="888888"/>
                </a:solidFill>
              </a:rPr>
              <a:t>5 / 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3" name="표지 그림" descr="news-01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6858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0" y="960120"/>
            <a:ext cx="5486400" cy="146304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742F4C"/>
                </a:solidFill>
              </a:rPr>
              <a:t>저장해 두고 필요할 때 꺼내 보세요</a:t>
            </a:r>
          </a:p>
        </p:txBody>
      </p:sp>
      <p:sp>
        <p:nvSpPr>
          <p:cNvPr id="4" name="한 줄 문구"/>
          <p:cNvSpPr txBox="1"/>
          <p:nvPr/>
        </p:nvSpPr>
        <p:spPr>
          <a:xfrm>
            <a:off x="685800" y="2560320"/>
            <a:ext cx="5486400" cy="8229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500" b="0" i="1">
                <a:solidFill>
                  <a:srgbClr val="742F4C"/>
                </a:solidFill>
              </a:rPr>
              <a:t>마음에 들면 공유해 주세요</a:t>
            </a:r>
          </a:p>
        </p:txBody>
      </p:sp>
      <p:sp>
        <p:nvSpPr>
          <p:cNvPr id="5" name="안내 문구"/>
          <p:cNvSpPr txBox="1"/>
          <p:nvPr/>
        </p:nvSpPr>
        <p:spPr>
          <a:xfrm>
            <a:off x="685800" y="3429000"/>
            <a:ext cx="5486400" cy="9144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666666"/>
                </a:solidFill>
              </a:rPr>
              <a:t>이름 · 연락처를 입력하세요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카드뉴스(알뜰 생활 팁)">
  <a:themeElements>
    <a:clrScheme name="Office">
      <a:dk1>
        <a:sysClr val="windowText" lastClr="000000"/>
      </a:dk1>
      <a:lt1>
        <a:sysClr val="window" lastClr="FFFFFF"/>
      </a:lt1>
      <a:dk2>
        <a:srgbClr val="742F4C"/>
      </a:dk2>
      <a:lt2>
        <a:srgbClr val="F9F1F4"/>
      </a:lt2>
      <a:accent1>
        <a:srgbClr val="B8517C"/>
      </a:accent1>
      <a:accent2>
        <a:srgbClr val="3B9142"/>
      </a:accent2>
      <a:accent3>
        <a:srgbClr val="742F4C"/>
      </a:accent3>
      <a:accent4>
        <a:srgbClr val="EFD2DE"/>
      </a:accent4>
      <a:accent5>
        <a:srgbClr val="7A715F"/>
      </a:accent5>
      <a:accent6>
        <a:srgbClr val="AC8294"/>
      </a:accent6>
      <a:hlink>
        <a:srgbClr val="B8517C"/>
      </a:hlink>
      <a:folHlink>
        <a:srgbClr val="742F4C"/>
      </a:folHlink>
    </a:clrScheme>
    <a:fontScheme name="Office">
      <a:majorFont>
        <a:latin typeface="맑은 고딕"/>
        <a:ea typeface="맑은 고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/>
        <a:ea typeface="맑은 고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카드뉴스(알뜰 생활 팁)</dc:title>
  <dc:subject/>
  <dc:creator>우체국보험 상담 안내</dc:creator>
  <cp:keywords/>
  <dc:description>자유롭게 편집해서 사용하세요.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