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6858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2130425"/>
            <a:ext cx="58293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3886200"/>
            <a:ext cx="48006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734" y="4406900"/>
            <a:ext cx="58293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1734" y="2906713"/>
            <a:ext cx="58293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290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8615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535113"/>
            <a:ext cx="303014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2900" y="2174875"/>
            <a:ext cx="303014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83768" y="1535113"/>
            <a:ext cx="303133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83768" y="2174875"/>
            <a:ext cx="303133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273050"/>
            <a:ext cx="225623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1287" y="273050"/>
            <a:ext cx="383381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1435100"/>
            <a:ext cx="225623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4216" y="4800600"/>
            <a:ext cx="41148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344216" y="612775"/>
            <a:ext cx="41148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44216" y="5367338"/>
            <a:ext cx="41148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7175" y="0"/>
            <a:ext cx="4629150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72050" y="274638"/>
            <a:ext cx="154305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2900" y="274638"/>
            <a:ext cx="451485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21D40"/>
                </a:solidFill>
              </a:rPr>
              <a:t>새 학기 전에 점검할 지출 다섯 가지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721D40"/>
                </a:solidFill>
              </a:rPr>
              <a:t>옆으로 넘겨 보세요 →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알뜰 생활 팁 · 카드뉴스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6858000" cy="274320"/>
          </a:xfrm>
          <a:prstGeom prst="rect">
            <a:avLst/>
          </a:prstGeom>
          <a:solidFill>
            <a:srgbClr val="D6518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6858000" cy="54864"/>
          </a:xfrm>
          <a:prstGeom prst="rect">
            <a:avLst/>
          </a:prstGeom>
          <a:solidFill>
            <a:srgbClr val="30A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721D40"/>
                </a:solidFill>
              </a:rPr>
              <a:t>이번 달 고정지출부터 적어요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D65189"/>
                </a:solidFill>
              </a:rPr>
              <a:t>01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월세·통신비·구독료처럼 매달 나가는 돈부터 한곳에 적어 보면 새는 곳이 보여요.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1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6858000" cy="274320"/>
          </a:xfrm>
          <a:prstGeom prst="rect">
            <a:avLst/>
          </a:prstGeom>
          <a:solidFill>
            <a:srgbClr val="D6518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6858000" cy="54864"/>
          </a:xfrm>
          <a:prstGeom prst="rect">
            <a:avLst/>
          </a:prstGeom>
          <a:solidFill>
            <a:srgbClr val="30A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721D40"/>
                </a:solidFill>
              </a:rPr>
              <a:t>카드 대신 현금 한 주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D65189"/>
                </a:solidFill>
              </a:rPr>
              <a:t>02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일주일만 현금으로 써 보면 충동구매가 눈에 띄게 줄어요.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2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6858000" cy="274320"/>
          </a:xfrm>
          <a:prstGeom prst="rect">
            <a:avLst/>
          </a:prstGeom>
          <a:solidFill>
            <a:srgbClr val="D6518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6858000" cy="54864"/>
          </a:xfrm>
          <a:prstGeom prst="rect">
            <a:avLst/>
          </a:prstGeom>
          <a:solidFill>
            <a:srgbClr val="30A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721D40"/>
                </a:solidFill>
              </a:rPr>
              <a:t>장보기 전 냉장고 사진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D65189"/>
                </a:solidFill>
              </a:rPr>
              <a:t>03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있는 재료를 확인하고 가면 같은 식재료를 또 사는 일이 줄어요.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3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6858000" cy="274320"/>
          </a:xfrm>
          <a:prstGeom prst="rect">
            <a:avLst/>
          </a:prstGeom>
          <a:solidFill>
            <a:srgbClr val="D6518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6858000" cy="54864"/>
          </a:xfrm>
          <a:prstGeom prst="rect">
            <a:avLst/>
          </a:prstGeom>
          <a:solidFill>
            <a:srgbClr val="30A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721D40"/>
                </a:solidFill>
              </a:rPr>
              <a:t>작은 목표 통장 만들기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D65189"/>
                </a:solidFill>
              </a:rPr>
              <a:t>04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여행·선물·비상금처럼 이름을 붙이면 모으는 재미가 커져요.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4 /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6858000" cy="274320"/>
          </a:xfrm>
          <a:prstGeom prst="rect">
            <a:avLst/>
          </a:prstGeom>
          <a:solidFill>
            <a:srgbClr val="D6518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6858000" cy="54864"/>
          </a:xfrm>
          <a:prstGeom prst="rect">
            <a:avLst/>
          </a:prstGeom>
          <a:solidFill>
            <a:srgbClr val="30A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721D40"/>
                </a:solidFill>
              </a:rPr>
              <a:t>주말 5분 가계부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D65189"/>
                </a:solidFill>
              </a:rPr>
              <a:t>05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영수증을 모아 두었다가 주말에 5분만 적어 보세요.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5 /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721D40"/>
                </a:solidFill>
              </a:rPr>
              <a:t>저장해 두고 필요할 때 꺼내 보세요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721D40"/>
                </a:solidFill>
              </a:rPr>
              <a:t>마음에 들면 공유해 주세요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이름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카드뉴스(알뜰 생활 팁)">
  <a:themeElements>
    <a:clrScheme name="Office">
      <a:dk1>
        <a:sysClr val="windowText" lastClr="000000"/>
      </a:dk1>
      <a:lt1>
        <a:sysClr val="window" lastClr="FFFFFF"/>
      </a:lt1>
      <a:dk2>
        <a:srgbClr val="721D40"/>
      </a:dk2>
      <a:lt2>
        <a:srgbClr val="FDF4F8"/>
      </a:lt2>
      <a:accent1>
        <a:srgbClr val="D65189"/>
      </a:accent1>
      <a:accent2>
        <a:srgbClr val="30A640"/>
      </a:accent2>
      <a:accent3>
        <a:srgbClr val="721D40"/>
      </a:accent3>
      <a:accent4>
        <a:srgbClr val="FBDAE8"/>
      </a:accent4>
      <a:accent5>
        <a:srgbClr val="837C64"/>
      </a:accent5>
      <a:accent6>
        <a:srgbClr val="AA778C"/>
      </a:accent6>
      <a:hlink>
        <a:srgbClr val="D65189"/>
      </a:hlink>
      <a:folHlink>
        <a:srgbClr val="721D40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카드뉴스(알뜰 생활 팁)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