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35D83EA1-886E-4386-A02D-34D7C8AB00E0}">
          <p14:sldIdLst>
            <p14:sldId id="256"/>
          </p14:sldIdLst>
        </p14:section>
        <p14:section name="본문" id="{A306B315-10E1-4A0A-93DA-DD9CA5B3CC76}">
          <p14:sldIdLst>
            <p14:sldId id="257"/>
            <p14:sldId id="258"/>
            <p14:sldId id="259"/>
            <p14:sldId id="260"/>
            <p14:sldId id="261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월 보험료 비중(예시)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보장성</c:v>
                </c:pt>
                <c:pt idx="1">
                  <c:v>저축성</c:v>
                </c:pt>
                <c:pt idx="2">
                  <c:v>연금성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</c:v>
                </c:pt>
                <c:pt idx="1">
                  <c:v>30</c:v>
                </c:pt>
                <c:pt idx="2">
                  <c:v>20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solidFill>
            <a:schemeClr val="tx1"/>
          </a:solidFill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표의 칸을 눌러 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증권을 보고 그대로 옮겨 적으세요. 행은 Tab 키로 늘릴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해당하는 칸에 ✔ 표시를 직접 적어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숫자를 눌러 직접 고쳐 쓰세요. 오른쪽 도넛 차트는 예시이며 우클릭 &gt; [데이터 편집]으로 바꿉니다.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확인할 것·문의할 것·정리할 날짜를 적어 두세요.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975335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CFD0D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A3A5A7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Oval 1"/>
          <p:cNvSpPr/>
          <p:nvPr/>
        </p:nvSpPr>
        <p:spPr>
          <a:xfrm>
            <a:off x="6857762" y="777240"/>
            <a:ext cx="5303520" cy="5303520"/>
          </a:xfrm>
          <a:prstGeom prst="ellipse">
            <a:avLst/>
          </a:prstGeom>
          <a:noFill/>
          <a:ln w="1270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497842" y="1417319"/>
            <a:ext cx="4023360" cy="4023360"/>
          </a:xfrm>
          <a:prstGeom prst="ellipse">
            <a:avLst/>
          </a:prstGeom>
          <a:noFill/>
          <a:ln w="6350">
            <a:solidFill>
              <a:schemeClr val="accent2"/>
            </a:solidFill>
            <a:prstDash val="sys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092202" y="2011680"/>
            <a:ext cx="2834640" cy="2834640"/>
          </a:xfrm>
          <a:prstGeom prst="ellipse">
            <a:avLst/>
          </a:prstGeom>
          <a:noFill/>
          <a:ln w="1270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640842" y="2560320"/>
            <a:ext cx="1737360" cy="1737360"/>
          </a:xfrm>
          <a:prstGeom prst="ellipse">
            <a:avLst/>
          </a:prstGeom>
          <a:noFill/>
          <a:ln w="6350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행성"/>
          <p:cNvSpPr/>
          <p:nvPr/>
        </p:nvSpPr>
        <p:spPr>
          <a:xfrm>
            <a:off x="9179423" y="3098901"/>
            <a:ext cx="660196" cy="66019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위성 1"/>
          <p:cNvSpPr/>
          <p:nvPr/>
        </p:nvSpPr>
        <p:spPr>
          <a:xfrm>
            <a:off x="11122600" y="1306193"/>
            <a:ext cx="182880" cy="18288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위성 2"/>
          <p:cNvSpPr/>
          <p:nvPr/>
        </p:nvSpPr>
        <p:spPr>
          <a:xfrm>
            <a:off x="7555153" y="2676956"/>
            <a:ext cx="128016" cy="12801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위성 3"/>
          <p:cNvSpPr/>
          <p:nvPr/>
        </p:nvSpPr>
        <p:spPr>
          <a:xfrm>
            <a:off x="9893690" y="4660261"/>
            <a:ext cx="201168" cy="201168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위성 4"/>
          <p:cNvSpPr/>
          <p:nvPr/>
        </p:nvSpPr>
        <p:spPr>
          <a:xfrm>
            <a:off x="10120105" y="2815759"/>
            <a:ext cx="109728" cy="109728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 flipV="1">
            <a:off x="6459998" y="1970532"/>
            <a:ext cx="6099048" cy="2916936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868680" y="365760"/>
            <a:ext cx="94484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1072865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291072"/>
            <a:ext cx="91440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accent1"/>
                </a:solidFill>
              </a:defRPr>
            </a:lvl1pPr>
          </a:lstStyle>
          <a:p>
            <a:fld id="{5603F4A4-9F40-4DBC-825E-5748D07E3A08}" type="slidenum">
              <a:rPr lang="en-US"/>
              <a:t>‹#›</a:t>
            </a:fld>
          </a:p>
        </p:txBody>
      </p:sp>
      <p:cxnSp>
        <p:nvCxnSpPr>
          <p:cNvPr id="2" name="Connector 1"/>
          <p:cNvCxnSpPr/>
          <p:nvPr/>
        </p:nvCxnSpPr>
        <p:spPr>
          <a:xfrm>
            <a:off x="292608" y="292608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292608" y="292608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11487607" y="292608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11899087" y="292608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292608" y="6565392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92608" y="6153912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11487607" y="6565392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11899087" y="6153912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sp>
        <p:nvSpPr>
          <p:cNvPr id="10" name="라벨 표시"/>
          <p:cNvSpPr/>
          <p:nvPr/>
        </p:nvSpPr>
        <p:spPr>
          <a:xfrm>
            <a:off x="731520" y="429768"/>
            <a:ext cx="73152" cy="1828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7315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11887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16459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21031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25603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30175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34747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9319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0" name="Connector 19"/>
          <p:cNvCxnSpPr/>
          <p:nvPr/>
        </p:nvCxnSpPr>
        <p:spPr>
          <a:xfrm>
            <a:off x="43891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1" name="Connector 20"/>
          <p:cNvCxnSpPr/>
          <p:nvPr/>
        </p:nvCxnSpPr>
        <p:spPr>
          <a:xfrm>
            <a:off x="48463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2" name="Connector 21"/>
          <p:cNvCxnSpPr/>
          <p:nvPr/>
        </p:nvCxnSpPr>
        <p:spPr>
          <a:xfrm>
            <a:off x="53035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3" name="Connector 22"/>
          <p:cNvCxnSpPr/>
          <p:nvPr/>
        </p:nvCxnSpPr>
        <p:spPr>
          <a:xfrm>
            <a:off x="57607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4" name="Connector 23"/>
          <p:cNvCxnSpPr/>
          <p:nvPr/>
        </p:nvCxnSpPr>
        <p:spPr>
          <a:xfrm>
            <a:off x="62179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5" name="Connector 24"/>
          <p:cNvCxnSpPr/>
          <p:nvPr/>
        </p:nvCxnSpPr>
        <p:spPr>
          <a:xfrm>
            <a:off x="66751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6" name="Connector 25"/>
          <p:cNvCxnSpPr/>
          <p:nvPr/>
        </p:nvCxnSpPr>
        <p:spPr>
          <a:xfrm>
            <a:off x="71323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7" name="Connector 26"/>
          <p:cNvCxnSpPr/>
          <p:nvPr/>
        </p:nvCxnSpPr>
        <p:spPr>
          <a:xfrm>
            <a:off x="75895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8" name="Connector 27"/>
          <p:cNvCxnSpPr/>
          <p:nvPr/>
        </p:nvCxnSpPr>
        <p:spPr>
          <a:xfrm>
            <a:off x="80467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9" name="Connector 28"/>
          <p:cNvCxnSpPr/>
          <p:nvPr/>
        </p:nvCxnSpPr>
        <p:spPr>
          <a:xfrm>
            <a:off x="85039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30" name="Connector 29"/>
          <p:cNvCxnSpPr/>
          <p:nvPr/>
        </p:nvCxnSpPr>
        <p:spPr>
          <a:xfrm>
            <a:off x="89611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31" name="Connector 30"/>
          <p:cNvCxnSpPr/>
          <p:nvPr/>
        </p:nvCxnSpPr>
        <p:spPr>
          <a:xfrm>
            <a:off x="94183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32" name="Connector 31"/>
          <p:cNvCxnSpPr/>
          <p:nvPr/>
        </p:nvCxnSpPr>
        <p:spPr>
          <a:xfrm>
            <a:off x="98755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33" name="Connector 32"/>
          <p:cNvCxnSpPr/>
          <p:nvPr/>
        </p:nvCxnSpPr>
        <p:spPr>
          <a:xfrm>
            <a:off x="103327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107899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112471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975335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Oval 1"/>
          <p:cNvSpPr/>
          <p:nvPr/>
        </p:nvSpPr>
        <p:spPr>
          <a:xfrm>
            <a:off x="6857762" y="777240"/>
            <a:ext cx="5303520" cy="5303520"/>
          </a:xfrm>
          <a:prstGeom prst="ellipse">
            <a:avLst/>
          </a:prstGeom>
          <a:noFill/>
          <a:ln w="12700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497842" y="1417319"/>
            <a:ext cx="4023360" cy="4023360"/>
          </a:xfrm>
          <a:prstGeom prst="ellipse">
            <a:avLst/>
          </a:prstGeom>
          <a:noFill/>
          <a:ln w="6350">
            <a:solidFill>
              <a:schemeClr val="accent2"/>
            </a:solidFill>
            <a:prstDash val="sys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092202" y="2011680"/>
            <a:ext cx="2834640" cy="2834640"/>
          </a:xfrm>
          <a:prstGeom prst="ellipse">
            <a:avLst/>
          </a:prstGeom>
          <a:noFill/>
          <a:ln w="12700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640842" y="2560320"/>
            <a:ext cx="1737360" cy="1737360"/>
          </a:xfrm>
          <a:prstGeom prst="ellipse">
            <a:avLst/>
          </a:prstGeom>
          <a:noFill/>
          <a:ln w="6350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행성"/>
          <p:cNvSpPr/>
          <p:nvPr/>
        </p:nvSpPr>
        <p:spPr>
          <a:xfrm>
            <a:off x="9179423" y="3098901"/>
            <a:ext cx="660196" cy="66019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위성 1"/>
          <p:cNvSpPr/>
          <p:nvPr/>
        </p:nvSpPr>
        <p:spPr>
          <a:xfrm>
            <a:off x="11122600" y="1306193"/>
            <a:ext cx="182880" cy="18288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위성 2"/>
          <p:cNvSpPr/>
          <p:nvPr/>
        </p:nvSpPr>
        <p:spPr>
          <a:xfrm>
            <a:off x="7555153" y="2676956"/>
            <a:ext cx="128016" cy="12801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위성 3"/>
          <p:cNvSpPr/>
          <p:nvPr/>
        </p:nvSpPr>
        <p:spPr>
          <a:xfrm>
            <a:off x="9893690" y="4660261"/>
            <a:ext cx="201168" cy="201168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위성 4"/>
          <p:cNvSpPr/>
          <p:nvPr/>
        </p:nvSpPr>
        <p:spPr>
          <a:xfrm>
            <a:off x="10120105" y="2815759"/>
            <a:ext cx="109728" cy="109728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 flipV="1">
            <a:off x="6459998" y="1970532"/>
            <a:ext cx="6099048" cy="2916936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868680" y="365760"/>
            <a:ext cx="94484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1072865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291072"/>
            <a:ext cx="91440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accent1"/>
                </a:solidFill>
              </a:defRPr>
            </a:lvl1pPr>
          </a:lstStyle>
          <a:p>
            <a:fld id="{B972802A-65A6-4BF9-94BE-E91108E9359E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292608" y="292608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292608" y="292608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11487607" y="292608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11899087" y="292608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292608" y="6565392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92608" y="6153912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11487607" y="6565392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11899087" y="6153912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sp>
        <p:nvSpPr>
          <p:cNvPr id="10" name="라벨 표시"/>
          <p:cNvSpPr/>
          <p:nvPr/>
        </p:nvSpPr>
        <p:spPr>
          <a:xfrm>
            <a:off x="731520" y="429768"/>
            <a:ext cx="73152" cy="1828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7315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11887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16459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21031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25603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30175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34747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9319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0" name="Connector 19"/>
          <p:cNvCxnSpPr/>
          <p:nvPr/>
        </p:nvCxnSpPr>
        <p:spPr>
          <a:xfrm>
            <a:off x="43891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1" name="Connector 20"/>
          <p:cNvCxnSpPr/>
          <p:nvPr/>
        </p:nvCxnSpPr>
        <p:spPr>
          <a:xfrm>
            <a:off x="48463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2" name="Connector 21"/>
          <p:cNvCxnSpPr/>
          <p:nvPr/>
        </p:nvCxnSpPr>
        <p:spPr>
          <a:xfrm>
            <a:off x="53035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3" name="Connector 22"/>
          <p:cNvCxnSpPr/>
          <p:nvPr/>
        </p:nvCxnSpPr>
        <p:spPr>
          <a:xfrm>
            <a:off x="57607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4" name="Connector 23"/>
          <p:cNvCxnSpPr/>
          <p:nvPr/>
        </p:nvCxnSpPr>
        <p:spPr>
          <a:xfrm>
            <a:off x="62179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5" name="Connector 24"/>
          <p:cNvCxnSpPr/>
          <p:nvPr/>
        </p:nvCxnSpPr>
        <p:spPr>
          <a:xfrm>
            <a:off x="66751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6" name="Connector 25"/>
          <p:cNvCxnSpPr/>
          <p:nvPr/>
        </p:nvCxnSpPr>
        <p:spPr>
          <a:xfrm>
            <a:off x="71323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7" name="Connector 26"/>
          <p:cNvCxnSpPr/>
          <p:nvPr/>
        </p:nvCxnSpPr>
        <p:spPr>
          <a:xfrm>
            <a:off x="75895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8" name="Connector 27"/>
          <p:cNvCxnSpPr/>
          <p:nvPr/>
        </p:nvCxnSpPr>
        <p:spPr>
          <a:xfrm>
            <a:off x="80467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9" name="Connector 28"/>
          <p:cNvCxnSpPr/>
          <p:nvPr/>
        </p:nvCxnSpPr>
        <p:spPr>
          <a:xfrm>
            <a:off x="85039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30" name="Connector 29"/>
          <p:cNvCxnSpPr/>
          <p:nvPr/>
        </p:nvCxnSpPr>
        <p:spPr>
          <a:xfrm>
            <a:off x="89611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31" name="Connector 30"/>
          <p:cNvCxnSpPr/>
          <p:nvPr/>
        </p:nvCxnSpPr>
        <p:spPr>
          <a:xfrm>
            <a:off x="94183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32" name="Connector 31"/>
          <p:cNvCxnSpPr/>
          <p:nvPr/>
        </p:nvCxnSpPr>
        <p:spPr>
          <a:xfrm>
            <a:off x="98755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33" name="Connector 32"/>
          <p:cNvCxnSpPr/>
          <p:nvPr/>
        </p:nvCxnSpPr>
        <p:spPr>
          <a:xfrm>
            <a:off x="103327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107899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112471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868680" y="365760"/>
            <a:ext cx="94484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291072"/>
            <a:ext cx="91440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accent1"/>
                </a:solidFill>
              </a:defRPr>
            </a:lvl1pPr>
          </a:lstStyle>
          <a:p>
            <a:fld id="{1D1CCCD2-7A21-4D3E-A776-EA043DCA79DF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292608" y="292608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292608" y="292608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11487607" y="292608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11899087" y="292608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292608" y="6565392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92608" y="6153912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11487607" y="6565392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11899087" y="6153912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sp>
        <p:nvSpPr>
          <p:cNvPr id="10" name="라벨 표시"/>
          <p:cNvSpPr/>
          <p:nvPr/>
        </p:nvSpPr>
        <p:spPr>
          <a:xfrm>
            <a:off x="731520" y="429768"/>
            <a:ext cx="73152" cy="1828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7315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11887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16459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21031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25603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30175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34747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9319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0" name="Connector 19"/>
          <p:cNvCxnSpPr/>
          <p:nvPr/>
        </p:nvCxnSpPr>
        <p:spPr>
          <a:xfrm>
            <a:off x="43891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1" name="Connector 20"/>
          <p:cNvCxnSpPr/>
          <p:nvPr/>
        </p:nvCxnSpPr>
        <p:spPr>
          <a:xfrm>
            <a:off x="48463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2" name="Connector 21"/>
          <p:cNvCxnSpPr/>
          <p:nvPr/>
        </p:nvCxnSpPr>
        <p:spPr>
          <a:xfrm>
            <a:off x="53035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3" name="Connector 22"/>
          <p:cNvCxnSpPr/>
          <p:nvPr/>
        </p:nvCxnSpPr>
        <p:spPr>
          <a:xfrm>
            <a:off x="57607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4" name="Connector 23"/>
          <p:cNvCxnSpPr/>
          <p:nvPr/>
        </p:nvCxnSpPr>
        <p:spPr>
          <a:xfrm>
            <a:off x="62179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5" name="Connector 24"/>
          <p:cNvCxnSpPr/>
          <p:nvPr/>
        </p:nvCxnSpPr>
        <p:spPr>
          <a:xfrm>
            <a:off x="66751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6" name="Connector 25"/>
          <p:cNvCxnSpPr/>
          <p:nvPr/>
        </p:nvCxnSpPr>
        <p:spPr>
          <a:xfrm>
            <a:off x="71323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7" name="Connector 26"/>
          <p:cNvCxnSpPr/>
          <p:nvPr/>
        </p:nvCxnSpPr>
        <p:spPr>
          <a:xfrm>
            <a:off x="75895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8" name="Connector 27"/>
          <p:cNvCxnSpPr/>
          <p:nvPr/>
        </p:nvCxnSpPr>
        <p:spPr>
          <a:xfrm>
            <a:off x="80467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9" name="Connector 28"/>
          <p:cNvCxnSpPr/>
          <p:nvPr/>
        </p:nvCxnSpPr>
        <p:spPr>
          <a:xfrm>
            <a:off x="85039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30" name="Connector 29"/>
          <p:cNvCxnSpPr/>
          <p:nvPr/>
        </p:nvCxnSpPr>
        <p:spPr>
          <a:xfrm>
            <a:off x="89611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31" name="Connector 30"/>
          <p:cNvCxnSpPr/>
          <p:nvPr/>
        </p:nvCxnSpPr>
        <p:spPr>
          <a:xfrm>
            <a:off x="94183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32" name="Connector 31"/>
          <p:cNvCxnSpPr/>
          <p:nvPr/>
        </p:nvCxnSpPr>
        <p:spPr>
          <a:xfrm>
            <a:off x="98755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33" name="Connector 32"/>
          <p:cNvCxnSpPr/>
          <p:nvPr/>
        </p:nvCxnSpPr>
        <p:spPr>
          <a:xfrm>
            <a:off x="103327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107899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112471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grpSp>
        <p:nvGrpSpPr>
          <p:cNvPr id="36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37" name="Diamond 36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38" name="Connector 37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1"/>
              </a:solidFill>
            </a:ln>
          </p:spPr>
        </p:cxnSp>
        <p:cxnSp>
          <p:nvCxnSpPr>
            <p:cNvPr id="39" name="Connector 38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1"/>
              </a:solidFill>
            </a:ln>
          </p:spPr>
        </p:cxnSp>
      </p:grpSp>
      <p:cxnSp>
        <p:nvCxnSpPr>
          <p:cNvPr id="40" name="Connector 39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sp>
        <p:nvSpPr>
          <p:cNvPr id="41" name="Diamond 40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PEWTER  ·  INSURANCE CHECK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우리 보험 점검 시간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명절에 모였을 때 같이 봅니다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가족 점검 · 0000. 00. 00</a:t>
            </a:r>
          </a:p>
          <a:p>
            <a:r>
              <a:rPr lang="ko-KR"/>
              <a:t>가입 내용을 정리하고 함께 확인하는 양식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PROFILE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점검 대상 현황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9631CC-653F-4782-8284-13FBC4BA5B64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2" cy="365760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682163"/>
                <a:gridCol w="2682163"/>
                <a:gridCol w="2682163"/>
                <a:gridCol w="2682163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FFFFFF"/>
                          </a:solidFill>
                        </a:rPr>
                        <a:t>구분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FFFFFF"/>
                          </a:solidFill>
                        </a:rPr>
                        <a:t>아빠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FFFFFF"/>
                          </a:solidFill>
                        </a:rPr>
                        <a:t>엄마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FFFFFF"/>
                          </a:solidFill>
                        </a:rPr>
                        <a:t>자녀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이름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나이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직업·학교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메모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POLICY LIST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가입한 보험 목록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A48422-7743-42E6-9756-BDC2237A12B8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5" cy="422452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011680"/>
                <a:gridCol w="3108960"/>
                <a:gridCol w="1828800"/>
                <a:gridCol w="1828800"/>
                <a:gridCol w="195041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보험회사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상품명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종류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만기일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월 보험료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sh dir="l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CHECKLIST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보장 항목 체크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63318C-23D7-48EE-8C67-3A016C74653F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4" cy="477316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657600"/>
                <a:gridCol w="2357018"/>
                <a:gridCol w="2357018"/>
                <a:gridCol w="235701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보장 항목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가입 확인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확인 필요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해당 없음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사망·재해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질병 진단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뇌·심장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입원·수술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상해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실손의료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연금·노후자금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sh dir="l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PREMIUM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월 보험료 한눈에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0DBC2A-2E43-4DCF-A763-C52E49478C0E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2377440"/>
            <a:chOff x="731520" y="1828800"/>
            <a:chExt cx="3393338" cy="237744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23774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안쪽 선"/>
            <p:cNvSpPr/>
            <p:nvPr/>
          </p:nvSpPr>
          <p:spPr>
            <a:xfrm>
              <a:off x="813816" y="1911095"/>
              <a:ext cx="3228746" cy="2212848"/>
            </a:xfrm>
            <a:prstGeom prst="rect">
              <a:avLst/>
            </a:prstGeom>
            <a:noFill/>
            <a:ln w="6350">
              <a:solidFill>
                <a:schemeClr val="accent1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/>
            <p:nvPr/>
          </p:nvSpPr>
          <p:spPr>
            <a:xfrm>
              <a:off x="914400" y="2039112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FFFFFF"/>
                  </a:solidFill>
                </a:rPr>
                <a:t>1</a:t>
              </a:r>
            </a:p>
          </p:txBody>
        </p:sp>
        <p:sp>
          <p:nvSpPr>
            <p:cNvPr id="9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월 보험료 합계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11" name="카드 내용"/>
            <p:cNvSpPr txBox="1"/>
            <p:nvPr/>
          </p:nvSpPr>
          <p:spPr>
            <a:xfrm>
              <a:off x="914400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0원</a:t>
              </a:r>
            </a:p>
          </p:txBody>
        </p:sp>
      </p:grpSp>
      <p:grpSp>
        <p:nvGrpSpPr>
          <p:cNvPr id="12" name="카드 2"/>
          <p:cNvGrpSpPr/>
          <p:nvPr/>
        </p:nvGrpSpPr>
        <p:grpSpPr>
          <a:xfrm>
            <a:off x="4399178" y="1828800"/>
            <a:ext cx="3393338" cy="2377440"/>
            <a:chOff x="4399178" y="1828800"/>
            <a:chExt cx="3393338" cy="2377440"/>
          </a:xfrm>
        </p:grpSpPr>
        <p:sp>
          <p:nvSpPr>
            <p:cNvPr id="13" name="카드 바탕"/>
            <p:cNvSpPr/>
            <p:nvPr/>
          </p:nvSpPr>
          <p:spPr>
            <a:xfrm>
              <a:off x="4399178" y="1828800"/>
              <a:ext cx="3393338" cy="23774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안쪽 선"/>
            <p:cNvSpPr/>
            <p:nvPr/>
          </p:nvSpPr>
          <p:spPr>
            <a:xfrm>
              <a:off x="4481474" y="1911095"/>
              <a:ext cx="3228746" cy="2212848"/>
            </a:xfrm>
            <a:prstGeom prst="rect">
              <a:avLst/>
            </a:prstGeom>
            <a:noFill/>
            <a:ln w="6350">
              <a:solidFill>
                <a:schemeClr val="accent1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번호 2"/>
            <p:cNvSpPr/>
            <p:nvPr/>
          </p:nvSpPr>
          <p:spPr>
            <a:xfrm>
              <a:off x="4582058" y="2039112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FFFFFF"/>
                  </a:solidFill>
                </a:rPr>
                <a:t>2</a:t>
              </a:r>
            </a:p>
          </p:txBody>
        </p:sp>
        <p:sp>
          <p:nvSpPr>
            <p:cNvPr id="16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연 보험료 합계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18" name="카드 내용"/>
            <p:cNvSpPr txBox="1"/>
            <p:nvPr/>
          </p:nvSpPr>
          <p:spPr>
            <a:xfrm>
              <a:off x="4582058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0원</a:t>
              </a:r>
            </a:p>
          </p:txBody>
        </p:sp>
      </p:grpSp>
      <p:grpSp>
        <p:nvGrpSpPr>
          <p:cNvPr id="19" name="카드 3"/>
          <p:cNvGrpSpPr/>
          <p:nvPr/>
        </p:nvGrpSpPr>
        <p:grpSpPr>
          <a:xfrm>
            <a:off x="8066836" y="1828800"/>
            <a:ext cx="3393338" cy="2377440"/>
            <a:chOff x="8066836" y="1828800"/>
            <a:chExt cx="3393338" cy="2377440"/>
          </a:xfrm>
        </p:grpSpPr>
        <p:sp>
          <p:nvSpPr>
            <p:cNvPr id="20" name="카드 바탕"/>
            <p:cNvSpPr/>
            <p:nvPr/>
          </p:nvSpPr>
          <p:spPr>
            <a:xfrm>
              <a:off x="8066836" y="1828800"/>
              <a:ext cx="3393338" cy="23774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안쪽 선"/>
            <p:cNvSpPr/>
            <p:nvPr/>
          </p:nvSpPr>
          <p:spPr>
            <a:xfrm>
              <a:off x="8149132" y="1911095"/>
              <a:ext cx="3228746" cy="2212848"/>
            </a:xfrm>
            <a:prstGeom prst="rect">
              <a:avLst/>
            </a:prstGeom>
            <a:noFill/>
            <a:ln w="6350">
              <a:solidFill>
                <a:schemeClr val="accent1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번호 3"/>
            <p:cNvSpPr/>
            <p:nvPr/>
          </p:nvSpPr>
          <p:spPr>
            <a:xfrm>
              <a:off x="8249716" y="2039112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FFFFFF"/>
                  </a:solidFill>
                </a:rPr>
                <a:t>3</a:t>
              </a:r>
            </a:p>
          </p:txBody>
        </p:sp>
        <p:sp>
          <p:nvSpPr>
            <p:cNvPr id="23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월 소득 대비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25" name="카드 내용"/>
            <p:cNvSpPr txBox="1"/>
            <p:nvPr/>
          </p:nvSpPr>
          <p:spPr>
            <a:xfrm>
              <a:off x="8249716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0 %</a:t>
              </a:r>
            </a:p>
          </p:txBody>
        </p:sp>
      </p:grpSp>
      <p:graphicFrame>
        <p:nvGraphicFramePr>
          <p:cNvPr id="26" name="차트"/>
          <p:cNvGraphicFramePr>
            <a:graphicFrameLocks noGrp="1"/>
          </p:cNvGraphicFramePr>
          <p:nvPr/>
        </p:nvGraphicFramePr>
        <p:xfrm>
          <a:off x="731520" y="4389120"/>
          <a:ext cx="10728655" cy="16916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NEXT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점검 메모와 다음 할 일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970D77-D7CC-4C90-9BFF-B4EB49A14795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566160"/>
            <a:chOff x="731520" y="1828800"/>
            <a:chExt cx="3393338" cy="356616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안쪽 선"/>
            <p:cNvSpPr/>
            <p:nvPr/>
          </p:nvSpPr>
          <p:spPr>
            <a:xfrm>
              <a:off x="813816" y="1911095"/>
              <a:ext cx="3228746" cy="3401568"/>
            </a:xfrm>
            <a:prstGeom prst="rect">
              <a:avLst/>
            </a:prstGeom>
            <a:noFill/>
            <a:ln w="6350">
              <a:solidFill>
                <a:schemeClr val="accent1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/>
            <p:nvPr/>
          </p:nvSpPr>
          <p:spPr>
            <a:xfrm>
              <a:off x="914400" y="2039112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FFFFFF"/>
                  </a:solidFill>
                </a:rPr>
                <a:t>1</a:t>
              </a:r>
            </a:p>
          </p:txBody>
        </p:sp>
        <p:sp>
          <p:nvSpPr>
            <p:cNvPr id="9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확인할 것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11" name="카드 내용"/>
            <p:cNvSpPr txBox="1"/>
            <p:nvPr/>
          </p:nvSpPr>
          <p:spPr>
            <a:xfrm>
              <a:off x="914400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2" name="카드 2"/>
          <p:cNvGrpSpPr/>
          <p:nvPr/>
        </p:nvGrpSpPr>
        <p:grpSpPr>
          <a:xfrm>
            <a:off x="4399178" y="1828800"/>
            <a:ext cx="3393338" cy="3566160"/>
            <a:chOff x="4399178" y="1828800"/>
            <a:chExt cx="3393338" cy="3566160"/>
          </a:xfrm>
        </p:grpSpPr>
        <p:sp>
          <p:nvSpPr>
            <p:cNvPr id="13" name="카드 바탕"/>
            <p:cNvSpPr/>
            <p:nvPr/>
          </p:nvSpPr>
          <p:spPr>
            <a:xfrm>
              <a:off x="4399178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안쪽 선"/>
            <p:cNvSpPr/>
            <p:nvPr/>
          </p:nvSpPr>
          <p:spPr>
            <a:xfrm>
              <a:off x="4481474" y="1911095"/>
              <a:ext cx="3228746" cy="3401568"/>
            </a:xfrm>
            <a:prstGeom prst="rect">
              <a:avLst/>
            </a:prstGeom>
            <a:noFill/>
            <a:ln w="6350">
              <a:solidFill>
                <a:schemeClr val="accent1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번호 2"/>
            <p:cNvSpPr/>
            <p:nvPr/>
          </p:nvSpPr>
          <p:spPr>
            <a:xfrm>
              <a:off x="4582058" y="2039112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FFFFFF"/>
                  </a:solidFill>
                </a:rPr>
                <a:t>2</a:t>
              </a:r>
            </a:p>
          </p:txBody>
        </p:sp>
        <p:sp>
          <p:nvSpPr>
            <p:cNvPr id="16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문의할 것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18" name="카드 내용"/>
            <p:cNvSpPr txBox="1"/>
            <p:nvPr/>
          </p:nvSpPr>
          <p:spPr>
            <a:xfrm>
              <a:off x="4582058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9" name="카드 3"/>
          <p:cNvGrpSpPr/>
          <p:nvPr/>
        </p:nvGrpSpPr>
        <p:grpSpPr>
          <a:xfrm>
            <a:off x="8066836" y="1828800"/>
            <a:ext cx="3393338" cy="3566160"/>
            <a:chOff x="8066836" y="1828800"/>
            <a:chExt cx="3393338" cy="3566160"/>
          </a:xfrm>
        </p:grpSpPr>
        <p:sp>
          <p:nvSpPr>
            <p:cNvPr id="20" name="카드 바탕"/>
            <p:cNvSpPr/>
            <p:nvPr/>
          </p:nvSpPr>
          <p:spPr>
            <a:xfrm>
              <a:off x="8066836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안쪽 선"/>
            <p:cNvSpPr/>
            <p:nvPr/>
          </p:nvSpPr>
          <p:spPr>
            <a:xfrm>
              <a:off x="8149132" y="1911095"/>
              <a:ext cx="3228746" cy="3401568"/>
            </a:xfrm>
            <a:prstGeom prst="rect">
              <a:avLst/>
            </a:prstGeom>
            <a:noFill/>
            <a:ln w="6350">
              <a:solidFill>
                <a:schemeClr val="accent1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번호 3"/>
            <p:cNvSpPr/>
            <p:nvPr/>
          </p:nvSpPr>
          <p:spPr>
            <a:xfrm>
              <a:off x="8249716" y="2039112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FFFFFF"/>
                  </a:solidFill>
                </a:rPr>
                <a:t>3</a:t>
              </a:r>
            </a:p>
          </p:txBody>
        </p:sp>
        <p:sp>
          <p:nvSpPr>
            <p:cNvPr id="23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정리할 날짜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25" name="카드 내용"/>
            <p:cNvSpPr txBox="1"/>
            <p:nvPr/>
          </p:nvSpPr>
          <p:spPr>
            <a:xfrm>
              <a:off x="8249716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sp>
        <p:nvSpPr>
          <p:cNvPr id="26" name="안내 문구"/>
          <p:cNvSpPr txBox="1"/>
          <p:nvPr/>
        </p:nvSpPr>
        <p:spPr>
          <a:xfrm>
            <a:off x="731520" y="5577840"/>
            <a:ext cx="1072865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보험 보장 점검 발표자료(가족 점검)">
  <a:themeElements>
    <a:clrScheme name="보험 보장 점검 발표자료(가족 점검)">
      <a:dk1>
        <a:srgbClr val="24292E"/>
      </a:dk1>
      <a:lt1>
        <a:srgbClr val="FCFCFB"/>
      </a:lt1>
      <a:dk2>
        <a:srgbClr val="272E36"/>
      </a:dk2>
      <a:lt2>
        <a:srgbClr val="F3F3F2"/>
      </a:lt2>
      <a:accent1>
        <a:srgbClr val="6F7A86"/>
      </a:accent1>
      <a:accent2>
        <a:srgbClr val="A9B2BC"/>
      </a:accent2>
      <a:accent3>
        <a:srgbClr val="24292E"/>
      </a:accent3>
      <a:accent4>
        <a:srgbClr val="D9DBDC"/>
      </a:accent4>
      <a:accent5>
        <a:srgbClr val="B5BCC4"/>
      </a:accent5>
      <a:accent6>
        <a:srgbClr val="CACFD4"/>
      </a:accent6>
      <a:hlink>
        <a:srgbClr val="272E36"/>
      </a:hlink>
      <a:folHlink>
        <a:srgbClr val="24292E"/>
      </a:folHlink>
    </a:clrScheme>
    <a:fontScheme name="보험 보장 점검 발표자료(가족 점검)">
      <a:majorFont>
        <a:latin typeface="Segoe UI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발표자료(가족 점검)</dc:title>
  <dc:subject>보험 가입 내용 정리 양식 · 가족 점검</dc:subject>
  <dc:creator>우체국보험 상담 안내</dc:creator>
  <cp:keywords>보험,점검,양식,PPT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