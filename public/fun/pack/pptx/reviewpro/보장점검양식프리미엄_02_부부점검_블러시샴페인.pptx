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91FFCAAB-F9CC-4EE0-8016-B5CF0F504166}">
          <p14:sldIdLst>
            <p14:sldId id="256"/>
          </p14:sldIdLst>
        </p14:section>
        <p14:section name="본문" id="{7C9C5BA0-CD19-404E-A3CD-6515F7C81FA9}">
          <p14:sldIdLst>
            <p14:sldId id="257"/>
            <p14:sldId id="258"/>
            <p14:sldId id="259"/>
            <p14:sldId id="260"/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월 보험료 비중(예시)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보장성</c:v>
                </c:pt>
                <c:pt idx="1">
                  <c:v>저축성</c:v>
                </c:pt>
                <c:pt idx="2">
                  <c:v>연금성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</c:v>
                </c:pt>
                <c:pt idx="1">
                  <c:v>30</c:v>
                </c:pt>
                <c:pt idx="2">
                  <c:v>20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2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100">
          <a:solidFill>
            <a:schemeClr val="tx1"/>
          </a:solidFill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증권을 보고 그대로 옮겨 적으세요. 행은 Tab 키로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해당하는 칸에 ✔ 표시를 직접 적어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숫자를 눌러 직접 고쳐 쓰세요. 오른쪽 도넛 차트는 예시이며 우클릭 &gt; [데이터 편집]으로 바꿉니다.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확인할 것·문의할 것·정리할 날짜를 적어 두세요.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pattFill prst="dotGrid">
          <a:fgClr>
            <a:schemeClr val="tx2"/>
          </a:fgClr>
          <a:bgClr>
            <a:schemeClr val="accent3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2438339" y="1828800"/>
            <a:ext cx="7315017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2438339" y="2212848"/>
            <a:ext cx="7315017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2438339" y="3886200"/>
            <a:ext cx="7315017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D6D2D2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2438339" y="4663440"/>
            <a:ext cx="7315017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B1A9A8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1463003" y="685800"/>
            <a:ext cx="0" cy="548640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3" name="Diamond 2"/>
          <p:cNvSpPr/>
          <p:nvPr/>
        </p:nvSpPr>
        <p:spPr>
          <a:xfrm>
            <a:off x="1380707" y="3346704"/>
            <a:ext cx="164592" cy="164592"/>
          </a:xfrm>
          <a:prstGeom prst="diamond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윗 표시"/>
          <p:cNvSpPr/>
          <p:nvPr/>
        </p:nvSpPr>
        <p:spPr>
          <a:xfrm>
            <a:off x="1398995" y="594360"/>
            <a:ext cx="128016" cy="12801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아랫 표시"/>
          <p:cNvSpPr/>
          <p:nvPr/>
        </p:nvSpPr>
        <p:spPr>
          <a:xfrm>
            <a:off x="1398995" y="6135624"/>
            <a:ext cx="128016" cy="12801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pattFill prst="pct10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47472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963137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637215" y="384048"/>
            <a:ext cx="822960" cy="384048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B22E6939-CA15-4693-8784-501D9B22ABC4}" type="slidenum">
              <a:rPr lang="en-US"/>
              <a:t>‹#›</a:t>
            </a:fld>
          </a:p>
        </p:txBody>
      </p:sp>
      <p:sp>
        <p:nvSpPr>
          <p:cNvPr id="2" name="색 탭"/>
          <p:cNvSpPr/>
          <p:nvPr/>
        </p:nvSpPr>
        <p:spPr>
          <a:xfrm>
            <a:off x="0" y="658368"/>
            <a:ext cx="237744" cy="777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731520" y="1536192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1828800" y="1536192"/>
            <a:ext cx="963137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5" name="쪽 번호 알약"/>
          <p:cNvSpPr/>
          <p:nvPr/>
        </p:nvSpPr>
        <p:spPr>
          <a:xfrm>
            <a:off x="10637215" y="384048"/>
            <a:ext cx="822960" cy="38404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2438339" y="1828800"/>
            <a:ext cx="7315017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2438339" y="2212848"/>
            <a:ext cx="7315017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2438339" y="3886200"/>
            <a:ext cx="7315017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2438339" y="4663440"/>
            <a:ext cx="7315017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1463003" y="685800"/>
            <a:ext cx="0" cy="548640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3" name="Diamond 2"/>
          <p:cNvSpPr/>
          <p:nvPr/>
        </p:nvSpPr>
        <p:spPr>
          <a:xfrm>
            <a:off x="1380707" y="3346704"/>
            <a:ext cx="164592" cy="16459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윗 표시"/>
          <p:cNvSpPr/>
          <p:nvPr/>
        </p:nvSpPr>
        <p:spPr>
          <a:xfrm>
            <a:off x="1398995" y="594360"/>
            <a:ext cx="128016" cy="12801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아랫 표시"/>
          <p:cNvSpPr/>
          <p:nvPr/>
        </p:nvSpPr>
        <p:spPr>
          <a:xfrm>
            <a:off x="1398995" y="6135624"/>
            <a:ext cx="128016" cy="12801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pattFill prst="pct10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47472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963137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637215" y="384048"/>
            <a:ext cx="822960" cy="384048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35B24ADA-C150-40E9-8D09-A32765C95D56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색 탭"/>
          <p:cNvSpPr/>
          <p:nvPr/>
        </p:nvSpPr>
        <p:spPr>
          <a:xfrm>
            <a:off x="0" y="658368"/>
            <a:ext cx="237744" cy="777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731520" y="1536192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1828800" y="1536192"/>
            <a:ext cx="963137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5" name="쪽 번호 알약"/>
          <p:cNvSpPr/>
          <p:nvPr/>
        </p:nvSpPr>
        <p:spPr>
          <a:xfrm>
            <a:off x="10637215" y="384048"/>
            <a:ext cx="822960" cy="38404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pattFill prst="pct10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47472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0637215" y="384048"/>
            <a:ext cx="822960" cy="384048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1FDED482-87F6-427D-94CA-1DBB1864D995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색 탭"/>
          <p:cNvSpPr/>
          <p:nvPr/>
        </p:nvSpPr>
        <p:spPr>
          <a:xfrm>
            <a:off x="0" y="658368"/>
            <a:ext cx="237744" cy="777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쪽 번호 알약"/>
          <p:cNvSpPr/>
          <p:nvPr/>
        </p:nvSpPr>
        <p:spPr>
          <a:xfrm>
            <a:off x="10637215" y="384048"/>
            <a:ext cx="822960" cy="38404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4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5" name="Diamond 4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6" name="Connector 5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8" name="Connector 7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9" name="Diamond 8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BLUSH  ·  INSURANCE CHECK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보험 점검 시간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부부가 각자 든 보험을 나란히 적어 봅니다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부부 점검 · 0000. 00. 00</a:t>
            </a:r>
          </a:p>
          <a:p>
            <a:r>
              <a:rPr lang="ko-KR"/>
              <a:t>가입 내용을 정리하고 함께 확인하는 양식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PROFILE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대상 현황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BB5EF-E7CD-4592-8E1E-3E4BC0567E67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4" cy="36576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576218"/>
                <a:gridCol w="3576218"/>
                <a:gridCol w="3576218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rgbClr val="1A1613"/>
                          </a:solidFill>
                        </a:rPr>
                        <a:t>구분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rgbClr val="1A1613"/>
                          </a:solidFill>
                        </a:rPr>
                        <a:t>남편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rgbClr val="1A1613"/>
                          </a:solidFill>
                        </a:rPr>
                        <a:t>아내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이름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나이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직업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건강 상태 메모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split orient="horz" dir="out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POLICY LIST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가입한 보험 목록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377F0-D5FA-4A78-944B-19049A6F2DC7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5" cy="422452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011680"/>
                <a:gridCol w="3108960"/>
                <a:gridCol w="1828800"/>
                <a:gridCol w="1828800"/>
                <a:gridCol w="195041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보험회사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상품명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종류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만기일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월 보험료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split orient="horz" dir="out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CHECKLIST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보장 항목 체크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32720-C624-4698-8E46-4A9615CE2C53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4" cy="477316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657600"/>
                <a:gridCol w="2357018"/>
                <a:gridCol w="2357018"/>
                <a:gridCol w="235701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보장 항목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가입 확인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확인 필요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해당 없음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사망·재해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질병 진단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뇌·심장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입원·수술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상해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실손의료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연금·노후자금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split orient="horz" dir="out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PREMIUM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월 보험료 한눈에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BDC7F-2610-4ADB-BA1E-F4DAC8CB7135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2377440"/>
            <a:chOff x="731520" y="1828800"/>
            <a:chExt cx="3393338" cy="237744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2377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윗선"/>
            <p:cNvSpPr/>
            <p:nvPr/>
          </p:nvSpPr>
          <p:spPr>
            <a:xfrm>
              <a:off x="731520" y="1828800"/>
              <a:ext cx="3393338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960120" y="2084832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보험료 합계</a:t>
              </a:r>
            </a:p>
          </p:txBody>
        </p:sp>
        <p:cxnSp>
          <p:nvCxnSpPr>
            <p:cNvPr id="10" name="구분선"/>
            <p:cNvCxnSpPr/>
            <p:nvPr/>
          </p:nvCxnSpPr>
          <p:spPr>
            <a:xfrm>
              <a:off x="960120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1" name="카드 내용"/>
            <p:cNvSpPr txBox="1"/>
            <p:nvPr/>
          </p:nvSpPr>
          <p:spPr>
            <a:xfrm>
              <a:off x="914400" y="3456432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2" name="카드 2"/>
          <p:cNvGrpSpPr/>
          <p:nvPr/>
        </p:nvGrpSpPr>
        <p:grpSpPr>
          <a:xfrm>
            <a:off x="4399178" y="1828800"/>
            <a:ext cx="3393338" cy="2377440"/>
            <a:chOff x="4399178" y="1828800"/>
            <a:chExt cx="3393338" cy="2377440"/>
          </a:xfrm>
        </p:grpSpPr>
        <p:sp>
          <p:nvSpPr>
            <p:cNvPr id="13" name="카드 바탕"/>
            <p:cNvSpPr/>
            <p:nvPr/>
          </p:nvSpPr>
          <p:spPr>
            <a:xfrm>
              <a:off x="4399178" y="1828800"/>
              <a:ext cx="3393338" cy="2377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윗선"/>
            <p:cNvSpPr/>
            <p:nvPr/>
          </p:nvSpPr>
          <p:spPr>
            <a:xfrm>
              <a:off x="4399178" y="1828800"/>
              <a:ext cx="3393338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번호 2"/>
            <p:cNvSpPr/>
            <p:nvPr/>
          </p:nvSpPr>
          <p:spPr>
            <a:xfrm>
              <a:off x="4627778" y="2084832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6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연 보험료 합계</a:t>
              </a:r>
            </a:p>
          </p:txBody>
        </p:sp>
        <p:cxnSp>
          <p:nvCxnSpPr>
            <p:cNvPr id="17" name="구분선"/>
            <p:cNvCxnSpPr/>
            <p:nvPr/>
          </p:nvCxnSpPr>
          <p:spPr>
            <a:xfrm>
              <a:off x="4627778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8" name="카드 내용"/>
            <p:cNvSpPr txBox="1"/>
            <p:nvPr/>
          </p:nvSpPr>
          <p:spPr>
            <a:xfrm>
              <a:off x="4582058" y="3456432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9" name="카드 3"/>
          <p:cNvGrpSpPr/>
          <p:nvPr/>
        </p:nvGrpSpPr>
        <p:grpSpPr>
          <a:xfrm>
            <a:off x="8066836" y="1828800"/>
            <a:ext cx="3393338" cy="2377440"/>
            <a:chOff x="8066836" y="1828800"/>
            <a:chExt cx="3393338" cy="2377440"/>
          </a:xfrm>
        </p:grpSpPr>
        <p:sp>
          <p:nvSpPr>
            <p:cNvPr id="20" name="카드 바탕"/>
            <p:cNvSpPr/>
            <p:nvPr/>
          </p:nvSpPr>
          <p:spPr>
            <a:xfrm>
              <a:off x="8066836" y="1828800"/>
              <a:ext cx="3393338" cy="2377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윗선"/>
            <p:cNvSpPr/>
            <p:nvPr/>
          </p:nvSpPr>
          <p:spPr>
            <a:xfrm>
              <a:off x="8066836" y="1828800"/>
              <a:ext cx="3393338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번호 3"/>
            <p:cNvSpPr/>
            <p:nvPr/>
          </p:nvSpPr>
          <p:spPr>
            <a:xfrm>
              <a:off x="8295436" y="2084832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23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소득 대비</a:t>
              </a:r>
            </a:p>
          </p:txBody>
        </p:sp>
        <p:cxnSp>
          <p:nvCxnSpPr>
            <p:cNvPr id="24" name="구분선"/>
            <p:cNvCxnSpPr/>
            <p:nvPr/>
          </p:nvCxnSpPr>
          <p:spPr>
            <a:xfrm>
              <a:off x="8295436" y="3364991"/>
              <a:ext cx="293613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5" name="카드 내용"/>
            <p:cNvSpPr txBox="1"/>
            <p:nvPr/>
          </p:nvSpPr>
          <p:spPr>
            <a:xfrm>
              <a:off x="8249716" y="3456432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0 %</a:t>
              </a:r>
            </a:p>
          </p:txBody>
        </p:sp>
      </p:grpSp>
      <p:graphicFrame>
        <p:nvGraphicFramePr>
          <p:cNvPr id="26" name="차트"/>
          <p:cNvGraphicFramePr>
            <a:graphicFrameLocks noGrp="1"/>
          </p:cNvGraphicFramePr>
          <p:nvPr/>
        </p:nvGraphicFramePr>
        <p:xfrm>
          <a:off x="731520" y="4389120"/>
          <a:ext cx="10728655" cy="1691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  <p:transition spd="med">
    <p:split orient="horz" dir="ou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NEXT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메모와 다음 할 일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2C89A-4DFD-4605-8103-549F3D63442A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566160"/>
            <a:chOff x="731520" y="1828800"/>
            <a:chExt cx="3393338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윗선"/>
            <p:cNvSpPr/>
            <p:nvPr/>
          </p:nvSpPr>
          <p:spPr>
            <a:xfrm>
              <a:off x="731520" y="1828800"/>
              <a:ext cx="3393338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960120" y="2084832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확인할 것</a:t>
              </a:r>
            </a:p>
          </p:txBody>
        </p:sp>
        <p:cxnSp>
          <p:nvCxnSpPr>
            <p:cNvPr id="10" name="구분선"/>
            <p:cNvCxnSpPr/>
            <p:nvPr/>
          </p:nvCxnSpPr>
          <p:spPr>
            <a:xfrm>
              <a:off x="960120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1" name="카드 내용"/>
            <p:cNvSpPr txBox="1"/>
            <p:nvPr/>
          </p:nvSpPr>
          <p:spPr>
            <a:xfrm>
              <a:off x="914400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2" name="카드 2"/>
          <p:cNvGrpSpPr/>
          <p:nvPr/>
        </p:nvGrpSpPr>
        <p:grpSpPr>
          <a:xfrm>
            <a:off x="4399178" y="1828800"/>
            <a:ext cx="3393338" cy="3566160"/>
            <a:chOff x="4399178" y="1828800"/>
            <a:chExt cx="3393338" cy="3566160"/>
          </a:xfrm>
        </p:grpSpPr>
        <p:sp>
          <p:nvSpPr>
            <p:cNvPr id="13" name="카드 바탕"/>
            <p:cNvSpPr/>
            <p:nvPr/>
          </p:nvSpPr>
          <p:spPr>
            <a:xfrm>
              <a:off x="4399178" y="1828800"/>
              <a:ext cx="3393338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윗선"/>
            <p:cNvSpPr/>
            <p:nvPr/>
          </p:nvSpPr>
          <p:spPr>
            <a:xfrm>
              <a:off x="4399178" y="1828800"/>
              <a:ext cx="3393338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번호 2"/>
            <p:cNvSpPr/>
            <p:nvPr/>
          </p:nvSpPr>
          <p:spPr>
            <a:xfrm>
              <a:off x="4627778" y="2084832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6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문의할 것</a:t>
              </a:r>
            </a:p>
          </p:txBody>
        </p:sp>
        <p:cxnSp>
          <p:nvCxnSpPr>
            <p:cNvPr id="17" name="구분선"/>
            <p:cNvCxnSpPr/>
            <p:nvPr/>
          </p:nvCxnSpPr>
          <p:spPr>
            <a:xfrm>
              <a:off x="4627778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8" name="카드 내용"/>
            <p:cNvSpPr txBox="1"/>
            <p:nvPr/>
          </p:nvSpPr>
          <p:spPr>
            <a:xfrm>
              <a:off x="4582058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9" name="카드 3"/>
          <p:cNvGrpSpPr/>
          <p:nvPr/>
        </p:nvGrpSpPr>
        <p:grpSpPr>
          <a:xfrm>
            <a:off x="8066836" y="1828800"/>
            <a:ext cx="3393338" cy="3566160"/>
            <a:chOff x="8066836" y="1828800"/>
            <a:chExt cx="3393338" cy="3566160"/>
          </a:xfrm>
        </p:grpSpPr>
        <p:sp>
          <p:nvSpPr>
            <p:cNvPr id="20" name="카드 바탕"/>
            <p:cNvSpPr/>
            <p:nvPr/>
          </p:nvSpPr>
          <p:spPr>
            <a:xfrm>
              <a:off x="8066836" y="1828800"/>
              <a:ext cx="3393338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윗선"/>
            <p:cNvSpPr/>
            <p:nvPr/>
          </p:nvSpPr>
          <p:spPr>
            <a:xfrm>
              <a:off x="8066836" y="1828800"/>
              <a:ext cx="3393338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번호 3"/>
            <p:cNvSpPr/>
            <p:nvPr/>
          </p:nvSpPr>
          <p:spPr>
            <a:xfrm>
              <a:off x="8295436" y="2084832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23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정리할 날짜</a:t>
              </a:r>
            </a:p>
          </p:txBody>
        </p:sp>
        <p:cxnSp>
          <p:nvCxnSpPr>
            <p:cNvPr id="24" name="구분선"/>
            <p:cNvCxnSpPr/>
            <p:nvPr/>
          </p:nvCxnSpPr>
          <p:spPr>
            <a:xfrm>
              <a:off x="8295436" y="3364991"/>
              <a:ext cx="293613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5" name="카드 내용"/>
            <p:cNvSpPr txBox="1"/>
            <p:nvPr/>
          </p:nvSpPr>
          <p:spPr>
            <a:xfrm>
              <a:off x="8249716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sp>
        <p:nvSpPr>
          <p:cNvPr id="26" name="안내 문구"/>
          <p:cNvSpPr txBox="1"/>
          <p:nvPr/>
        </p:nvSpPr>
        <p:spPr>
          <a:xfrm>
            <a:off x="731520" y="5577840"/>
            <a:ext cx="1072865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  <p:transition spd="med">
    <p:split orient="horz" dir="ou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보험 보장 점검 발표자료(부부 점검)">
  <a:themeElements>
    <a:clrScheme name="보험 보장 점검 발표자료(부부 점검)">
      <a:dk1>
        <a:srgbClr val="433534"/>
      </a:dk1>
      <a:lt1>
        <a:srgbClr val="FEFCFB"/>
      </a:lt1>
      <a:dk2>
        <a:srgbClr val="5A3B38"/>
      </a:dk2>
      <a:lt2>
        <a:srgbClr val="FBF4F1"/>
      </a:lt2>
      <a:accent1>
        <a:srgbClr val="D4A39B"/>
      </a:accent1>
      <a:accent2>
        <a:srgbClr val="B48866"/>
      </a:accent2>
      <a:accent3>
        <a:srgbClr val="463331"/>
      </a:accent3>
      <a:accent4>
        <a:srgbClr val="F3E4E0"/>
      </a:accent4>
      <a:accent5>
        <a:srgbClr val="C9AA7C"/>
      </a:accent5>
      <a:accent6>
        <a:srgbClr val="D4B9A5"/>
      </a:accent6>
      <a:hlink>
        <a:srgbClr val="5A3B38"/>
      </a:hlink>
      <a:folHlink>
        <a:srgbClr val="463331"/>
      </a:folHlink>
    </a:clrScheme>
    <a:fontScheme name="보험 보장 점검 발표자료(부부 점검)">
      <a:majorFont>
        <a:latin typeface="Century Gothic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발표자료(부부 점검)</dc:title>
  <dc:subject>보험 가입 내용 정리 양식 · 부부 점검</dc:subject>
  <dc:creator>우체국보험 상담 안내</dc:creator>
  <cp:keywords>보험,점검,양식,PPT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