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287719D5-5FBE-4140-92EE-6DD37058A746}">
          <p14:sldIdLst>
            <p14:sldId id="256"/>
          </p14:sldIdLst>
        </p14:section>
        <p14:section name="본문" id="{2D06B404-C094-4050-9A48-65759C2DCAC3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월 보험료 비중(예시)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보장성</c:v>
                </c:pt>
                <c:pt idx="1">
                  <c:v>저축성</c:v>
                </c:pt>
                <c:pt idx="2">
                  <c:v>연금성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증권을 보고 그대로 옮겨 적으세요. 행은 Tab 키로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해당하는 칸에 ✔ 표시를 직접 적어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숫자를 눌러 직접 고쳐 쓰세요. 오른쪽 도넛 차트는 예시이며 우클릭 &gt; [데이터 편집]으로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확인할 것·문의할 것·정리할 날짜를 적어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950671" y="1828800"/>
            <a:ext cx="8290352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950671" y="2212848"/>
            <a:ext cx="8290352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950671" y="3886200"/>
            <a:ext cx="8290352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950671" y="4663440"/>
            <a:ext cx="8290352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바깥 테두리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solidFill>
            <a:schemeClr val="bg1">
              <a:alpha val="55000"/>
            </a:schemeClr>
          </a:solidFill>
          <a:ln w="1905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테두리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  <a:ln w="9525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10311" y="210311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761927" y="210311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10311" y="6428232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761927" y="6428232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8" name="테마 장식"/>
          <p:cNvGrpSpPr/>
          <p:nvPr/>
        </p:nvGrpSpPr>
        <p:grpSpPr>
          <a:xfrm>
            <a:off x="5794095" y="346557"/>
            <a:ext cx="603504" cy="221284"/>
            <a:chOff x="5794095" y="346557"/>
            <a:chExt cx="603504" cy="221284"/>
          </a:xfrm>
        </p:grpSpPr>
        <p:sp>
          <p:nvSpPr>
            <p:cNvPr id="9" name="Wave 8"/>
            <p:cNvSpPr/>
            <p:nvPr/>
          </p:nvSpPr>
          <p:spPr>
            <a:xfrm>
              <a:off x="5794095" y="346557"/>
              <a:ext cx="603504" cy="221284"/>
            </a:xfrm>
            <a:prstGeom prst="wav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558851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290371" y="457200"/>
            <a:ext cx="3169804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FB73B7B8-FA30-4C18-8F72-D2AF8FABCED7}" type="slidenum">
              <a:rPr lang="en-US"/>
              <a:t>‹#›</a:t>
            </a:fld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</p:cxnSp>
      <p:grpSp>
        <p:nvGrpSpPr>
          <p:cNvPr id="4" name="테마 장식"/>
          <p:cNvGrpSpPr/>
          <p:nvPr/>
        </p:nvGrpSpPr>
        <p:grpSpPr>
          <a:xfrm>
            <a:off x="11176711" y="843991"/>
            <a:ext cx="384048" cy="140817"/>
            <a:chOff x="11176711" y="843991"/>
            <a:chExt cx="384048" cy="140817"/>
          </a:xfrm>
        </p:grpSpPr>
        <p:sp>
          <p:nvSpPr>
            <p:cNvPr id="5" name="Wave 4"/>
            <p:cNvSpPr/>
            <p:nvPr/>
          </p:nvSpPr>
          <p:spPr>
            <a:xfrm>
              <a:off x="11176711" y="843991"/>
              <a:ext cx="384048" cy="140817"/>
            </a:xfrm>
            <a:prstGeom prst="wav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950671" y="1828800"/>
            <a:ext cx="8290352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950671" y="2212848"/>
            <a:ext cx="8290352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950671" y="3886200"/>
            <a:ext cx="8290352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950671" y="4663440"/>
            <a:ext cx="8290352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바깥 테두리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테두리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  <a:ln w="9525"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10311" y="210311"/>
            <a:ext cx="219456" cy="219456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761927" y="210311"/>
            <a:ext cx="219456" cy="219456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10311" y="6428232"/>
            <a:ext cx="219456" cy="219456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761927" y="6428232"/>
            <a:ext cx="219456" cy="219456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8" name="테마 장식"/>
          <p:cNvGrpSpPr/>
          <p:nvPr/>
        </p:nvGrpSpPr>
        <p:grpSpPr>
          <a:xfrm>
            <a:off x="5794095" y="346557"/>
            <a:ext cx="603504" cy="221284"/>
            <a:chOff x="5794095" y="346557"/>
            <a:chExt cx="603504" cy="221284"/>
          </a:xfrm>
        </p:grpSpPr>
        <p:sp>
          <p:nvSpPr>
            <p:cNvPr id="9" name="Wave 8"/>
            <p:cNvSpPr/>
            <p:nvPr/>
          </p:nvSpPr>
          <p:spPr>
            <a:xfrm>
              <a:off x="5794095" y="346557"/>
              <a:ext cx="603504" cy="221284"/>
            </a:xfrm>
            <a:prstGeom prst="wav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558851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290371" y="457200"/>
            <a:ext cx="3169804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B79B418E-B1C3-4408-A12F-62805CE3DB9B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</p:cxnSp>
      <p:grpSp>
        <p:nvGrpSpPr>
          <p:cNvPr id="4" name="테마 장식"/>
          <p:cNvGrpSpPr/>
          <p:nvPr/>
        </p:nvGrpSpPr>
        <p:grpSpPr>
          <a:xfrm>
            <a:off x="11176711" y="843991"/>
            <a:ext cx="384048" cy="140817"/>
            <a:chOff x="11176711" y="843991"/>
            <a:chExt cx="384048" cy="140817"/>
          </a:xfrm>
        </p:grpSpPr>
        <p:sp>
          <p:nvSpPr>
            <p:cNvPr id="5" name="Wave 4"/>
            <p:cNvSpPr/>
            <p:nvPr/>
          </p:nvSpPr>
          <p:spPr>
            <a:xfrm>
              <a:off x="11176711" y="843991"/>
              <a:ext cx="384048" cy="140817"/>
            </a:xfrm>
            <a:prstGeom prst="wav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6DE9F3AE-DC2D-48EB-9CE3-EE326ED85C73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4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" name="테마 장식"/>
          <p:cNvGrpSpPr/>
          <p:nvPr/>
        </p:nvGrpSpPr>
        <p:grpSpPr>
          <a:xfrm>
            <a:off x="5766663" y="5365699"/>
            <a:ext cx="658368" cy="241401"/>
            <a:chOff x="5766663" y="5365699"/>
            <a:chExt cx="658368" cy="241401"/>
          </a:xfrm>
        </p:grpSpPr>
        <p:sp>
          <p:nvSpPr>
            <p:cNvPr id="7" name="Wave 6"/>
            <p:cNvSpPr/>
            <p:nvPr/>
          </p:nvSpPr>
          <p:spPr>
            <a:xfrm>
              <a:off x="5766663" y="5365699"/>
              <a:ext cx="658368" cy="241401"/>
            </a:xfrm>
            <a:prstGeom prst="wave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INSURANCE CHECK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보험 점검 시간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상호와 사업자 정보부터 정리합니다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사업장 점검 · 0000. 00. 00</a:t>
            </a:r>
          </a:p>
          <a:p>
            <a:r>
              <a:rPr lang="ko-KR"/>
              <a:t>가입 내용을 정리하고 함께 확인하는 양식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대상 현황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PROFILE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9E187-8385-4A41-89C4-6E98BD73BF2A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36576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5364327"/>
                <a:gridCol w="5364327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구분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내용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상호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업종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직원 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확인할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가입한 보험 목록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POLICY LIST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388BD-F266-412F-AE18-9179F4A05C3A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5" cy="422452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3108960"/>
                <a:gridCol w="1828800"/>
                <a:gridCol w="1828800"/>
                <a:gridCol w="195041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보험회사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상품명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종류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만기일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월 보험료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보장 항목 체크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CHECKLIST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59B02-8FB1-451A-A763-2ADDF2273419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477316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57600"/>
                <a:gridCol w="2357018"/>
                <a:gridCol w="2357018"/>
                <a:gridCol w="235701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보장 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가입 확인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확인 필요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해당 없음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사망·재해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질병 진단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뇌·심장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입원·수술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상해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실손의료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연금·노후자금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월 보험료 한눈에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PREMIUM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92FDE-484A-47DA-811F-0DFE3E52A2A8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2377440"/>
            <a:chOff x="731520" y="1828800"/>
            <a:chExt cx="3393338" cy="237744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23774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포인트 막대"/>
            <p:cNvSpPr/>
            <p:nvPr/>
          </p:nvSpPr>
          <p:spPr>
            <a:xfrm>
              <a:off x="731520" y="1938528"/>
              <a:ext cx="64008" cy="21579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보험료 합계</a:t>
              </a:r>
            </a:p>
          </p:txBody>
        </p:sp>
        <p:sp>
          <p:nvSpPr>
            <p:cNvPr id="10" name="카드 내용"/>
            <p:cNvSpPr txBox="1"/>
            <p:nvPr/>
          </p:nvSpPr>
          <p:spPr>
            <a:xfrm>
              <a:off x="914400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2377440"/>
            <a:chOff x="4399178" y="1828800"/>
            <a:chExt cx="3393338" cy="237744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23774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포인트 막대"/>
            <p:cNvSpPr/>
            <p:nvPr/>
          </p:nvSpPr>
          <p:spPr>
            <a:xfrm>
              <a:off x="4399178" y="1938528"/>
              <a:ext cx="64008" cy="21579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5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 보험료 합계</a:t>
              </a:r>
            </a:p>
          </p:txBody>
        </p:sp>
        <p:sp>
          <p:nvSpPr>
            <p:cNvPr id="16" name="카드 내용"/>
            <p:cNvSpPr txBox="1"/>
            <p:nvPr/>
          </p:nvSpPr>
          <p:spPr>
            <a:xfrm>
              <a:off x="4582058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2377440"/>
            <a:chOff x="8066836" y="1828800"/>
            <a:chExt cx="3393338" cy="237744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23774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포인트 막대"/>
            <p:cNvSpPr/>
            <p:nvPr/>
          </p:nvSpPr>
          <p:spPr>
            <a:xfrm>
              <a:off x="8066836" y="1938528"/>
              <a:ext cx="64008" cy="21579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1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소득 대비</a:t>
              </a:r>
            </a:p>
          </p:txBody>
        </p:sp>
        <p:sp>
          <p:nvSpPr>
            <p:cNvPr id="22" name="카드 내용"/>
            <p:cNvSpPr txBox="1"/>
            <p:nvPr/>
          </p:nvSpPr>
          <p:spPr>
            <a:xfrm>
              <a:off x="8249716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0 %</a:t>
              </a:r>
            </a:p>
          </p:txBody>
        </p:sp>
      </p:grpSp>
      <p:graphicFrame>
        <p:nvGraphicFramePr>
          <p:cNvPr id="23" name="차트"/>
          <p:cNvGraphicFramePr>
            <a:graphicFrameLocks noGrp="1"/>
          </p:cNvGraphicFramePr>
          <p:nvPr/>
        </p:nvGraphicFramePr>
        <p:xfrm>
          <a:off x="731520" y="4389120"/>
          <a:ext cx="10728655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메모와 다음 할 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NEXT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63C06-2071-4475-86E6-C58F2D03778D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포인트 막대"/>
            <p:cNvSpPr/>
            <p:nvPr/>
          </p:nvSpPr>
          <p:spPr>
            <a:xfrm>
              <a:off x="731520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확인할 것</a:t>
              </a:r>
            </a:p>
          </p:txBody>
        </p:sp>
        <p:sp>
          <p:nvSpPr>
            <p:cNvPr id="10" name="카드 내용"/>
            <p:cNvSpPr txBox="1"/>
            <p:nvPr/>
          </p:nvSpPr>
          <p:spPr>
            <a:xfrm>
              <a:off x="914400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포인트 막대"/>
            <p:cNvSpPr/>
            <p:nvPr/>
          </p:nvSpPr>
          <p:spPr>
            <a:xfrm>
              <a:off x="4399178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5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문의할 것</a:t>
              </a:r>
            </a:p>
          </p:txBody>
        </p:sp>
        <p:sp>
          <p:nvSpPr>
            <p:cNvPr id="16" name="카드 내용"/>
            <p:cNvSpPr txBox="1"/>
            <p:nvPr/>
          </p:nvSpPr>
          <p:spPr>
            <a:xfrm>
              <a:off x="4582058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포인트 막대"/>
            <p:cNvSpPr/>
            <p:nvPr/>
          </p:nvSpPr>
          <p:spPr>
            <a:xfrm>
              <a:off x="8066836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1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정리할 날짜</a:t>
              </a:r>
            </a:p>
          </p:txBody>
        </p:sp>
        <p:sp>
          <p:nvSpPr>
            <p:cNvPr id="22" name="카드 내용"/>
            <p:cNvSpPr txBox="1"/>
            <p:nvPr/>
          </p:nvSpPr>
          <p:spPr>
            <a:xfrm>
              <a:off x="8249716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sp>
        <p:nvSpPr>
          <p:cNvPr id="23" name="안내 문구"/>
          <p:cNvSpPr txBox="1"/>
          <p:nvPr/>
        </p:nvSpPr>
        <p:spPr>
          <a:xfrm>
            <a:off x="731520" y="5577840"/>
            <a:ext cx="1072865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보험 보장 점검 발표자료(사업장 점검)">
  <a:themeElements>
    <a:clrScheme name="보험 보장 점검 발표자료(사업장 점검)">
      <a:dk1>
        <a:srgbClr val="2B2724"/>
      </a:dk1>
      <a:lt1>
        <a:srgbClr val="FFFFFF"/>
      </a:lt1>
      <a:dk2>
        <a:srgbClr val="3E3A64"/>
      </a:dk2>
      <a:lt2>
        <a:srgbClr val="E5DEF9"/>
      </a:lt2>
      <a:accent1>
        <a:srgbClr val="977EE2"/>
      </a:accent1>
      <a:accent2>
        <a:srgbClr val="8699CF"/>
      </a:accent2>
      <a:accent3>
        <a:srgbClr val="352C4E"/>
      </a:accent3>
      <a:accent4>
        <a:srgbClr val="D1C5F7"/>
      </a:accent4>
      <a:accent5>
        <a:srgbClr val="E0A3CF"/>
      </a:accent5>
      <a:accent6>
        <a:srgbClr val="BCD6E6"/>
      </a:accent6>
      <a:hlink>
        <a:srgbClr val="3E3A64"/>
      </a:hlink>
      <a:folHlink>
        <a:srgbClr val="352C4E"/>
      </a:folHlink>
    </a:clrScheme>
    <a:fontScheme name="보험 보장 점검 발표자료(사업장 점검)">
      <a:majorFont>
        <a:latin typeface="Georgia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발표자료(사업장 점검)</dc:title>
  <dc:subject>보험 가입 내용 정리 양식 · 사업장 점검</dc:subject>
  <dc:creator>우체국보험 상담 안내</dc:creator>
  <cp:keywords>보험,점검,양식,PPT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