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CAAC685B-D17E-433F-856D-F46E19DF9D59}">
          <p14:sldIdLst>
            <p14:sldId id="256"/>
          </p14:sldIdLst>
        </p14:section>
        <p14:section name="본문" id="{B10CC7C7-114A-4070-8D38-2222F2DF7EFF}">
          <p14:sldIdLst>
            <p14:sldId id="257"/>
            <p14:sldId id="258"/>
            <p14:sldId id="259"/>
            <p14:sldId id="260"/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월 보험료 비중(예시)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보장성</c:v>
                </c:pt>
                <c:pt idx="1">
                  <c:v>저축성</c:v>
                </c:pt>
                <c:pt idx="2">
                  <c:v>연금성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30</c:v>
                </c:pt>
                <c:pt idx="2">
                  <c:v>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sz="11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100">
          <a:solidFill>
            <a:schemeClr val="tx1"/>
          </a:solidFill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표의 칸을 눌러 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증권을 보고 그대로 옮겨 적으세요. 행은 Tab 키로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해당하는 칸에 ✔ 표시를 직접 적어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숫자를 눌러 직접 고쳐 쓰세요. 오른쪽 도넛 차트는 예시이며 우클릭 &gt; [데이터 편집]으로 바꿉니다.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확인할 것·문의할 것·정리할 날짜를 적어 두세요.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55885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816235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876585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6936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97286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1057637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932364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9424227" y="627827"/>
            <a:ext cx="347472" cy="298825"/>
            <a:chOff x="9424227" y="627827"/>
            <a:chExt cx="347472" cy="298825"/>
          </a:xfrm>
        </p:grpSpPr>
        <p:sp>
          <p:nvSpPr>
            <p:cNvPr id="10" name="Hexagon 9"/>
            <p:cNvSpPr/>
            <p:nvPr/>
          </p:nvSpPr>
          <p:spPr>
            <a:xfrm>
              <a:off x="9424227" y="627827"/>
              <a:ext cx="347472" cy="298825"/>
            </a:xfrm>
            <a:prstGeom prst="hexago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1AE1B691-CBFA-483A-B67B-B39998629AB0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막대 1"/>
          <p:cNvSpPr/>
          <p:nvPr/>
        </p:nvSpPr>
        <p:spPr>
          <a:xfrm>
            <a:off x="7558851" y="3291840"/>
            <a:ext cx="457200" cy="310896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막대 2"/>
          <p:cNvSpPr/>
          <p:nvPr/>
        </p:nvSpPr>
        <p:spPr>
          <a:xfrm>
            <a:off x="8162355" y="1828800"/>
            <a:ext cx="457200" cy="457200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막대 3"/>
          <p:cNvSpPr/>
          <p:nvPr/>
        </p:nvSpPr>
        <p:spPr>
          <a:xfrm>
            <a:off x="8765859" y="2743200"/>
            <a:ext cx="457200" cy="36576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막대 4"/>
          <p:cNvSpPr/>
          <p:nvPr/>
        </p:nvSpPr>
        <p:spPr>
          <a:xfrm>
            <a:off x="9369363" y="1188719"/>
            <a:ext cx="457200" cy="5212080"/>
          </a:xfrm>
          <a:prstGeom prst="round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막대 5"/>
          <p:cNvSpPr/>
          <p:nvPr/>
        </p:nvSpPr>
        <p:spPr>
          <a:xfrm>
            <a:off x="9972867" y="2377439"/>
            <a:ext cx="457200" cy="402336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막대 6"/>
          <p:cNvSpPr/>
          <p:nvPr/>
        </p:nvSpPr>
        <p:spPr>
          <a:xfrm>
            <a:off x="10576371" y="3657600"/>
            <a:ext cx="457200" cy="27432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막대 위 원"/>
          <p:cNvSpPr/>
          <p:nvPr/>
        </p:nvSpPr>
        <p:spPr>
          <a:xfrm>
            <a:off x="9323643" y="502919"/>
            <a:ext cx="548640" cy="548640"/>
          </a:xfrm>
          <a:prstGeom prst="ellipse">
            <a:avLst/>
          </a:prstGeom>
          <a:solidFill>
            <a:schemeClr val="bg1"/>
          </a:solidFill>
          <a:ln>
            <a:noFill/>
          </a:ln>
          <a:effectLst>
            <a:outerShdw blurRad="177800" dist="38100" dir="5400000" algn="t" rotWithShape="0">
              <a:schemeClr val="tx2">
                <a:alpha val="9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grpSp>
        <p:nvGrpSpPr>
          <p:cNvPr id="9" name="테마 장식"/>
          <p:cNvGrpSpPr/>
          <p:nvPr/>
        </p:nvGrpSpPr>
        <p:grpSpPr>
          <a:xfrm>
            <a:off x="9424227" y="627827"/>
            <a:ext cx="347472" cy="298825"/>
            <a:chOff x="9424227" y="627827"/>
            <a:chExt cx="347472" cy="298825"/>
          </a:xfrm>
        </p:grpSpPr>
        <p:sp>
          <p:nvSpPr>
            <p:cNvPr id="10" name="Hexagon 9"/>
            <p:cNvSpPr/>
            <p:nvPr/>
          </p:nvSpPr>
          <p:spPr>
            <a:xfrm>
              <a:off x="9424227" y="627827"/>
              <a:ext cx="347472" cy="298825"/>
            </a:xfrm>
            <a:prstGeom prst="hexagon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413233E8-1E63-4FDC-BC2F-5B439A2AC59D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1417319" y="365760"/>
            <a:ext cx="10134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1417319" y="658368"/>
            <a:ext cx="1013429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5" name="사진 1"/>
          <p:cNvSpPr>
            <a:spLocks noGrp="1"/>
          </p:cNvSpPr>
          <p:nvPr>
            <p:ph type="pic" sz="quarter" idx="13"/>
          </p:nvPr>
        </p:nvSpPr>
        <p:spPr>
          <a:xfrm>
            <a:off x="1417319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2"/>
          <p:cNvSpPr>
            <a:spLocks noGrp="1"/>
          </p:cNvSpPr>
          <p:nvPr>
            <p:ph type="pic" sz="quarter" idx="14"/>
          </p:nvPr>
        </p:nvSpPr>
        <p:spPr>
          <a:xfrm>
            <a:off x="27889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3"/>
          <p:cNvSpPr>
            <a:spLocks noGrp="1"/>
          </p:cNvSpPr>
          <p:nvPr>
            <p:ph type="pic" sz="quarter" idx="15"/>
          </p:nvPr>
        </p:nvSpPr>
        <p:spPr>
          <a:xfrm>
            <a:off x="4160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4"/>
          <p:cNvSpPr>
            <a:spLocks noGrp="1"/>
          </p:cNvSpPr>
          <p:nvPr>
            <p:ph type="pic" sz="quarter" idx="16"/>
          </p:nvPr>
        </p:nvSpPr>
        <p:spPr>
          <a:xfrm>
            <a:off x="5532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5"/>
          <p:cNvSpPr>
            <a:spLocks noGrp="1"/>
          </p:cNvSpPr>
          <p:nvPr>
            <p:ph type="pic" sz="quarter" idx="17"/>
          </p:nvPr>
        </p:nvSpPr>
        <p:spPr>
          <a:xfrm>
            <a:off x="1417319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6"/>
          <p:cNvSpPr>
            <a:spLocks noGrp="1"/>
          </p:cNvSpPr>
          <p:nvPr>
            <p:ph type="pic" sz="quarter" idx="18"/>
          </p:nvPr>
        </p:nvSpPr>
        <p:spPr>
          <a:xfrm>
            <a:off x="27889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7"/>
          <p:cNvSpPr>
            <a:spLocks noGrp="1"/>
          </p:cNvSpPr>
          <p:nvPr>
            <p:ph type="pic" sz="quarter" idx="19"/>
          </p:nvPr>
        </p:nvSpPr>
        <p:spPr>
          <a:xfrm>
            <a:off x="4160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2" name="사진 8"/>
          <p:cNvSpPr>
            <a:spLocks noGrp="1"/>
          </p:cNvSpPr>
          <p:nvPr>
            <p:ph type="pic" sz="quarter" idx="20"/>
          </p:nvPr>
        </p:nvSpPr>
        <p:spPr>
          <a:xfrm>
            <a:off x="5532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417319" y="1572768"/>
            <a:ext cx="1280160" cy="0"/>
          </a:xfrm>
          <a:prstGeom prst="line">
            <a:avLst/>
          </a:prstGeom>
          <a:ln w="31750" cap="rnd">
            <a:solidFill>
              <a:schemeClr val="accent2"/>
            </a:solidFill>
          </a:ln>
        </p:spPr>
      </p:cxn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세로 글씨"/>
          <p:cNvSpPr>
            <a:spLocks noGrp="1"/>
          </p:cNvSpPr>
          <p:nvPr>
            <p:ph type="body" sz="quarter" idx="30"/>
          </p:nvPr>
        </p:nvSpPr>
        <p:spPr>
          <a:xfrm>
            <a:off x="91440" y="914400"/>
            <a:ext cx="594359" cy="4663440"/>
          </a:xfrm>
          <a:noFill/>
        </p:spPr>
        <p:txBody>
          <a:bodyPr lIns="45720" rIns="45720" tIns="27432" bIns="27432" anchor="ctr" vert="wordArtVer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400" b="0" spc="60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세로 글씨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0" y="6172200"/>
            <a:ext cx="777240" cy="457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1" spc="0">
                <a:solidFill>
                  <a:schemeClr val="bg1"/>
                </a:solidFill>
              </a:defRPr>
            </a:lvl1pPr>
          </a:lstStyle>
          <a:p>
            <a:fld id="{B68F217B-187B-43DE-B0D0-40B09F03EF7C}" type="slidenum">
              <a:rPr lang="en-US"/>
              <a:t>‹#›</a:t>
            </a:fld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옆 띠"/>
          <p:cNvSpPr/>
          <p:nvPr/>
        </p:nvSpPr>
        <p:spPr>
          <a:xfrm>
            <a:off x="0" y="0"/>
            <a:ext cx="77724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50484"/>
            <a:ext cx="548640" cy="471830"/>
            <a:chOff x="5821527" y="5250484"/>
            <a:chExt cx="548640" cy="471830"/>
          </a:xfrm>
        </p:grpSpPr>
        <p:sp>
          <p:nvSpPr>
            <p:cNvPr id="7" name="Hexagon 6"/>
            <p:cNvSpPr/>
            <p:nvPr/>
          </p:nvSpPr>
          <p:spPr>
            <a:xfrm>
              <a:off x="5821527" y="5250484"/>
              <a:ext cx="548640" cy="471830"/>
            </a:xfrm>
            <a:prstGeom prst="hexagon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SUMMER  ·  INSURANCE CHECK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보험 점검 시간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성수기 전에 점검해 둡니다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사업장 점검 · 0000. 00. 00</a:t>
            </a:r>
          </a:p>
          <a:p>
            <a:r>
              <a:rPr lang="ko-KR"/>
              <a:t>가입 내용을 정리하고 함께 확인하는 양식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PROFILE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대상 현황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47BBB0-4219-4050-8A44-4071A5A17B88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4" cy="3657600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5364327"/>
                <a:gridCol w="5364327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구분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 lang="ko-KR">
                          <a:solidFill>
                            <a:schemeClr val="tx1"/>
                          </a:solidFill>
                        </a:rPr>
                        <a:t>내용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상호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업종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직원 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 lang="ko-KR">
                          <a:solidFill>
                            <a:schemeClr val="tx2"/>
                          </a:solidFill>
                        </a:rPr>
                        <a:t>확인할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POLICY 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가입한 보험 목록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A7CE7-098F-4AB2-AD5A-7105772B7442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5" cy="422452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2011680"/>
                <a:gridCol w="3108960"/>
                <a:gridCol w="1828800"/>
                <a:gridCol w="1828800"/>
                <a:gridCol w="195041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보험회사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상품명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종류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만기일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월 보험료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/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CHECKLIST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보장 항목 체크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41346D-C60D-4F6C-BAAD-6C5B0B749840}" type="slidenum">
              <a:rPr lang="en-US"/>
              <a:t>‹#›</a:t>
            </a:fld>
            <a:endParaRPr lang="en-US"/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731520" y="1828800"/>
          <a:ext cx="10728654" cy="4773168"/>
        </p:xfrm>
        <a:graphic>
          <a:graphicData uri="http://schemas.openxmlformats.org/drawingml/2006/table">
            <a:tbl>
              <a:tblPr firstRow="1">
                <a:tableStyleId>{2D5ABB26-0587-4C30-8999-92F81FD0307C}</a:tableStyleId>
              </a:tblPr>
              <a:tblGrid>
                <a:gridCol w="3657600"/>
                <a:gridCol w="2357018"/>
                <a:gridCol w="2357018"/>
                <a:gridCol w="235701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보장 항목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가입 확인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확인 필요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 lang="ko-KR">
                          <a:solidFill>
                            <a:schemeClr val="tx1"/>
                          </a:solidFill>
                        </a:rPr>
                        <a:t>해당 없음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사망·재해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질병 진단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뇌·심장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입원·수술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상해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실손의료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 lang="ko-KR">
                          <a:solidFill>
                            <a:schemeClr val="tx2"/>
                          </a:solidFill>
                        </a:rPr>
                        <a:t>연금·노후자금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 lang="ko-KR">
                          <a:solidFill>
                            <a:schemeClr val="tx1"/>
                          </a:solidFill>
                        </a:rPr>
                        <a:t>□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ll dir="r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PREMIUM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월 보험료 한눈에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BFD8B2-D7B9-4F7B-A47A-FAC2AA054046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2377440"/>
            <a:chOff x="731520" y="1828800"/>
            <a:chExt cx="3393338" cy="237744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포인트 막대"/>
            <p:cNvSpPr/>
            <p:nvPr/>
          </p:nvSpPr>
          <p:spPr>
            <a:xfrm>
              <a:off x="731520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보험료 합계</a:t>
              </a:r>
            </a:p>
          </p:txBody>
        </p:sp>
        <p:sp>
          <p:nvSpPr>
            <p:cNvPr id="11" name="카드 내용"/>
            <p:cNvSpPr txBox="1"/>
            <p:nvPr/>
          </p:nvSpPr>
          <p:spPr>
            <a:xfrm>
              <a:off x="914400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2377440"/>
            <a:chOff x="4399178" y="1828800"/>
            <a:chExt cx="3393338" cy="237744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포인트 막대"/>
            <p:cNvSpPr/>
            <p:nvPr/>
          </p:nvSpPr>
          <p:spPr>
            <a:xfrm>
              <a:off x="4399178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 보험료 합계</a:t>
              </a:r>
            </a:p>
          </p:txBody>
        </p:sp>
        <p:sp>
          <p:nvSpPr>
            <p:cNvPr id="17" name="카드 내용"/>
            <p:cNvSpPr txBox="1"/>
            <p:nvPr/>
          </p:nvSpPr>
          <p:spPr>
            <a:xfrm>
              <a:off x="4582058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0원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8066836" y="1828800"/>
            <a:ext cx="3393338" cy="2377440"/>
            <a:chOff x="8066836" y="1828800"/>
            <a:chExt cx="3393338" cy="2377440"/>
          </a:xfrm>
        </p:grpSpPr>
        <p:sp>
          <p:nvSpPr>
            <p:cNvPr id="19" name="카드 바탕"/>
            <p:cNvSpPr/>
            <p:nvPr/>
          </p:nvSpPr>
          <p:spPr>
            <a:xfrm>
              <a:off x="8066836" y="1828800"/>
              <a:ext cx="3393338" cy="237744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포인트 막대"/>
            <p:cNvSpPr/>
            <p:nvPr/>
          </p:nvSpPr>
          <p:spPr>
            <a:xfrm>
              <a:off x="8066836" y="1938528"/>
              <a:ext cx="64008" cy="21579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1" i="0" lang="ko-KR">
                  <a:solidFill>
                    <a:schemeClr val="tx2"/>
                  </a:solidFill>
                  <a:latin typeface="+mj-lt"/>
                  <a:ea typeface="+mj-ea"/>
                </a:rPr>
                <a:t>월 소득 대비</a:t>
              </a:r>
            </a:p>
          </p:txBody>
        </p:sp>
        <p:sp>
          <p:nvSpPr>
            <p:cNvPr id="23" name="카드 내용"/>
            <p:cNvSpPr txBox="1"/>
            <p:nvPr/>
          </p:nvSpPr>
          <p:spPr>
            <a:xfrm>
              <a:off x="8249716" y="3383280"/>
              <a:ext cx="3027578" cy="685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2600" b="0" i="0" lang="ko-KR">
                  <a:solidFill>
                    <a:schemeClr val="tx1"/>
                  </a:solidFill>
                </a:rPr>
                <a:t>0 %</a:t>
              </a:r>
            </a:p>
          </p:txBody>
        </p:sp>
      </p:grpSp>
      <p:graphicFrame>
        <p:nvGraphicFramePr>
          <p:cNvPr id="24" name="차트"/>
          <p:cNvGraphicFramePr>
            <a:graphicFrameLocks noGrp="1"/>
          </p:cNvGraphicFramePr>
          <p:nvPr/>
        </p:nvGraphicFramePr>
        <p:xfrm>
          <a:off x="731520" y="4389120"/>
          <a:ext cx="10728655" cy="16916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0" sz="quarter"/>
          </p:nvPr>
        </p:nvSpPr>
        <p:spPr/>
        <p:txBody>
          <a:bodyPr/>
          <a:lstStyle/>
          <a:p>
            <a:r>
              <a:rPr lang="ko-KR"/>
              <a:t>연꽃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NEXT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점검 메모와 다음 할 일</a:t>
            </a:r>
          </a:p>
        </p:txBody>
      </p:sp>
      <p:sp>
        <p:nvSpPr>
          <p:cNvPr id="5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E9A9C8-01A8-4A13-B464-29B8F7986405}" type="slidenum">
              <a:rPr lang="en-US"/>
              <a:t>‹#›</a:t>
            </a:fld>
            <a:endParaRPr lang="en-US"/>
          </a:p>
        </p:txBody>
      </p:sp>
      <p:grpSp>
        <p:nvGrpSpPr>
          <p:cNvPr id="6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7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번호 1"/>
            <p:cNvSpPr/>
            <p:nvPr/>
          </p:nvSpPr>
          <p:spPr>
            <a:xfrm>
              <a:off x="960120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확인할 것</a:t>
              </a:r>
            </a:p>
          </p:txBody>
        </p:sp>
        <p:sp>
          <p:nvSpPr>
            <p:cNvPr id="11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2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3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포인트 막대"/>
            <p:cNvSpPr/>
            <p:nvPr/>
          </p:nvSpPr>
          <p:spPr>
            <a:xfrm>
              <a:off x="4399178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/>
            <p:nvPr/>
          </p:nvSpPr>
          <p:spPr>
            <a:xfrm>
              <a:off x="4627778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6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문의할 것</a:t>
              </a:r>
            </a:p>
          </p:txBody>
        </p:sp>
        <p:sp>
          <p:nvSpPr>
            <p:cNvPr id="17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grpSp>
        <p:nvGrpSpPr>
          <p:cNvPr id="18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9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포인트 막대"/>
            <p:cNvSpPr/>
            <p:nvPr/>
          </p:nvSpPr>
          <p:spPr>
            <a:xfrm>
              <a:off x="8066836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번호 3"/>
            <p:cNvSpPr/>
            <p:nvPr/>
          </p:nvSpPr>
          <p:spPr>
            <a:xfrm>
              <a:off x="8295436" y="2084832"/>
              <a:ext cx="457200" cy="457200"/>
            </a:xfrm>
            <a:prstGeom prst="roundRect">
              <a:avLst>
                <a:gd name="adj" fmla="val 25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22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정리할 날짜</a:t>
              </a:r>
            </a:p>
          </p:txBody>
        </p:sp>
        <p:sp>
          <p:nvSpPr>
            <p:cNvPr id="23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내용을 입력하세요</a:t>
              </a:r>
            </a:p>
          </p:txBody>
        </p:sp>
      </p:grpSp>
      <p:sp>
        <p:nvSpPr>
          <p:cNvPr id="24" name="안내 문구"/>
          <p:cNvSpPr txBox="1"/>
          <p:nvPr/>
        </p:nvSpPr>
        <p:spPr>
          <a:xfrm>
            <a:off x="731520" y="5577840"/>
            <a:ext cx="10728655" cy="54864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보험 보장 점검 발표자료(사업장 점검)">
  <a:themeElements>
    <a:clrScheme name="보험 보장 점검 발표자료(사업장 점검)">
      <a:dk1>
        <a:srgbClr val="2B2724"/>
      </a:dk1>
      <a:lt1>
        <a:srgbClr val="FFFFFF"/>
      </a:lt1>
      <a:dk2>
        <a:srgbClr val="643A48"/>
      </a:dk2>
      <a:lt2>
        <a:srgbClr val="F9DEEC"/>
      </a:lt2>
      <a:accent1>
        <a:srgbClr val="E27EB0"/>
      </a:accent1>
      <a:accent2>
        <a:srgbClr val="CF8686"/>
      </a:accent2>
      <a:accent3>
        <a:srgbClr val="4E2C3D"/>
      </a:accent3>
      <a:accent4>
        <a:srgbClr val="F7C5DE"/>
      </a:accent4>
      <a:accent5>
        <a:srgbClr val="E0C4A3"/>
      </a:accent5>
      <a:accent6>
        <a:srgbClr val="D7BCE6"/>
      </a:accent6>
      <a:hlink>
        <a:srgbClr val="643A48"/>
      </a:hlink>
      <a:folHlink>
        <a:srgbClr val="4E2C3D"/>
      </a:folHlink>
    </a:clrScheme>
    <a:fontScheme name="보험 보장 점검 발표자료(사업장 점검)">
      <a:majorFont>
        <a:latin typeface="Georgia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발표자료(사업장 점검)</dc:title>
  <dc:subject>보험 가입 내용 정리 양식 · 사업장 점검</dc:subject>
  <dc:creator>우체국보험 상담 안내</dc:creator>
  <cp:keywords>보험,점검,양식,PPT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