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5A11262D-40A7-48E2-96B8-D24332CDBD30}">
          <p14:sldIdLst>
            <p14:sldId id="256"/>
          </p14:sldIdLst>
        </p14:section>
        <p14:section name="본문" id="{83C4DB20-8A09-43DB-B1EF-30B03A9D9E94}">
          <p14:sldIdLst>
            <p14:sldId id="257"/>
            <p14:sldId id="258"/>
            <p14:sldId id="259"/>
            <p14:sldId id="260"/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월 보험료 비중(예시)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보장성</c:v>
                </c:pt>
                <c:pt idx="1">
                  <c:v>저축성</c:v>
                </c:pt>
                <c:pt idx="2">
                  <c:v>연금성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</c:v>
                </c:pt>
                <c:pt idx="1">
                  <c:v>30</c:v>
                </c:pt>
                <c:pt idx="2">
                  <c:v>20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2"/>
      </c:doughnutChart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100">
          <a:solidFill>
            <a:schemeClr val="tx1"/>
          </a:solidFill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표의 칸을 눌러 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증권을 보고 그대로 옮겨 적으세요. 행은 Tab 키로 늘릴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해당하는 칸에 ✔ 표시를 직접 적어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숫자를 눌러 직접 고쳐 쓰세요. 오른쪽 도넛 차트는 예시이며 우클릭 &gt; [데이터 편집]으로 바꿉니다.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확인할 것·문의할 것·정리할 날짜를 적어 두세요.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사진"/>
          <p:cNvSpPr>
            <a:spLocks noGrp="1"/>
          </p:cNvSpPr>
          <p:nvPr>
            <p:ph type="pic" sz="quarter" idx="13"/>
          </p:nvPr>
        </p:nvSpPr>
        <p:spPr>
          <a:xfrm rot="-360000">
            <a:off x="7113858" y="850392"/>
            <a:ext cx="3054096" cy="3401568"/>
          </a:xfrm>
          <a:prstGeom prst="rect">
            <a:avLst/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2" name="사진"/>
          <p:cNvSpPr>
            <a:spLocks noGrp="1"/>
          </p:cNvSpPr>
          <p:nvPr>
            <p:ph type="pic" sz="quarter" idx="14"/>
          </p:nvPr>
        </p:nvSpPr>
        <p:spPr>
          <a:xfrm rot="300000">
            <a:off x="8698778" y="2770632"/>
            <a:ext cx="2779776" cy="3035807"/>
          </a:xfrm>
          <a:prstGeom prst="rect">
            <a:avLst/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853418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ctrTitle"/>
          </p:nvPr>
        </p:nvSpPr>
        <p:spPr>
          <a:xfrm>
            <a:off x="853418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5" name="한 줄 문구"/>
          <p:cNvSpPr>
            <a:spLocks noGrp="1"/>
          </p:cNvSpPr>
          <p:nvPr>
            <p:ph type="subTitle" idx="1"/>
          </p:nvPr>
        </p:nvSpPr>
        <p:spPr>
          <a:xfrm>
            <a:off x="853418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6" name="안내 문구"/>
          <p:cNvSpPr>
            <a:spLocks noGrp="1"/>
          </p:cNvSpPr>
          <p:nvPr>
            <p:ph type="body" sz="quarter" idx="11"/>
          </p:nvPr>
        </p:nvSpPr>
        <p:spPr>
          <a:xfrm>
            <a:off x="853418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폴라로이드"/>
          <p:cNvSpPr/>
          <p:nvPr/>
        </p:nvSpPr>
        <p:spPr>
          <a:xfrm rot="21240000">
            <a:off x="6949266" y="685800"/>
            <a:ext cx="3383280" cy="41148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" name="사진 바탕"/>
          <p:cNvSpPr/>
          <p:nvPr/>
        </p:nvSpPr>
        <p:spPr>
          <a:xfrm rot="21240000">
            <a:off x="7113858" y="850392"/>
            <a:ext cx="3054096" cy="340156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0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4" name="마스킹 테이프"/>
          <p:cNvSpPr/>
          <p:nvPr/>
        </p:nvSpPr>
        <p:spPr>
          <a:xfrm rot="21240000">
            <a:off x="8137986" y="576072"/>
            <a:ext cx="1005840" cy="274320"/>
          </a:xfrm>
          <a:prstGeom prst="rect">
            <a:avLst/>
          </a:prstGeom>
          <a:solidFill>
            <a:schemeClr val="accent2">
              <a:alpha val="7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폴라로이드"/>
          <p:cNvSpPr/>
          <p:nvPr/>
        </p:nvSpPr>
        <p:spPr>
          <a:xfrm rot="300000">
            <a:off x="8534186" y="2606040"/>
            <a:ext cx="3108960" cy="374903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6" name="사진 바탕"/>
          <p:cNvSpPr/>
          <p:nvPr/>
        </p:nvSpPr>
        <p:spPr>
          <a:xfrm rot="300000">
            <a:off x="8698778" y="2770632"/>
            <a:ext cx="2779776" cy="303580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0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7" name="마스킹 테이프"/>
          <p:cNvSpPr/>
          <p:nvPr/>
        </p:nvSpPr>
        <p:spPr>
          <a:xfrm rot="300000">
            <a:off x="9585746" y="2496312"/>
            <a:ext cx="1005840" cy="274320"/>
          </a:xfrm>
          <a:prstGeom prst="rect">
            <a:avLst/>
          </a:prstGeom>
          <a:solidFill>
            <a:schemeClr val="accent2">
              <a:alpha val="7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47472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548640" y="640080"/>
            <a:ext cx="1109441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A7FFBFDF-BC90-4120-B1D0-E33CFA9257D1}" type="slidenum">
              <a:rPr lang="en-US"/>
              <a:t>‹#›</a:t>
            </a:fld>
          </a:p>
        </p:txBody>
      </p:sp>
      <p:cxnSp>
        <p:nvCxnSpPr>
          <p:cNvPr id="2" name="제목 밑줄"/>
          <p:cNvCxnSpPr/>
          <p:nvPr/>
        </p:nvCxnSpPr>
        <p:spPr>
          <a:xfrm>
            <a:off x="5547207" y="1481328"/>
            <a:ext cx="1097280" cy="0"/>
          </a:xfrm>
          <a:prstGeom prst="line">
            <a:avLst/>
          </a:prstGeom>
          <a:ln w="31750" cap="rnd">
            <a:solidFill>
              <a:schemeClr val="accent1"/>
            </a:solidFill>
          </a:ln>
        </p:spPr>
      </p:cxnSp>
      <p:grpSp>
        <p:nvGrpSpPr>
          <p:cNvPr id="3" name="테마 장식"/>
          <p:cNvGrpSpPr/>
          <p:nvPr/>
        </p:nvGrpSpPr>
        <p:grpSpPr>
          <a:xfrm>
            <a:off x="5958687" y="1344168"/>
            <a:ext cx="274320" cy="274320"/>
            <a:chOff x="5958687" y="1344168"/>
            <a:chExt cx="274320" cy="274320"/>
          </a:xfrm>
        </p:grpSpPr>
        <p:sp>
          <p:nvSpPr>
            <p:cNvPr id="4" name="Plus 3"/>
            <p:cNvSpPr/>
            <p:nvPr/>
          </p:nvSpPr>
          <p:spPr>
            <a:xfrm>
              <a:off x="5958687" y="1344168"/>
              <a:ext cx="274320" cy="274320"/>
            </a:xfrm>
            <a:prstGeom prst="mathPlus">
              <a:avLst>
                <a:gd name="adj1" fmla="val 24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사진"/>
          <p:cNvSpPr>
            <a:spLocks noGrp="1"/>
          </p:cNvSpPr>
          <p:nvPr>
            <p:ph type="pic" sz="quarter" idx="13"/>
          </p:nvPr>
        </p:nvSpPr>
        <p:spPr>
          <a:xfrm rot="-360000">
            <a:off x="7113858" y="850392"/>
            <a:ext cx="3054096" cy="3401568"/>
          </a:xfrm>
          <a:prstGeom prst="rect">
            <a:avLst/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2" name="사진"/>
          <p:cNvSpPr>
            <a:spLocks noGrp="1"/>
          </p:cNvSpPr>
          <p:nvPr>
            <p:ph type="pic" sz="quarter" idx="14"/>
          </p:nvPr>
        </p:nvSpPr>
        <p:spPr>
          <a:xfrm rot="300000">
            <a:off x="8698778" y="2770632"/>
            <a:ext cx="2779776" cy="3035807"/>
          </a:xfrm>
          <a:prstGeom prst="rect">
            <a:avLst/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853418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853418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5" name="한 줄 문구"/>
          <p:cNvSpPr>
            <a:spLocks noGrp="1"/>
          </p:cNvSpPr>
          <p:nvPr>
            <p:ph type="subTitle" idx="1"/>
          </p:nvPr>
        </p:nvSpPr>
        <p:spPr>
          <a:xfrm>
            <a:off x="853418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6" name="안내 문구"/>
          <p:cNvSpPr>
            <a:spLocks noGrp="1"/>
          </p:cNvSpPr>
          <p:nvPr>
            <p:ph type="body" sz="quarter" idx="11"/>
          </p:nvPr>
        </p:nvSpPr>
        <p:spPr>
          <a:xfrm>
            <a:off x="853418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폴라로이드"/>
          <p:cNvSpPr/>
          <p:nvPr/>
        </p:nvSpPr>
        <p:spPr>
          <a:xfrm rot="21240000">
            <a:off x="6949266" y="685800"/>
            <a:ext cx="3383280" cy="41148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" name="사진 바탕"/>
          <p:cNvSpPr/>
          <p:nvPr/>
        </p:nvSpPr>
        <p:spPr>
          <a:xfrm rot="21240000">
            <a:off x="7113858" y="850392"/>
            <a:ext cx="3054096" cy="340156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0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4" name="마스킹 테이프"/>
          <p:cNvSpPr/>
          <p:nvPr/>
        </p:nvSpPr>
        <p:spPr>
          <a:xfrm rot="21240000">
            <a:off x="8137986" y="576072"/>
            <a:ext cx="1005840" cy="274320"/>
          </a:xfrm>
          <a:prstGeom prst="rect">
            <a:avLst/>
          </a:prstGeom>
          <a:solidFill>
            <a:schemeClr val="accent2">
              <a:alpha val="7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폴라로이드"/>
          <p:cNvSpPr/>
          <p:nvPr/>
        </p:nvSpPr>
        <p:spPr>
          <a:xfrm rot="300000">
            <a:off x="8534186" y="2606040"/>
            <a:ext cx="3108960" cy="374903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6" name="사진 바탕"/>
          <p:cNvSpPr/>
          <p:nvPr/>
        </p:nvSpPr>
        <p:spPr>
          <a:xfrm rot="300000">
            <a:off x="8698778" y="2770632"/>
            <a:ext cx="2779776" cy="303580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0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7" name="마스킹 테이프"/>
          <p:cNvSpPr/>
          <p:nvPr/>
        </p:nvSpPr>
        <p:spPr>
          <a:xfrm rot="300000">
            <a:off x="9585746" y="2496312"/>
            <a:ext cx="1005840" cy="274320"/>
          </a:xfrm>
          <a:prstGeom prst="rect">
            <a:avLst/>
          </a:prstGeom>
          <a:solidFill>
            <a:schemeClr val="accent2">
              <a:alpha val="7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47472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548640" y="640080"/>
            <a:ext cx="1109441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FB03983F-5AB2-45CE-8BC8-EB6D70A6F79C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cxnSp>
        <p:nvCxnSpPr>
          <p:cNvPr id="2" name="제목 밑줄"/>
          <p:cNvCxnSpPr/>
          <p:nvPr/>
        </p:nvCxnSpPr>
        <p:spPr>
          <a:xfrm>
            <a:off x="5547207" y="1481328"/>
            <a:ext cx="1097280" cy="0"/>
          </a:xfrm>
          <a:prstGeom prst="line">
            <a:avLst/>
          </a:prstGeom>
          <a:ln w="31750" cap="rnd">
            <a:solidFill>
              <a:schemeClr val="accent1"/>
            </a:solidFill>
          </a:ln>
        </p:spPr>
      </p:cxnSp>
      <p:grpSp>
        <p:nvGrpSpPr>
          <p:cNvPr id="3" name="테마 장식"/>
          <p:cNvGrpSpPr/>
          <p:nvPr/>
        </p:nvGrpSpPr>
        <p:grpSpPr>
          <a:xfrm>
            <a:off x="5958687" y="1344168"/>
            <a:ext cx="274320" cy="274320"/>
            <a:chOff x="5958687" y="1344168"/>
            <a:chExt cx="274320" cy="274320"/>
          </a:xfrm>
        </p:grpSpPr>
        <p:sp>
          <p:nvSpPr>
            <p:cNvPr id="4" name="Plus 3"/>
            <p:cNvSpPr/>
            <p:nvPr/>
          </p:nvSpPr>
          <p:spPr>
            <a:xfrm>
              <a:off x="5958687" y="1344168"/>
              <a:ext cx="274320" cy="274320"/>
            </a:xfrm>
            <a:prstGeom prst="mathPlus">
              <a:avLst>
                <a:gd name="adj1" fmla="val 24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66C96429-EFD7-4104-981A-BEAFC6618C94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3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5821527" y="5212080"/>
            <a:ext cx="548640" cy="548640"/>
            <a:chOff x="5821527" y="5212080"/>
            <a:chExt cx="548640" cy="548640"/>
          </a:xfrm>
        </p:grpSpPr>
        <p:sp>
          <p:nvSpPr>
            <p:cNvPr id="6" name="Plus 5"/>
            <p:cNvSpPr/>
            <p:nvPr/>
          </p:nvSpPr>
          <p:spPr>
            <a:xfrm>
              <a:off x="5821527" y="5212080"/>
              <a:ext cx="548640" cy="548640"/>
            </a:xfrm>
            <a:prstGeom prst="mathPlus">
              <a:avLst>
                <a:gd name="adj1" fmla="val 24000"/>
              </a:avLst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AUTUMN  ·  INSURANCE CHECK</a:t>
            </a:r>
          </a:p>
        </p:txBody>
      </p:sp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우리 보험 점검 시간</a:t>
            </a: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직원 관련 가입 내역을 따로 모읍니다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사업장 점검 · 0000. 00. 00</a:t>
            </a:r>
          </a:p>
          <a:p>
            <a:r>
              <a:rPr lang="ko-KR"/>
              <a:t>가입 내용을 정리하고 함께 확인하는 양식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PROFILE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점검 대상 현황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1609C-BCBE-4D0D-89CD-555351E1FB06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4" cy="365760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5364327"/>
                <a:gridCol w="5364327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chemeClr val="tx1"/>
                          </a:solidFill>
                        </a:rPr>
                        <a:t>구분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chemeClr val="tx1"/>
                          </a:solidFill>
                        </a:rPr>
                        <a:t>내용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상호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업종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직원 수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확인할 것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sh dir="u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POLICY LIST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가입한 보험 목록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1E2BE-8408-4C8C-AA74-662DC6258C9D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5" cy="422452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011680"/>
                <a:gridCol w="3108960"/>
                <a:gridCol w="1828800"/>
                <a:gridCol w="1828800"/>
                <a:gridCol w="195041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보험회사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상품명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종류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만기일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월 보험료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sh dir="u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CHECKLIST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보장 항목 체크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89923-0274-4CDA-83B1-5A282365D907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4" cy="477316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3657600"/>
                <a:gridCol w="2357018"/>
                <a:gridCol w="2357018"/>
                <a:gridCol w="235701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보장 항목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가입 확인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확인 필요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해당 없음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사망·재해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질병 진단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뇌·심장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입원·수술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상해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실손의료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연금·노후자금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sh dir="u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PREMIUM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월 보험료 한눈에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59D5F-F37D-486D-B3D5-5D4DE05FAE4A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2377440"/>
            <a:chOff x="731520" y="1828800"/>
            <a:chExt cx="3393338" cy="237744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237744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포인트 막대"/>
            <p:cNvSpPr/>
            <p:nvPr/>
          </p:nvSpPr>
          <p:spPr>
            <a:xfrm>
              <a:off x="731520" y="1938528"/>
              <a:ext cx="64008" cy="21579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/>
            <p:nvPr/>
          </p:nvSpPr>
          <p:spPr>
            <a:xfrm>
              <a:off x="960120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9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월 보험료 합계</a:t>
              </a:r>
            </a:p>
          </p:txBody>
        </p:sp>
        <p:sp>
          <p:nvSpPr>
            <p:cNvPr id="10" name="카드 내용"/>
            <p:cNvSpPr txBox="1"/>
            <p:nvPr/>
          </p:nvSpPr>
          <p:spPr>
            <a:xfrm>
              <a:off x="914400" y="3383280"/>
              <a:ext cx="3027578" cy="685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0원</a:t>
              </a:r>
            </a:p>
          </p:txBody>
        </p:sp>
      </p:grpSp>
      <p:grpSp>
        <p:nvGrpSpPr>
          <p:cNvPr id="11" name="카드 2"/>
          <p:cNvGrpSpPr/>
          <p:nvPr/>
        </p:nvGrpSpPr>
        <p:grpSpPr>
          <a:xfrm>
            <a:off x="4399178" y="1828800"/>
            <a:ext cx="3393338" cy="2377440"/>
            <a:chOff x="4399178" y="1828800"/>
            <a:chExt cx="3393338" cy="2377440"/>
          </a:xfrm>
        </p:grpSpPr>
        <p:sp>
          <p:nvSpPr>
            <p:cNvPr id="12" name="카드 바탕"/>
            <p:cNvSpPr/>
            <p:nvPr/>
          </p:nvSpPr>
          <p:spPr>
            <a:xfrm>
              <a:off x="4399178" y="1828800"/>
              <a:ext cx="3393338" cy="237744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포인트 막대"/>
            <p:cNvSpPr/>
            <p:nvPr/>
          </p:nvSpPr>
          <p:spPr>
            <a:xfrm>
              <a:off x="4399178" y="1938528"/>
              <a:ext cx="64008" cy="21579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번호 2"/>
            <p:cNvSpPr/>
            <p:nvPr/>
          </p:nvSpPr>
          <p:spPr>
            <a:xfrm>
              <a:off x="4627778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5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연 보험료 합계</a:t>
              </a:r>
            </a:p>
          </p:txBody>
        </p:sp>
        <p:sp>
          <p:nvSpPr>
            <p:cNvPr id="16" name="카드 내용"/>
            <p:cNvSpPr txBox="1"/>
            <p:nvPr/>
          </p:nvSpPr>
          <p:spPr>
            <a:xfrm>
              <a:off x="4582058" y="3383280"/>
              <a:ext cx="3027578" cy="685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0원</a:t>
              </a:r>
            </a:p>
          </p:txBody>
        </p:sp>
      </p:grpSp>
      <p:grpSp>
        <p:nvGrpSpPr>
          <p:cNvPr id="17" name="카드 3"/>
          <p:cNvGrpSpPr/>
          <p:nvPr/>
        </p:nvGrpSpPr>
        <p:grpSpPr>
          <a:xfrm>
            <a:off x="8066836" y="1828800"/>
            <a:ext cx="3393338" cy="2377440"/>
            <a:chOff x="8066836" y="1828800"/>
            <a:chExt cx="3393338" cy="2377440"/>
          </a:xfrm>
        </p:grpSpPr>
        <p:sp>
          <p:nvSpPr>
            <p:cNvPr id="18" name="카드 바탕"/>
            <p:cNvSpPr/>
            <p:nvPr/>
          </p:nvSpPr>
          <p:spPr>
            <a:xfrm>
              <a:off x="8066836" y="1828800"/>
              <a:ext cx="3393338" cy="237744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포인트 막대"/>
            <p:cNvSpPr/>
            <p:nvPr/>
          </p:nvSpPr>
          <p:spPr>
            <a:xfrm>
              <a:off x="8066836" y="1938528"/>
              <a:ext cx="64008" cy="21579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번호 3"/>
            <p:cNvSpPr/>
            <p:nvPr/>
          </p:nvSpPr>
          <p:spPr>
            <a:xfrm>
              <a:off x="8295436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21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월 소득 대비</a:t>
              </a:r>
            </a:p>
          </p:txBody>
        </p:sp>
        <p:sp>
          <p:nvSpPr>
            <p:cNvPr id="22" name="카드 내용"/>
            <p:cNvSpPr txBox="1"/>
            <p:nvPr/>
          </p:nvSpPr>
          <p:spPr>
            <a:xfrm>
              <a:off x="8249716" y="3383280"/>
              <a:ext cx="3027578" cy="685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0 %</a:t>
              </a:r>
            </a:p>
          </p:txBody>
        </p:sp>
      </p:grpSp>
      <p:graphicFrame>
        <p:nvGraphicFramePr>
          <p:cNvPr id="23" name="차트"/>
          <p:cNvGraphicFramePr>
            <a:graphicFrameLocks noGrp="1"/>
          </p:cNvGraphicFramePr>
          <p:nvPr/>
        </p:nvGraphicFramePr>
        <p:xfrm>
          <a:off x="731520" y="4389120"/>
          <a:ext cx="10728655" cy="16916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NEXT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점검 메모와 다음 할 일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F4F52-FA34-4D8F-BDAC-C6C377B90E8F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566160"/>
            <a:chOff x="731520" y="1828800"/>
            <a:chExt cx="3393338" cy="356616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포인트 막대"/>
            <p:cNvSpPr/>
            <p:nvPr/>
          </p:nvSpPr>
          <p:spPr>
            <a:xfrm>
              <a:off x="731520" y="1938528"/>
              <a:ext cx="64008" cy="334670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/>
            <p:nvPr/>
          </p:nvSpPr>
          <p:spPr>
            <a:xfrm>
              <a:off x="960120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9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확인할 것</a:t>
              </a:r>
            </a:p>
          </p:txBody>
        </p:sp>
        <p:sp>
          <p:nvSpPr>
            <p:cNvPr id="10" name="카드 내용"/>
            <p:cNvSpPr txBox="1"/>
            <p:nvPr/>
          </p:nvSpPr>
          <p:spPr>
            <a:xfrm>
              <a:off x="914400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1" name="카드 2"/>
          <p:cNvGrpSpPr/>
          <p:nvPr/>
        </p:nvGrpSpPr>
        <p:grpSpPr>
          <a:xfrm>
            <a:off x="4399178" y="1828800"/>
            <a:ext cx="3393338" cy="3566160"/>
            <a:chOff x="4399178" y="1828800"/>
            <a:chExt cx="3393338" cy="3566160"/>
          </a:xfrm>
        </p:grpSpPr>
        <p:sp>
          <p:nvSpPr>
            <p:cNvPr id="12" name="카드 바탕"/>
            <p:cNvSpPr/>
            <p:nvPr/>
          </p:nvSpPr>
          <p:spPr>
            <a:xfrm>
              <a:off x="4399178" y="1828800"/>
              <a:ext cx="3393338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포인트 막대"/>
            <p:cNvSpPr/>
            <p:nvPr/>
          </p:nvSpPr>
          <p:spPr>
            <a:xfrm>
              <a:off x="4399178" y="1938528"/>
              <a:ext cx="64008" cy="334670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번호 2"/>
            <p:cNvSpPr/>
            <p:nvPr/>
          </p:nvSpPr>
          <p:spPr>
            <a:xfrm>
              <a:off x="4627778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5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문의할 것</a:t>
              </a:r>
            </a:p>
          </p:txBody>
        </p:sp>
        <p:sp>
          <p:nvSpPr>
            <p:cNvPr id="16" name="카드 내용"/>
            <p:cNvSpPr txBox="1"/>
            <p:nvPr/>
          </p:nvSpPr>
          <p:spPr>
            <a:xfrm>
              <a:off x="4582058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7" name="카드 3"/>
          <p:cNvGrpSpPr/>
          <p:nvPr/>
        </p:nvGrpSpPr>
        <p:grpSpPr>
          <a:xfrm>
            <a:off x="8066836" y="1828800"/>
            <a:ext cx="3393338" cy="3566160"/>
            <a:chOff x="8066836" y="1828800"/>
            <a:chExt cx="3393338" cy="3566160"/>
          </a:xfrm>
        </p:grpSpPr>
        <p:sp>
          <p:nvSpPr>
            <p:cNvPr id="18" name="카드 바탕"/>
            <p:cNvSpPr/>
            <p:nvPr/>
          </p:nvSpPr>
          <p:spPr>
            <a:xfrm>
              <a:off x="8066836" y="1828800"/>
              <a:ext cx="3393338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포인트 막대"/>
            <p:cNvSpPr/>
            <p:nvPr/>
          </p:nvSpPr>
          <p:spPr>
            <a:xfrm>
              <a:off x="8066836" y="1938528"/>
              <a:ext cx="64008" cy="334670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번호 3"/>
            <p:cNvSpPr/>
            <p:nvPr/>
          </p:nvSpPr>
          <p:spPr>
            <a:xfrm>
              <a:off x="8295436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21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정리할 날짜</a:t>
              </a:r>
            </a:p>
          </p:txBody>
        </p:sp>
        <p:sp>
          <p:nvSpPr>
            <p:cNvPr id="22" name="카드 내용"/>
            <p:cNvSpPr txBox="1"/>
            <p:nvPr/>
          </p:nvSpPr>
          <p:spPr>
            <a:xfrm>
              <a:off x="8249716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sp>
        <p:nvSpPr>
          <p:cNvPr id="23" name="안내 문구"/>
          <p:cNvSpPr txBox="1"/>
          <p:nvPr/>
        </p:nvSpPr>
        <p:spPr>
          <a:xfrm>
            <a:off x="731520" y="5577840"/>
            <a:ext cx="10728655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보험 보장 점검 발표자료(사업장 점검)">
  <a:themeElements>
    <a:clrScheme name="보험 보장 점검 발표자료(사업장 점검)">
      <a:dk1>
        <a:srgbClr val="2B2724"/>
      </a:dk1>
      <a:lt1>
        <a:srgbClr val="FFFFFF"/>
      </a:lt1>
      <a:dk2>
        <a:srgbClr val="4A643A"/>
      </a:dk2>
      <a:lt2>
        <a:srgbClr val="F5ECE2"/>
      </a:lt2>
      <a:accent1>
        <a:srgbClr val="CFA67C"/>
      </a:accent1>
      <a:accent2>
        <a:srgbClr val="838DBE"/>
      </a:accent2>
      <a:accent3>
        <a:srgbClr val="4E3D2C"/>
      </a:accent3>
      <a:accent4>
        <a:srgbClr val="F0DECB"/>
      </a:accent4>
      <a:accent5>
        <a:srgbClr val="C0E0A3"/>
      </a:accent5>
      <a:accent6>
        <a:srgbClr val="E6BCCC"/>
      </a:accent6>
      <a:hlink>
        <a:srgbClr val="4A643A"/>
      </a:hlink>
      <a:folHlink>
        <a:srgbClr val="4E3D2C"/>
      </a:folHlink>
    </a:clrScheme>
    <a:fontScheme name="보험 보장 점검 발표자료(사업장 점검)">
      <a:majorFont>
        <a:latin typeface="Georgia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발표자료(사업장 점검)</dc:title>
  <dc:subject>보험 가입 내용 정리 양식 · 사업장 점검</dc:subject>
  <dc:creator>우체국보험 상담 안내</dc:creator>
  <cp:keywords>보험,점검,양식,PPT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