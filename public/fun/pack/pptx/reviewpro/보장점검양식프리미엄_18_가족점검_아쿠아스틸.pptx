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169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시작" id="{8A99F8CD-9540-4226-B9B5-9CE1FEC99076}">
          <p14:sldIdLst>
            <p14:sldId id="256"/>
          </p14:sldIdLst>
        </p14:section>
        <p14:section name="본문" id="{D1946686-8D1E-479F-9D70-3CBCE79ED5C0}">
          <p14:sldIdLst>
            <p14:sldId id="257"/>
            <p14:sldId id="258"/>
            <p14:sldId id="259"/>
            <p14:sldId id="260"/>
            <p14:sldId id="261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월 보험료 비중(예시)</c:v>
                </c:pt>
              </c:strCache>
            </c:strRef>
          </c:tx>
          <c:cat>
            <c:strRef>
              <c:f>Sheet1!$A$2:$A$4</c:f>
              <c:strCache>
                <c:ptCount val="3"/>
                <c:pt idx="0">
                  <c:v>보장성</c:v>
                </c:pt>
                <c:pt idx="1">
                  <c:v>저축성</c:v>
                </c:pt>
                <c:pt idx="2">
                  <c:v>연금성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50</c:v>
                </c:pt>
                <c:pt idx="1">
                  <c:v>30</c:v>
                </c:pt>
                <c:pt idx="2">
                  <c:v>20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sz="1100"/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62"/>
      </c:doughnutChart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100">
          <a:solidFill>
            <a:schemeClr val="tx1"/>
          </a:solidFill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표지입니다. 제목·글은 눌러서 바로 고치세요. 사진 자리는 가운데 아이콘을 누르면 사진을 넣을 수 있고, 모양에 맞춰 자동으로 잘려요.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표의 칸을 눌러 내용을 입력하세요.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증권을 보고 그대로 옮겨 적으세요. 행은 Tab 키로 늘릴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해당하는 칸에 ✔ 표시를 직접 적어 넣으세요.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숫자를 눌러 직접 고쳐 쓰세요. 오른쪽 도넛 차트는 예시이며 우클릭 &gt; [데이터 편집]으로 바꿉니다.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확인할 것·문의할 것·정리할 날짜를 적어 두세요.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세로 글씨"/>
          <p:cNvSpPr>
            <a:spLocks noGrp="1"/>
          </p:cNvSpPr>
          <p:nvPr>
            <p:ph type="body" sz="quarter" idx="12"/>
          </p:nvPr>
        </p:nvSpPr>
        <p:spPr>
          <a:xfrm>
            <a:off x="274320" y="822959"/>
            <a:ext cx="822960" cy="5212080"/>
          </a:xfrm>
          <a:noFill/>
        </p:spPr>
        <p:txBody>
          <a:bodyPr lIns="45720" rIns="45720" tIns="27432" bIns="27432" anchor="ctr" vert="vert270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4000" b="0" spc="900">
                <a:solidFill>
                  <a:srgbClr val="FFFFFF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세로 글씨</a:t>
            </a:r>
          </a:p>
        </p:txBody>
      </p:sp>
      <p:sp>
        <p:nvSpPr>
          <p:cNvPr id="102" name="영문 라벨"/>
          <p:cNvSpPr>
            <a:spLocks noGrp="1"/>
          </p:cNvSpPr>
          <p:nvPr>
            <p:ph type="body" sz="quarter" idx="10"/>
          </p:nvPr>
        </p:nvSpPr>
        <p:spPr>
          <a:xfrm>
            <a:off x="3657508" y="1645920"/>
            <a:ext cx="7558851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3" name="제목"/>
          <p:cNvSpPr>
            <a:spLocks noGrp="1"/>
          </p:cNvSpPr>
          <p:nvPr>
            <p:ph type="ctrTitle"/>
          </p:nvPr>
        </p:nvSpPr>
        <p:spPr>
          <a:xfrm>
            <a:off x="3657508" y="2029968"/>
            <a:ext cx="7558851" cy="1600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02000"/>
              </a:lnSpc>
              <a:spcBef>
                <a:spcPts val="0"/>
              </a:spcBef>
              <a:buNone/>
              <a:defRPr sz="4400" b="1" spc="0">
                <a:solidFill>
                  <a:srgbClr val="FFFFFF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4" name="한 줄 문구"/>
          <p:cNvSpPr>
            <a:spLocks noGrp="1"/>
          </p:cNvSpPr>
          <p:nvPr>
            <p:ph type="subTitle" idx="1"/>
          </p:nvPr>
        </p:nvSpPr>
        <p:spPr>
          <a:xfrm>
            <a:off x="3657508" y="3703320"/>
            <a:ext cx="7558851" cy="73152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rgbClr val="E0E5E6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5" name="안내 문구"/>
          <p:cNvSpPr>
            <a:spLocks noGrp="1"/>
          </p:cNvSpPr>
          <p:nvPr>
            <p:ph type="body" sz="quarter" idx="11"/>
          </p:nvPr>
        </p:nvSpPr>
        <p:spPr>
          <a:xfrm>
            <a:off x="3657508" y="4480559"/>
            <a:ext cx="7558851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rgbClr val="C4CDCF"/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sp>
        <p:nvSpPr>
          <p:cNvPr id="2" name="막대 1"/>
          <p:cNvSpPr/>
          <p:nvPr/>
        </p:nvSpPr>
        <p:spPr>
          <a:xfrm>
            <a:off x="0" y="0"/>
            <a:ext cx="1371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막대 2"/>
          <p:cNvSpPr/>
          <p:nvPr/>
        </p:nvSpPr>
        <p:spPr>
          <a:xfrm>
            <a:off x="1371600" y="0"/>
            <a:ext cx="777240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막대 3"/>
          <p:cNvSpPr/>
          <p:nvPr/>
        </p:nvSpPr>
        <p:spPr>
          <a:xfrm>
            <a:off x="2148840" y="0"/>
            <a:ext cx="457200" cy="68580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막대 4"/>
          <p:cNvSpPr/>
          <p:nvPr/>
        </p:nvSpPr>
        <p:spPr>
          <a:xfrm>
            <a:off x="2606040" y="0"/>
            <a:ext cx="27432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막대 5"/>
          <p:cNvSpPr/>
          <p:nvPr/>
        </p:nvSpPr>
        <p:spPr>
          <a:xfrm>
            <a:off x="2880360" y="0"/>
            <a:ext cx="137160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731520" y="347472"/>
            <a:ext cx="926561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731520" y="658368"/>
            <a:ext cx="9631375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28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10637215" y="384048"/>
            <a:ext cx="822960" cy="384048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1" spc="100">
                <a:solidFill>
                  <a:schemeClr val="tx2"/>
                </a:solidFill>
              </a:defRPr>
            </a:lvl1pPr>
          </a:lstStyle>
          <a:p>
            <a:fld id="{6720EC3F-F0F0-4BFD-AEC6-3BB403DAC356}" type="slidenum">
              <a:rPr lang="en-US"/>
              <a:t>‹#›</a:t>
            </a:fld>
          </a:p>
        </p:txBody>
      </p:sp>
      <p:sp>
        <p:nvSpPr>
          <p:cNvPr id="2" name="색 탭"/>
          <p:cNvSpPr/>
          <p:nvPr/>
        </p:nvSpPr>
        <p:spPr>
          <a:xfrm>
            <a:off x="0" y="658368"/>
            <a:ext cx="237744" cy="77724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731520" y="1536192"/>
            <a:ext cx="1097280" cy="0"/>
          </a:xfrm>
          <a:prstGeom prst="line">
            <a:avLst/>
          </a:prstGeom>
          <a:ln w="31750" cap="rnd">
            <a:solidFill>
              <a:schemeClr val="accent1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1828800" y="1536192"/>
            <a:ext cx="9631375" cy="0"/>
          </a:xfrm>
          <a:prstGeom prst="line">
            <a:avLst/>
          </a:prstGeom>
          <a:ln w="6350" cap="rnd">
            <a:solidFill>
              <a:schemeClr val="accent1"/>
            </a:solidFill>
          </a:ln>
        </p:spPr>
      </p:cxnSp>
      <p:sp>
        <p:nvSpPr>
          <p:cNvPr id="5" name="쪽 번호 알약"/>
          <p:cNvSpPr/>
          <p:nvPr/>
        </p:nvSpPr>
        <p:spPr>
          <a:xfrm>
            <a:off x="10637215" y="384048"/>
            <a:ext cx="822960" cy="384048"/>
          </a:xfrm>
          <a:prstGeom prst="roundRect">
            <a:avLst>
              <a:gd name="adj" fmla="val 50000"/>
            </a:avLst>
          </a:prstGeom>
          <a:noFill/>
          <a:ln w="9525">
            <a:solidFill>
              <a:schemeClr val="accent1"/>
            </a:solidFill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마무리">
    <p:bg>
      <p:bgPr>
        <a:gradFill rotWithShape="1">
          <a:gsLst>
            <a:gs pos="0">
              <a:schemeClr val="bg2"/>
            </a:gs>
            <a:gs pos="100000">
              <a:schemeClr val="accent4"/>
            </a:gs>
          </a:gsLst>
          <a:lin ang="36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세로 글씨"/>
          <p:cNvSpPr>
            <a:spLocks noGrp="1"/>
          </p:cNvSpPr>
          <p:nvPr>
            <p:ph type="body" sz="quarter" idx="12"/>
          </p:nvPr>
        </p:nvSpPr>
        <p:spPr>
          <a:xfrm>
            <a:off x="274320" y="822959"/>
            <a:ext cx="822960" cy="5212080"/>
          </a:xfrm>
          <a:noFill/>
        </p:spPr>
        <p:txBody>
          <a:bodyPr lIns="45720" rIns="45720" tIns="27432" bIns="27432" anchor="ctr" vert="vert270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4000" b="0" spc="900">
                <a:solidFill>
                  <a:srgbClr val="1A1613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세로 글씨</a:t>
            </a:r>
          </a:p>
        </p:txBody>
      </p:sp>
      <p:sp>
        <p:nvSpPr>
          <p:cNvPr id="102" name="영문 라벨"/>
          <p:cNvSpPr>
            <a:spLocks noGrp="1"/>
          </p:cNvSpPr>
          <p:nvPr>
            <p:ph type="body" sz="quarter" idx="10"/>
          </p:nvPr>
        </p:nvSpPr>
        <p:spPr>
          <a:xfrm>
            <a:off x="3657508" y="1645920"/>
            <a:ext cx="7558851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3" name="제목"/>
          <p:cNvSpPr>
            <a:spLocks noGrp="1"/>
          </p:cNvSpPr>
          <p:nvPr>
            <p:ph type="title"/>
          </p:nvPr>
        </p:nvSpPr>
        <p:spPr>
          <a:xfrm>
            <a:off x="3657508" y="2029968"/>
            <a:ext cx="7558851" cy="1600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02000"/>
              </a:lnSpc>
              <a:spcBef>
                <a:spcPts val="0"/>
              </a:spcBef>
              <a:buNone/>
              <a:defRPr sz="44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4" name="한 줄 문구"/>
          <p:cNvSpPr>
            <a:spLocks noGrp="1"/>
          </p:cNvSpPr>
          <p:nvPr>
            <p:ph type="subTitle" idx="1"/>
          </p:nvPr>
        </p:nvSpPr>
        <p:spPr>
          <a:xfrm>
            <a:off x="3657508" y="3703320"/>
            <a:ext cx="7558851" cy="73152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5" name="안내 문구"/>
          <p:cNvSpPr>
            <a:spLocks noGrp="1"/>
          </p:cNvSpPr>
          <p:nvPr>
            <p:ph type="body" sz="quarter" idx="11"/>
          </p:nvPr>
        </p:nvSpPr>
        <p:spPr>
          <a:xfrm>
            <a:off x="3657508" y="4480559"/>
            <a:ext cx="7558851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sp>
        <p:nvSpPr>
          <p:cNvPr id="2" name="막대 1"/>
          <p:cNvSpPr/>
          <p:nvPr/>
        </p:nvSpPr>
        <p:spPr>
          <a:xfrm>
            <a:off x="0" y="0"/>
            <a:ext cx="13716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막대 2"/>
          <p:cNvSpPr/>
          <p:nvPr/>
        </p:nvSpPr>
        <p:spPr>
          <a:xfrm>
            <a:off x="1371600" y="0"/>
            <a:ext cx="777240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막대 3"/>
          <p:cNvSpPr/>
          <p:nvPr/>
        </p:nvSpPr>
        <p:spPr>
          <a:xfrm>
            <a:off x="2148840" y="0"/>
            <a:ext cx="457200" cy="68580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막대 4"/>
          <p:cNvSpPr/>
          <p:nvPr/>
        </p:nvSpPr>
        <p:spPr>
          <a:xfrm>
            <a:off x="2606040" y="0"/>
            <a:ext cx="274320" cy="6858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막대 5"/>
          <p:cNvSpPr/>
          <p:nvPr/>
        </p:nvSpPr>
        <p:spPr>
          <a:xfrm>
            <a:off x="2880360" y="0"/>
            <a:ext cx="137160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 + 사진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731520" y="347472"/>
            <a:ext cx="926561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731520" y="658368"/>
            <a:ext cx="9631375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28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10637215" y="384048"/>
            <a:ext cx="822960" cy="384048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1" spc="100">
                <a:solidFill>
                  <a:schemeClr val="tx2"/>
                </a:solidFill>
              </a:defRPr>
            </a:lvl1pPr>
          </a:lstStyle>
          <a:p>
            <a:fld id="{81B6929D-47AF-4865-9D4B-129E80A2BE7C}" type="slidenum">
              <a:rPr lang="en-US"/>
              <a:t>‹#›</a:t>
            </a:fld>
          </a:p>
        </p:txBody>
      </p:sp>
      <p:sp>
        <p:nvSpPr>
          <p:cNvPr id="104" name="사진 1"/>
          <p:cNvSpPr>
            <a:spLocks noGrp="1"/>
          </p:cNvSpPr>
          <p:nvPr>
            <p:ph type="pic" sz="quarter" idx="13"/>
          </p:nvPr>
        </p:nvSpPr>
        <p:spPr>
          <a:xfrm>
            <a:off x="7315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5" name="사진 2"/>
          <p:cNvSpPr>
            <a:spLocks noGrp="1"/>
          </p:cNvSpPr>
          <p:nvPr>
            <p:ph type="pic" sz="quarter" idx="14"/>
          </p:nvPr>
        </p:nvSpPr>
        <p:spPr>
          <a:xfrm>
            <a:off x="21031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6" name="사진 3"/>
          <p:cNvSpPr>
            <a:spLocks noGrp="1"/>
          </p:cNvSpPr>
          <p:nvPr>
            <p:ph type="pic" sz="quarter" idx="15"/>
          </p:nvPr>
        </p:nvSpPr>
        <p:spPr>
          <a:xfrm>
            <a:off x="34747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7" name="사진 4"/>
          <p:cNvSpPr>
            <a:spLocks noGrp="1"/>
          </p:cNvSpPr>
          <p:nvPr>
            <p:ph type="pic" sz="quarter" idx="16"/>
          </p:nvPr>
        </p:nvSpPr>
        <p:spPr>
          <a:xfrm>
            <a:off x="48463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8" name="사진 5"/>
          <p:cNvSpPr>
            <a:spLocks noGrp="1"/>
          </p:cNvSpPr>
          <p:nvPr>
            <p:ph type="pic" sz="quarter" idx="17"/>
          </p:nvPr>
        </p:nvSpPr>
        <p:spPr>
          <a:xfrm>
            <a:off x="7315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9" name="사진 6"/>
          <p:cNvSpPr>
            <a:spLocks noGrp="1"/>
          </p:cNvSpPr>
          <p:nvPr>
            <p:ph type="pic" sz="quarter" idx="18"/>
          </p:nvPr>
        </p:nvSpPr>
        <p:spPr>
          <a:xfrm>
            <a:off x="21031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0" name="사진 7"/>
          <p:cNvSpPr>
            <a:spLocks noGrp="1"/>
          </p:cNvSpPr>
          <p:nvPr>
            <p:ph type="pic" sz="quarter" idx="19"/>
          </p:nvPr>
        </p:nvSpPr>
        <p:spPr>
          <a:xfrm>
            <a:off x="34747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1" name="사진 8"/>
          <p:cNvSpPr>
            <a:spLocks noGrp="1"/>
          </p:cNvSpPr>
          <p:nvPr>
            <p:ph type="pic" sz="quarter" idx="20"/>
          </p:nvPr>
        </p:nvSpPr>
        <p:spPr>
          <a:xfrm>
            <a:off x="48463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2" name="색 탭"/>
          <p:cNvSpPr/>
          <p:nvPr/>
        </p:nvSpPr>
        <p:spPr>
          <a:xfrm>
            <a:off x="0" y="658368"/>
            <a:ext cx="237744" cy="77724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731520" y="1536192"/>
            <a:ext cx="1097280" cy="0"/>
          </a:xfrm>
          <a:prstGeom prst="line">
            <a:avLst/>
          </a:prstGeom>
          <a:ln w="31750" cap="rnd">
            <a:solidFill>
              <a:schemeClr val="accent1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1828800" y="1536192"/>
            <a:ext cx="9631375" cy="0"/>
          </a:xfrm>
          <a:prstGeom prst="line">
            <a:avLst/>
          </a:prstGeom>
          <a:ln w="6350" cap="rnd">
            <a:solidFill>
              <a:schemeClr val="accent1"/>
            </a:solidFill>
          </a:ln>
        </p:spPr>
      </p:cxnSp>
      <p:sp>
        <p:nvSpPr>
          <p:cNvPr id="5" name="쪽 번호 알약"/>
          <p:cNvSpPr/>
          <p:nvPr/>
        </p:nvSpPr>
        <p:spPr>
          <a:xfrm>
            <a:off x="10637215" y="384048"/>
            <a:ext cx="822960" cy="384048"/>
          </a:xfrm>
          <a:prstGeom prst="roundRect">
            <a:avLst>
              <a:gd name="adj" fmla="val 50000"/>
            </a:avLst>
          </a:prstGeom>
          <a:noFill/>
          <a:ln w="9525">
            <a:solidFill>
              <a:schemeClr val="accent1"/>
            </a:solidFill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한 문장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731520" y="347472"/>
            <a:ext cx="926561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쪽 번호"/>
          <p:cNvSpPr>
            <a:spLocks noGrp="1"/>
          </p:cNvSpPr>
          <p:nvPr>
            <p:ph type="sldNum" sz="quarter" idx="12"/>
          </p:nvPr>
        </p:nvSpPr>
        <p:spPr>
          <a:xfrm>
            <a:off x="10637215" y="384048"/>
            <a:ext cx="822960" cy="384048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1" spc="100">
                <a:solidFill>
                  <a:schemeClr val="tx2"/>
                </a:solidFill>
              </a:defRPr>
            </a:lvl1pPr>
          </a:lstStyle>
          <a:p>
            <a:fld id="{EB18F9A1-0BDF-45FB-830E-68B2A2CCF08E}" type="slidenum">
              <a:rPr lang="en-US"/>
              <a:t>‹#›</a:t>
            </a:fld>
          </a:p>
        </p:txBody>
      </p:sp>
      <p:sp>
        <p:nvSpPr>
          <p:cNvPr id="103" name="한 문장"/>
          <p:cNvSpPr>
            <a:spLocks noGrp="1"/>
          </p:cNvSpPr>
          <p:nvPr>
            <p:ph type="title"/>
          </p:nvPr>
        </p:nvSpPr>
        <p:spPr>
          <a:xfrm>
            <a:off x="1463003" y="2331720"/>
            <a:ext cx="9265688" cy="233172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30000"/>
              </a:lnSpc>
              <a:spcBef>
                <a:spcPts val="0"/>
              </a:spcBef>
              <a:buNone/>
              <a:defRPr sz="34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한 문장으로 말하면</a:t>
            </a:r>
          </a:p>
        </p:txBody>
      </p:sp>
      <p:sp>
        <p:nvSpPr>
          <p:cNvPr id="2" name="색 탭"/>
          <p:cNvSpPr/>
          <p:nvPr/>
        </p:nvSpPr>
        <p:spPr>
          <a:xfrm>
            <a:off x="0" y="658368"/>
            <a:ext cx="237744" cy="77724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쪽 번호 알약"/>
          <p:cNvSpPr/>
          <p:nvPr/>
        </p:nvSpPr>
        <p:spPr>
          <a:xfrm>
            <a:off x="10637215" y="384048"/>
            <a:ext cx="822960" cy="384048"/>
          </a:xfrm>
          <a:prstGeom prst="roundRect">
            <a:avLst>
              <a:gd name="adj" fmla="val 50000"/>
            </a:avLst>
          </a:prstGeom>
          <a:noFill/>
          <a:ln w="9525">
            <a:solidFill>
              <a:schemeClr val="accent1"/>
            </a:solidFill>
          </a:ln>
        </p:spPr>
        <p:txBody>
          <a:bodyPr rtlCol="0" anchor="ctr"/>
          <a:lstStyle/>
          <a:p>
            <a:pPr algn="ctr"/>
          </a:p>
        </p:txBody>
      </p:sp>
      <p:grpSp>
        <p:nvGrpSpPr>
          <p:cNvPr id="4" name="따옴표 장식"/>
          <p:cNvGrpSpPr/>
          <p:nvPr/>
        </p:nvGrpSpPr>
        <p:grpSpPr>
          <a:xfrm>
            <a:off x="5592927" y="1520189"/>
            <a:ext cx="1005840" cy="251460"/>
            <a:chOff x="5592927" y="1520189"/>
            <a:chExt cx="1005840" cy="251460"/>
          </a:xfrm>
        </p:grpSpPr>
        <p:sp>
          <p:nvSpPr>
            <p:cNvPr id="5" name="Diamond 4"/>
            <p:cNvSpPr/>
            <p:nvPr/>
          </p:nvSpPr>
          <p:spPr>
            <a:xfrm>
              <a:off x="5970117" y="1520189"/>
              <a:ext cx="251460" cy="251460"/>
            </a:xfrm>
            <a:prstGeom prst="diamond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6" name="Connector 5"/>
            <p:cNvCxnSpPr/>
            <p:nvPr/>
          </p:nvCxnSpPr>
          <p:spPr>
            <a:xfrm>
              <a:off x="5592927" y="1645919"/>
              <a:ext cx="297180" cy="0"/>
            </a:xfrm>
            <a:prstGeom prst="line">
              <a:avLst/>
            </a:prstGeom>
            <a:ln w="9525" cap="rnd">
              <a:solidFill>
                <a:schemeClr val="accent1"/>
              </a:solidFill>
            </a:ln>
          </p:spPr>
        </p:cxnSp>
        <p:cxnSp>
          <p:nvCxnSpPr>
            <p:cNvPr id="7" name="Connector 6"/>
            <p:cNvCxnSpPr/>
            <p:nvPr/>
          </p:nvCxnSpPr>
          <p:spPr>
            <a:xfrm>
              <a:off x="6301587" y="1645919"/>
              <a:ext cx="297180" cy="0"/>
            </a:xfrm>
            <a:prstGeom prst="line">
              <a:avLst/>
            </a:prstGeom>
            <a:ln w="9525" cap="rnd">
              <a:solidFill>
                <a:schemeClr val="accent1"/>
              </a:solidFill>
            </a:ln>
          </p:spPr>
        </p:cxnSp>
      </p:grpSp>
      <p:cxnSp>
        <p:nvCxnSpPr>
          <p:cNvPr id="8" name="Connector 7"/>
          <p:cNvCxnSpPr/>
          <p:nvPr/>
        </p:nvCxnSpPr>
        <p:spPr>
          <a:xfrm>
            <a:off x="5547207" y="5349240"/>
            <a:ext cx="1097280" cy="0"/>
          </a:xfrm>
          <a:prstGeom prst="line">
            <a:avLst/>
          </a:prstGeom>
          <a:ln w="9525" cap="rnd">
            <a:solidFill>
              <a:schemeClr val="accent1"/>
            </a:solidFill>
          </a:ln>
        </p:spPr>
      </p:cxnSp>
      <p:sp>
        <p:nvSpPr>
          <p:cNvPr id="9" name="Diamond 8"/>
          <p:cNvSpPr/>
          <p:nvPr/>
        </p:nvSpPr>
        <p:spPr>
          <a:xfrm>
            <a:off x="6036411" y="5289804"/>
            <a:ext cx="118872" cy="118872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chart" Target="../charts/char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rPr lang="ko-KR"/>
              <a:t>AQUA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AQUA  ·  INSURANCE CHECK</a:t>
            </a:r>
          </a:p>
        </p:txBody>
      </p:sp>
      <p:sp>
        <p:nvSpPr>
          <p:cNvPr id="4" name="Title 3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/>
              <a:t>우리 보험 점검 시간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누구 보험료가 얼마인지 한눈에 봅니다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가족 점검 · 0000. 00. 00</a:t>
            </a:r>
          </a:p>
          <a:p>
            <a:r>
              <a:rPr lang="ko-KR"/>
              <a:t>가입 내용을 정리하고 함께 확인하는 양식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PROFILE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점검 대상 현황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CDB945-8332-44AC-B7D5-AF496360BB37}" type="slidenum">
              <a:rPr lang="en-US"/>
              <a:t>‹#›</a:t>
            </a:fld>
            <a:endParaRPr lang="en-US"/>
          </a:p>
        </p:txBody>
      </p:sp>
      <p:graphicFrame>
        <p:nvGraphicFramePr>
          <p:cNvPr id="5" name="표"/>
          <p:cNvGraphicFramePr>
            <a:graphicFrameLocks noGrp="1"/>
          </p:cNvGraphicFramePr>
          <p:nvPr/>
        </p:nvGraphicFramePr>
        <p:xfrm>
          <a:off x="731520" y="1828800"/>
          <a:ext cx="10728652" cy="3657600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2682163"/>
                <a:gridCol w="2682163"/>
                <a:gridCol w="2682163"/>
                <a:gridCol w="2682163"/>
              </a:tblGrid>
              <a:tr h="731520">
                <a:tc>
                  <a:txBody>
                    <a:bodyPr wrap="square"/>
                    <a:lstStyle/>
                    <a:p>
                      <a:pPr algn="ctr"/>
                      <a:r>
                        <a:rPr sz="1600" b="1" lang="ko-KR">
                          <a:solidFill>
                            <a:srgbClr val="1A1613"/>
                          </a:solidFill>
                        </a:rPr>
                        <a:t>구분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lang="ko-KR">
                          <a:solidFill>
                            <a:srgbClr val="1A1613"/>
                          </a:solidFill>
                        </a:rPr>
                        <a:t>아빠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lang="ko-KR">
                          <a:solidFill>
                            <a:srgbClr val="1A1613"/>
                          </a:solidFill>
                        </a:rPr>
                        <a:t>엄마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lang="ko-KR">
                          <a:solidFill>
                            <a:srgbClr val="1A1613"/>
                          </a:solidFill>
                        </a:rPr>
                        <a:t>자녀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 lang="ko-KR">
                          <a:solidFill>
                            <a:schemeClr val="tx2"/>
                          </a:solidFill>
                        </a:rPr>
                        <a:t>이름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 lang="ko-KR">
                          <a:solidFill>
                            <a:schemeClr val="tx2"/>
                          </a:solidFill>
                        </a:rPr>
                        <a:t>나이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 lang="ko-KR">
                          <a:solidFill>
                            <a:schemeClr val="tx2"/>
                          </a:solidFill>
                        </a:rPr>
                        <a:t>직업·학교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 lang="ko-KR">
                          <a:solidFill>
                            <a:schemeClr val="tx2"/>
                          </a:solidFill>
                        </a:rPr>
                        <a:t>메모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 spd="med">
    <p:split orient="horz" dir="out"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POLICY LIST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가입한 보험 목록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5E0357-C5E5-4976-9DAF-7087B42C10C7}" type="slidenum">
              <a:rPr lang="en-US"/>
              <a:t>‹#›</a:t>
            </a:fld>
            <a:endParaRPr lang="en-US"/>
          </a:p>
        </p:txBody>
      </p:sp>
      <p:graphicFrame>
        <p:nvGraphicFramePr>
          <p:cNvPr id="5" name="표"/>
          <p:cNvGraphicFramePr>
            <a:graphicFrameLocks noGrp="1"/>
          </p:cNvGraphicFramePr>
          <p:nvPr/>
        </p:nvGraphicFramePr>
        <p:xfrm>
          <a:off x="731520" y="1828800"/>
          <a:ext cx="10728655" cy="4224528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2011680"/>
                <a:gridCol w="3108960"/>
                <a:gridCol w="1828800"/>
                <a:gridCol w="1828800"/>
                <a:gridCol w="1950415"/>
              </a:tblGrid>
              <a:tr h="603504"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1A1613"/>
                          </a:solidFill>
                        </a:rPr>
                        <a:t>보험회사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1A1613"/>
                          </a:solidFill>
                        </a:rPr>
                        <a:t>상품명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1A1613"/>
                          </a:solidFill>
                        </a:rPr>
                        <a:t>종류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1A1613"/>
                          </a:solidFill>
                        </a:rPr>
                        <a:t>만기일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1A1613"/>
                          </a:solidFill>
                        </a:rPr>
                        <a:t>월 보험료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 spd="med">
    <p:split orient="horz" dir="out"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CHECKLIST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보장 항목 체크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5C1FB1-858D-42A3-89CC-C44F2BD6EF86}" type="slidenum">
              <a:rPr lang="en-US"/>
              <a:t>‹#›</a:t>
            </a:fld>
            <a:endParaRPr lang="en-US"/>
          </a:p>
        </p:txBody>
      </p:sp>
      <p:graphicFrame>
        <p:nvGraphicFramePr>
          <p:cNvPr id="5" name="표"/>
          <p:cNvGraphicFramePr>
            <a:graphicFrameLocks noGrp="1"/>
          </p:cNvGraphicFramePr>
          <p:nvPr/>
        </p:nvGraphicFramePr>
        <p:xfrm>
          <a:off x="731520" y="1828800"/>
          <a:ext cx="10728654" cy="4773168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3657600"/>
                <a:gridCol w="2357018"/>
                <a:gridCol w="2357018"/>
                <a:gridCol w="2357018"/>
              </a:tblGrid>
              <a:tr h="530352"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1A1613"/>
                          </a:solidFill>
                        </a:rPr>
                        <a:t>보장 항목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1A1613"/>
                          </a:solidFill>
                        </a:rPr>
                        <a:t>가입 확인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1A1613"/>
                          </a:solidFill>
                        </a:rPr>
                        <a:t>확인 필요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1A1613"/>
                          </a:solidFill>
                        </a:rPr>
                        <a:t>해당 없음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사망·재해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질병 진단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뇌·심장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입원·수술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상해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실손의료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연금·노후자금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 spd="med">
    <p:split orient="horz" dir="out"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PREMIUM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월 보험료 한눈에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DA5A6D-4045-4D5F-A248-13A51770C205}" type="slidenum">
              <a:rPr lang="en-US"/>
              <a:t>‹#›</a:t>
            </a:fld>
            <a:endParaRPr lang="en-US"/>
          </a:p>
        </p:txBody>
      </p:sp>
      <p:grpSp>
        <p:nvGrpSpPr>
          <p:cNvPr id="5" name="카드 1"/>
          <p:cNvGrpSpPr/>
          <p:nvPr/>
        </p:nvGrpSpPr>
        <p:grpSpPr>
          <a:xfrm>
            <a:off x="731520" y="1828800"/>
            <a:ext cx="3393338" cy="2377440"/>
            <a:chOff x="731520" y="1828800"/>
            <a:chExt cx="3393338" cy="2377440"/>
          </a:xfrm>
        </p:grpSpPr>
        <p:sp>
          <p:nvSpPr>
            <p:cNvPr id="6" name="카드 바탕"/>
            <p:cNvSpPr/>
            <p:nvPr/>
          </p:nvSpPr>
          <p:spPr>
            <a:xfrm>
              <a:off x="731520" y="1828800"/>
              <a:ext cx="3393338" cy="2377440"/>
            </a:xfrm>
            <a:prstGeom prst="snip2DiagRect">
              <a:avLst>
                <a:gd name="adj1" fmla="val 11000"/>
                <a:gd name="adj2" fmla="val 0"/>
              </a:avLst>
            </a:prstGeom>
            <a:solidFill>
              <a:schemeClr val="bg1"/>
            </a:solidFill>
            <a:ln w="9525">
              <a:solidFill>
                <a:schemeClr val="accent1">
                  <a:alpha val="85000"/>
                </a:schemeClr>
              </a:solidFill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번호 1"/>
            <p:cNvSpPr txBox="1"/>
            <p:nvPr/>
          </p:nvSpPr>
          <p:spPr>
            <a:xfrm>
              <a:off x="914400" y="2039112"/>
              <a:ext cx="1097280" cy="54864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2400" b="0" i="0" lang="ko-KR">
                  <a:solidFill>
                    <a:schemeClr val="accent1"/>
                  </a:solidFill>
                  <a:latin typeface="+mj-lt"/>
                  <a:ea typeface="+mj-ea"/>
                </a:rPr>
                <a:t>01</a:t>
              </a:r>
            </a:p>
          </p:txBody>
        </p:sp>
        <p:sp>
          <p:nvSpPr>
            <p:cNvPr id="8" name="카드 제목"/>
            <p:cNvSpPr txBox="1"/>
            <p:nvPr/>
          </p:nvSpPr>
          <p:spPr>
            <a:xfrm>
              <a:off x="914400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700" b="1" i="0" lang="ko-KR">
                  <a:solidFill>
                    <a:schemeClr val="tx2"/>
                  </a:solidFill>
                  <a:latin typeface="+mj-lt"/>
                  <a:ea typeface="+mj-ea"/>
                </a:rPr>
                <a:t>월 보험료 합계</a:t>
              </a:r>
            </a:p>
          </p:txBody>
        </p:sp>
        <p:cxnSp>
          <p:nvCxnSpPr>
            <p:cNvPr id="9" name="구분선"/>
            <p:cNvCxnSpPr/>
            <p:nvPr/>
          </p:nvCxnSpPr>
          <p:spPr>
            <a:xfrm>
              <a:off x="960120" y="3364991"/>
              <a:ext cx="2936138" cy="0"/>
            </a:xfrm>
            <a:prstGeom prst="line">
              <a:avLst/>
            </a:prstGeom>
            <a:ln w="6350" cap="rnd">
              <a:solidFill>
                <a:schemeClr val="accent1"/>
              </a:solidFill>
            </a:ln>
          </p:spPr>
        </p:cxnSp>
        <p:sp>
          <p:nvSpPr>
            <p:cNvPr id="10" name="카드 내용"/>
            <p:cNvSpPr txBox="1"/>
            <p:nvPr/>
          </p:nvSpPr>
          <p:spPr>
            <a:xfrm>
              <a:off x="914400" y="3456432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2600" b="0" i="0" lang="ko-KR">
                  <a:solidFill>
                    <a:schemeClr val="tx1"/>
                  </a:solidFill>
                </a:rPr>
                <a:t>0원</a:t>
              </a:r>
            </a:p>
          </p:txBody>
        </p:sp>
      </p:grpSp>
      <p:grpSp>
        <p:nvGrpSpPr>
          <p:cNvPr id="11" name="카드 2"/>
          <p:cNvGrpSpPr/>
          <p:nvPr/>
        </p:nvGrpSpPr>
        <p:grpSpPr>
          <a:xfrm>
            <a:off x="4399178" y="1828800"/>
            <a:ext cx="3393338" cy="2377440"/>
            <a:chOff x="4399178" y="1828800"/>
            <a:chExt cx="3393338" cy="2377440"/>
          </a:xfrm>
        </p:grpSpPr>
        <p:sp>
          <p:nvSpPr>
            <p:cNvPr id="12" name="카드 바탕"/>
            <p:cNvSpPr/>
            <p:nvPr/>
          </p:nvSpPr>
          <p:spPr>
            <a:xfrm>
              <a:off x="4399178" y="1828800"/>
              <a:ext cx="3393338" cy="2377440"/>
            </a:xfrm>
            <a:prstGeom prst="snip2DiagRect">
              <a:avLst>
                <a:gd name="adj1" fmla="val 11000"/>
                <a:gd name="adj2" fmla="val 0"/>
              </a:avLst>
            </a:prstGeom>
            <a:solidFill>
              <a:schemeClr val="bg1"/>
            </a:solidFill>
            <a:ln w="9525">
              <a:solidFill>
                <a:schemeClr val="accent1">
                  <a:alpha val="85000"/>
                </a:schemeClr>
              </a:solidFill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번호 2"/>
            <p:cNvSpPr txBox="1"/>
            <p:nvPr/>
          </p:nvSpPr>
          <p:spPr>
            <a:xfrm>
              <a:off x="4582058" y="2039112"/>
              <a:ext cx="1097280" cy="54864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2400" b="0" i="0" lang="ko-KR">
                  <a:solidFill>
                    <a:schemeClr val="accent1"/>
                  </a:solidFill>
                  <a:latin typeface="+mj-lt"/>
                  <a:ea typeface="+mj-ea"/>
                </a:rPr>
                <a:t>02</a:t>
              </a:r>
            </a:p>
          </p:txBody>
        </p:sp>
        <p:sp>
          <p:nvSpPr>
            <p:cNvPr id="14" name="카드 제목"/>
            <p:cNvSpPr txBox="1"/>
            <p:nvPr/>
          </p:nvSpPr>
          <p:spPr>
            <a:xfrm>
              <a:off x="4582058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700" b="1" i="0" lang="ko-KR">
                  <a:solidFill>
                    <a:schemeClr val="tx2"/>
                  </a:solidFill>
                  <a:latin typeface="+mj-lt"/>
                  <a:ea typeface="+mj-ea"/>
                </a:rPr>
                <a:t>연 보험료 합계</a:t>
              </a:r>
            </a:p>
          </p:txBody>
        </p:sp>
        <p:cxnSp>
          <p:nvCxnSpPr>
            <p:cNvPr id="15" name="구분선"/>
            <p:cNvCxnSpPr/>
            <p:nvPr/>
          </p:nvCxnSpPr>
          <p:spPr>
            <a:xfrm>
              <a:off x="4627778" y="3364991"/>
              <a:ext cx="2936138" cy="0"/>
            </a:xfrm>
            <a:prstGeom prst="line">
              <a:avLst/>
            </a:prstGeom>
            <a:ln w="6350" cap="rnd">
              <a:solidFill>
                <a:schemeClr val="accent1"/>
              </a:solidFill>
            </a:ln>
          </p:spPr>
        </p:cxnSp>
        <p:sp>
          <p:nvSpPr>
            <p:cNvPr id="16" name="카드 내용"/>
            <p:cNvSpPr txBox="1"/>
            <p:nvPr/>
          </p:nvSpPr>
          <p:spPr>
            <a:xfrm>
              <a:off x="4582058" y="3456432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2600" b="0" i="0" lang="ko-KR">
                  <a:solidFill>
                    <a:schemeClr val="tx1"/>
                  </a:solidFill>
                </a:rPr>
                <a:t>0원</a:t>
              </a:r>
            </a:p>
          </p:txBody>
        </p:sp>
      </p:grpSp>
      <p:grpSp>
        <p:nvGrpSpPr>
          <p:cNvPr id="17" name="카드 3"/>
          <p:cNvGrpSpPr/>
          <p:nvPr/>
        </p:nvGrpSpPr>
        <p:grpSpPr>
          <a:xfrm>
            <a:off x="8066836" y="1828800"/>
            <a:ext cx="3393338" cy="2377440"/>
            <a:chOff x="8066836" y="1828800"/>
            <a:chExt cx="3393338" cy="2377440"/>
          </a:xfrm>
        </p:grpSpPr>
        <p:sp>
          <p:nvSpPr>
            <p:cNvPr id="18" name="카드 바탕"/>
            <p:cNvSpPr/>
            <p:nvPr/>
          </p:nvSpPr>
          <p:spPr>
            <a:xfrm>
              <a:off x="8066836" y="1828800"/>
              <a:ext cx="3393338" cy="2377440"/>
            </a:xfrm>
            <a:prstGeom prst="snip2DiagRect">
              <a:avLst>
                <a:gd name="adj1" fmla="val 11000"/>
                <a:gd name="adj2" fmla="val 0"/>
              </a:avLst>
            </a:prstGeom>
            <a:solidFill>
              <a:schemeClr val="bg1"/>
            </a:solidFill>
            <a:ln w="9525">
              <a:solidFill>
                <a:schemeClr val="accent1">
                  <a:alpha val="85000"/>
                </a:schemeClr>
              </a:solidFill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" name="번호 3"/>
            <p:cNvSpPr txBox="1"/>
            <p:nvPr/>
          </p:nvSpPr>
          <p:spPr>
            <a:xfrm>
              <a:off x="8249716" y="2039112"/>
              <a:ext cx="1097280" cy="54864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2400" b="0" i="0" lang="ko-KR">
                  <a:solidFill>
                    <a:schemeClr val="accent1"/>
                  </a:solidFill>
                  <a:latin typeface="+mj-lt"/>
                  <a:ea typeface="+mj-ea"/>
                </a:rPr>
                <a:t>03</a:t>
              </a:r>
            </a:p>
          </p:txBody>
        </p:sp>
        <p:sp>
          <p:nvSpPr>
            <p:cNvPr id="20" name="카드 제목"/>
            <p:cNvSpPr txBox="1"/>
            <p:nvPr/>
          </p:nvSpPr>
          <p:spPr>
            <a:xfrm>
              <a:off x="8249716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700" b="1" i="0" lang="ko-KR">
                  <a:solidFill>
                    <a:schemeClr val="tx2"/>
                  </a:solidFill>
                  <a:latin typeface="+mj-lt"/>
                  <a:ea typeface="+mj-ea"/>
                </a:rPr>
                <a:t>월 소득 대비</a:t>
              </a:r>
            </a:p>
          </p:txBody>
        </p:sp>
        <p:cxnSp>
          <p:nvCxnSpPr>
            <p:cNvPr id="21" name="구분선"/>
            <p:cNvCxnSpPr/>
            <p:nvPr/>
          </p:nvCxnSpPr>
          <p:spPr>
            <a:xfrm>
              <a:off x="8295436" y="3364991"/>
              <a:ext cx="2936139" cy="0"/>
            </a:xfrm>
            <a:prstGeom prst="line">
              <a:avLst/>
            </a:prstGeom>
            <a:ln w="6350" cap="rnd">
              <a:solidFill>
                <a:schemeClr val="accent1"/>
              </a:solidFill>
            </a:ln>
          </p:spPr>
        </p:cxnSp>
        <p:sp>
          <p:nvSpPr>
            <p:cNvPr id="22" name="카드 내용"/>
            <p:cNvSpPr txBox="1"/>
            <p:nvPr/>
          </p:nvSpPr>
          <p:spPr>
            <a:xfrm>
              <a:off x="8249716" y="3456432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2600" b="0" i="0" lang="ko-KR">
                  <a:solidFill>
                    <a:schemeClr val="tx1"/>
                  </a:solidFill>
                </a:rPr>
                <a:t>0 %</a:t>
              </a:r>
            </a:p>
          </p:txBody>
        </p:sp>
      </p:grpSp>
      <p:graphicFrame>
        <p:nvGraphicFramePr>
          <p:cNvPr id="23" name="차트"/>
          <p:cNvGraphicFramePr>
            <a:graphicFrameLocks noGrp="1"/>
          </p:cNvGraphicFramePr>
          <p:nvPr/>
        </p:nvGraphicFramePr>
        <p:xfrm>
          <a:off x="731520" y="4389120"/>
          <a:ext cx="10728655" cy="16916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  <p:transition spd="med">
    <p:split orient="horz" dir="out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900"/>
                            </p:stCondLst>
                            <p:childTnLst>
                              <p:par>
                                <p:cTn id="12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4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NEXT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점검 메모와 다음 할 일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C7E61D-F224-4A62-83E1-EC449797AB89}" type="slidenum">
              <a:rPr lang="en-US"/>
              <a:t>‹#›</a:t>
            </a:fld>
            <a:endParaRPr lang="en-US"/>
          </a:p>
        </p:txBody>
      </p:sp>
      <p:grpSp>
        <p:nvGrpSpPr>
          <p:cNvPr id="5" name="카드 1"/>
          <p:cNvGrpSpPr/>
          <p:nvPr/>
        </p:nvGrpSpPr>
        <p:grpSpPr>
          <a:xfrm>
            <a:off x="731520" y="1828800"/>
            <a:ext cx="3393338" cy="3566160"/>
            <a:chOff x="731520" y="1828800"/>
            <a:chExt cx="3393338" cy="3566160"/>
          </a:xfrm>
        </p:grpSpPr>
        <p:sp>
          <p:nvSpPr>
            <p:cNvPr id="6" name="카드 바탕"/>
            <p:cNvSpPr/>
            <p:nvPr/>
          </p:nvSpPr>
          <p:spPr>
            <a:xfrm>
              <a:off x="731520" y="1828800"/>
              <a:ext cx="3393338" cy="3566160"/>
            </a:xfrm>
            <a:prstGeom prst="snip2DiagRect">
              <a:avLst>
                <a:gd name="adj1" fmla="val 11000"/>
                <a:gd name="adj2" fmla="val 0"/>
              </a:avLst>
            </a:prstGeom>
            <a:solidFill>
              <a:schemeClr val="bg1"/>
            </a:solidFill>
            <a:ln w="9525">
              <a:solidFill>
                <a:schemeClr val="accent1">
                  <a:alpha val="85000"/>
                </a:schemeClr>
              </a:solidFill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번호 1"/>
            <p:cNvSpPr txBox="1"/>
            <p:nvPr/>
          </p:nvSpPr>
          <p:spPr>
            <a:xfrm>
              <a:off x="914400" y="2039112"/>
              <a:ext cx="1097280" cy="54864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2400" b="0" i="0" lang="ko-KR">
                  <a:solidFill>
                    <a:schemeClr val="accent1"/>
                  </a:solidFill>
                  <a:latin typeface="+mj-lt"/>
                  <a:ea typeface="+mj-ea"/>
                </a:rPr>
                <a:t>01</a:t>
              </a:r>
            </a:p>
          </p:txBody>
        </p:sp>
        <p:sp>
          <p:nvSpPr>
            <p:cNvPr id="8" name="카드 제목"/>
            <p:cNvSpPr txBox="1"/>
            <p:nvPr/>
          </p:nvSpPr>
          <p:spPr>
            <a:xfrm>
              <a:off x="914400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확인할 것</a:t>
              </a:r>
            </a:p>
          </p:txBody>
        </p:sp>
        <p:cxnSp>
          <p:nvCxnSpPr>
            <p:cNvPr id="9" name="구분선"/>
            <p:cNvCxnSpPr/>
            <p:nvPr/>
          </p:nvCxnSpPr>
          <p:spPr>
            <a:xfrm>
              <a:off x="960120" y="3364991"/>
              <a:ext cx="2936138" cy="0"/>
            </a:xfrm>
            <a:prstGeom prst="line">
              <a:avLst/>
            </a:prstGeom>
            <a:ln w="6350" cap="rnd">
              <a:solidFill>
                <a:schemeClr val="accent1"/>
              </a:solidFill>
            </a:ln>
          </p:spPr>
        </p:cxnSp>
        <p:sp>
          <p:nvSpPr>
            <p:cNvPr id="10" name="카드 내용"/>
            <p:cNvSpPr txBox="1"/>
            <p:nvPr/>
          </p:nvSpPr>
          <p:spPr>
            <a:xfrm>
              <a:off x="914400" y="3456432"/>
              <a:ext cx="3027578" cy="18288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</p:txBody>
        </p:sp>
      </p:grpSp>
      <p:grpSp>
        <p:nvGrpSpPr>
          <p:cNvPr id="11" name="카드 2"/>
          <p:cNvGrpSpPr/>
          <p:nvPr/>
        </p:nvGrpSpPr>
        <p:grpSpPr>
          <a:xfrm>
            <a:off x="4399178" y="1828800"/>
            <a:ext cx="3393338" cy="3566160"/>
            <a:chOff x="4399178" y="1828800"/>
            <a:chExt cx="3393338" cy="3566160"/>
          </a:xfrm>
        </p:grpSpPr>
        <p:sp>
          <p:nvSpPr>
            <p:cNvPr id="12" name="카드 바탕"/>
            <p:cNvSpPr/>
            <p:nvPr/>
          </p:nvSpPr>
          <p:spPr>
            <a:xfrm>
              <a:off x="4399178" y="1828800"/>
              <a:ext cx="3393338" cy="3566160"/>
            </a:xfrm>
            <a:prstGeom prst="snip2DiagRect">
              <a:avLst>
                <a:gd name="adj1" fmla="val 11000"/>
                <a:gd name="adj2" fmla="val 0"/>
              </a:avLst>
            </a:prstGeom>
            <a:solidFill>
              <a:schemeClr val="bg1"/>
            </a:solidFill>
            <a:ln w="9525">
              <a:solidFill>
                <a:schemeClr val="accent1">
                  <a:alpha val="85000"/>
                </a:schemeClr>
              </a:solidFill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번호 2"/>
            <p:cNvSpPr txBox="1"/>
            <p:nvPr/>
          </p:nvSpPr>
          <p:spPr>
            <a:xfrm>
              <a:off x="4582058" y="2039112"/>
              <a:ext cx="1097280" cy="54864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2400" b="0" i="0" lang="ko-KR">
                  <a:solidFill>
                    <a:schemeClr val="accent1"/>
                  </a:solidFill>
                  <a:latin typeface="+mj-lt"/>
                  <a:ea typeface="+mj-ea"/>
                </a:rPr>
                <a:t>02</a:t>
              </a:r>
            </a:p>
          </p:txBody>
        </p:sp>
        <p:sp>
          <p:nvSpPr>
            <p:cNvPr id="14" name="카드 제목"/>
            <p:cNvSpPr txBox="1"/>
            <p:nvPr/>
          </p:nvSpPr>
          <p:spPr>
            <a:xfrm>
              <a:off x="4582058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문의할 것</a:t>
              </a:r>
            </a:p>
          </p:txBody>
        </p:sp>
        <p:cxnSp>
          <p:nvCxnSpPr>
            <p:cNvPr id="15" name="구분선"/>
            <p:cNvCxnSpPr/>
            <p:nvPr/>
          </p:nvCxnSpPr>
          <p:spPr>
            <a:xfrm>
              <a:off x="4627778" y="3364991"/>
              <a:ext cx="2936138" cy="0"/>
            </a:xfrm>
            <a:prstGeom prst="line">
              <a:avLst/>
            </a:prstGeom>
            <a:ln w="6350" cap="rnd">
              <a:solidFill>
                <a:schemeClr val="accent1"/>
              </a:solidFill>
            </a:ln>
          </p:spPr>
        </p:cxnSp>
        <p:sp>
          <p:nvSpPr>
            <p:cNvPr id="16" name="카드 내용"/>
            <p:cNvSpPr txBox="1"/>
            <p:nvPr/>
          </p:nvSpPr>
          <p:spPr>
            <a:xfrm>
              <a:off x="4582058" y="3456432"/>
              <a:ext cx="3027578" cy="18288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</p:txBody>
        </p:sp>
      </p:grpSp>
      <p:grpSp>
        <p:nvGrpSpPr>
          <p:cNvPr id="17" name="카드 3"/>
          <p:cNvGrpSpPr/>
          <p:nvPr/>
        </p:nvGrpSpPr>
        <p:grpSpPr>
          <a:xfrm>
            <a:off x="8066836" y="1828800"/>
            <a:ext cx="3393338" cy="3566160"/>
            <a:chOff x="8066836" y="1828800"/>
            <a:chExt cx="3393338" cy="3566160"/>
          </a:xfrm>
        </p:grpSpPr>
        <p:sp>
          <p:nvSpPr>
            <p:cNvPr id="18" name="카드 바탕"/>
            <p:cNvSpPr/>
            <p:nvPr/>
          </p:nvSpPr>
          <p:spPr>
            <a:xfrm>
              <a:off x="8066836" y="1828800"/>
              <a:ext cx="3393338" cy="3566160"/>
            </a:xfrm>
            <a:prstGeom prst="snip2DiagRect">
              <a:avLst>
                <a:gd name="adj1" fmla="val 11000"/>
                <a:gd name="adj2" fmla="val 0"/>
              </a:avLst>
            </a:prstGeom>
            <a:solidFill>
              <a:schemeClr val="bg1"/>
            </a:solidFill>
            <a:ln w="9525">
              <a:solidFill>
                <a:schemeClr val="accent1">
                  <a:alpha val="85000"/>
                </a:schemeClr>
              </a:solidFill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" name="번호 3"/>
            <p:cNvSpPr txBox="1"/>
            <p:nvPr/>
          </p:nvSpPr>
          <p:spPr>
            <a:xfrm>
              <a:off x="8249716" y="2039112"/>
              <a:ext cx="1097280" cy="54864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2400" b="0" i="0" lang="ko-KR">
                  <a:solidFill>
                    <a:schemeClr val="accent1"/>
                  </a:solidFill>
                  <a:latin typeface="+mj-lt"/>
                  <a:ea typeface="+mj-ea"/>
                </a:rPr>
                <a:t>03</a:t>
              </a:r>
            </a:p>
          </p:txBody>
        </p:sp>
        <p:sp>
          <p:nvSpPr>
            <p:cNvPr id="20" name="카드 제목"/>
            <p:cNvSpPr txBox="1"/>
            <p:nvPr/>
          </p:nvSpPr>
          <p:spPr>
            <a:xfrm>
              <a:off x="8249716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정리할 날짜</a:t>
              </a:r>
            </a:p>
          </p:txBody>
        </p:sp>
        <p:cxnSp>
          <p:nvCxnSpPr>
            <p:cNvPr id="21" name="구분선"/>
            <p:cNvCxnSpPr/>
            <p:nvPr/>
          </p:nvCxnSpPr>
          <p:spPr>
            <a:xfrm>
              <a:off x="8295436" y="3364991"/>
              <a:ext cx="2936139" cy="0"/>
            </a:xfrm>
            <a:prstGeom prst="line">
              <a:avLst/>
            </a:prstGeom>
            <a:ln w="6350" cap="rnd">
              <a:solidFill>
                <a:schemeClr val="accent1"/>
              </a:solidFill>
            </a:ln>
          </p:spPr>
        </p:cxnSp>
        <p:sp>
          <p:nvSpPr>
            <p:cNvPr id="22" name="카드 내용"/>
            <p:cNvSpPr txBox="1"/>
            <p:nvPr/>
          </p:nvSpPr>
          <p:spPr>
            <a:xfrm>
              <a:off x="8249716" y="3456432"/>
              <a:ext cx="3027578" cy="18288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</p:txBody>
        </p:sp>
      </p:grpSp>
      <p:sp>
        <p:nvSpPr>
          <p:cNvPr id="23" name="안내 문구"/>
          <p:cNvSpPr txBox="1"/>
          <p:nvPr/>
        </p:nvSpPr>
        <p:spPr>
          <a:xfrm>
            <a:off x="731520" y="5577840"/>
            <a:ext cx="10728655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이 양식은 가입 내용을 스스로 정리하기 위한 것이며 보험 가입을 권유하거나 보장의 적정성을 판단하지 않습니다. 정확한 내용은 증권·약관과 가입한 보험회사에서 확인하세요.</a:t>
            </a:r>
          </a:p>
        </p:txBody>
      </p:sp>
    </p:spTree>
  </p:cSld>
  <p:clrMapOvr>
    <a:masterClrMapping/>
  </p:clrMapOvr>
  <p:transition spd="med">
    <p:split orient="horz" dir="out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900"/>
                            </p:stCondLst>
                            <p:childTnLst>
                              <p:par>
                                <p:cTn id="12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4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보험 보장 점검 발표자료(가족 점검)">
  <a:themeElements>
    <a:clrScheme name="보험 보장 점검 발표자료(가족 점검)">
      <a:dk1>
        <a:srgbClr val="374648"/>
      </a:dk1>
      <a:lt1>
        <a:srgbClr val="FBFDFD"/>
      </a:lt1>
      <a:dk2>
        <a:srgbClr val="123D44"/>
      </a:dk2>
      <a:lt2>
        <a:srgbClr val="F0F7F7"/>
      </a:lt2>
      <a:accent1>
        <a:srgbClr val="2F8F9A"/>
      </a:accent1>
      <a:accent2>
        <a:srgbClr val="8FB5BD"/>
      </a:accent2>
      <a:accent3>
        <a:srgbClr val="72898D"/>
      </a:accent3>
      <a:accent4>
        <a:srgbClr val="C9E2E4"/>
      </a:accent4>
      <a:accent5>
        <a:srgbClr val="B2C4C8"/>
      </a:accent5>
      <a:accent6>
        <a:srgbClr val="BBD3D7"/>
      </a:accent6>
      <a:hlink>
        <a:srgbClr val="123D44"/>
      </a:hlink>
      <a:folHlink>
        <a:srgbClr val="72898D"/>
      </a:folHlink>
    </a:clrScheme>
    <a:fontScheme name="보험 보장 점검 발표자료(가족 점검)">
      <a:majorFont>
        <a:latin typeface="Tw Cen MT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보험 보장 점검 발표자료(가족 점검)</dc:title>
  <dc:subject>보험 가입 내용 정리 양식 · 가족 점검</dc:subject>
  <dc:creator>우체국보험 상담 안내</dc:creator>
  <cp:keywords>보험,점검,양식,PPT</cp:keywords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>템플릿</cp:category>
  <dc:language>ko-KR</dc:language>
</cp:coreProperties>
</file>