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D967714E-618E-4B24-AFC1-E0FE5F8AB120}">
          <p14:sldIdLst>
            <p14:sldId id="256"/>
          </p14:sldIdLst>
        </p14:section>
        <p14:section name="본문" id="{6EF93274-0C84-4A9D-9AF2-FA861184DAED}">
          <p14:sldIdLst>
            <p14:sldId id="257"/>
            <p14:sldId id="258"/>
            <p14:sldId id="259"/>
            <p14:sldId id="260"/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월 보험료 비중(예시)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보장성</c:v>
                </c:pt>
                <c:pt idx="1">
                  <c:v>저축성</c:v>
                </c:pt>
                <c:pt idx="2">
                  <c:v>연금성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30</c:v>
                </c:pt>
                <c:pt idx="2">
                  <c:v>20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2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solidFill>
            <a:schemeClr val="tx1"/>
          </a:solidFill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증권을 보고 그대로 옮겨 적으세요. 행은 Tab 키로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해당하는 칸에 ✔ 표시를 직접 적어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숫자를 눌러 직접 고쳐 쓰세요. 오른쪽 도넛 차트는 예시이며 우클릭 &gt; [데이터 편집]으로 바꿉니다.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확인할 것·문의할 것·정리할 날짜를 적어 두세요.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1600149" y="822959"/>
            <a:ext cx="822960" cy="521208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4600" b="0" spc="90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5242428" y="1645920"/>
            <a:ext cx="597393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5242428" y="2029968"/>
            <a:ext cx="5973930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5242428" y="3703320"/>
            <a:ext cx="5973930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5242428" y="4480559"/>
            <a:ext cx="597393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색 면"/>
          <p:cNvSpPr/>
          <p:nvPr/>
        </p:nvSpPr>
        <p:spPr>
          <a:xfrm>
            <a:off x="0" y="0"/>
            <a:ext cx="4023259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4389019" y="685800"/>
            <a:ext cx="0" cy="5486400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sp>
        <p:nvSpPr>
          <p:cNvPr id="4" name="Oval 3"/>
          <p:cNvSpPr/>
          <p:nvPr/>
        </p:nvSpPr>
        <p:spPr>
          <a:xfrm>
            <a:off x="3456331" y="2862072"/>
            <a:ext cx="1133856" cy="1133856"/>
          </a:xfrm>
          <a:prstGeom prst="ellipse">
            <a:avLst/>
          </a:prstGeom>
          <a:solidFill>
            <a:schemeClr val="bg2">
              <a:alpha val="100000"/>
            </a:schemeClr>
          </a:solidFill>
          <a:ln w="15875">
            <a:solidFill>
              <a:schemeClr val="accent1"/>
            </a:solidFill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5" name="테마 장식"/>
          <p:cNvGrpSpPr/>
          <p:nvPr/>
        </p:nvGrpSpPr>
        <p:grpSpPr>
          <a:xfrm>
            <a:off x="3794659" y="3200400"/>
            <a:ext cx="457200" cy="457200"/>
            <a:chOff x="3794659" y="3200400"/>
            <a:chExt cx="457200" cy="457200"/>
          </a:xfrm>
        </p:grpSpPr>
        <p:sp>
          <p:nvSpPr>
            <p:cNvPr id="6" name="Rectangle 5"/>
            <p:cNvSpPr/>
            <p:nvPr/>
          </p:nvSpPr>
          <p:spPr>
            <a:xfrm rot="2700000">
              <a:off x="3794659" y="3200400"/>
              <a:ext cx="457200" cy="457200"/>
            </a:xfrm>
            <a:prstGeom prst="rect">
              <a:avLst/>
            </a:prstGeom>
            <a:noFill/>
            <a:ln w="1270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 rot="2700000">
              <a:off x="3867811" y="3273552"/>
              <a:ext cx="310896" cy="310896"/>
            </a:xfrm>
            <a:prstGeom prst="rect">
              <a:avLst/>
            </a:prstGeom>
            <a:noFill/>
            <a:ln w="12700">
              <a:solidFill>
                <a:schemeClr val="accent2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 rot="2700000">
              <a:off x="3940963" y="3346704"/>
              <a:ext cx="164592" cy="164592"/>
            </a:xfrm>
            <a:prstGeom prst="rect">
              <a:avLst/>
            </a:prstGeom>
            <a:noFill/>
            <a:ln w="1270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963137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365760"/>
            <a:ext cx="914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1" spc="200">
                <a:solidFill>
                  <a:schemeClr val="accent1"/>
                </a:solidFill>
              </a:defRPr>
            </a:lvl1pPr>
          </a:lstStyle>
          <a:p>
            <a:fld id="{C6FB4595-2DC6-4671-93A8-C89C54E323CA}" type="slidenum">
              <a:rPr lang="en-US"/>
              <a:t>‹#›</a:t>
            </a:fld>
          </a:p>
        </p:txBody>
      </p:sp>
      <p:cxnSp>
        <p:nvCxnSpPr>
          <p:cNvPr id="2" name="머리말 선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pattFill prst="dotGrid">
          <a:fgClr>
            <a:schemeClr val="tx2"/>
          </a:fgClr>
          <a:bgClr>
            <a:schemeClr val="accent3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1600149" y="822959"/>
            <a:ext cx="822960" cy="521208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4600" b="0" spc="90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5242428" y="1645920"/>
            <a:ext cx="597393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5242428" y="2029968"/>
            <a:ext cx="5973930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5242428" y="3703320"/>
            <a:ext cx="5973930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DBDEE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5242428" y="4480559"/>
            <a:ext cx="597393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BABFC6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색 면"/>
          <p:cNvSpPr/>
          <p:nvPr/>
        </p:nvSpPr>
        <p:spPr>
          <a:xfrm>
            <a:off x="0" y="0"/>
            <a:ext cx="402325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4389019" y="685800"/>
            <a:ext cx="0" cy="548640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4" name="Oval 3"/>
          <p:cNvSpPr/>
          <p:nvPr/>
        </p:nvSpPr>
        <p:spPr>
          <a:xfrm>
            <a:off x="3456331" y="2862072"/>
            <a:ext cx="1133856" cy="1133856"/>
          </a:xfrm>
          <a:prstGeom prst="ellipse">
            <a:avLst/>
          </a:prstGeom>
          <a:solidFill>
            <a:schemeClr val="accent3">
              <a:alpha val="100000"/>
            </a:schemeClr>
          </a:solidFill>
          <a:ln w="15875">
            <a:solidFill>
              <a:schemeClr val="accent5"/>
            </a:solidFill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5" name="테마 장식"/>
          <p:cNvGrpSpPr/>
          <p:nvPr/>
        </p:nvGrpSpPr>
        <p:grpSpPr>
          <a:xfrm>
            <a:off x="3794659" y="3200400"/>
            <a:ext cx="457200" cy="457200"/>
            <a:chOff x="3794659" y="3200400"/>
            <a:chExt cx="457200" cy="457200"/>
          </a:xfrm>
        </p:grpSpPr>
        <p:sp>
          <p:nvSpPr>
            <p:cNvPr id="6" name="Rectangle 5"/>
            <p:cNvSpPr/>
            <p:nvPr/>
          </p:nvSpPr>
          <p:spPr>
            <a:xfrm rot="2700000">
              <a:off x="3794659" y="3200400"/>
              <a:ext cx="457200" cy="457200"/>
            </a:xfrm>
            <a:prstGeom prst="rect">
              <a:avLst/>
            </a:prstGeom>
            <a:noFill/>
            <a:ln w="1270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 rot="2700000">
              <a:off x="3867811" y="3273552"/>
              <a:ext cx="310896" cy="310896"/>
            </a:xfrm>
            <a:prstGeom prst="rect">
              <a:avLst/>
            </a:prstGeom>
            <a:noFill/>
            <a:ln w="12700">
              <a:solidFill>
                <a:schemeClr val="accent2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 rot="2700000">
              <a:off x="3940963" y="3346704"/>
              <a:ext cx="164592" cy="164592"/>
            </a:xfrm>
            <a:prstGeom prst="rect">
              <a:avLst/>
            </a:prstGeom>
            <a:noFill/>
            <a:ln w="1270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963137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365760"/>
            <a:ext cx="914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1" spc="200">
                <a:solidFill>
                  <a:schemeClr val="accent1"/>
                </a:solidFill>
              </a:defRPr>
            </a:lvl1pPr>
          </a:lstStyle>
          <a:p>
            <a:fld id="{41C9A6B9-0B40-4BFA-8BA6-C5D6645AAA10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머리말 선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963137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365760"/>
            <a:ext cx="914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1" spc="200">
                <a:solidFill>
                  <a:schemeClr val="accent1"/>
                </a:solidFill>
              </a:defRPr>
            </a:lvl1pPr>
          </a:lstStyle>
          <a:p>
            <a:fld id="{67086F78-5A72-45AC-ADAF-23C36C98B13F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3" name="Diamond 2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4" name="Connector 3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1"/>
              </a:solidFill>
            </a:ln>
          </p:spPr>
        </p:cxnSp>
        <p:cxnSp>
          <p:nvCxnSpPr>
            <p:cNvPr id="5" name="Connector 4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1"/>
              </a:solidFill>
            </a:ln>
          </p:spPr>
        </p:cxnSp>
      </p:grpSp>
      <p:cxnSp>
        <p:nvCxnSpPr>
          <p:cNvPr id="6" name="Connector 5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sp>
        <p:nvSpPr>
          <p:cNvPr id="7" name="Diamond 6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ICE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ICE  ·  INSURANCE CHECK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보험 점검 시간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아이 이름으로 된 보험도 같이 적습니다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가족 점검 · 날짜 입력</a:t>
            </a:r>
          </a:p>
          <a:p>
            <a:r>
              <a:rPr lang="ko-KR"/>
              <a:t>가입 내용을 정리하고 함께 확인하는 양식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PROFILE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대상 현황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07FF-87AE-47ED-9555-CA2B6AFDC22C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2" cy="36576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682163"/>
                <a:gridCol w="2682163"/>
                <a:gridCol w="2682163"/>
                <a:gridCol w="2682163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1A1613"/>
                          </a:solidFill>
                        </a:rPr>
                        <a:t>구분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1A1613"/>
                          </a:solidFill>
                        </a:rPr>
                        <a:t>아빠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1A1613"/>
                          </a:solidFill>
                        </a:rPr>
                        <a:t>엄마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1A1613"/>
                          </a:solidFill>
                        </a:rPr>
                        <a:t>자녀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나이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직업·학교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메모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cover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POLICY LIST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가입한 보험 목록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DBA22-02F9-4BA7-AAE5-941763DA906A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5" cy="422452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011680"/>
                <a:gridCol w="3108960"/>
                <a:gridCol w="1828800"/>
                <a:gridCol w="1828800"/>
                <a:gridCol w="195041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보험회사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상품명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종류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만기일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월 보험료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cover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CHECKLIST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보장 항목 체크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7CE97-2350-403C-B76A-380EB38A0349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477316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657600"/>
                <a:gridCol w="2357018"/>
                <a:gridCol w="2357018"/>
                <a:gridCol w="235701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보장 항목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가입 확인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확인 필요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해당 없음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사망·재해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질병 진단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뇌·심장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입원·수술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상해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실손의료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연금·노후자금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cover dir="l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PREMIUM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월 보험료 한눈에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0C731-4CB8-4CCA-97C3-D8554799B919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2377440"/>
            <a:chOff x="731520" y="1828800"/>
            <a:chExt cx="3393338" cy="237744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2377440"/>
            </a:xfrm>
            <a:prstGeom prst="rect">
              <a:avLst/>
            </a:prstGeom>
            <a:solidFill>
              <a:schemeClr val="bg1">
                <a:alpha val="62000"/>
              </a:schemeClr>
            </a:solidFill>
            <a:ln w="9525">
              <a:solidFill>
                <a:schemeClr val="accent1">
                  <a:alpha val="80000"/>
                </a:schemeClr>
              </a:solidFill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보험료 합계</a:t>
              </a:r>
            </a:p>
          </p:txBody>
        </p:sp>
        <p:cxnSp>
          <p:nvCxnSpPr>
            <p:cNvPr id="9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10" name="카드 내용"/>
            <p:cNvSpPr txBox="1"/>
            <p:nvPr/>
          </p:nvSpPr>
          <p:spPr>
            <a:xfrm>
              <a:off x="914400" y="3456432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2377440"/>
            <a:chOff x="4399178" y="1828800"/>
            <a:chExt cx="3393338" cy="237744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2377440"/>
            </a:xfrm>
            <a:prstGeom prst="rect">
              <a:avLst/>
            </a:prstGeom>
            <a:solidFill>
              <a:schemeClr val="bg1">
                <a:alpha val="62000"/>
              </a:schemeClr>
            </a:solidFill>
            <a:ln w="9525">
              <a:solidFill>
                <a:schemeClr val="accent1">
                  <a:alpha val="80000"/>
                </a:schemeClr>
              </a:solidFill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4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연 보험료 합계</a:t>
              </a:r>
            </a:p>
          </p:txBody>
        </p:sp>
        <p:cxnSp>
          <p:nvCxnSpPr>
            <p:cNvPr id="15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16" name="카드 내용"/>
            <p:cNvSpPr txBox="1"/>
            <p:nvPr/>
          </p:nvSpPr>
          <p:spPr>
            <a:xfrm>
              <a:off x="4582058" y="3456432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8066836" y="1828800"/>
            <a:ext cx="3393338" cy="2377440"/>
            <a:chOff x="8066836" y="1828800"/>
            <a:chExt cx="3393338" cy="2377440"/>
          </a:xfrm>
        </p:grpSpPr>
        <p:sp>
          <p:nvSpPr>
            <p:cNvPr id="18" name="카드 바탕"/>
            <p:cNvSpPr/>
            <p:nvPr/>
          </p:nvSpPr>
          <p:spPr>
            <a:xfrm>
              <a:off x="8066836" y="1828800"/>
              <a:ext cx="3393338" cy="2377440"/>
            </a:xfrm>
            <a:prstGeom prst="rect">
              <a:avLst/>
            </a:prstGeom>
            <a:solidFill>
              <a:schemeClr val="bg1">
                <a:alpha val="62000"/>
              </a:schemeClr>
            </a:solidFill>
            <a:ln w="9525">
              <a:solidFill>
                <a:schemeClr val="accent1">
                  <a:alpha val="80000"/>
                </a:schemeClr>
              </a:solidFill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20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소득 대비</a:t>
              </a:r>
            </a:p>
          </p:txBody>
        </p:sp>
        <p:cxnSp>
          <p:nvCxnSpPr>
            <p:cNvPr id="21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22" name="카드 내용"/>
            <p:cNvSpPr txBox="1"/>
            <p:nvPr/>
          </p:nvSpPr>
          <p:spPr>
            <a:xfrm>
              <a:off x="8249716" y="3456432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0 %</a:t>
              </a:r>
            </a:p>
          </p:txBody>
        </p:sp>
      </p:grpSp>
      <p:graphicFrame>
        <p:nvGraphicFramePr>
          <p:cNvPr id="23" name="차트"/>
          <p:cNvGraphicFramePr>
            <a:graphicFrameLocks noGrp="1"/>
          </p:cNvGraphicFramePr>
          <p:nvPr/>
        </p:nvGraphicFramePr>
        <p:xfrm>
          <a:off x="731520" y="4389120"/>
          <a:ext cx="10728655" cy="1691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NEXT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메모와 다음 할 일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FE59E-F245-4C19-8CDA-BDF981F410A1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rect">
              <a:avLst/>
            </a:prstGeom>
            <a:solidFill>
              <a:schemeClr val="bg1">
                <a:alpha val="62000"/>
              </a:schemeClr>
            </a:solidFill>
            <a:ln w="9525">
              <a:solidFill>
                <a:schemeClr val="accent1">
                  <a:alpha val="80000"/>
                </a:schemeClr>
              </a:solidFill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확인할 것</a:t>
              </a:r>
            </a:p>
          </p:txBody>
        </p:sp>
        <p:cxnSp>
          <p:nvCxnSpPr>
            <p:cNvPr id="9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10" name="카드 내용"/>
            <p:cNvSpPr txBox="1"/>
            <p:nvPr/>
          </p:nvSpPr>
          <p:spPr>
            <a:xfrm>
              <a:off x="914400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rect">
              <a:avLst/>
            </a:prstGeom>
            <a:solidFill>
              <a:schemeClr val="bg1">
                <a:alpha val="62000"/>
              </a:schemeClr>
            </a:solidFill>
            <a:ln w="9525">
              <a:solidFill>
                <a:schemeClr val="accent1">
                  <a:alpha val="80000"/>
                </a:schemeClr>
              </a:solidFill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4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문의할 것</a:t>
              </a:r>
            </a:p>
          </p:txBody>
        </p:sp>
        <p:cxnSp>
          <p:nvCxnSpPr>
            <p:cNvPr id="15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16" name="카드 내용"/>
            <p:cNvSpPr txBox="1"/>
            <p:nvPr/>
          </p:nvSpPr>
          <p:spPr>
            <a:xfrm>
              <a:off x="4582058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18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rect">
              <a:avLst/>
            </a:prstGeom>
            <a:solidFill>
              <a:schemeClr val="bg1">
                <a:alpha val="62000"/>
              </a:schemeClr>
            </a:solidFill>
            <a:ln w="9525">
              <a:solidFill>
                <a:schemeClr val="accent1">
                  <a:alpha val="80000"/>
                </a:schemeClr>
              </a:solidFill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20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정리할 날짜</a:t>
              </a:r>
            </a:p>
          </p:txBody>
        </p:sp>
        <p:cxnSp>
          <p:nvCxnSpPr>
            <p:cNvPr id="21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22" name="카드 내용"/>
            <p:cNvSpPr txBox="1"/>
            <p:nvPr/>
          </p:nvSpPr>
          <p:spPr>
            <a:xfrm>
              <a:off x="8249716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sp>
        <p:nvSpPr>
          <p:cNvPr id="23" name="안내 문구"/>
          <p:cNvSpPr txBox="1"/>
          <p:nvPr/>
        </p:nvSpPr>
        <p:spPr>
          <a:xfrm>
            <a:off x="731520" y="5577840"/>
            <a:ext cx="1072865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보험 보장 점검 발표자료(가족 점검)">
  <a:themeElements>
    <a:clrScheme name="보험 보장 점검 발표자료(가족 점검)">
      <a:dk1>
        <a:srgbClr val="373F48"/>
      </a:dk1>
      <a:lt1>
        <a:srgbClr val="FBFCFE"/>
      </a:lt1>
      <a:dk2>
        <a:srgbClr val="21354F"/>
      </a:dk2>
      <a:lt2>
        <a:srgbClr val="F2F6FA"/>
      </a:lt2>
      <a:accent1>
        <a:srgbClr val="6C8EB6"/>
      </a:accent1>
      <a:accent2>
        <a:srgbClr val="AABDD2"/>
      </a:accent2>
      <a:accent3>
        <a:srgbClr val="5A6777"/>
      </a:accent3>
      <a:accent4>
        <a:srgbClr val="D7E1EC"/>
      </a:accent4>
      <a:accent5>
        <a:srgbClr val="C2CBD6"/>
      </a:accent5>
      <a:accent6>
        <a:srgbClr val="CAD7E4"/>
      </a:accent6>
      <a:hlink>
        <a:srgbClr val="21354F"/>
      </a:hlink>
      <a:folHlink>
        <a:srgbClr val="5A6777"/>
      </a:folHlink>
    </a:clrScheme>
    <a:fontScheme name="보험 보장 점검 발표자료(가족 점검)">
      <a:majorFont>
        <a:latin typeface="Century Gothic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발표자료(가족 점검)</dc:title>
  <dc:subject>보험 가입 내용 정리 양식 · 가족 점검</dc:subject>
  <dc:creator>반딧불이의 곳간</dc:creator>
  <cp:keywords>보험,점검,양식,PPT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