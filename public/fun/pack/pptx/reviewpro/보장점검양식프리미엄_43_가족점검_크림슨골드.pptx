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D4C7FB90-02BF-4DF9-864F-515B7C90A5A1}">
          <p14:sldIdLst>
            <p14:sldId id="256"/>
          </p14:sldIdLst>
        </p14:section>
        <p14:section name="본문" id="{448F4A6B-6E66-4892-ABE4-89A8A5A9B0C6}">
          <p14:sldIdLst>
            <p14:sldId id="257"/>
            <p14:sldId id="258"/>
            <p14:sldId id="259"/>
            <p14:sldId id="260"/>
            <p14:sldId id="261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월 보험료 비중(예시)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보장성</c:v>
                </c:pt>
                <c:pt idx="1">
                  <c:v>저축성</c:v>
                </c:pt>
                <c:pt idx="2">
                  <c:v>연금성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50</c:v>
                </c:pt>
                <c:pt idx="1">
                  <c:v>30</c:v>
                </c:pt>
                <c:pt idx="2">
                  <c:v>20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62"/>
      </c:doughnutChart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100">
          <a:solidFill>
            <a:schemeClr val="tx1"/>
          </a:solidFill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표의 칸을 눌러 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증권을 보고 그대로 옮겨 적으세요. 행은 Tab 키로 늘릴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해당하는 칸에 ✔ 표시를 직접 적어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숫자를 눌러 직접 고쳐 쓰세요. 오른쪽 도넛 차트는 예시이며 우클릭 &gt; [데이터 편집]으로 바꿉니다.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확인할 것·문의할 것·정리할 날짜를 적어 두세요.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pattFill prst="dotGrid">
          <a:fgClr>
            <a:schemeClr val="tx2"/>
          </a:fgClr>
          <a:bgClr>
            <a:schemeClr val="accent3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828754" y="2697479"/>
            <a:ext cx="8534186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1828754" y="3081527"/>
            <a:ext cx="8534186" cy="12344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2000"/>
              </a:lnSpc>
              <a:spcBef>
                <a:spcPts val="0"/>
              </a:spcBef>
              <a:buNone/>
              <a:defRPr sz="4200" b="0" spc="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1828754" y="4389120"/>
            <a:ext cx="8534186" cy="64008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E5E0E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1828754" y="5074920"/>
            <a:ext cx="8534186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CEC5C6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cxnSp>
        <p:nvCxnSpPr>
          <p:cNvPr id="2" name="Connector 1"/>
          <p:cNvCxnSpPr/>
          <p:nvPr/>
        </p:nvCxnSpPr>
        <p:spPr>
          <a:xfrm flipH="1" flipV="1">
            <a:off x="4114729" y="1982395"/>
            <a:ext cx="1485839" cy="261993"/>
          </a:xfrm>
          <a:prstGeom prst="line">
            <a:avLst/>
          </a:prstGeom>
          <a:ln w="6350" cap="rnd">
            <a:solidFill>
              <a:schemeClr val="accent2"/>
            </a:solidFill>
          </a:ln>
        </p:spPr>
      </p:cxnSp>
      <p:cxnSp>
        <p:nvCxnSpPr>
          <p:cNvPr id="3" name="Connector 2"/>
          <p:cNvCxnSpPr/>
          <p:nvPr/>
        </p:nvCxnSpPr>
        <p:spPr>
          <a:xfrm flipH="1" flipV="1">
            <a:off x="4205486" y="1643684"/>
            <a:ext cx="1417771" cy="516027"/>
          </a:xfrm>
          <a:prstGeom prst="line">
            <a:avLst/>
          </a:prstGeom>
          <a:ln w="6350" cap="rnd">
            <a:solidFill>
              <a:schemeClr val="accent2"/>
            </a:solidFill>
          </a:ln>
        </p:spPr>
      </p:cxnSp>
      <p:cxnSp>
        <p:nvCxnSpPr>
          <p:cNvPr id="4" name="Connector 3"/>
          <p:cNvCxnSpPr/>
          <p:nvPr/>
        </p:nvCxnSpPr>
        <p:spPr>
          <a:xfrm flipH="1" flipV="1">
            <a:off x="4353681" y="1325879"/>
            <a:ext cx="1306625" cy="754381"/>
          </a:xfrm>
          <a:prstGeom prst="line">
            <a:avLst/>
          </a:prstGeom>
          <a:ln w="6350" cap="rnd">
            <a:solidFill>
              <a:schemeClr val="accent2"/>
            </a:solidFill>
          </a:ln>
        </p:spPr>
      </p:cxnSp>
      <p:cxnSp>
        <p:nvCxnSpPr>
          <p:cNvPr id="5" name="Connector 4"/>
          <p:cNvCxnSpPr/>
          <p:nvPr/>
        </p:nvCxnSpPr>
        <p:spPr>
          <a:xfrm flipH="1" flipV="1">
            <a:off x="4554811" y="1038637"/>
            <a:ext cx="1155777" cy="969812"/>
          </a:xfrm>
          <a:prstGeom prst="line">
            <a:avLst/>
          </a:prstGeom>
          <a:ln w="6350" cap="rnd">
            <a:solidFill>
              <a:schemeClr val="accent2"/>
            </a:solidFill>
          </a:ln>
        </p:spPr>
      </p:cxnSp>
      <p:cxnSp>
        <p:nvCxnSpPr>
          <p:cNvPr id="6" name="Connector 5"/>
          <p:cNvCxnSpPr/>
          <p:nvPr/>
        </p:nvCxnSpPr>
        <p:spPr>
          <a:xfrm flipH="1" flipV="1">
            <a:off x="4802764" y="790683"/>
            <a:ext cx="969812" cy="1155777"/>
          </a:xfrm>
          <a:prstGeom prst="line">
            <a:avLst/>
          </a:prstGeom>
          <a:ln w="6350" cap="rnd">
            <a:solidFill>
              <a:schemeClr val="accent2"/>
            </a:solidFill>
          </a:ln>
        </p:spPr>
      </p:cxnSp>
      <p:cxnSp>
        <p:nvCxnSpPr>
          <p:cNvPr id="7" name="Connector 6"/>
          <p:cNvCxnSpPr/>
          <p:nvPr/>
        </p:nvCxnSpPr>
        <p:spPr>
          <a:xfrm flipH="1" flipV="1">
            <a:off x="5090007" y="589554"/>
            <a:ext cx="754380" cy="1306624"/>
          </a:xfrm>
          <a:prstGeom prst="line">
            <a:avLst/>
          </a:prstGeom>
          <a:ln w="6350" cap="rnd">
            <a:solidFill>
              <a:schemeClr val="accent2"/>
            </a:solidFill>
          </a:ln>
        </p:spPr>
      </p:cxnSp>
      <p:cxnSp>
        <p:nvCxnSpPr>
          <p:cNvPr id="8" name="Connector 7"/>
          <p:cNvCxnSpPr/>
          <p:nvPr/>
        </p:nvCxnSpPr>
        <p:spPr>
          <a:xfrm flipH="1" flipV="1">
            <a:off x="5407812" y="441359"/>
            <a:ext cx="516026" cy="1417770"/>
          </a:xfrm>
          <a:prstGeom prst="line">
            <a:avLst/>
          </a:prstGeom>
          <a:ln w="6350" cap="rnd">
            <a:solidFill>
              <a:schemeClr val="accent2"/>
            </a:solidFill>
          </a:ln>
        </p:spPr>
      </p:cxnSp>
      <p:cxnSp>
        <p:nvCxnSpPr>
          <p:cNvPr id="9" name="Connector 8"/>
          <p:cNvCxnSpPr/>
          <p:nvPr/>
        </p:nvCxnSpPr>
        <p:spPr>
          <a:xfrm flipH="1" flipV="1">
            <a:off x="5746523" y="350601"/>
            <a:ext cx="261993" cy="1485839"/>
          </a:xfrm>
          <a:prstGeom prst="line">
            <a:avLst/>
          </a:prstGeom>
          <a:ln w="6350" cap="rnd">
            <a:solidFill>
              <a:schemeClr val="accent2"/>
            </a:solidFill>
          </a:ln>
        </p:spPr>
      </p:cxnSp>
      <p:cxnSp>
        <p:nvCxnSpPr>
          <p:cNvPr id="10" name="Connector 9"/>
          <p:cNvCxnSpPr/>
          <p:nvPr/>
        </p:nvCxnSpPr>
        <p:spPr>
          <a:xfrm flipV="1">
            <a:off x="6095847" y="320039"/>
            <a:ext cx="0" cy="1508760"/>
          </a:xfrm>
          <a:prstGeom prst="line">
            <a:avLst/>
          </a:prstGeom>
          <a:ln w="6350" cap="rnd">
            <a:solidFill>
              <a:schemeClr val="accent2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6183178" y="350601"/>
            <a:ext cx="261994" cy="1485839"/>
          </a:xfrm>
          <a:prstGeom prst="line">
            <a:avLst/>
          </a:prstGeom>
          <a:ln w="6350" cap="rnd">
            <a:solidFill>
              <a:schemeClr val="accent2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6267856" y="441359"/>
            <a:ext cx="516026" cy="1417770"/>
          </a:xfrm>
          <a:prstGeom prst="line">
            <a:avLst/>
          </a:prstGeom>
          <a:ln w="6350" cap="rnd">
            <a:solidFill>
              <a:schemeClr val="accent2"/>
            </a:solidFill>
          </a:ln>
        </p:spPr>
      </p:cxnSp>
      <p:cxnSp>
        <p:nvCxnSpPr>
          <p:cNvPr id="13" name="Connector 12"/>
          <p:cNvCxnSpPr/>
          <p:nvPr/>
        </p:nvCxnSpPr>
        <p:spPr>
          <a:xfrm flipV="1">
            <a:off x="6347307" y="589554"/>
            <a:ext cx="754380" cy="1306624"/>
          </a:xfrm>
          <a:prstGeom prst="line">
            <a:avLst/>
          </a:prstGeom>
          <a:ln w="6350" cap="rnd">
            <a:solidFill>
              <a:schemeClr val="accent2"/>
            </a:solidFill>
          </a:ln>
        </p:spPr>
      </p:cxnSp>
      <p:cxnSp>
        <p:nvCxnSpPr>
          <p:cNvPr id="14" name="Connector 13"/>
          <p:cNvCxnSpPr/>
          <p:nvPr/>
        </p:nvCxnSpPr>
        <p:spPr>
          <a:xfrm flipV="1">
            <a:off x="6419118" y="790683"/>
            <a:ext cx="969812" cy="1155777"/>
          </a:xfrm>
          <a:prstGeom prst="line">
            <a:avLst/>
          </a:prstGeom>
          <a:ln w="6350" cap="rnd">
            <a:solidFill>
              <a:schemeClr val="accent2"/>
            </a:solidFill>
          </a:ln>
        </p:spPr>
      </p:cxnSp>
      <p:cxnSp>
        <p:nvCxnSpPr>
          <p:cNvPr id="15" name="Connector 14"/>
          <p:cNvCxnSpPr/>
          <p:nvPr/>
        </p:nvCxnSpPr>
        <p:spPr>
          <a:xfrm flipV="1">
            <a:off x="6481106" y="1038637"/>
            <a:ext cx="1155777" cy="969812"/>
          </a:xfrm>
          <a:prstGeom prst="line">
            <a:avLst/>
          </a:prstGeom>
          <a:ln w="6350" cap="rnd">
            <a:solidFill>
              <a:schemeClr val="accent2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6531389" y="1325879"/>
            <a:ext cx="1306624" cy="754380"/>
          </a:xfrm>
          <a:prstGeom prst="line">
            <a:avLst/>
          </a:prstGeom>
          <a:ln w="6350" cap="rnd">
            <a:solidFill>
              <a:schemeClr val="accent2"/>
            </a:solidFill>
          </a:ln>
        </p:spPr>
      </p:cxnSp>
      <p:cxnSp>
        <p:nvCxnSpPr>
          <p:cNvPr id="17" name="Connector 16"/>
          <p:cNvCxnSpPr/>
          <p:nvPr/>
        </p:nvCxnSpPr>
        <p:spPr>
          <a:xfrm flipV="1">
            <a:off x="6568437" y="1643684"/>
            <a:ext cx="1417771" cy="516027"/>
          </a:xfrm>
          <a:prstGeom prst="line">
            <a:avLst/>
          </a:prstGeom>
          <a:ln w="6350" cap="rnd">
            <a:solidFill>
              <a:schemeClr val="accent2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6591127" y="1982395"/>
            <a:ext cx="1485838" cy="261993"/>
          </a:xfrm>
          <a:prstGeom prst="line">
            <a:avLst/>
          </a:prstGeom>
          <a:ln w="6350" cap="rnd">
            <a:solidFill>
              <a:schemeClr val="accent2"/>
            </a:solidFill>
          </a:ln>
        </p:spPr>
      </p:cxnSp>
      <p:sp>
        <p:nvSpPr>
          <p:cNvPr id="19" name="Arc 18"/>
          <p:cNvSpPr/>
          <p:nvPr/>
        </p:nvSpPr>
        <p:spPr>
          <a:xfrm>
            <a:off x="5592927" y="1828799"/>
            <a:ext cx="1005840" cy="1005840"/>
          </a:xfrm>
          <a:prstGeom prst="arc">
            <a:avLst>
              <a:gd name="adj1" fmla="val 10800000"/>
              <a:gd name="adj2" fmla="val 0"/>
            </a:avLst>
          </a:prstGeom>
          <a:noFill/>
          <a:ln w="9525">
            <a:solidFill>
              <a:schemeClr val="accent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Arc 19"/>
          <p:cNvSpPr/>
          <p:nvPr/>
        </p:nvSpPr>
        <p:spPr>
          <a:xfrm>
            <a:off x="4989423" y="1225295"/>
            <a:ext cx="2212848" cy="2212848"/>
          </a:xfrm>
          <a:prstGeom prst="arc">
            <a:avLst>
              <a:gd name="adj1" fmla="val 10800000"/>
              <a:gd name="adj2" fmla="val 0"/>
            </a:avLst>
          </a:prstGeom>
          <a:noFill/>
          <a:ln w="9525">
            <a:solidFill>
              <a:schemeClr val="accent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Arc 20"/>
          <p:cNvSpPr/>
          <p:nvPr/>
        </p:nvSpPr>
        <p:spPr>
          <a:xfrm>
            <a:off x="4486503" y="722375"/>
            <a:ext cx="3218688" cy="3218688"/>
          </a:xfrm>
          <a:prstGeom prst="arc">
            <a:avLst>
              <a:gd name="adj1" fmla="val 10800000"/>
              <a:gd name="adj2" fmla="val 0"/>
            </a:avLst>
          </a:prstGeom>
          <a:noFill/>
          <a:ln w="9525">
            <a:solidFill>
              <a:schemeClr val="accent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Arc 21"/>
          <p:cNvSpPr/>
          <p:nvPr/>
        </p:nvSpPr>
        <p:spPr>
          <a:xfrm>
            <a:off x="4084167" y="320039"/>
            <a:ext cx="4023360" cy="4023360"/>
          </a:xfrm>
          <a:prstGeom prst="arc">
            <a:avLst>
              <a:gd name="adj1" fmla="val 10800000"/>
              <a:gd name="adj2" fmla="val 0"/>
            </a:avLst>
          </a:prstGeom>
          <a:noFill/>
          <a:ln w="19050">
            <a:solidFill>
              <a:schemeClr val="accent2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3535527" y="2331720"/>
            <a:ext cx="5120640" cy="0"/>
          </a:xfrm>
          <a:prstGeom prst="line">
            <a:avLst/>
          </a:prstGeom>
          <a:ln w="9525" cap="rnd">
            <a:solidFill>
              <a:schemeClr val="accent2"/>
            </a:solidFill>
          </a:ln>
        </p:spPr>
      </p:cxnSp>
      <p:sp>
        <p:nvSpPr>
          <p:cNvPr id="24" name="Diamond 23"/>
          <p:cNvSpPr/>
          <p:nvPr/>
        </p:nvSpPr>
        <p:spPr>
          <a:xfrm>
            <a:off x="6004407" y="2240279"/>
            <a:ext cx="182880" cy="182880"/>
          </a:xfrm>
          <a:prstGeom prst="diamond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바깥 선"/>
          <p:cNvSpPr/>
          <p:nvPr/>
        </p:nvSpPr>
        <p:spPr>
          <a:xfrm>
            <a:off x="292608" y="292608"/>
            <a:ext cx="11606479" cy="6272784"/>
          </a:xfrm>
          <a:prstGeom prst="rect">
            <a:avLst/>
          </a:prstGeom>
          <a:noFill/>
          <a:ln w="15875">
            <a:solidFill>
              <a:schemeClr val="accent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안쪽 선"/>
          <p:cNvSpPr/>
          <p:nvPr/>
        </p:nvSpPr>
        <p:spPr>
          <a:xfrm>
            <a:off x="384048" y="384048"/>
            <a:ext cx="11423599" cy="6089904"/>
          </a:xfrm>
          <a:prstGeom prst="rect">
            <a:avLst/>
          </a:prstGeom>
          <a:noFill/>
          <a:ln w="6350">
            <a:solidFill>
              <a:schemeClr val="accent2"/>
            </a:solidFill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pattFill prst="smGrid">
          <a:fgClr>
            <a:schemeClr val="accent1">
              <a:lumMod val="10000"/>
              <a:lumOff val="90000"/>
            </a:schemeClr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30"/>
          </p:nvPr>
        </p:nvSpPr>
        <p:spPr>
          <a:xfrm>
            <a:off x="11505895" y="914400"/>
            <a:ext cx="594359" cy="4663440"/>
          </a:xfrm>
          <a:noFill/>
        </p:spPr>
        <p:txBody>
          <a:bodyPr lIns="45720" rIns="45720" tIns="27432" bIns="27432" anchor="ctr" vert="vert270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000" b="0" spc="90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11414455" y="6172200"/>
            <a:ext cx="77724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1" spc="0">
                <a:solidFill>
                  <a:srgbClr val="FFFFFF"/>
                </a:solidFill>
              </a:defRPr>
            </a:lvl1pPr>
          </a:lstStyle>
          <a:p>
            <a:fld id="{919DCE47-75E1-4E2F-81B9-2FFCF7FBEBED}" type="slidenum">
              <a:rPr lang="en-US"/>
              <a:t>‹#›</a:t>
            </a:fld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640080" y="365760"/>
            <a:ext cx="10134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제목"/>
          <p:cNvSpPr>
            <a:spLocks noGrp="1"/>
          </p:cNvSpPr>
          <p:nvPr>
            <p:ph type="title"/>
          </p:nvPr>
        </p:nvSpPr>
        <p:spPr>
          <a:xfrm>
            <a:off x="640080" y="658368"/>
            <a:ext cx="1013429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2" name="옆 띠"/>
          <p:cNvSpPr/>
          <p:nvPr/>
        </p:nvSpPr>
        <p:spPr>
          <a:xfrm>
            <a:off x="11414455" y="0"/>
            <a:ext cx="777240" cy="68580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640080" y="1572768"/>
            <a:ext cx="1280159" cy="0"/>
          </a:xfrm>
          <a:prstGeom prst="line">
            <a:avLst/>
          </a:prstGeom>
          <a:ln w="31750" cap="rnd">
            <a:solidFill>
              <a:schemeClr val="accent2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1920239" y="1572768"/>
            <a:ext cx="8854136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828754" y="2697479"/>
            <a:ext cx="8534186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1828754" y="3081527"/>
            <a:ext cx="8534186" cy="12344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2000"/>
              </a:lnSpc>
              <a:spcBef>
                <a:spcPts val="0"/>
              </a:spcBef>
              <a:buNone/>
              <a:defRPr sz="42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1828754" y="4389120"/>
            <a:ext cx="8534186" cy="64008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1828754" y="5074920"/>
            <a:ext cx="8534186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cxnSp>
        <p:nvCxnSpPr>
          <p:cNvPr id="2" name="Connector 1"/>
          <p:cNvCxnSpPr/>
          <p:nvPr/>
        </p:nvCxnSpPr>
        <p:spPr>
          <a:xfrm flipH="1" flipV="1">
            <a:off x="4114729" y="1982395"/>
            <a:ext cx="1485839" cy="261993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3" name="Connector 2"/>
          <p:cNvCxnSpPr/>
          <p:nvPr/>
        </p:nvCxnSpPr>
        <p:spPr>
          <a:xfrm flipH="1" flipV="1">
            <a:off x="4205486" y="1643684"/>
            <a:ext cx="1417771" cy="516027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4" name="Connector 3"/>
          <p:cNvCxnSpPr/>
          <p:nvPr/>
        </p:nvCxnSpPr>
        <p:spPr>
          <a:xfrm flipH="1" flipV="1">
            <a:off x="4353681" y="1325879"/>
            <a:ext cx="1306625" cy="75438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5" name="Connector 4"/>
          <p:cNvCxnSpPr/>
          <p:nvPr/>
        </p:nvCxnSpPr>
        <p:spPr>
          <a:xfrm flipH="1" flipV="1">
            <a:off x="4554811" y="1038637"/>
            <a:ext cx="1155777" cy="96981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6" name="Connector 5"/>
          <p:cNvCxnSpPr/>
          <p:nvPr/>
        </p:nvCxnSpPr>
        <p:spPr>
          <a:xfrm flipH="1" flipV="1">
            <a:off x="4802764" y="790683"/>
            <a:ext cx="969812" cy="1155777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7" name="Connector 6"/>
          <p:cNvCxnSpPr/>
          <p:nvPr/>
        </p:nvCxnSpPr>
        <p:spPr>
          <a:xfrm flipH="1" flipV="1">
            <a:off x="5090007" y="589554"/>
            <a:ext cx="754380" cy="1306624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8" name="Connector 7"/>
          <p:cNvCxnSpPr/>
          <p:nvPr/>
        </p:nvCxnSpPr>
        <p:spPr>
          <a:xfrm flipH="1" flipV="1">
            <a:off x="5407812" y="441359"/>
            <a:ext cx="516026" cy="141777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9" name="Connector 8"/>
          <p:cNvCxnSpPr/>
          <p:nvPr/>
        </p:nvCxnSpPr>
        <p:spPr>
          <a:xfrm flipH="1" flipV="1">
            <a:off x="5746523" y="350601"/>
            <a:ext cx="261993" cy="1485839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0" name="Connector 9"/>
          <p:cNvCxnSpPr/>
          <p:nvPr/>
        </p:nvCxnSpPr>
        <p:spPr>
          <a:xfrm flipV="1">
            <a:off x="6095847" y="320039"/>
            <a:ext cx="0" cy="150876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6183178" y="350601"/>
            <a:ext cx="261994" cy="1485839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6267856" y="441359"/>
            <a:ext cx="516026" cy="141777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3" name="Connector 12"/>
          <p:cNvCxnSpPr/>
          <p:nvPr/>
        </p:nvCxnSpPr>
        <p:spPr>
          <a:xfrm flipV="1">
            <a:off x="6347307" y="589554"/>
            <a:ext cx="754380" cy="1306624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4" name="Connector 13"/>
          <p:cNvCxnSpPr/>
          <p:nvPr/>
        </p:nvCxnSpPr>
        <p:spPr>
          <a:xfrm flipV="1">
            <a:off x="6419118" y="790683"/>
            <a:ext cx="969812" cy="1155777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5" name="Connector 14"/>
          <p:cNvCxnSpPr/>
          <p:nvPr/>
        </p:nvCxnSpPr>
        <p:spPr>
          <a:xfrm flipV="1">
            <a:off x="6481106" y="1038637"/>
            <a:ext cx="1155777" cy="96981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6531389" y="1325879"/>
            <a:ext cx="1306624" cy="75438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7" name="Connector 16"/>
          <p:cNvCxnSpPr/>
          <p:nvPr/>
        </p:nvCxnSpPr>
        <p:spPr>
          <a:xfrm flipV="1">
            <a:off x="6568437" y="1643684"/>
            <a:ext cx="1417771" cy="516027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6591127" y="1982395"/>
            <a:ext cx="1485838" cy="261993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sp>
        <p:nvSpPr>
          <p:cNvPr id="19" name="Arc 18"/>
          <p:cNvSpPr/>
          <p:nvPr/>
        </p:nvSpPr>
        <p:spPr>
          <a:xfrm>
            <a:off x="5592927" y="1828799"/>
            <a:ext cx="1005840" cy="1005840"/>
          </a:xfrm>
          <a:prstGeom prst="arc">
            <a:avLst>
              <a:gd name="adj1" fmla="val 108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Arc 19"/>
          <p:cNvSpPr/>
          <p:nvPr/>
        </p:nvSpPr>
        <p:spPr>
          <a:xfrm>
            <a:off x="4989423" y="1225295"/>
            <a:ext cx="2212848" cy="2212848"/>
          </a:xfrm>
          <a:prstGeom prst="arc">
            <a:avLst>
              <a:gd name="adj1" fmla="val 108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Arc 20"/>
          <p:cNvSpPr/>
          <p:nvPr/>
        </p:nvSpPr>
        <p:spPr>
          <a:xfrm>
            <a:off x="4486503" y="722375"/>
            <a:ext cx="3218688" cy="3218688"/>
          </a:xfrm>
          <a:prstGeom prst="arc">
            <a:avLst>
              <a:gd name="adj1" fmla="val 108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Arc 21"/>
          <p:cNvSpPr/>
          <p:nvPr/>
        </p:nvSpPr>
        <p:spPr>
          <a:xfrm>
            <a:off x="4084167" y="320039"/>
            <a:ext cx="4023360" cy="4023360"/>
          </a:xfrm>
          <a:prstGeom prst="arc">
            <a:avLst>
              <a:gd name="adj1" fmla="val 10800000"/>
              <a:gd name="adj2" fmla="val 0"/>
            </a:avLst>
          </a:prstGeom>
          <a:noFill/>
          <a:ln w="190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3535527" y="2331720"/>
            <a:ext cx="512064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24" name="Diamond 23"/>
          <p:cNvSpPr/>
          <p:nvPr/>
        </p:nvSpPr>
        <p:spPr>
          <a:xfrm>
            <a:off x="6004407" y="2240279"/>
            <a:ext cx="182880" cy="182880"/>
          </a:xfrm>
          <a:prstGeom prst="diamond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바깥 선"/>
          <p:cNvSpPr/>
          <p:nvPr/>
        </p:nvSpPr>
        <p:spPr>
          <a:xfrm>
            <a:off x="292608" y="292608"/>
            <a:ext cx="11606479" cy="6272784"/>
          </a:xfrm>
          <a:prstGeom prst="rect">
            <a:avLst/>
          </a:prstGeom>
          <a:noFill/>
          <a:ln w="1587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안쪽 선"/>
          <p:cNvSpPr/>
          <p:nvPr/>
        </p:nvSpPr>
        <p:spPr>
          <a:xfrm>
            <a:off x="384048" y="384048"/>
            <a:ext cx="11423599" cy="6089904"/>
          </a:xfrm>
          <a:prstGeom prst="rect">
            <a:avLst/>
          </a:prstGeom>
          <a:noFill/>
          <a:ln w="63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pattFill prst="smGrid">
          <a:fgClr>
            <a:schemeClr val="accent1">
              <a:lumMod val="10000"/>
              <a:lumOff val="90000"/>
            </a:schemeClr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30"/>
          </p:nvPr>
        </p:nvSpPr>
        <p:spPr>
          <a:xfrm>
            <a:off x="11505895" y="914400"/>
            <a:ext cx="594359" cy="4663440"/>
          </a:xfrm>
          <a:noFill/>
        </p:spPr>
        <p:txBody>
          <a:bodyPr lIns="45720" rIns="45720" tIns="27432" bIns="27432" anchor="ctr" vert="vert270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000" b="0" spc="90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11414455" y="6172200"/>
            <a:ext cx="77724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1" spc="0">
                <a:solidFill>
                  <a:srgbClr val="FFFFFF"/>
                </a:solidFill>
              </a:defRPr>
            </a:lvl1pPr>
          </a:lstStyle>
          <a:p>
            <a:fld id="{BB9071E3-F3E1-4C02-8FD0-D8ACEF3FE472}" type="slidenum">
              <a:rPr lang="en-US"/>
              <a:t>‹#›</a:t>
            </a:fld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640080" y="365760"/>
            <a:ext cx="10134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제목"/>
          <p:cNvSpPr>
            <a:spLocks noGrp="1"/>
          </p:cNvSpPr>
          <p:nvPr>
            <p:ph type="title"/>
          </p:nvPr>
        </p:nvSpPr>
        <p:spPr>
          <a:xfrm>
            <a:off x="640080" y="658368"/>
            <a:ext cx="1013429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5" name="사진 1"/>
          <p:cNvSpPr>
            <a:spLocks noGrp="1"/>
          </p:cNvSpPr>
          <p:nvPr>
            <p:ph type="pic" sz="quarter" idx="13"/>
          </p:nvPr>
        </p:nvSpPr>
        <p:spPr>
          <a:xfrm>
            <a:off x="64008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2"/>
          <p:cNvSpPr>
            <a:spLocks noGrp="1"/>
          </p:cNvSpPr>
          <p:nvPr>
            <p:ph type="pic" sz="quarter" idx="14"/>
          </p:nvPr>
        </p:nvSpPr>
        <p:spPr>
          <a:xfrm>
            <a:off x="201168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3"/>
          <p:cNvSpPr>
            <a:spLocks noGrp="1"/>
          </p:cNvSpPr>
          <p:nvPr>
            <p:ph type="pic" sz="quarter" idx="15"/>
          </p:nvPr>
        </p:nvSpPr>
        <p:spPr>
          <a:xfrm>
            <a:off x="338328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4"/>
          <p:cNvSpPr>
            <a:spLocks noGrp="1"/>
          </p:cNvSpPr>
          <p:nvPr>
            <p:ph type="pic" sz="quarter" idx="16"/>
          </p:nvPr>
        </p:nvSpPr>
        <p:spPr>
          <a:xfrm>
            <a:off x="475488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5"/>
          <p:cNvSpPr>
            <a:spLocks noGrp="1"/>
          </p:cNvSpPr>
          <p:nvPr>
            <p:ph type="pic" sz="quarter" idx="17"/>
          </p:nvPr>
        </p:nvSpPr>
        <p:spPr>
          <a:xfrm>
            <a:off x="64008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6"/>
          <p:cNvSpPr>
            <a:spLocks noGrp="1"/>
          </p:cNvSpPr>
          <p:nvPr>
            <p:ph type="pic" sz="quarter" idx="18"/>
          </p:nvPr>
        </p:nvSpPr>
        <p:spPr>
          <a:xfrm>
            <a:off x="201168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7"/>
          <p:cNvSpPr>
            <a:spLocks noGrp="1"/>
          </p:cNvSpPr>
          <p:nvPr>
            <p:ph type="pic" sz="quarter" idx="19"/>
          </p:nvPr>
        </p:nvSpPr>
        <p:spPr>
          <a:xfrm>
            <a:off x="338328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2" name="사진 8"/>
          <p:cNvSpPr>
            <a:spLocks noGrp="1"/>
          </p:cNvSpPr>
          <p:nvPr>
            <p:ph type="pic" sz="quarter" idx="20"/>
          </p:nvPr>
        </p:nvSpPr>
        <p:spPr>
          <a:xfrm>
            <a:off x="475488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옆 띠"/>
          <p:cNvSpPr/>
          <p:nvPr/>
        </p:nvSpPr>
        <p:spPr>
          <a:xfrm>
            <a:off x="11414455" y="0"/>
            <a:ext cx="777240" cy="68580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640080" y="1572768"/>
            <a:ext cx="1280159" cy="0"/>
          </a:xfrm>
          <a:prstGeom prst="line">
            <a:avLst/>
          </a:prstGeom>
          <a:ln w="31750" cap="rnd">
            <a:solidFill>
              <a:schemeClr val="accent2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1920239" y="1572768"/>
            <a:ext cx="8854136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pattFill prst="smGrid">
          <a:fgClr>
            <a:schemeClr val="accent1">
              <a:lumMod val="10000"/>
              <a:lumOff val="90000"/>
            </a:schemeClr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30"/>
          </p:nvPr>
        </p:nvSpPr>
        <p:spPr>
          <a:xfrm>
            <a:off x="11505895" y="914400"/>
            <a:ext cx="594359" cy="4663440"/>
          </a:xfrm>
          <a:noFill/>
        </p:spPr>
        <p:txBody>
          <a:bodyPr lIns="45720" rIns="45720" tIns="27432" bIns="27432" anchor="ctr" vert="vert270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000" b="0" spc="90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11414455" y="6172200"/>
            <a:ext cx="77724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1" spc="0">
                <a:solidFill>
                  <a:srgbClr val="FFFFFF"/>
                </a:solidFill>
              </a:defRPr>
            </a:lvl1pPr>
          </a:lstStyle>
          <a:p>
            <a:fld id="{CDBF768C-76C1-4666-83B3-25F4E77E01A3}" type="slidenum">
              <a:rPr lang="en-US"/>
              <a:t>‹#›</a:t>
            </a:fld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640080" y="365760"/>
            <a:ext cx="10134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옆 띠"/>
          <p:cNvSpPr/>
          <p:nvPr/>
        </p:nvSpPr>
        <p:spPr>
          <a:xfrm>
            <a:off x="11414455" y="0"/>
            <a:ext cx="777240" cy="68580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3" name="따옴표 장식"/>
          <p:cNvGrpSpPr/>
          <p:nvPr/>
        </p:nvGrpSpPr>
        <p:grpSpPr>
          <a:xfrm>
            <a:off x="5592927" y="1520189"/>
            <a:ext cx="1005840" cy="251460"/>
            <a:chOff x="5592927" y="1520189"/>
            <a:chExt cx="1005840" cy="251460"/>
          </a:xfrm>
        </p:grpSpPr>
        <p:sp>
          <p:nvSpPr>
            <p:cNvPr id="4" name="Diamond 3"/>
            <p:cNvSpPr/>
            <p:nvPr/>
          </p:nvSpPr>
          <p:spPr>
            <a:xfrm>
              <a:off x="5970117" y="1520189"/>
              <a:ext cx="251460" cy="251460"/>
            </a:xfrm>
            <a:prstGeom prst="diamond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5" name="Connector 4"/>
            <p:cNvCxnSpPr/>
            <p:nvPr/>
          </p:nvCxnSpPr>
          <p:spPr>
            <a:xfrm>
              <a:off x="559292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  <p:cxnSp>
          <p:nvCxnSpPr>
            <p:cNvPr id="6" name="Connector 5"/>
            <p:cNvCxnSpPr/>
            <p:nvPr/>
          </p:nvCxnSpPr>
          <p:spPr>
            <a:xfrm>
              <a:off x="630158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</p:grpSp>
      <p:cxnSp>
        <p:nvCxnSpPr>
          <p:cNvPr id="7" name="Connector 6"/>
          <p:cNvCxnSpPr/>
          <p:nvPr/>
        </p:nvCxnSpPr>
        <p:spPr>
          <a:xfrm>
            <a:off x="5547207" y="5349240"/>
            <a:ext cx="109728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8" name="Diamond 7"/>
          <p:cNvSpPr/>
          <p:nvPr/>
        </p:nvSpPr>
        <p:spPr>
          <a:xfrm>
            <a:off x="6036411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CRIMSON  ·  INSURANCE CHECK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우리 보험 점검 시간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시간 날 때 한 번 정리합니다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가족 점검 · 날짜 입력</a:t>
            </a:r>
          </a:p>
          <a:p>
            <a:r>
              <a:rPr lang="ko-KR"/>
              <a:t>가입 내용을 정리하고 함께 확인하는 양식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CRIMSON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PROFILE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점검 대상 현황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FAAED-586B-4086-A389-DE2472BD9408}" type="slidenum">
              <a:rPr lang="en-US"/>
              <a:t>‹#›</a:t>
            </a:fld>
            <a:endParaRPr lang="en-US"/>
          </a:p>
        </p:txBody>
      </p:sp>
      <p:graphicFrame>
        <p:nvGraphicFramePr>
          <p:cNvPr id="6" name="표"/>
          <p:cNvGraphicFramePr>
            <a:graphicFrameLocks noGrp="1"/>
          </p:cNvGraphicFramePr>
          <p:nvPr/>
        </p:nvGraphicFramePr>
        <p:xfrm>
          <a:off x="640080" y="1828800"/>
          <a:ext cx="10134292" cy="3657600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533573"/>
                <a:gridCol w="2533573"/>
                <a:gridCol w="2533573"/>
                <a:gridCol w="2533573"/>
              </a:tblGrid>
              <a:tr h="731520">
                <a:tc>
                  <a:txBody>
                    <a:bodyPr wrap="square"/>
                    <a:lstStyle/>
                    <a:p>
                      <a:pPr algn="ctr"/>
                      <a:r>
                        <a:rPr sz="1600" b="1" lang="ko-KR">
                          <a:solidFill>
                            <a:srgbClr val="FFFFFF"/>
                          </a:solidFill>
                        </a:rPr>
                        <a:t>구분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 lang="ko-KR">
                          <a:solidFill>
                            <a:srgbClr val="FFFFFF"/>
                          </a:solidFill>
                        </a:rPr>
                        <a:t>아빠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 lang="ko-KR">
                          <a:solidFill>
                            <a:srgbClr val="FFFFFF"/>
                          </a:solidFill>
                        </a:rPr>
                        <a:t>엄마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 lang="ko-KR">
                          <a:solidFill>
                            <a:srgbClr val="FFFFFF"/>
                          </a:solidFill>
                        </a:rPr>
                        <a:t>자녀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이름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나이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직업·학교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메모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push dir="u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CRIMSON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POLICY LIST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가입한 보험 목록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AA096-615A-43CD-AD18-5BF07B27B952}" type="slidenum">
              <a:rPr lang="en-US"/>
              <a:t>‹#›</a:t>
            </a:fld>
            <a:endParaRPr lang="en-US"/>
          </a:p>
        </p:txBody>
      </p:sp>
      <p:graphicFrame>
        <p:nvGraphicFramePr>
          <p:cNvPr id="6" name="표"/>
          <p:cNvGraphicFramePr>
            <a:graphicFrameLocks noGrp="1"/>
          </p:cNvGraphicFramePr>
          <p:nvPr/>
        </p:nvGraphicFramePr>
        <p:xfrm>
          <a:off x="640080" y="1828800"/>
          <a:ext cx="10134295" cy="422452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011680"/>
                <a:gridCol w="3108960"/>
                <a:gridCol w="1828800"/>
                <a:gridCol w="1828800"/>
                <a:gridCol w="1356055"/>
              </a:tblGrid>
              <a:tr h="603504"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FFFFFF"/>
                          </a:solidFill>
                        </a:rPr>
                        <a:t>보험회사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FFFFFF"/>
                          </a:solidFill>
                        </a:rPr>
                        <a:t>상품명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FFFFFF"/>
                          </a:solidFill>
                        </a:rPr>
                        <a:t>종류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FFFFFF"/>
                          </a:solidFill>
                        </a:rPr>
                        <a:t>만기일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FFFFFF"/>
                          </a:solidFill>
                        </a:rPr>
                        <a:t>월 보험료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push dir="u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CRIMSON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CHECKLIST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보장 항목 체크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7E9CB-BC4D-462F-AFC1-27985D6EC034}" type="slidenum">
              <a:rPr lang="en-US"/>
              <a:t>‹#›</a:t>
            </a:fld>
            <a:endParaRPr lang="en-US"/>
          </a:p>
        </p:txBody>
      </p:sp>
      <p:graphicFrame>
        <p:nvGraphicFramePr>
          <p:cNvPr id="6" name="표"/>
          <p:cNvGraphicFramePr>
            <a:graphicFrameLocks noGrp="1"/>
          </p:cNvGraphicFramePr>
          <p:nvPr/>
        </p:nvGraphicFramePr>
        <p:xfrm>
          <a:off x="640080" y="1828800"/>
          <a:ext cx="10134294" cy="477316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3657600"/>
                <a:gridCol w="2158898"/>
                <a:gridCol w="2158898"/>
                <a:gridCol w="2158898"/>
              </a:tblGrid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FFFFFF"/>
                          </a:solidFill>
                        </a:rPr>
                        <a:t>보장 항목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FFFFFF"/>
                          </a:solidFill>
                        </a:rPr>
                        <a:t>가입 확인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FFFFFF"/>
                          </a:solidFill>
                        </a:rPr>
                        <a:t>확인 필요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FFFFFF"/>
                          </a:solidFill>
                        </a:rPr>
                        <a:t>해당 없음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사망·재해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질병 진단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뇌·심장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입원·수술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상해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실손의료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연금·노후자금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push dir="u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CRIMSON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PREMIUM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월 보험료 한눈에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171DC-8B7C-48D7-89CE-9EF7477DB1F2}" type="slidenum">
              <a:rPr lang="en-US"/>
              <a:t>‹#›</a:t>
            </a:fld>
            <a:endParaRPr lang="en-US"/>
          </a:p>
        </p:txBody>
      </p:sp>
      <p:grpSp>
        <p:nvGrpSpPr>
          <p:cNvPr id="6" name="카드 1"/>
          <p:cNvGrpSpPr/>
          <p:nvPr/>
        </p:nvGrpSpPr>
        <p:grpSpPr>
          <a:xfrm>
            <a:off x="640080" y="1828800"/>
            <a:ext cx="3195218" cy="2377440"/>
            <a:chOff x="640080" y="1828800"/>
            <a:chExt cx="3195218" cy="2377440"/>
          </a:xfrm>
        </p:grpSpPr>
        <p:sp>
          <p:nvSpPr>
            <p:cNvPr id="7" name="카드 바탕"/>
            <p:cNvSpPr/>
            <p:nvPr/>
          </p:nvSpPr>
          <p:spPr>
            <a:xfrm>
              <a:off x="640080" y="1828800"/>
              <a:ext cx="3195218" cy="2377440"/>
            </a:xfrm>
            <a:prstGeom prst="snip2DiagRect">
              <a:avLst>
                <a:gd name="adj1" fmla="val 11000"/>
                <a:gd name="adj2" fmla="val 0"/>
              </a:avLst>
            </a:prstGeom>
            <a:solidFill>
              <a:schemeClr val="bg1"/>
            </a:solidFill>
            <a:ln w="9525">
              <a:solidFill>
                <a:schemeClr val="accent5">
                  <a:alpha val="85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번호 1"/>
            <p:cNvSpPr/>
            <p:nvPr/>
          </p:nvSpPr>
          <p:spPr>
            <a:xfrm>
              <a:off x="822959" y="2039112"/>
              <a:ext cx="548640" cy="548640"/>
            </a:xfrm>
            <a:prstGeom prst="diamond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300" b="1" i="0" lang="ko-KR">
                  <a:solidFill>
                    <a:srgbClr val="FFFFFF"/>
                  </a:solidFill>
                </a:rPr>
                <a:t>1</a:t>
              </a:r>
            </a:p>
          </p:txBody>
        </p:sp>
        <p:sp>
          <p:nvSpPr>
            <p:cNvPr id="9" name="카드 제목"/>
            <p:cNvSpPr txBox="1"/>
            <p:nvPr/>
          </p:nvSpPr>
          <p:spPr>
            <a:xfrm>
              <a:off x="822959" y="2697480"/>
              <a:ext cx="282945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1" i="0" lang="ko-KR">
                  <a:solidFill>
                    <a:schemeClr val="tx2"/>
                  </a:solidFill>
                  <a:latin typeface="+mj-lt"/>
                  <a:ea typeface="+mj-ea"/>
                </a:rPr>
                <a:t>월 보험료 합계</a:t>
              </a:r>
            </a:p>
          </p:txBody>
        </p:sp>
        <p:cxnSp>
          <p:nvCxnSpPr>
            <p:cNvPr id="10" name="구분선"/>
            <p:cNvCxnSpPr/>
            <p:nvPr/>
          </p:nvCxnSpPr>
          <p:spPr>
            <a:xfrm>
              <a:off x="868680" y="3364991"/>
              <a:ext cx="2738018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1" name="카드 내용"/>
            <p:cNvSpPr txBox="1"/>
            <p:nvPr/>
          </p:nvSpPr>
          <p:spPr>
            <a:xfrm>
              <a:off x="822959" y="3456432"/>
              <a:ext cx="282945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2600" b="0" i="0" lang="ko-KR">
                  <a:solidFill>
                    <a:schemeClr val="tx1"/>
                  </a:solidFill>
                </a:rPr>
                <a:t>0원</a:t>
              </a:r>
            </a:p>
          </p:txBody>
        </p:sp>
      </p:grpSp>
      <p:grpSp>
        <p:nvGrpSpPr>
          <p:cNvPr id="12" name="카드 2"/>
          <p:cNvGrpSpPr/>
          <p:nvPr/>
        </p:nvGrpSpPr>
        <p:grpSpPr>
          <a:xfrm>
            <a:off x="4109618" y="1828800"/>
            <a:ext cx="3195218" cy="2377440"/>
            <a:chOff x="4109618" y="1828800"/>
            <a:chExt cx="3195218" cy="2377440"/>
          </a:xfrm>
        </p:grpSpPr>
        <p:sp>
          <p:nvSpPr>
            <p:cNvPr id="13" name="카드 바탕"/>
            <p:cNvSpPr/>
            <p:nvPr/>
          </p:nvSpPr>
          <p:spPr>
            <a:xfrm>
              <a:off x="4109618" y="1828800"/>
              <a:ext cx="3195218" cy="2377440"/>
            </a:xfrm>
            <a:prstGeom prst="snip2DiagRect">
              <a:avLst>
                <a:gd name="adj1" fmla="val 11000"/>
                <a:gd name="adj2" fmla="val 0"/>
              </a:avLst>
            </a:prstGeom>
            <a:solidFill>
              <a:schemeClr val="bg1"/>
            </a:solidFill>
            <a:ln w="9525">
              <a:solidFill>
                <a:schemeClr val="accent5">
                  <a:alpha val="85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번호 2"/>
            <p:cNvSpPr/>
            <p:nvPr/>
          </p:nvSpPr>
          <p:spPr>
            <a:xfrm>
              <a:off x="4292498" y="2039112"/>
              <a:ext cx="548640" cy="548640"/>
            </a:xfrm>
            <a:prstGeom prst="diamond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300" b="1" i="0" lang="ko-KR">
                  <a:solidFill>
                    <a:srgbClr val="FFFFFF"/>
                  </a:solidFill>
                </a:rPr>
                <a:t>2</a:t>
              </a:r>
            </a:p>
          </p:txBody>
        </p:sp>
        <p:sp>
          <p:nvSpPr>
            <p:cNvPr id="15" name="카드 제목"/>
            <p:cNvSpPr txBox="1"/>
            <p:nvPr/>
          </p:nvSpPr>
          <p:spPr>
            <a:xfrm>
              <a:off x="4292498" y="2697480"/>
              <a:ext cx="282945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1" i="0" lang="ko-KR">
                  <a:solidFill>
                    <a:schemeClr val="tx2"/>
                  </a:solidFill>
                  <a:latin typeface="+mj-lt"/>
                  <a:ea typeface="+mj-ea"/>
                </a:rPr>
                <a:t>연 보험료 합계</a:t>
              </a:r>
            </a:p>
          </p:txBody>
        </p:sp>
        <p:cxnSp>
          <p:nvCxnSpPr>
            <p:cNvPr id="16" name="구분선"/>
            <p:cNvCxnSpPr/>
            <p:nvPr/>
          </p:nvCxnSpPr>
          <p:spPr>
            <a:xfrm>
              <a:off x="4338218" y="3364991"/>
              <a:ext cx="2738018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7" name="카드 내용"/>
            <p:cNvSpPr txBox="1"/>
            <p:nvPr/>
          </p:nvSpPr>
          <p:spPr>
            <a:xfrm>
              <a:off x="4292498" y="3456432"/>
              <a:ext cx="282945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2600" b="0" i="0" lang="ko-KR">
                  <a:solidFill>
                    <a:schemeClr val="tx1"/>
                  </a:solidFill>
                </a:rPr>
                <a:t>0원</a:t>
              </a:r>
            </a:p>
          </p:txBody>
        </p:sp>
      </p:grpSp>
      <p:grpSp>
        <p:nvGrpSpPr>
          <p:cNvPr id="18" name="카드 3"/>
          <p:cNvGrpSpPr/>
          <p:nvPr/>
        </p:nvGrpSpPr>
        <p:grpSpPr>
          <a:xfrm>
            <a:off x="7579156" y="1828800"/>
            <a:ext cx="3195218" cy="2377440"/>
            <a:chOff x="7579156" y="1828800"/>
            <a:chExt cx="3195218" cy="2377440"/>
          </a:xfrm>
        </p:grpSpPr>
        <p:sp>
          <p:nvSpPr>
            <p:cNvPr id="19" name="카드 바탕"/>
            <p:cNvSpPr/>
            <p:nvPr/>
          </p:nvSpPr>
          <p:spPr>
            <a:xfrm>
              <a:off x="7579156" y="1828800"/>
              <a:ext cx="3195218" cy="2377440"/>
            </a:xfrm>
            <a:prstGeom prst="snip2DiagRect">
              <a:avLst>
                <a:gd name="adj1" fmla="val 11000"/>
                <a:gd name="adj2" fmla="val 0"/>
              </a:avLst>
            </a:prstGeom>
            <a:solidFill>
              <a:schemeClr val="bg1"/>
            </a:solidFill>
            <a:ln w="9525">
              <a:solidFill>
                <a:schemeClr val="accent5">
                  <a:alpha val="85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번호 3"/>
            <p:cNvSpPr/>
            <p:nvPr/>
          </p:nvSpPr>
          <p:spPr>
            <a:xfrm>
              <a:off x="7762036" y="2039112"/>
              <a:ext cx="548640" cy="548640"/>
            </a:xfrm>
            <a:prstGeom prst="diamond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300" b="1" i="0" lang="ko-KR">
                  <a:solidFill>
                    <a:srgbClr val="FFFFFF"/>
                  </a:solidFill>
                </a:rPr>
                <a:t>3</a:t>
              </a:r>
            </a:p>
          </p:txBody>
        </p:sp>
        <p:sp>
          <p:nvSpPr>
            <p:cNvPr id="21" name="카드 제목"/>
            <p:cNvSpPr txBox="1"/>
            <p:nvPr/>
          </p:nvSpPr>
          <p:spPr>
            <a:xfrm>
              <a:off x="7762036" y="2697480"/>
              <a:ext cx="282945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1" i="0" lang="ko-KR">
                  <a:solidFill>
                    <a:schemeClr val="tx2"/>
                  </a:solidFill>
                  <a:latin typeface="+mj-lt"/>
                  <a:ea typeface="+mj-ea"/>
                </a:rPr>
                <a:t>월 소득 대비</a:t>
              </a:r>
            </a:p>
          </p:txBody>
        </p:sp>
        <p:cxnSp>
          <p:nvCxnSpPr>
            <p:cNvPr id="22" name="구분선"/>
            <p:cNvCxnSpPr/>
            <p:nvPr/>
          </p:nvCxnSpPr>
          <p:spPr>
            <a:xfrm>
              <a:off x="7807756" y="3364991"/>
              <a:ext cx="2738019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3" name="카드 내용"/>
            <p:cNvSpPr txBox="1"/>
            <p:nvPr/>
          </p:nvSpPr>
          <p:spPr>
            <a:xfrm>
              <a:off x="7762036" y="3456432"/>
              <a:ext cx="282945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2600" b="0" i="0" lang="ko-KR">
                  <a:solidFill>
                    <a:schemeClr val="tx1"/>
                  </a:solidFill>
                </a:rPr>
                <a:t>0 %</a:t>
              </a:r>
            </a:p>
          </p:txBody>
        </p:sp>
      </p:grpSp>
      <p:graphicFrame>
        <p:nvGraphicFramePr>
          <p:cNvPr id="24" name="차트"/>
          <p:cNvGraphicFramePr>
            <a:graphicFrameLocks noGrp="1"/>
          </p:cNvGraphicFramePr>
          <p:nvPr/>
        </p:nvGraphicFramePr>
        <p:xfrm>
          <a:off x="640080" y="4389120"/>
          <a:ext cx="10134295" cy="16916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CRIMSON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NEXT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점검 메모와 다음 할 일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45022C-45EC-44C1-B3FE-A3BC32352B6C}" type="slidenum">
              <a:rPr lang="en-US"/>
              <a:t>‹#›</a:t>
            </a:fld>
            <a:endParaRPr lang="en-US"/>
          </a:p>
        </p:txBody>
      </p:sp>
      <p:grpSp>
        <p:nvGrpSpPr>
          <p:cNvPr id="6" name="카드 1"/>
          <p:cNvGrpSpPr/>
          <p:nvPr/>
        </p:nvGrpSpPr>
        <p:grpSpPr>
          <a:xfrm>
            <a:off x="640080" y="1828800"/>
            <a:ext cx="3195218" cy="3566160"/>
            <a:chOff x="640080" y="1828800"/>
            <a:chExt cx="3195218" cy="3566160"/>
          </a:xfrm>
        </p:grpSpPr>
        <p:sp>
          <p:nvSpPr>
            <p:cNvPr id="7" name="카드 바탕"/>
            <p:cNvSpPr/>
            <p:nvPr/>
          </p:nvSpPr>
          <p:spPr>
            <a:xfrm>
              <a:off x="640080" y="1828800"/>
              <a:ext cx="3195218" cy="3566160"/>
            </a:xfrm>
            <a:prstGeom prst="snip2DiagRect">
              <a:avLst>
                <a:gd name="adj1" fmla="val 11000"/>
                <a:gd name="adj2" fmla="val 0"/>
              </a:avLst>
            </a:prstGeom>
            <a:solidFill>
              <a:schemeClr val="bg1"/>
            </a:solidFill>
            <a:ln w="9525">
              <a:solidFill>
                <a:schemeClr val="accent5">
                  <a:alpha val="85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번호 1"/>
            <p:cNvSpPr/>
            <p:nvPr/>
          </p:nvSpPr>
          <p:spPr>
            <a:xfrm>
              <a:off x="822959" y="2039112"/>
              <a:ext cx="548640" cy="548640"/>
            </a:xfrm>
            <a:prstGeom prst="diamond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300" b="1" i="0" lang="ko-KR">
                  <a:solidFill>
                    <a:srgbClr val="FFFFFF"/>
                  </a:solidFill>
                </a:rPr>
                <a:t>1</a:t>
              </a:r>
            </a:p>
          </p:txBody>
        </p:sp>
        <p:sp>
          <p:nvSpPr>
            <p:cNvPr id="9" name="카드 제목"/>
            <p:cNvSpPr txBox="1"/>
            <p:nvPr/>
          </p:nvSpPr>
          <p:spPr>
            <a:xfrm>
              <a:off x="822959" y="2697480"/>
              <a:ext cx="282945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확인할 것</a:t>
              </a:r>
            </a:p>
          </p:txBody>
        </p:sp>
        <p:cxnSp>
          <p:nvCxnSpPr>
            <p:cNvPr id="10" name="구분선"/>
            <p:cNvCxnSpPr/>
            <p:nvPr/>
          </p:nvCxnSpPr>
          <p:spPr>
            <a:xfrm>
              <a:off x="868680" y="3364991"/>
              <a:ext cx="2738018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1" name="카드 내용"/>
            <p:cNvSpPr txBox="1"/>
            <p:nvPr/>
          </p:nvSpPr>
          <p:spPr>
            <a:xfrm>
              <a:off x="822959" y="3456432"/>
              <a:ext cx="2829458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2" name="카드 2"/>
          <p:cNvGrpSpPr/>
          <p:nvPr/>
        </p:nvGrpSpPr>
        <p:grpSpPr>
          <a:xfrm>
            <a:off x="4109618" y="1828800"/>
            <a:ext cx="3195218" cy="3566160"/>
            <a:chOff x="4109618" y="1828800"/>
            <a:chExt cx="3195218" cy="3566160"/>
          </a:xfrm>
        </p:grpSpPr>
        <p:sp>
          <p:nvSpPr>
            <p:cNvPr id="13" name="카드 바탕"/>
            <p:cNvSpPr/>
            <p:nvPr/>
          </p:nvSpPr>
          <p:spPr>
            <a:xfrm>
              <a:off x="4109618" y="1828800"/>
              <a:ext cx="3195218" cy="3566160"/>
            </a:xfrm>
            <a:prstGeom prst="snip2DiagRect">
              <a:avLst>
                <a:gd name="adj1" fmla="val 11000"/>
                <a:gd name="adj2" fmla="val 0"/>
              </a:avLst>
            </a:prstGeom>
            <a:solidFill>
              <a:schemeClr val="bg1"/>
            </a:solidFill>
            <a:ln w="9525">
              <a:solidFill>
                <a:schemeClr val="accent5">
                  <a:alpha val="85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번호 2"/>
            <p:cNvSpPr/>
            <p:nvPr/>
          </p:nvSpPr>
          <p:spPr>
            <a:xfrm>
              <a:off x="4292498" y="2039112"/>
              <a:ext cx="548640" cy="548640"/>
            </a:xfrm>
            <a:prstGeom prst="diamond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300" b="1" i="0" lang="ko-KR">
                  <a:solidFill>
                    <a:srgbClr val="FFFFFF"/>
                  </a:solidFill>
                </a:rPr>
                <a:t>2</a:t>
              </a:r>
            </a:p>
          </p:txBody>
        </p:sp>
        <p:sp>
          <p:nvSpPr>
            <p:cNvPr id="15" name="카드 제목"/>
            <p:cNvSpPr txBox="1"/>
            <p:nvPr/>
          </p:nvSpPr>
          <p:spPr>
            <a:xfrm>
              <a:off x="4292498" y="2697480"/>
              <a:ext cx="282945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문의할 것</a:t>
              </a:r>
            </a:p>
          </p:txBody>
        </p:sp>
        <p:cxnSp>
          <p:nvCxnSpPr>
            <p:cNvPr id="16" name="구분선"/>
            <p:cNvCxnSpPr/>
            <p:nvPr/>
          </p:nvCxnSpPr>
          <p:spPr>
            <a:xfrm>
              <a:off x="4338218" y="3364991"/>
              <a:ext cx="2738018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7" name="카드 내용"/>
            <p:cNvSpPr txBox="1"/>
            <p:nvPr/>
          </p:nvSpPr>
          <p:spPr>
            <a:xfrm>
              <a:off x="4292498" y="3456432"/>
              <a:ext cx="2829458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8" name="카드 3"/>
          <p:cNvGrpSpPr/>
          <p:nvPr/>
        </p:nvGrpSpPr>
        <p:grpSpPr>
          <a:xfrm>
            <a:off x="7579156" y="1828800"/>
            <a:ext cx="3195218" cy="3566160"/>
            <a:chOff x="7579156" y="1828800"/>
            <a:chExt cx="3195218" cy="3566160"/>
          </a:xfrm>
        </p:grpSpPr>
        <p:sp>
          <p:nvSpPr>
            <p:cNvPr id="19" name="카드 바탕"/>
            <p:cNvSpPr/>
            <p:nvPr/>
          </p:nvSpPr>
          <p:spPr>
            <a:xfrm>
              <a:off x="7579156" y="1828800"/>
              <a:ext cx="3195218" cy="3566160"/>
            </a:xfrm>
            <a:prstGeom prst="snip2DiagRect">
              <a:avLst>
                <a:gd name="adj1" fmla="val 11000"/>
                <a:gd name="adj2" fmla="val 0"/>
              </a:avLst>
            </a:prstGeom>
            <a:solidFill>
              <a:schemeClr val="bg1"/>
            </a:solidFill>
            <a:ln w="9525">
              <a:solidFill>
                <a:schemeClr val="accent5">
                  <a:alpha val="85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번호 3"/>
            <p:cNvSpPr/>
            <p:nvPr/>
          </p:nvSpPr>
          <p:spPr>
            <a:xfrm>
              <a:off x="7762036" y="2039112"/>
              <a:ext cx="548640" cy="548640"/>
            </a:xfrm>
            <a:prstGeom prst="diamond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300" b="1" i="0" lang="ko-KR">
                  <a:solidFill>
                    <a:srgbClr val="FFFFFF"/>
                  </a:solidFill>
                </a:rPr>
                <a:t>3</a:t>
              </a:r>
            </a:p>
          </p:txBody>
        </p:sp>
        <p:sp>
          <p:nvSpPr>
            <p:cNvPr id="21" name="카드 제목"/>
            <p:cNvSpPr txBox="1"/>
            <p:nvPr/>
          </p:nvSpPr>
          <p:spPr>
            <a:xfrm>
              <a:off x="7762036" y="2697480"/>
              <a:ext cx="282945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정리할 날짜</a:t>
              </a:r>
            </a:p>
          </p:txBody>
        </p:sp>
        <p:cxnSp>
          <p:nvCxnSpPr>
            <p:cNvPr id="22" name="구분선"/>
            <p:cNvCxnSpPr/>
            <p:nvPr/>
          </p:nvCxnSpPr>
          <p:spPr>
            <a:xfrm>
              <a:off x="7807756" y="3364991"/>
              <a:ext cx="2738019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3" name="카드 내용"/>
            <p:cNvSpPr txBox="1"/>
            <p:nvPr/>
          </p:nvSpPr>
          <p:spPr>
            <a:xfrm>
              <a:off x="7762036" y="3456432"/>
              <a:ext cx="2829458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sp>
        <p:nvSpPr>
          <p:cNvPr id="24" name="안내 문구"/>
          <p:cNvSpPr txBox="1"/>
          <p:nvPr/>
        </p:nvSpPr>
        <p:spPr>
          <a:xfrm>
            <a:off x="640080" y="5577840"/>
            <a:ext cx="10134295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 양식은 가입 내용을 스스로 정리하기 위한 것이며 보험 가입을 권유하거나 보장의 적정성을 판단하지 않습니다. 정확한 내용은 증권·약관과 가입한 보험회사에서 확인하세요.</a:t>
            </a:r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보험 보장 점검 발표자료(가족 점검)">
  <a:themeElements>
    <a:clrScheme name="보험 보장 점검 발표자료(가족 점검)">
      <a:dk1>
        <a:srgbClr val="48373A"/>
      </a:dk1>
      <a:lt1>
        <a:srgbClr val="FEFCFB"/>
      </a:lt1>
      <a:dk2>
        <a:srgbClr val="3A0F16"/>
      </a:dk2>
      <a:lt2>
        <a:srgbClr val="FAF3F1"/>
      </a:lt2>
      <a:accent1>
        <a:srgbClr val="B3202F"/>
      </a:accent1>
      <a:accent2>
        <a:srgbClr val="1F2A44"/>
      </a:accent2>
      <a:accent3>
        <a:srgbClr val="8B7478"/>
      </a:accent3>
      <a:accent4>
        <a:srgbClr val="ECC9CA"/>
      </a:accent4>
      <a:accent5>
        <a:srgbClr val="C6A15B"/>
      </a:accent5>
      <a:accent6>
        <a:srgbClr val="828492"/>
      </a:accent6>
      <a:hlink>
        <a:srgbClr val="3A0F16"/>
      </a:hlink>
      <a:folHlink>
        <a:srgbClr val="8B7478"/>
      </a:folHlink>
    </a:clrScheme>
    <a:fontScheme name="보험 보장 점검 발표자료(가족 점검)">
      <a:majorFont>
        <a:latin typeface="Georgia"/>
        <a:ea typeface="바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보험 보장 점검 발표자료(가족 점검)</dc:title>
  <dc:subject>보험 가입 내용 정리 양식 · 가족 점검</dc:subject>
  <dc:creator>반딧불이의 곳간</dc:creator>
  <cp:keywords>보험,점검,양식,PPT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