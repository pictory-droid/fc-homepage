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14149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14149"/>
                </a:solidFill>
              </a:rPr>
              <a:t>가을 개편에 맞춰 준비한 제안입니다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사업 제안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목차</a:t>
            </a:r>
          </a:p>
        </p:txBody>
      </p:sp>
      <p:sp>
        <p:nvSpPr>
          <p:cNvPr id="4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2700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5A788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문제와 기회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8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2700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822959" y="2880360"/>
            <a:ext cx="457200" cy="457200"/>
          </a:xfrm>
          <a:prstGeom prst="ellipse">
            <a:avLst/>
          </a:prstGeom>
          <a:solidFill>
            <a:srgbClr val="5A788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해결 방법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2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2700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5A788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기대 효과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6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2700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4"/>
          <p:cNvSpPr/>
          <p:nvPr/>
        </p:nvSpPr>
        <p:spPr>
          <a:xfrm>
            <a:off x="822959" y="4983479"/>
            <a:ext cx="457200" cy="457200"/>
          </a:xfrm>
          <a:prstGeom prst="ellipse">
            <a:avLst/>
          </a:prstGeom>
          <a:solidFill>
            <a:srgbClr val="5A788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진행 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핵심 메시지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314149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5875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3246120"/>
            <a:ext cx="457200" cy="457200"/>
          </a:xfrm>
          <a:prstGeom prst="ellipse">
            <a:avLst/>
          </a:prstGeom>
          <a:solidFill>
            <a:srgbClr val="5A788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현황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5875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3246120"/>
            <a:ext cx="457200" cy="457200"/>
          </a:xfrm>
          <a:prstGeom prst="ellipse">
            <a:avLst/>
          </a:prstGeom>
          <a:solidFill>
            <a:srgbClr val="5A788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제안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5875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3246120"/>
            <a:ext cx="457200" cy="457200"/>
          </a:xfrm>
          <a:prstGeom prst="ellipse">
            <a:avLst/>
          </a:prstGeom>
          <a:solidFill>
            <a:srgbClr val="5A788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효과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한눈에 비교</a:t>
            </a:r>
          </a:p>
        </p:txBody>
      </p:sp>
      <p:sp>
        <p:nvSpPr>
          <p:cNvPr id="4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2700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현재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D9E3E8"/>
          </a:solidFill>
          <a:ln w="12700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3141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제안 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일정·현황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기간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A7887"/>
                      </a:solidFill>
                      <a:prstDash val="solid"/>
                    </a:lnL>
                    <a:lnR w="9525" cap="flat" cmpd="sng" algn="ctr">
                      <a:solidFill>
                        <a:srgbClr val="5A7887"/>
                      </a:solidFill>
                      <a:prstDash val="solid"/>
                    </a:lnR>
                    <a:lnT w="9525" cap="flat" cmpd="sng" algn="ctr">
                      <a:solidFill>
                        <a:srgbClr val="5A7887"/>
                      </a:solidFill>
                      <a:prstDash val="solid"/>
                    </a:lnT>
                    <a:lnB w="9525" cap="flat" cmpd="sng" algn="ctr">
                      <a:solidFill>
                        <a:srgbClr val="5A7887"/>
                      </a:solidFill>
                      <a:prstDash val="solid"/>
                    </a:lnB>
                    <a:solidFill>
                      <a:srgbClr val="5A788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149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149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149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149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149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D9E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E3E8"/>
                      </a:solidFill>
                      <a:prstDash val="solid"/>
                    </a:lnL>
                    <a:lnR w="9525" cap="flat" cmpd="sng" algn="ctr">
                      <a:solidFill>
                        <a:srgbClr val="D9E3E8"/>
                      </a:solidFill>
                      <a:prstDash val="solid"/>
                    </a:lnR>
                    <a:lnT w="9525" cap="flat" cmpd="sng" algn="ctr">
                      <a:solidFill>
                        <a:srgbClr val="D9E3E8"/>
                      </a:solidFill>
                      <a:prstDash val="solid"/>
                    </a:lnT>
                    <a:lnB w="9525" cap="flat" cmpd="sng" algn="ctr">
                      <a:solidFill>
                        <a:srgbClr val="D9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14149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14149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사업 제안 발표 템플릿">
  <a:themeElements>
    <a:clrScheme name="Office">
      <a:dk1>
        <a:sysClr val="windowText" lastClr="000000"/>
      </a:dk1>
      <a:lt1>
        <a:sysClr val="window" lastClr="FFFFFF"/>
      </a:lt1>
      <a:dk2>
        <a:srgbClr val="314149"/>
      </a:dk2>
      <a:lt2>
        <a:srgbClr val="F3F5F7"/>
      </a:lt2>
      <a:accent1>
        <a:srgbClr val="5A7887"/>
      </a:accent1>
      <a:accent2>
        <a:srgbClr val="7A5258"/>
      </a:accent2>
      <a:accent3>
        <a:srgbClr val="314149"/>
      </a:accent3>
      <a:accent4>
        <a:srgbClr val="D9E3E8"/>
      </a:accent4>
      <a:accent5>
        <a:srgbClr val="6A6570"/>
      </a:accent5>
      <a:accent6>
        <a:srgbClr val="838D92"/>
      </a:accent6>
      <a:hlink>
        <a:srgbClr val="5A7887"/>
      </a:hlink>
      <a:folHlink>
        <a:srgbClr val="3141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