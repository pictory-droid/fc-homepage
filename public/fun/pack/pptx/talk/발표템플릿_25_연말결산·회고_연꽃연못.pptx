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27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5684367" y="1097280"/>
            <a:ext cx="822960" cy="822960"/>
          </a:xfrm>
          <a:prstGeom prst="ellipse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547207" y="4663440"/>
            <a:ext cx="109728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1828754" y="1874520"/>
            <a:ext cx="8534186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754" y="2331720"/>
            <a:ext cx="8534186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</a:rPr>
              <a:t>발표 제목을 입력하세요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1828754" y="3611880"/>
            <a:ext cx="8534186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중간 점검을 하며 남은 일정을 확인합니다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1828754" y="4480560"/>
            <a:ext cx="8534186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연말 결산·회고 · 발표자 이름</a:t>
            </a:r>
          </a:p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124358"/>
          </a:xfrm>
          <a:prstGeom prst="wave">
            <a:avLst/>
          </a:prstGeom>
          <a:solidFill>
            <a:srgbClr val="F3A5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목차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783080"/>
            <a:ext cx="10911535" cy="9144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A7B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2011680"/>
            <a:ext cx="457200" cy="457200"/>
          </a:xfrm>
          <a:prstGeom prst="ellipse">
            <a:avLst/>
          </a:prstGeom>
          <a:noFill/>
          <a:ln w="19050">
            <a:solidFill>
              <a:srgbClr val="EA7BB3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2738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8288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8"/>
                </a:solidFill>
              </a:rPr>
              <a:t>올해의 한 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82880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0" name="줄 2"/>
          <p:cNvSpPr/>
          <p:nvPr/>
        </p:nvSpPr>
        <p:spPr>
          <a:xfrm>
            <a:off x="640080" y="2834639"/>
            <a:ext cx="10911535" cy="9144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A7B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822959" y="3063239"/>
            <a:ext cx="457200" cy="457200"/>
          </a:xfrm>
          <a:prstGeom prst="ellipse">
            <a:avLst/>
          </a:prstGeom>
          <a:noFill/>
          <a:ln w="19050">
            <a:solidFill>
              <a:srgbClr val="EA7BB3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2738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8803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8"/>
                </a:solidFill>
              </a:rPr>
              <a:t>잘한 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88035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4" name="줄 3"/>
          <p:cNvSpPr/>
          <p:nvPr/>
        </p:nvSpPr>
        <p:spPr>
          <a:xfrm>
            <a:off x="640080" y="3886200"/>
            <a:ext cx="10911535" cy="9144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A7B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2959" y="4114800"/>
            <a:ext cx="457200" cy="457200"/>
          </a:xfrm>
          <a:prstGeom prst="ellipse">
            <a:avLst/>
          </a:prstGeom>
          <a:noFill/>
          <a:ln w="19050">
            <a:solidFill>
              <a:srgbClr val="EA7BB3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2738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931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8"/>
                </a:solidFill>
              </a:rPr>
              <a:t>아쉬운 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931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8" name="줄 4"/>
          <p:cNvSpPr/>
          <p:nvPr/>
        </p:nvSpPr>
        <p:spPr>
          <a:xfrm>
            <a:off x="640080" y="4937759"/>
            <a:ext cx="10911535" cy="9144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A7B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4"/>
          <p:cNvSpPr/>
          <p:nvPr/>
        </p:nvSpPr>
        <p:spPr>
          <a:xfrm>
            <a:off x="822959" y="5166359"/>
            <a:ext cx="457200" cy="457200"/>
          </a:xfrm>
          <a:prstGeom prst="ellipse">
            <a:avLst/>
          </a:prstGeom>
          <a:noFill/>
          <a:ln w="19050">
            <a:solidFill>
              <a:srgbClr val="EA7BB3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2738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983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8"/>
                </a:solidFill>
              </a:rPr>
              <a:t>내년의 다짐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983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124358"/>
          </a:xfrm>
          <a:prstGeom prst="wave">
            <a:avLst/>
          </a:prstGeom>
          <a:solidFill>
            <a:srgbClr val="F3A5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핵심 메시지</a:t>
            </a:r>
          </a:p>
        </p:txBody>
      </p:sp>
      <p:sp>
        <p:nvSpPr>
          <p:cNvPr id="6" name="핵심 문장"/>
          <p:cNvSpPr txBox="1"/>
          <p:nvPr/>
        </p:nvSpPr>
        <p:spPr>
          <a:xfrm>
            <a:off x="640080" y="178308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492738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3246120"/>
            <a:ext cx="3484778" cy="30175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A7B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3429000"/>
            <a:ext cx="457200" cy="457200"/>
          </a:xfrm>
          <a:prstGeom prst="ellipse">
            <a:avLst/>
          </a:prstGeom>
          <a:noFill/>
          <a:ln w="19050">
            <a:solidFill>
              <a:srgbClr val="EA7BB3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2738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8"/>
                </a:solidFill>
              </a:rPr>
              <a:t>잘한 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3246120"/>
            <a:ext cx="3484778" cy="30175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A7B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2"/>
          <p:cNvSpPr/>
          <p:nvPr/>
        </p:nvSpPr>
        <p:spPr>
          <a:xfrm>
            <a:off x="4536338" y="3429000"/>
            <a:ext cx="457200" cy="457200"/>
          </a:xfrm>
          <a:prstGeom prst="ellipse">
            <a:avLst/>
          </a:prstGeom>
          <a:noFill/>
          <a:ln w="19050">
            <a:solidFill>
              <a:srgbClr val="EA7BB3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2738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8"/>
                </a:solidFill>
              </a:rPr>
              <a:t>배운 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5" name="카드 3"/>
          <p:cNvSpPr/>
          <p:nvPr/>
        </p:nvSpPr>
        <p:spPr>
          <a:xfrm>
            <a:off x="8066836" y="3246120"/>
            <a:ext cx="3484778" cy="30175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A7B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3"/>
          <p:cNvSpPr/>
          <p:nvPr/>
        </p:nvSpPr>
        <p:spPr>
          <a:xfrm>
            <a:off x="8249716" y="3429000"/>
            <a:ext cx="457200" cy="457200"/>
          </a:xfrm>
          <a:prstGeom prst="ellipse">
            <a:avLst/>
          </a:prstGeom>
          <a:noFill/>
          <a:ln w="19050">
            <a:solidFill>
              <a:srgbClr val="EA7BB3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2738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8"/>
                </a:solidFill>
              </a:rPr>
              <a:t>다음 목표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3996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124358"/>
          </a:xfrm>
          <a:prstGeom prst="wave">
            <a:avLst/>
          </a:prstGeom>
          <a:solidFill>
            <a:srgbClr val="F3A5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한눈에 비교</a:t>
            </a:r>
          </a:p>
        </p:txBody>
      </p:sp>
      <p:sp>
        <p:nvSpPr>
          <p:cNvPr id="6" name="왼쪽 칸"/>
          <p:cNvSpPr/>
          <p:nvPr/>
        </p:nvSpPr>
        <p:spPr>
          <a:xfrm>
            <a:off x="640080" y="1783080"/>
            <a:ext cx="5272887" cy="329184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A7B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칸 제목 바"/>
          <p:cNvSpPr/>
          <p:nvPr/>
        </p:nvSpPr>
        <p:spPr>
          <a:xfrm>
            <a:off x="640080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올해 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0" name="오른쪽 칸"/>
          <p:cNvSpPr/>
          <p:nvPr/>
        </p:nvSpPr>
        <p:spPr>
          <a:xfrm>
            <a:off x="6278727" y="1783080"/>
            <a:ext cx="5272887" cy="329184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A7B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칸 제목 바"/>
          <p:cNvSpPr/>
          <p:nvPr/>
        </p:nvSpPr>
        <p:spPr>
          <a:xfrm>
            <a:off x="6278727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927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올해 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7327" y="260604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124358"/>
          </a:xfrm>
          <a:prstGeom prst="wave">
            <a:avLst/>
          </a:prstGeom>
          <a:solidFill>
            <a:srgbClr val="F3A5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일정·현황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A7BB3"/>
                      </a:solidFill>
                      <a:prstDash val="solid"/>
                    </a:lnL>
                    <a:lnR w="9525" cap="flat" cmpd="sng" algn="ctr">
                      <a:solidFill>
                        <a:srgbClr val="EA7BB3"/>
                      </a:solidFill>
                      <a:prstDash val="solid"/>
                    </a:lnR>
                    <a:lnT w="9525" cap="flat" cmpd="sng" algn="ctr">
                      <a:solidFill>
                        <a:srgbClr val="EA7BB3"/>
                      </a:solidFill>
                      <a:prstDash val="solid"/>
                    </a:lnT>
                    <a:lnB w="9525" cap="flat" cmpd="sng" algn="ctr">
                      <a:solidFill>
                        <a:srgbClr val="EA7BB3"/>
                      </a:solidFill>
                      <a:prstDash val="solid"/>
                    </a:lnB>
                    <a:solidFill>
                      <a:srgbClr val="EA7B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한 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A7BB3"/>
                      </a:solidFill>
                      <a:prstDash val="solid"/>
                    </a:lnL>
                    <a:lnR w="9525" cap="flat" cmpd="sng" algn="ctr">
                      <a:solidFill>
                        <a:srgbClr val="EA7BB3"/>
                      </a:solidFill>
                      <a:prstDash val="solid"/>
                    </a:lnR>
                    <a:lnT w="9525" cap="flat" cmpd="sng" algn="ctr">
                      <a:solidFill>
                        <a:srgbClr val="EA7BB3"/>
                      </a:solidFill>
                      <a:prstDash val="solid"/>
                    </a:lnT>
                    <a:lnB w="9525" cap="flat" cmpd="sng" algn="ctr">
                      <a:solidFill>
                        <a:srgbClr val="EA7BB3"/>
                      </a:solidFill>
                      <a:prstDash val="solid"/>
                    </a:lnB>
                    <a:solidFill>
                      <a:srgbClr val="EA7B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배운 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A7BB3"/>
                      </a:solidFill>
                      <a:prstDash val="solid"/>
                    </a:lnL>
                    <a:lnR w="9525" cap="flat" cmpd="sng" algn="ctr">
                      <a:solidFill>
                        <a:srgbClr val="EA7BB3"/>
                      </a:solidFill>
                      <a:prstDash val="solid"/>
                    </a:lnR>
                    <a:lnT w="9525" cap="flat" cmpd="sng" algn="ctr">
                      <a:solidFill>
                        <a:srgbClr val="EA7BB3"/>
                      </a:solidFill>
                      <a:prstDash val="solid"/>
                    </a:lnT>
                    <a:lnB w="9525" cap="flat" cmpd="sng" algn="ctr">
                      <a:solidFill>
                        <a:srgbClr val="EA7BB3"/>
                      </a:solidFill>
                      <a:prstDash val="solid"/>
                    </a:lnB>
                    <a:solidFill>
                      <a:srgbClr val="EA7B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점수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A7BB3"/>
                      </a:solidFill>
                      <a:prstDash val="solid"/>
                    </a:lnL>
                    <a:lnR w="9525" cap="flat" cmpd="sng" algn="ctr">
                      <a:solidFill>
                        <a:srgbClr val="EA7BB3"/>
                      </a:solidFill>
                      <a:prstDash val="solid"/>
                    </a:lnR>
                    <a:lnT w="9525" cap="flat" cmpd="sng" algn="ctr">
                      <a:solidFill>
                        <a:srgbClr val="EA7BB3"/>
                      </a:solidFill>
                      <a:prstDash val="solid"/>
                    </a:lnT>
                    <a:lnB w="9525" cap="flat" cmpd="sng" algn="ctr">
                      <a:solidFill>
                        <a:srgbClr val="EA7BB3"/>
                      </a:solidFill>
                      <a:prstDash val="solid"/>
                    </a:lnB>
                    <a:solidFill>
                      <a:srgbClr val="EA7BB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8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AD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8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AD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8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AD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8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AD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8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AD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27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5684367" y="1097280"/>
            <a:ext cx="822960" cy="822960"/>
          </a:xfrm>
          <a:prstGeom prst="ellipse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547207" y="4663440"/>
            <a:ext cx="109728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1828754" y="1874520"/>
            <a:ext cx="8534186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754" y="2331720"/>
            <a:ext cx="8534186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</a:rPr>
              <a:t>감사합니다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1828754" y="3611880"/>
            <a:ext cx="8534186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끝까지 들어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1828754" y="4480560"/>
            <a:ext cx="8534186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연말 결산·회고 발표 템플릿">
  <a:themeElements>
    <a:clrScheme name="Office">
      <a:dk1>
        <a:sysClr val="windowText" lastClr="000000"/>
      </a:dk1>
      <a:lt1>
        <a:sysClr val="window" lastClr="FFFFFF"/>
      </a:lt1>
      <a:dk2>
        <a:srgbClr val="492738"/>
      </a:dk2>
      <a:lt2>
        <a:srgbClr val="FDEAF4"/>
      </a:lt2>
      <a:accent1>
        <a:srgbClr val="EA7BB3"/>
      </a:accent1>
      <a:accent2>
        <a:srgbClr val="EF9FA1"/>
      </a:accent2>
      <a:accent3>
        <a:srgbClr val="492738"/>
      </a:accent3>
      <a:accent4>
        <a:srgbClr val="FAD1E6"/>
      </a:accent4>
      <a:accent5>
        <a:srgbClr val="EC8DAA"/>
      </a:accent5>
      <a:accent6>
        <a:srgbClr val="927D88"/>
      </a:accent6>
      <a:hlink>
        <a:srgbClr val="EA7BB3"/>
      </a:hlink>
      <a:folHlink>
        <a:srgbClr val="49273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연말 결산·회고 발표 템플릿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