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5F59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F59"/>
                </a:solidFill>
              </a:rPr>
              <a:t>시작은 작게, 규모는 단계별로 말씀드립니다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사업 제안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26C5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9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822960" y="1554480"/>
            <a:ext cx="10545775" cy="914400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2700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05840" y="1783080"/>
            <a:ext cx="457200" cy="457200"/>
          </a:xfrm>
          <a:prstGeom prst="ellipse">
            <a:avLst/>
          </a:prstGeom>
          <a:solidFill>
            <a:srgbClr val="26C5B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6002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59"/>
                </a:solidFill>
              </a:rPr>
              <a:t>문제와 기회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600200"/>
            <a:ext cx="670529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822960" y="2606039"/>
            <a:ext cx="10545775" cy="914400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2700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1005840" y="2834639"/>
            <a:ext cx="457200" cy="457200"/>
          </a:xfrm>
          <a:prstGeom prst="ellipse">
            <a:avLst/>
          </a:prstGeom>
          <a:solidFill>
            <a:srgbClr val="26C5B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6517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59"/>
                </a:solidFill>
              </a:rPr>
              <a:t>해결 방법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651759"/>
            <a:ext cx="670529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822960" y="3657600"/>
            <a:ext cx="10545775" cy="914400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2700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1005840" y="3886200"/>
            <a:ext cx="457200" cy="457200"/>
          </a:xfrm>
          <a:prstGeom prst="ellipse">
            <a:avLst/>
          </a:prstGeom>
          <a:solidFill>
            <a:srgbClr val="26C5B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7033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59"/>
                </a:solidFill>
              </a:rPr>
              <a:t>기대 효과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703320"/>
            <a:ext cx="670529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822960" y="4709159"/>
            <a:ext cx="10545775" cy="914400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2700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1005840" y="4937759"/>
            <a:ext cx="457200" cy="457200"/>
          </a:xfrm>
          <a:prstGeom prst="ellipse">
            <a:avLst/>
          </a:prstGeom>
          <a:solidFill>
            <a:srgbClr val="26C5B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7548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59"/>
                </a:solidFill>
              </a:rPr>
              <a:t>진행 계획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754879"/>
            <a:ext cx="670529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26C5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9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822960" y="1554480"/>
            <a:ext cx="1054577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15F59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822960" y="3017520"/>
            <a:ext cx="3362858" cy="3017520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5875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1005840" y="3200400"/>
            <a:ext cx="457200" cy="457200"/>
          </a:xfrm>
          <a:prstGeom prst="ellipse">
            <a:avLst/>
          </a:prstGeom>
          <a:solidFill>
            <a:srgbClr val="26C5B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79476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59"/>
                </a:solidFill>
              </a:rPr>
              <a:t>현황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480560"/>
            <a:ext cx="308853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414418" y="3017520"/>
            <a:ext cx="3362858" cy="3017520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5875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97298" y="3200400"/>
            <a:ext cx="457200" cy="457200"/>
          </a:xfrm>
          <a:prstGeom prst="ellipse">
            <a:avLst/>
          </a:prstGeom>
          <a:solidFill>
            <a:srgbClr val="26C5B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1578" y="379476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59"/>
                </a:solidFill>
              </a:rPr>
              <a:t>제안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1578" y="4480560"/>
            <a:ext cx="308853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05876" y="3017520"/>
            <a:ext cx="3362858" cy="3017520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5875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188756" y="3200400"/>
            <a:ext cx="457200" cy="457200"/>
          </a:xfrm>
          <a:prstGeom prst="ellipse">
            <a:avLst/>
          </a:prstGeom>
          <a:solidFill>
            <a:srgbClr val="26C5B8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43036" y="3794760"/>
            <a:ext cx="308853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15F59"/>
                </a:solidFill>
              </a:rPr>
              <a:t>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3036" y="4480560"/>
            <a:ext cx="308853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26C5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9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822960" y="1554480"/>
            <a:ext cx="5090007" cy="4617720"/>
          </a:xfrm>
          <a:prstGeom prst="roundRect">
            <a:avLst>
              <a:gd name="adj" fmla="val 8000"/>
            </a:avLst>
          </a:prstGeom>
          <a:solidFill>
            <a:srgbClr val="EEFCFB"/>
          </a:solidFill>
          <a:ln w="12700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822960" y="1554480"/>
            <a:ext cx="5090007" cy="640080"/>
          </a:xfrm>
          <a:prstGeom prst="roundRect">
            <a:avLst>
              <a:gd name="adj" fmla="val 25000"/>
            </a:avLst>
          </a:prstGeom>
          <a:solidFill>
            <a:srgbClr val="26C5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472424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현재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377440"/>
            <a:ext cx="4632807" cy="3703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554480"/>
            <a:ext cx="5090007" cy="4617720"/>
          </a:xfrm>
          <a:prstGeom prst="roundRect">
            <a:avLst>
              <a:gd name="adj" fmla="val 8000"/>
            </a:avLst>
          </a:prstGeom>
          <a:solidFill>
            <a:srgbClr val="D1FAF7"/>
          </a:solidFill>
          <a:ln w="12700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554480"/>
            <a:ext cx="5090007" cy="640080"/>
          </a:xfrm>
          <a:prstGeom prst="roundRect">
            <a:avLst>
              <a:gd name="adj" fmla="val 25000"/>
            </a:avLst>
          </a:prstGeom>
          <a:solidFill>
            <a:srgbClr val="115F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554480"/>
            <a:ext cx="472424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제안 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377440"/>
            <a:ext cx="4632807" cy="3703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26C5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1FAF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15F59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822960" y="1554480"/>
          <a:ext cx="1054577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단계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B8"/>
                      </a:solidFill>
                      <a:prstDash val="solid"/>
                    </a:lnL>
                    <a:lnR w="9525" cap="flat" cmpd="sng" algn="ctr">
                      <a:solidFill>
                        <a:srgbClr val="26C5B8"/>
                      </a:solidFill>
                      <a:prstDash val="solid"/>
                    </a:lnR>
                    <a:lnT w="9525" cap="flat" cmpd="sng" algn="ctr">
                      <a:solidFill>
                        <a:srgbClr val="26C5B8"/>
                      </a:solidFill>
                      <a:prstDash val="solid"/>
                    </a:lnT>
                    <a:lnB w="9525" cap="flat" cmpd="sng" algn="ctr">
                      <a:solidFill>
                        <a:srgbClr val="26C5B8"/>
                      </a:solidFill>
                      <a:prstDash val="solid"/>
                    </a:lnB>
                    <a:solidFill>
                      <a:srgbClr val="26C5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B8"/>
                      </a:solidFill>
                      <a:prstDash val="solid"/>
                    </a:lnL>
                    <a:lnR w="9525" cap="flat" cmpd="sng" algn="ctr">
                      <a:solidFill>
                        <a:srgbClr val="26C5B8"/>
                      </a:solidFill>
                      <a:prstDash val="solid"/>
                    </a:lnR>
                    <a:lnT w="9525" cap="flat" cmpd="sng" algn="ctr">
                      <a:solidFill>
                        <a:srgbClr val="26C5B8"/>
                      </a:solidFill>
                      <a:prstDash val="solid"/>
                    </a:lnT>
                    <a:lnB w="9525" cap="flat" cmpd="sng" algn="ctr">
                      <a:solidFill>
                        <a:srgbClr val="26C5B8"/>
                      </a:solidFill>
                      <a:prstDash val="solid"/>
                    </a:lnB>
                    <a:solidFill>
                      <a:srgbClr val="26C5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기간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B8"/>
                      </a:solidFill>
                      <a:prstDash val="solid"/>
                    </a:lnL>
                    <a:lnR w="9525" cap="flat" cmpd="sng" algn="ctr">
                      <a:solidFill>
                        <a:srgbClr val="26C5B8"/>
                      </a:solidFill>
                      <a:prstDash val="solid"/>
                    </a:lnR>
                    <a:lnT w="9525" cap="flat" cmpd="sng" algn="ctr">
                      <a:solidFill>
                        <a:srgbClr val="26C5B8"/>
                      </a:solidFill>
                      <a:prstDash val="solid"/>
                    </a:lnT>
                    <a:lnB w="9525" cap="flat" cmpd="sng" algn="ctr">
                      <a:solidFill>
                        <a:srgbClr val="26C5B8"/>
                      </a:solidFill>
                      <a:prstDash val="solid"/>
                    </a:lnB>
                    <a:solidFill>
                      <a:srgbClr val="26C5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담당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6C5B8"/>
                      </a:solidFill>
                      <a:prstDash val="solid"/>
                    </a:lnL>
                    <a:lnR w="9525" cap="flat" cmpd="sng" algn="ctr">
                      <a:solidFill>
                        <a:srgbClr val="26C5B8"/>
                      </a:solidFill>
                      <a:prstDash val="solid"/>
                    </a:lnR>
                    <a:lnT w="9525" cap="flat" cmpd="sng" algn="ctr">
                      <a:solidFill>
                        <a:srgbClr val="26C5B8"/>
                      </a:solidFill>
                      <a:prstDash val="solid"/>
                    </a:lnT>
                    <a:lnB w="9525" cap="flat" cmpd="sng" algn="ctr">
                      <a:solidFill>
                        <a:srgbClr val="26C5B8"/>
                      </a:solidFill>
                      <a:prstDash val="solid"/>
                    </a:lnB>
                    <a:solidFill>
                      <a:srgbClr val="26C5B8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59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D1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59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D1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59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D1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59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D1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EEFCFB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15F59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D1FA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FAF7"/>
                      </a:solidFill>
                      <a:prstDash val="solid"/>
                    </a:lnL>
                    <a:lnR w="9525" cap="flat" cmpd="sng" algn="ctr">
                      <a:solidFill>
                        <a:srgbClr val="D1FAF7"/>
                      </a:solidFill>
                      <a:prstDash val="solid"/>
                    </a:lnR>
                    <a:lnT w="9525" cap="flat" cmpd="sng" algn="ctr">
                      <a:solidFill>
                        <a:srgbClr val="D1FAF7"/>
                      </a:solidFill>
                      <a:prstDash val="solid"/>
                    </a:lnT>
                    <a:lnB w="9525" cap="flat" cmpd="sng" algn="ctr">
                      <a:solidFill>
                        <a:srgbClr val="D1FA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15F59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15F59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사업 제안 발표 템플릿">
  <a:themeElements>
    <a:clrScheme name="Office">
      <a:dk1>
        <a:sysClr val="windowText" lastClr="000000"/>
      </a:dk1>
      <a:lt1>
        <a:sysClr val="window" lastClr="FFFFFF"/>
      </a:lt1>
      <a:dk2>
        <a:srgbClr val="115F59"/>
      </a:dk2>
      <a:lt2>
        <a:srgbClr val="EEFCFB"/>
      </a:lt2>
      <a:accent1>
        <a:srgbClr val="26C5B8"/>
      </a:accent1>
      <a:accent2>
        <a:srgbClr val="209DB6"/>
      </a:accent2>
      <a:accent3>
        <a:srgbClr val="115F59"/>
      </a:accent3>
      <a:accent4>
        <a:srgbClr val="D1FAF7"/>
      </a:accent4>
      <a:accent5>
        <a:srgbClr val="23B1B7"/>
      </a:accent5>
      <a:accent6>
        <a:srgbClr val="709F9B"/>
      </a:accent6>
      <a:hlink>
        <a:srgbClr val="26C5B8"/>
      </a:hlink>
      <a:folHlink>
        <a:srgbClr val="115F5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사업 제안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