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F22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F22"/>
                </a:solidFill>
              </a:rPr>
              <a:t>상반기 실적과 남은 일정입니다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2700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추진 경과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2700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주요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2700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이슈와 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2700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향후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14F22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5875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5875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5875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5D964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F22"/>
                </a:solidFill>
              </a:rPr>
              <a:t>이슈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3F9F1"/>
          </a:solidFill>
          <a:ln w="12700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CEED3"/>
          </a:solidFill>
          <a:ln w="12700">
            <a:solidFill>
              <a:srgbClr val="DC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14F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D9640"/>
                      </a:solidFill>
                      <a:prstDash val="solid"/>
                    </a:lnL>
                    <a:lnR w="9525" cap="flat" cmpd="sng" algn="ctr">
                      <a:solidFill>
                        <a:srgbClr val="5D9640"/>
                      </a:solidFill>
                      <a:prstDash val="solid"/>
                    </a:lnR>
                    <a:lnT w="9525" cap="flat" cmpd="sng" algn="ctr">
                      <a:solidFill>
                        <a:srgbClr val="5D9640"/>
                      </a:solidFill>
                      <a:prstDash val="solid"/>
                    </a:lnT>
                    <a:lnB w="9525" cap="flat" cmpd="sng" algn="ctr">
                      <a:solidFill>
                        <a:srgbClr val="5D9640"/>
                      </a:solidFill>
                      <a:prstDash val="solid"/>
                    </a:lnB>
                    <a:solidFill>
                      <a:srgbClr val="5D964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3F9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F22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DC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CEED3"/>
                      </a:solidFill>
                      <a:prstDash val="solid"/>
                    </a:lnL>
                    <a:lnR w="9525" cap="flat" cmpd="sng" algn="ctr">
                      <a:solidFill>
                        <a:srgbClr val="DCEED3"/>
                      </a:solidFill>
                      <a:prstDash val="solid"/>
                    </a:lnR>
                    <a:lnT w="9525" cap="flat" cmpd="sng" algn="ctr">
                      <a:solidFill>
                        <a:srgbClr val="DCEED3"/>
                      </a:solidFill>
                      <a:prstDash val="solid"/>
                    </a:lnT>
                    <a:lnB w="9525" cap="flat" cmpd="sng" algn="ctr">
                      <a:solidFill>
                        <a:srgbClr val="DC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F22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F22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314F22"/>
      </a:dk2>
      <a:lt2>
        <a:srgbClr val="F3F9F1"/>
      </a:lt2>
      <a:accent1>
        <a:srgbClr val="5D9640"/>
      </a:accent1>
      <a:accent2>
        <a:srgbClr val="4B3D8F"/>
      </a:accent2>
      <a:accent3>
        <a:srgbClr val="314F22"/>
      </a:accent3>
      <a:accent4>
        <a:srgbClr val="DCEED3"/>
      </a:accent4>
      <a:accent5>
        <a:srgbClr val="546A68"/>
      </a:accent5>
      <a:accent6>
        <a:srgbClr val="83957A"/>
      </a:accent6>
      <a:hlink>
        <a:srgbClr val="5D9640"/>
      </a:hlink>
      <a:folHlink>
        <a:srgbClr val="314F2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