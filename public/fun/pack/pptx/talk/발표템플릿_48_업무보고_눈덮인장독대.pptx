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880360"/>
            <a:ext cx="5486262" cy="3977639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4526280"/>
            <a:ext cx="3169840" cy="233172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00000">
            <a:off x="7802684" y="0"/>
            <a:ext cx="4389010" cy="274320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53912">
            <a:off x="9967632" y="4964211"/>
            <a:ext cx="571084" cy="571084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560014">
            <a:off x="11003315" y="5706804"/>
            <a:ext cx="623847" cy="623847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3169356">
            <a:off x="11056782" y="4103456"/>
            <a:ext cx="810947" cy="810947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834522">
            <a:off x="9824297" y="5867452"/>
            <a:ext cx="740597" cy="740597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533256">
            <a:off x="11470644" y="3610104"/>
            <a:ext cx="466923" cy="466923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927563">
            <a:off x="9911340" y="3872736"/>
            <a:ext cx="870340" cy="870340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09728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94660"/>
                </a:solidFill>
              </a:rPr>
              <a:t>발표 제목을 입력하세요</a:t>
            </a:r>
          </a:p>
        </p:txBody>
      </p:sp>
      <p:sp>
        <p:nvSpPr>
          <p:cNvPr id="12" name="한 줄 문구"/>
          <p:cNvSpPr txBox="1"/>
          <p:nvPr/>
        </p:nvSpPr>
        <p:spPr>
          <a:xfrm>
            <a:off x="975335" y="265176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94660"/>
                </a:solidFill>
              </a:rPr>
              <a:t>소복이 쌓이는 눈처럼 차곡차곡</a:t>
            </a:r>
          </a:p>
        </p:txBody>
      </p:sp>
      <p:sp>
        <p:nvSpPr>
          <p:cNvPr id="13" name="안내 문구"/>
          <p:cNvSpPr txBox="1"/>
          <p:nvPr/>
        </p:nvSpPr>
        <p:spPr>
          <a:xfrm>
            <a:off x="975335" y="3520439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업무 보고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453912">
            <a:off x="11222771" y="837230"/>
            <a:ext cx="209397" cy="209397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560014">
            <a:off x="11602522" y="1109514"/>
            <a:ext cx="228744" cy="228744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169356">
            <a:off x="11622126" y="521620"/>
            <a:ext cx="297347" cy="297347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834522">
            <a:off x="11170215" y="1168419"/>
            <a:ext cx="271552" cy="271552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533256">
            <a:off x="11773875" y="340725"/>
            <a:ext cx="171205" cy="171205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27563">
            <a:off x="11202131" y="437023"/>
            <a:ext cx="319124" cy="319124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94660"/>
                </a:solidFill>
              </a:rPr>
              <a:t>목차</a:t>
            </a:r>
          </a:p>
        </p:txBody>
      </p:sp>
      <p:sp>
        <p:nvSpPr>
          <p:cNvPr id="11" name="줄 1"/>
          <p:cNvSpPr/>
          <p:nvPr/>
        </p:nvSpPr>
        <p:spPr>
          <a:xfrm>
            <a:off x="640080" y="160020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D7DD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5E74A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645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94660"/>
                </a:solidFill>
              </a:rPr>
              <a:t>추진 경과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645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5" name="줄 2"/>
          <p:cNvSpPr/>
          <p:nvPr/>
        </p:nvSpPr>
        <p:spPr>
          <a:xfrm>
            <a:off x="640080" y="265176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D7DD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2"/>
          <p:cNvSpPr/>
          <p:nvPr/>
        </p:nvSpPr>
        <p:spPr>
          <a:xfrm>
            <a:off x="822959" y="2880360"/>
            <a:ext cx="457200" cy="457200"/>
          </a:xfrm>
          <a:prstGeom prst="ellipse">
            <a:avLst/>
          </a:prstGeom>
          <a:solidFill>
            <a:srgbClr val="5E74A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697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94660"/>
                </a:solidFill>
              </a:rPr>
              <a:t>주요 성과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697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9" name="줄 3"/>
          <p:cNvSpPr/>
          <p:nvPr/>
        </p:nvSpPr>
        <p:spPr>
          <a:xfrm>
            <a:off x="640080" y="370332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D7DD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3"/>
          <p:cNvSpPr/>
          <p:nvPr/>
        </p:nvSpPr>
        <p:spPr>
          <a:xfrm>
            <a:off x="822959" y="3931920"/>
            <a:ext cx="457200" cy="457200"/>
          </a:xfrm>
          <a:prstGeom prst="ellipse">
            <a:avLst/>
          </a:prstGeom>
          <a:solidFill>
            <a:srgbClr val="5E74A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74903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94660"/>
                </a:solidFill>
              </a:rPr>
              <a:t>이슈와 대응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74903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3" name="줄 4"/>
          <p:cNvSpPr/>
          <p:nvPr/>
        </p:nvSpPr>
        <p:spPr>
          <a:xfrm>
            <a:off x="640080" y="4754879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D7DD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번호 4"/>
          <p:cNvSpPr/>
          <p:nvPr/>
        </p:nvSpPr>
        <p:spPr>
          <a:xfrm>
            <a:off x="822959" y="4983479"/>
            <a:ext cx="457200" cy="457200"/>
          </a:xfrm>
          <a:prstGeom prst="ellipse">
            <a:avLst/>
          </a:prstGeom>
          <a:solidFill>
            <a:srgbClr val="5E74A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80059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94660"/>
                </a:solidFill>
              </a:rPr>
              <a:t>향후 계획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80059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453912">
            <a:off x="11222771" y="837230"/>
            <a:ext cx="209397" cy="209397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560014">
            <a:off x="11602522" y="1109514"/>
            <a:ext cx="228744" cy="228744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169356">
            <a:off x="11622126" y="521620"/>
            <a:ext cx="297347" cy="297347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834522">
            <a:off x="11170215" y="1168419"/>
            <a:ext cx="271552" cy="271552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533256">
            <a:off x="11773875" y="340725"/>
            <a:ext cx="171205" cy="171205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27563">
            <a:off x="11202131" y="437023"/>
            <a:ext cx="319124" cy="319124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94660"/>
                </a:solidFill>
              </a:rPr>
              <a:t>핵심 메시지</a:t>
            </a:r>
          </a:p>
        </p:txBody>
      </p:sp>
      <p:sp>
        <p:nvSpPr>
          <p:cNvPr id="11" name="핵심 문장"/>
          <p:cNvSpPr txBox="1"/>
          <p:nvPr/>
        </p:nvSpPr>
        <p:spPr>
          <a:xfrm>
            <a:off x="640080" y="160020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394660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12" name="카드 1"/>
          <p:cNvSpPr/>
          <p:nvPr/>
        </p:nvSpPr>
        <p:spPr>
          <a:xfrm>
            <a:off x="640080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5875">
            <a:solidFill>
              <a:srgbClr val="D7DD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1"/>
          <p:cNvSpPr/>
          <p:nvPr/>
        </p:nvSpPr>
        <p:spPr>
          <a:xfrm>
            <a:off x="822959" y="3246120"/>
            <a:ext cx="457200" cy="457200"/>
          </a:xfrm>
          <a:prstGeom prst="ellipse">
            <a:avLst/>
          </a:prstGeom>
          <a:solidFill>
            <a:srgbClr val="5E74A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94660"/>
                </a:solidFill>
              </a:rPr>
              <a:t>진행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6" name="카드 2"/>
          <p:cNvSpPr/>
          <p:nvPr/>
        </p:nvSpPr>
        <p:spPr>
          <a:xfrm>
            <a:off x="4353458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5875">
            <a:solidFill>
              <a:srgbClr val="D7DD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2"/>
          <p:cNvSpPr/>
          <p:nvPr/>
        </p:nvSpPr>
        <p:spPr>
          <a:xfrm>
            <a:off x="4536338" y="3246120"/>
            <a:ext cx="457200" cy="457200"/>
          </a:xfrm>
          <a:prstGeom prst="ellipse">
            <a:avLst/>
          </a:prstGeom>
          <a:solidFill>
            <a:srgbClr val="5E74A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0618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94660"/>
                </a:solidFill>
              </a:rPr>
              <a:t>성과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0618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0" name="카드 3"/>
          <p:cNvSpPr/>
          <p:nvPr/>
        </p:nvSpPr>
        <p:spPr>
          <a:xfrm>
            <a:off x="8066836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5875">
            <a:solidFill>
              <a:srgbClr val="D7DD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3"/>
          <p:cNvSpPr/>
          <p:nvPr/>
        </p:nvSpPr>
        <p:spPr>
          <a:xfrm>
            <a:off x="8249716" y="3246120"/>
            <a:ext cx="457200" cy="457200"/>
          </a:xfrm>
          <a:prstGeom prst="ellipse">
            <a:avLst/>
          </a:prstGeom>
          <a:solidFill>
            <a:srgbClr val="5E74A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3996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94660"/>
                </a:solidFill>
              </a:rPr>
              <a:t>이슈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3996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453912">
            <a:off x="11222771" y="837230"/>
            <a:ext cx="209397" cy="209397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560014">
            <a:off x="11602522" y="1109514"/>
            <a:ext cx="228744" cy="228744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169356">
            <a:off x="11622126" y="521620"/>
            <a:ext cx="297347" cy="297347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834522">
            <a:off x="11170215" y="1168419"/>
            <a:ext cx="271552" cy="271552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533256">
            <a:off x="11773875" y="340725"/>
            <a:ext cx="171205" cy="171205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27563">
            <a:off x="11202131" y="437023"/>
            <a:ext cx="319124" cy="319124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94660"/>
                </a:solidFill>
              </a:rPr>
              <a:t>한눈에 비교</a:t>
            </a:r>
          </a:p>
        </p:txBody>
      </p:sp>
      <p:sp>
        <p:nvSpPr>
          <p:cNvPr id="11" name="왼쪽 칸"/>
          <p:cNvSpPr/>
          <p:nvPr/>
        </p:nvSpPr>
        <p:spPr>
          <a:xfrm>
            <a:off x="640080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D7DD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칸 제목 바"/>
          <p:cNvSpPr/>
          <p:nvPr/>
        </p:nvSpPr>
        <p:spPr>
          <a:xfrm>
            <a:off x="640080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계획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5" name="오른쪽 칸"/>
          <p:cNvSpPr/>
          <p:nvPr/>
        </p:nvSpPr>
        <p:spPr>
          <a:xfrm>
            <a:off x="6278727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D7DDEA"/>
          </a:solidFill>
          <a:ln w="12700">
            <a:solidFill>
              <a:srgbClr val="D7DD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칸 제목 바"/>
          <p:cNvSpPr/>
          <p:nvPr/>
        </p:nvSpPr>
        <p:spPr>
          <a:xfrm>
            <a:off x="6278727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3946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1607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실적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7327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453912">
            <a:off x="11222771" y="837230"/>
            <a:ext cx="209397" cy="209397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560014">
            <a:off x="11602522" y="1109514"/>
            <a:ext cx="228744" cy="228744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169356">
            <a:off x="11622126" y="521620"/>
            <a:ext cx="297347" cy="297347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834522">
            <a:off x="11170215" y="1168419"/>
            <a:ext cx="271552" cy="271552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533256">
            <a:off x="11773875" y="340725"/>
            <a:ext cx="171205" cy="171205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27563">
            <a:off x="11202131" y="437023"/>
            <a:ext cx="319124" cy="319124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94660"/>
                </a:solidFill>
              </a:rPr>
              <a:t>일정·현황</a:t>
            </a:r>
          </a:p>
        </p:txBody>
      </p:sp>
      <p:graphicFrame>
        <p:nvGraphicFramePr>
          <p:cNvPr id="11" name="표"/>
          <p:cNvGraphicFramePr>
            <a:graphicFrameLocks noGrp="1"/>
          </p:cNvGraphicFramePr>
          <p:nvPr/>
        </p:nvGraphicFramePr>
        <p:xfrm>
          <a:off x="640080" y="160020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E74A1"/>
                      </a:solidFill>
                      <a:prstDash val="solid"/>
                    </a:lnL>
                    <a:lnR w="9525" cap="flat" cmpd="sng" algn="ctr">
                      <a:solidFill>
                        <a:srgbClr val="5E74A1"/>
                      </a:solidFill>
                      <a:prstDash val="solid"/>
                    </a:lnR>
                    <a:lnT w="9525" cap="flat" cmpd="sng" algn="ctr">
                      <a:solidFill>
                        <a:srgbClr val="5E74A1"/>
                      </a:solidFill>
                      <a:prstDash val="solid"/>
                    </a:lnT>
                    <a:lnB w="9525" cap="flat" cmpd="sng" algn="ctr">
                      <a:solidFill>
                        <a:srgbClr val="5E74A1"/>
                      </a:solidFill>
                      <a:prstDash val="solid"/>
                    </a:lnB>
                    <a:solidFill>
                      <a:srgbClr val="5E74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목표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E74A1"/>
                      </a:solidFill>
                      <a:prstDash val="solid"/>
                    </a:lnL>
                    <a:lnR w="9525" cap="flat" cmpd="sng" algn="ctr">
                      <a:solidFill>
                        <a:srgbClr val="5E74A1"/>
                      </a:solidFill>
                      <a:prstDash val="solid"/>
                    </a:lnR>
                    <a:lnT w="9525" cap="flat" cmpd="sng" algn="ctr">
                      <a:solidFill>
                        <a:srgbClr val="5E74A1"/>
                      </a:solidFill>
                      <a:prstDash val="solid"/>
                    </a:lnT>
                    <a:lnB w="9525" cap="flat" cmpd="sng" algn="ctr">
                      <a:solidFill>
                        <a:srgbClr val="5E74A1"/>
                      </a:solidFill>
                      <a:prstDash val="solid"/>
                    </a:lnB>
                    <a:solidFill>
                      <a:srgbClr val="5E74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실적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E74A1"/>
                      </a:solidFill>
                      <a:prstDash val="solid"/>
                    </a:lnL>
                    <a:lnR w="9525" cap="flat" cmpd="sng" algn="ctr">
                      <a:solidFill>
                        <a:srgbClr val="5E74A1"/>
                      </a:solidFill>
                      <a:prstDash val="solid"/>
                    </a:lnR>
                    <a:lnT w="9525" cap="flat" cmpd="sng" algn="ctr">
                      <a:solidFill>
                        <a:srgbClr val="5E74A1"/>
                      </a:solidFill>
                      <a:prstDash val="solid"/>
                    </a:lnT>
                    <a:lnB w="9525" cap="flat" cmpd="sng" algn="ctr">
                      <a:solidFill>
                        <a:srgbClr val="5E74A1"/>
                      </a:solidFill>
                      <a:prstDash val="solid"/>
                    </a:lnB>
                    <a:solidFill>
                      <a:srgbClr val="5E74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달성률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E74A1"/>
                      </a:solidFill>
                      <a:prstDash val="solid"/>
                    </a:lnL>
                    <a:lnR w="9525" cap="flat" cmpd="sng" algn="ctr">
                      <a:solidFill>
                        <a:srgbClr val="5E74A1"/>
                      </a:solidFill>
                      <a:prstDash val="solid"/>
                    </a:lnR>
                    <a:lnT w="9525" cap="flat" cmpd="sng" algn="ctr">
                      <a:solidFill>
                        <a:srgbClr val="5E74A1"/>
                      </a:solidFill>
                      <a:prstDash val="solid"/>
                    </a:lnT>
                    <a:lnB w="9525" cap="flat" cmpd="sng" algn="ctr">
                      <a:solidFill>
                        <a:srgbClr val="5E74A1"/>
                      </a:solidFill>
                      <a:prstDash val="solid"/>
                    </a:lnB>
                    <a:solidFill>
                      <a:srgbClr val="5E74A1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94660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D7D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94660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D7D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94660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D7D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94660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D7D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94660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D7D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880360"/>
            <a:ext cx="5486262" cy="3977639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4526280"/>
            <a:ext cx="3169840" cy="233172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00000">
            <a:off x="7802684" y="0"/>
            <a:ext cx="4389010" cy="274320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53912">
            <a:off x="9967632" y="4964211"/>
            <a:ext cx="571084" cy="571084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560014">
            <a:off x="11003315" y="5706804"/>
            <a:ext cx="623847" cy="623847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3169356">
            <a:off x="11056782" y="4103456"/>
            <a:ext cx="810947" cy="810947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834522">
            <a:off x="9824297" y="5867452"/>
            <a:ext cx="740597" cy="740597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533256">
            <a:off x="11470644" y="3610104"/>
            <a:ext cx="466923" cy="466923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927563">
            <a:off x="9911340" y="3872736"/>
            <a:ext cx="870340" cy="870340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09728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94660"/>
                </a:solidFill>
              </a:rPr>
              <a:t>감사합니다</a:t>
            </a:r>
          </a:p>
        </p:txBody>
      </p:sp>
      <p:sp>
        <p:nvSpPr>
          <p:cNvPr id="12" name="한 줄 문구"/>
          <p:cNvSpPr txBox="1"/>
          <p:nvPr/>
        </p:nvSpPr>
        <p:spPr>
          <a:xfrm>
            <a:off x="975335" y="265176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94660"/>
                </a:solidFill>
              </a:rPr>
              <a:t>들어 주셔서 고맙습니다</a:t>
            </a:r>
          </a:p>
        </p:txBody>
      </p:sp>
      <p:sp>
        <p:nvSpPr>
          <p:cNvPr id="13" name="안내 문구"/>
          <p:cNvSpPr txBox="1"/>
          <p:nvPr/>
        </p:nvSpPr>
        <p:spPr>
          <a:xfrm>
            <a:off x="975335" y="3520439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업무 보고 발표 템플릿">
  <a:themeElements>
    <a:clrScheme name="Office">
      <a:dk1>
        <a:sysClr val="windowText" lastClr="000000"/>
      </a:dk1>
      <a:lt1>
        <a:sysClr val="window" lastClr="FFFFFF"/>
      </a:lt1>
      <a:dk2>
        <a:srgbClr val="394660"/>
      </a:dk2>
      <a:lt2>
        <a:srgbClr val="F2F4F7"/>
      </a:lt2>
      <a:accent1>
        <a:srgbClr val="5E74A1"/>
      </a:accent1>
      <a:accent2>
        <a:srgbClr val="81544B"/>
      </a:accent2>
      <a:accent3>
        <a:srgbClr val="394660"/>
      </a:accent3>
      <a:accent4>
        <a:srgbClr val="D7DDEA"/>
      </a:accent4>
      <a:accent5>
        <a:srgbClr val="706476"/>
      </a:accent5>
      <a:accent6>
        <a:srgbClr val="8890A0"/>
      </a:accent6>
      <a:hlink>
        <a:srgbClr val="5E74A1"/>
      </a:hlink>
      <a:folHlink>
        <a:srgbClr val="39466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업무 보고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