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B2017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내년 예산에 반영할 안을 가져왔습니다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8308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문제와 기회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0603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834639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해결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5175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6576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388620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기대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7033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77240" y="470915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60120" y="4937759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진행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77240" y="155448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3B201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77240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60120" y="320040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현황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99178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82058" y="320040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6338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21116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5875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03996" y="3200400"/>
            <a:ext cx="457200" cy="4572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017"/>
                </a:solidFill>
              </a:rPr>
              <a:t>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8276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77240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F9F3F0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77240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EFD9D1"/>
          </a:solidFill>
          <a:ln w="12700">
            <a:solidFill>
              <a:srgbClr val="EFD9D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3B20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9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7D453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B2017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7D4531"/>
                      </a:solidFill>
                      <a:prstDash val="solid"/>
                    </a:lnL>
                    <a:lnR w="9525" cap="flat" cmpd="sng" algn="ctr">
                      <a:solidFill>
                        <a:srgbClr val="7D4531"/>
                      </a:solidFill>
                      <a:prstDash val="solid"/>
                    </a:lnR>
                    <a:lnT w="9525" cap="flat" cmpd="sng" algn="ctr">
                      <a:solidFill>
                        <a:srgbClr val="7D4531"/>
                      </a:solidFill>
                      <a:prstDash val="solid"/>
                    </a:lnT>
                    <a:lnB w="9525" cap="flat" cmpd="sng" algn="ctr">
                      <a:solidFill>
                        <a:srgbClr val="7D4531"/>
                      </a:solidFill>
                      <a:prstDash val="solid"/>
                    </a:lnB>
                    <a:solidFill>
                      <a:srgbClr val="7D453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9F3F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3B201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EFD9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FD9D1"/>
                      </a:solidFill>
                      <a:prstDash val="solid"/>
                    </a:lnL>
                    <a:lnR w="9525" cap="flat" cmpd="sng" algn="ctr">
                      <a:solidFill>
                        <a:srgbClr val="EFD9D1"/>
                      </a:solidFill>
                      <a:prstDash val="solid"/>
                    </a:lnR>
                    <a:lnT w="9525" cap="flat" cmpd="sng" algn="ctr">
                      <a:solidFill>
                        <a:srgbClr val="EFD9D1"/>
                      </a:solidFill>
                      <a:prstDash val="solid"/>
                    </a:lnT>
                    <a:lnB w="9525" cap="flat" cmpd="sng" algn="ctr">
                      <a:solidFill>
                        <a:srgbClr val="EFD9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B2017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B2017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3B2017"/>
      </a:dk2>
      <a:lt2>
        <a:srgbClr val="F9F3F0"/>
      </a:lt2>
      <a:accent1>
        <a:srgbClr val="7D4531"/>
      </a:accent1>
      <a:accent2>
        <a:srgbClr val="3B917D"/>
      </a:accent2>
      <a:accent3>
        <a:srgbClr val="3B2017"/>
      </a:accent3>
      <a:accent4>
        <a:srgbClr val="EFD9D1"/>
      </a:accent4>
      <a:accent5>
        <a:srgbClr val="5C6B57"/>
      </a:accent5>
      <a:accent6>
        <a:srgbClr val="897974"/>
      </a:accent6>
      <a:hlink>
        <a:srgbClr val="7D4531"/>
      </a:hlink>
      <a:folHlink>
        <a:srgbClr val="3B201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