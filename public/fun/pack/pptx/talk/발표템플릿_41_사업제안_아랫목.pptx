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30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8168335" y="3749039"/>
            <a:ext cx="5486400" cy="5486400"/>
          </a:xfrm>
          <a:prstGeom prst="ellipse">
            <a:avLst/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737305" y="1371600"/>
            <a:ext cx="457200" cy="457200"/>
          </a:xfrm>
          <a:prstGeom prst="ellipse">
            <a:avLst/>
          </a:prstGeom>
          <a:solidFill>
            <a:srgbClr val="AC81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36289" y="2468879"/>
            <a:ext cx="182880" cy="182880"/>
          </a:xfrm>
          <a:prstGeom prst="ellipse">
            <a:avLst/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라벨"/>
          <p:cNvSpPr txBox="1"/>
          <p:nvPr/>
        </p:nvSpPr>
        <p:spPr>
          <a:xfrm>
            <a:off x="5120511" y="160020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0511" y="205740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</a:rPr>
              <a:t>발표 제목을 입력하세요</a:t>
            </a:r>
          </a:p>
        </p:txBody>
      </p:sp>
      <p:sp>
        <p:nvSpPr>
          <p:cNvPr id="7" name="한 줄 문구"/>
          <p:cNvSpPr txBox="1"/>
          <p:nvPr/>
        </p:nvSpPr>
        <p:spPr>
          <a:xfrm>
            <a:off x="5120511" y="333756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</a:rPr>
              <a:t>다음 예산에 반영할 안을 가져왔습니다</a:t>
            </a:r>
          </a:p>
        </p:txBody>
      </p:sp>
      <p:sp>
        <p:nvSpPr>
          <p:cNvPr id="8" name="안내 문구"/>
          <p:cNvSpPr txBox="1"/>
          <p:nvPr/>
        </p:nvSpPr>
        <p:spPr>
          <a:xfrm>
            <a:off x="5120511" y="420624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사업 제안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E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ellipse">
            <a:avLst/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목차</a:t>
            </a:r>
          </a:p>
        </p:txBody>
      </p:sp>
      <p:sp>
        <p:nvSpPr>
          <p:cNvPr id="6" name="줄 1"/>
          <p:cNvSpPr/>
          <p:nvPr/>
        </p:nvSpPr>
        <p:spPr>
          <a:xfrm>
            <a:off x="640080" y="1600200"/>
            <a:ext cx="10911535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DE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쪽 띠"/>
          <p:cNvSpPr/>
          <p:nvPr/>
        </p:nvSpPr>
        <p:spPr>
          <a:xfrm>
            <a:off x="649224" y="1609344"/>
            <a:ext cx="10893247" cy="82296"/>
          </a:xfrm>
          <a:prstGeom prst="rect">
            <a:avLst/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82880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1AC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027"/>
                </a:solidFill>
              </a:rPr>
              <a:t>문제와 기회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645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1" name="줄 2"/>
          <p:cNvSpPr/>
          <p:nvPr/>
        </p:nvSpPr>
        <p:spPr>
          <a:xfrm>
            <a:off x="640080" y="2651760"/>
            <a:ext cx="10911535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DE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위쪽 띠"/>
          <p:cNvSpPr/>
          <p:nvPr/>
        </p:nvSpPr>
        <p:spPr>
          <a:xfrm>
            <a:off x="649224" y="2660903"/>
            <a:ext cx="10893247" cy="82296"/>
          </a:xfrm>
          <a:prstGeom prst="rect">
            <a:avLst/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822959" y="288036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1AC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027"/>
                </a:solidFill>
              </a:rPr>
              <a:t>해결 방법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697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6" name="줄 3"/>
          <p:cNvSpPr/>
          <p:nvPr/>
        </p:nvSpPr>
        <p:spPr>
          <a:xfrm>
            <a:off x="640080" y="3703320"/>
            <a:ext cx="10911535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DE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위쪽 띠"/>
          <p:cNvSpPr/>
          <p:nvPr/>
        </p:nvSpPr>
        <p:spPr>
          <a:xfrm>
            <a:off x="649224" y="3712463"/>
            <a:ext cx="10893247" cy="82296"/>
          </a:xfrm>
          <a:prstGeom prst="rect">
            <a:avLst/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2959" y="393192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1AC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027"/>
                </a:solidFill>
              </a:rPr>
              <a:t>기대 효과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74903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21" name="줄 4"/>
          <p:cNvSpPr/>
          <p:nvPr/>
        </p:nvSpPr>
        <p:spPr>
          <a:xfrm>
            <a:off x="640080" y="4754879"/>
            <a:ext cx="10911535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DE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위쪽 띠"/>
          <p:cNvSpPr/>
          <p:nvPr/>
        </p:nvSpPr>
        <p:spPr>
          <a:xfrm>
            <a:off x="649224" y="4764023"/>
            <a:ext cx="10893247" cy="82296"/>
          </a:xfrm>
          <a:prstGeom prst="rect">
            <a:avLst/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번호 4"/>
          <p:cNvSpPr/>
          <p:nvPr/>
        </p:nvSpPr>
        <p:spPr>
          <a:xfrm>
            <a:off x="822959" y="4983479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1AC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027"/>
                </a:solidFill>
              </a:rPr>
              <a:t>진행 계획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80059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E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ellipse">
            <a:avLst/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핵심 메시지</a:t>
            </a:r>
          </a:p>
        </p:txBody>
      </p:sp>
      <p:sp>
        <p:nvSpPr>
          <p:cNvPr id="6" name="핵심 문장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493027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7" name="카드 1"/>
          <p:cNvSpPr/>
          <p:nvPr/>
        </p:nvSpPr>
        <p:spPr>
          <a:xfrm>
            <a:off x="640080" y="3063240"/>
            <a:ext cx="3484778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DE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위쪽 띠"/>
          <p:cNvSpPr/>
          <p:nvPr/>
        </p:nvSpPr>
        <p:spPr>
          <a:xfrm>
            <a:off x="649224" y="3072384"/>
            <a:ext cx="3466490" cy="82296"/>
          </a:xfrm>
          <a:prstGeom prst="rect">
            <a:avLst/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1"/>
          <p:cNvSpPr/>
          <p:nvPr/>
        </p:nvSpPr>
        <p:spPr>
          <a:xfrm>
            <a:off x="822959" y="324612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1AC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027"/>
                </a:solidFill>
              </a:rPr>
              <a:t>현황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2" name="카드 2"/>
          <p:cNvSpPr/>
          <p:nvPr/>
        </p:nvSpPr>
        <p:spPr>
          <a:xfrm>
            <a:off x="4353458" y="3063240"/>
            <a:ext cx="3484778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DE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위쪽 띠"/>
          <p:cNvSpPr/>
          <p:nvPr/>
        </p:nvSpPr>
        <p:spPr>
          <a:xfrm>
            <a:off x="4362602" y="3072384"/>
            <a:ext cx="3466490" cy="82296"/>
          </a:xfrm>
          <a:prstGeom prst="rect">
            <a:avLst/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2"/>
          <p:cNvSpPr/>
          <p:nvPr/>
        </p:nvSpPr>
        <p:spPr>
          <a:xfrm>
            <a:off x="4536338" y="324612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1AC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027"/>
                </a:solidFill>
              </a:rPr>
              <a:t>제안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0618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7" name="카드 3"/>
          <p:cNvSpPr/>
          <p:nvPr/>
        </p:nvSpPr>
        <p:spPr>
          <a:xfrm>
            <a:off x="8066836" y="3063240"/>
            <a:ext cx="3484778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DE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위쪽 띠"/>
          <p:cNvSpPr/>
          <p:nvPr/>
        </p:nvSpPr>
        <p:spPr>
          <a:xfrm>
            <a:off x="8075980" y="3072384"/>
            <a:ext cx="3466490" cy="82296"/>
          </a:xfrm>
          <a:prstGeom prst="rect">
            <a:avLst/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3"/>
          <p:cNvSpPr/>
          <p:nvPr/>
        </p:nvSpPr>
        <p:spPr>
          <a:xfrm>
            <a:off x="8249716" y="324612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1AC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027"/>
                </a:solidFill>
              </a:rPr>
              <a:t>효과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3996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E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ellipse">
            <a:avLst/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한눈에 비교</a:t>
            </a:r>
          </a:p>
        </p:txBody>
      </p:sp>
      <p:sp>
        <p:nvSpPr>
          <p:cNvPr id="6" name="왼쪽 칸"/>
          <p:cNvSpPr/>
          <p:nvPr/>
        </p:nvSpPr>
        <p:spPr>
          <a:xfrm>
            <a:off x="640080" y="1600200"/>
            <a:ext cx="5272887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DE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쪽 띠"/>
          <p:cNvSpPr/>
          <p:nvPr/>
        </p:nvSpPr>
        <p:spPr>
          <a:xfrm>
            <a:off x="649224" y="1609344"/>
            <a:ext cx="5254599" cy="82296"/>
          </a:xfrm>
          <a:prstGeom prst="rect">
            <a:avLst/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6231F"/>
                </a:solidFill>
              </a:rPr>
              <a:t>현재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2316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1" name="오른쪽 칸"/>
          <p:cNvSpPr/>
          <p:nvPr/>
        </p:nvSpPr>
        <p:spPr>
          <a:xfrm>
            <a:off x="6278727" y="1600200"/>
            <a:ext cx="5272887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DE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위쪽 띠"/>
          <p:cNvSpPr/>
          <p:nvPr/>
        </p:nvSpPr>
        <p:spPr>
          <a:xfrm>
            <a:off x="6287871" y="1609344"/>
            <a:ext cx="5254599" cy="82296"/>
          </a:xfrm>
          <a:prstGeom prst="rect">
            <a:avLst/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4930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제안 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7327" y="242316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E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ellipse">
            <a:avLst/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일정·현황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60020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단계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AC98"/>
                      </a:solidFill>
                      <a:prstDash val="solid"/>
                    </a:lnL>
                    <a:lnR w="9525" cap="flat" cmpd="sng" algn="ctr">
                      <a:solidFill>
                        <a:srgbClr val="E1AC98"/>
                      </a:solidFill>
                      <a:prstDash val="solid"/>
                    </a:lnR>
                    <a:lnT w="9525" cap="flat" cmpd="sng" algn="ctr">
                      <a:solidFill>
                        <a:srgbClr val="E1AC98"/>
                      </a:solidFill>
                      <a:prstDash val="solid"/>
                    </a:lnT>
                    <a:lnB w="9525" cap="flat" cmpd="sng" algn="ctr">
                      <a:solidFill>
                        <a:srgbClr val="E1AC98"/>
                      </a:solidFill>
                      <a:prstDash val="solid"/>
                    </a:lnB>
                    <a:solidFill>
                      <a:srgbClr val="E1AC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AC98"/>
                      </a:solidFill>
                      <a:prstDash val="solid"/>
                    </a:lnL>
                    <a:lnR w="9525" cap="flat" cmpd="sng" algn="ctr">
                      <a:solidFill>
                        <a:srgbClr val="E1AC98"/>
                      </a:solidFill>
                      <a:prstDash val="solid"/>
                    </a:lnR>
                    <a:lnT w="9525" cap="flat" cmpd="sng" algn="ctr">
                      <a:solidFill>
                        <a:srgbClr val="E1AC98"/>
                      </a:solidFill>
                      <a:prstDash val="solid"/>
                    </a:lnT>
                    <a:lnB w="9525" cap="flat" cmpd="sng" algn="ctr">
                      <a:solidFill>
                        <a:srgbClr val="E1AC98"/>
                      </a:solidFill>
                      <a:prstDash val="solid"/>
                    </a:lnB>
                    <a:solidFill>
                      <a:srgbClr val="E1AC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기간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AC98"/>
                      </a:solidFill>
                      <a:prstDash val="solid"/>
                    </a:lnL>
                    <a:lnR w="9525" cap="flat" cmpd="sng" algn="ctr">
                      <a:solidFill>
                        <a:srgbClr val="E1AC98"/>
                      </a:solidFill>
                      <a:prstDash val="solid"/>
                    </a:lnR>
                    <a:lnT w="9525" cap="flat" cmpd="sng" algn="ctr">
                      <a:solidFill>
                        <a:srgbClr val="E1AC98"/>
                      </a:solidFill>
                      <a:prstDash val="solid"/>
                    </a:lnT>
                    <a:lnB w="9525" cap="flat" cmpd="sng" algn="ctr">
                      <a:solidFill>
                        <a:srgbClr val="E1AC98"/>
                      </a:solidFill>
                      <a:prstDash val="solid"/>
                    </a:lnB>
                    <a:solidFill>
                      <a:srgbClr val="E1AC9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1AC98"/>
                      </a:solidFill>
                      <a:prstDash val="solid"/>
                    </a:lnL>
                    <a:lnR w="9525" cap="flat" cmpd="sng" algn="ctr">
                      <a:solidFill>
                        <a:srgbClr val="E1AC98"/>
                      </a:solidFill>
                      <a:prstDash val="solid"/>
                    </a:lnR>
                    <a:lnT w="9525" cap="flat" cmpd="sng" algn="ctr">
                      <a:solidFill>
                        <a:srgbClr val="E1AC98"/>
                      </a:solidFill>
                      <a:prstDash val="solid"/>
                    </a:lnT>
                    <a:lnB w="9525" cap="flat" cmpd="sng" algn="ctr">
                      <a:solidFill>
                        <a:srgbClr val="E1AC98"/>
                      </a:solidFill>
                      <a:prstDash val="solid"/>
                    </a:lnB>
                    <a:solidFill>
                      <a:srgbClr val="E1AC98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027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6D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027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6D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027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6D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027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6D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BF0E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027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6DE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ED5"/>
                      </a:solidFill>
                      <a:prstDash val="solid"/>
                    </a:lnL>
                    <a:lnR w="9525" cap="flat" cmpd="sng" algn="ctr">
                      <a:solidFill>
                        <a:srgbClr val="F6DED5"/>
                      </a:solidFill>
                      <a:prstDash val="solid"/>
                    </a:lnR>
                    <a:lnT w="9525" cap="flat" cmpd="sng" algn="ctr">
                      <a:solidFill>
                        <a:srgbClr val="F6DED5"/>
                      </a:solidFill>
                      <a:prstDash val="solid"/>
                    </a:lnT>
                    <a:lnB w="9525" cap="flat" cmpd="sng" algn="ctr">
                      <a:solidFill>
                        <a:srgbClr val="F6DE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30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8168335" y="3749039"/>
            <a:ext cx="5486400" cy="5486400"/>
          </a:xfrm>
          <a:prstGeom prst="ellipse">
            <a:avLst/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737305" y="1371600"/>
            <a:ext cx="457200" cy="457200"/>
          </a:xfrm>
          <a:prstGeom prst="ellipse">
            <a:avLst/>
          </a:prstGeom>
          <a:solidFill>
            <a:srgbClr val="AC81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36289" y="2468879"/>
            <a:ext cx="182880" cy="182880"/>
          </a:xfrm>
          <a:prstGeom prst="ellipse">
            <a:avLst/>
          </a:prstGeom>
          <a:solidFill>
            <a:srgbClr val="E1AC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라벨"/>
          <p:cNvSpPr txBox="1"/>
          <p:nvPr/>
        </p:nvSpPr>
        <p:spPr>
          <a:xfrm>
            <a:off x="5120511" y="160020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0511" y="205740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</a:rPr>
              <a:t>감사합니다</a:t>
            </a:r>
          </a:p>
        </p:txBody>
      </p:sp>
      <p:sp>
        <p:nvSpPr>
          <p:cNvPr id="7" name="한 줄 문구"/>
          <p:cNvSpPr txBox="1"/>
          <p:nvPr/>
        </p:nvSpPr>
        <p:spPr>
          <a:xfrm>
            <a:off x="5120511" y="333756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</a:rPr>
              <a:t>끝까지 들어 주셔서 고맙습니다</a:t>
            </a:r>
          </a:p>
        </p:txBody>
      </p:sp>
      <p:sp>
        <p:nvSpPr>
          <p:cNvPr id="8" name="안내 문구"/>
          <p:cNvSpPr txBox="1"/>
          <p:nvPr/>
        </p:nvSpPr>
        <p:spPr>
          <a:xfrm>
            <a:off x="5120511" y="420624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사업 제안 발표 템플릿">
  <a:themeElements>
    <a:clrScheme name="Office">
      <a:dk1>
        <a:sysClr val="windowText" lastClr="000000"/>
      </a:dk1>
      <a:lt1>
        <a:sysClr val="window" lastClr="FFFFFF"/>
      </a:lt1>
      <a:dk2>
        <a:srgbClr val="493027"/>
      </a:dk2>
      <a:lt2>
        <a:srgbClr val="FBF0EC"/>
      </a:lt2>
      <a:accent1>
        <a:srgbClr val="E1AC98"/>
      </a:accent1>
      <a:accent2>
        <a:srgbClr val="EADDB8"/>
      </a:accent2>
      <a:accent3>
        <a:srgbClr val="493027"/>
      </a:accent3>
      <a:accent4>
        <a:srgbClr val="F6DED5"/>
      </a:accent4>
      <a:accent5>
        <a:srgbClr val="E6C4A8"/>
      </a:accent5>
      <a:accent6>
        <a:srgbClr val="92837D"/>
      </a:accent6>
      <a:hlink>
        <a:srgbClr val="E1AC98"/>
      </a:hlink>
      <a:folHlink>
        <a:srgbClr val="4930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사업 제안 발표 템플릿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