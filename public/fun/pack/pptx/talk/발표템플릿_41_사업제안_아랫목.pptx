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talk-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3B2017"/>
                </a:solidFill>
              </a:rPr>
              <a:t>발표 제목을 입력하세요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3B2017"/>
                </a:solidFill>
              </a:rPr>
              <a:t>내년 예산에 반영할 안을 가져왔습니다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사업 제안 · 발표자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2027. 00. 00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D9D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7D453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B2017"/>
                </a:solidFill>
              </a:rPr>
              <a:t>목차</a:t>
            </a:r>
          </a:p>
        </p:txBody>
      </p:sp>
      <p:sp>
        <p:nvSpPr>
          <p:cNvPr id="4" name="줄 1"/>
          <p:cNvSpPr/>
          <p:nvPr/>
        </p:nvSpPr>
        <p:spPr>
          <a:xfrm>
            <a:off x="777240" y="1554480"/>
            <a:ext cx="10637215" cy="914400"/>
          </a:xfrm>
          <a:prstGeom prst="roundRect">
            <a:avLst>
              <a:gd name="adj" fmla="val 8000"/>
            </a:avLst>
          </a:prstGeom>
          <a:solidFill>
            <a:srgbClr val="F9F3F0"/>
          </a:solidFill>
          <a:ln w="12700">
            <a:solidFill>
              <a:srgbClr val="EFD9D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번호 1"/>
          <p:cNvSpPr/>
          <p:nvPr/>
        </p:nvSpPr>
        <p:spPr>
          <a:xfrm>
            <a:off x="960120" y="1783080"/>
            <a:ext cx="457200" cy="457200"/>
          </a:xfrm>
          <a:prstGeom prst="ellipse">
            <a:avLst/>
          </a:prstGeom>
          <a:solidFill>
            <a:srgbClr val="7D453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19" y="160020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B2017"/>
                </a:solidFill>
              </a:rPr>
              <a:t>문제와 기회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34840" y="1600200"/>
            <a:ext cx="679673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8" name="줄 2"/>
          <p:cNvSpPr/>
          <p:nvPr/>
        </p:nvSpPr>
        <p:spPr>
          <a:xfrm>
            <a:off x="777240" y="2606039"/>
            <a:ext cx="10637215" cy="914400"/>
          </a:xfrm>
          <a:prstGeom prst="roundRect">
            <a:avLst>
              <a:gd name="adj" fmla="val 8000"/>
            </a:avLst>
          </a:prstGeom>
          <a:solidFill>
            <a:srgbClr val="F9F3F0"/>
          </a:solidFill>
          <a:ln w="12700">
            <a:solidFill>
              <a:srgbClr val="EFD9D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2"/>
          <p:cNvSpPr/>
          <p:nvPr/>
        </p:nvSpPr>
        <p:spPr>
          <a:xfrm>
            <a:off x="960120" y="2834639"/>
            <a:ext cx="457200" cy="457200"/>
          </a:xfrm>
          <a:prstGeom prst="ellipse">
            <a:avLst/>
          </a:prstGeom>
          <a:solidFill>
            <a:srgbClr val="7D453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19" y="265175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B2017"/>
                </a:solidFill>
              </a:rPr>
              <a:t>해결 방법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651759"/>
            <a:ext cx="679673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2" name="줄 3"/>
          <p:cNvSpPr/>
          <p:nvPr/>
        </p:nvSpPr>
        <p:spPr>
          <a:xfrm>
            <a:off x="777240" y="3657600"/>
            <a:ext cx="10637215" cy="914400"/>
          </a:xfrm>
          <a:prstGeom prst="roundRect">
            <a:avLst>
              <a:gd name="adj" fmla="val 8000"/>
            </a:avLst>
          </a:prstGeom>
          <a:solidFill>
            <a:srgbClr val="F9F3F0"/>
          </a:solidFill>
          <a:ln w="12700">
            <a:solidFill>
              <a:srgbClr val="EFD9D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3"/>
          <p:cNvSpPr/>
          <p:nvPr/>
        </p:nvSpPr>
        <p:spPr>
          <a:xfrm>
            <a:off x="960120" y="3886200"/>
            <a:ext cx="457200" cy="457200"/>
          </a:xfrm>
          <a:prstGeom prst="ellipse">
            <a:avLst/>
          </a:prstGeom>
          <a:solidFill>
            <a:srgbClr val="7D453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19" y="37033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B2017"/>
                </a:solidFill>
              </a:rPr>
              <a:t>기대 효과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3703320"/>
            <a:ext cx="679673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6" name="줄 4"/>
          <p:cNvSpPr/>
          <p:nvPr/>
        </p:nvSpPr>
        <p:spPr>
          <a:xfrm>
            <a:off x="777240" y="4709159"/>
            <a:ext cx="10637215" cy="914400"/>
          </a:xfrm>
          <a:prstGeom prst="roundRect">
            <a:avLst>
              <a:gd name="adj" fmla="val 8000"/>
            </a:avLst>
          </a:prstGeom>
          <a:solidFill>
            <a:srgbClr val="F9F3F0"/>
          </a:solidFill>
          <a:ln w="12700">
            <a:solidFill>
              <a:srgbClr val="EFD9D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4"/>
          <p:cNvSpPr/>
          <p:nvPr/>
        </p:nvSpPr>
        <p:spPr>
          <a:xfrm>
            <a:off x="960120" y="4937759"/>
            <a:ext cx="457200" cy="457200"/>
          </a:xfrm>
          <a:prstGeom prst="ellipse">
            <a:avLst/>
          </a:prstGeom>
          <a:solidFill>
            <a:srgbClr val="7D453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19" y="47548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B2017"/>
                </a:solidFill>
              </a:rPr>
              <a:t>진행 계획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4754879"/>
            <a:ext cx="679673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D9D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7D453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B2017"/>
                </a:solidFill>
              </a:rPr>
              <a:t>핵심 메시지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777240" y="1554480"/>
            <a:ext cx="1063721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3B2017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5" name="카드 1"/>
          <p:cNvSpPr/>
          <p:nvPr/>
        </p:nvSpPr>
        <p:spPr>
          <a:xfrm>
            <a:off x="777240" y="3017520"/>
            <a:ext cx="3393338" cy="3017520"/>
          </a:xfrm>
          <a:prstGeom prst="roundRect">
            <a:avLst>
              <a:gd name="adj" fmla="val 8000"/>
            </a:avLst>
          </a:prstGeom>
          <a:solidFill>
            <a:srgbClr val="F9F3F0"/>
          </a:solidFill>
          <a:ln w="15875">
            <a:solidFill>
              <a:srgbClr val="EFD9D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960120" y="3200400"/>
            <a:ext cx="457200" cy="457200"/>
          </a:xfrm>
          <a:prstGeom prst="ellipse">
            <a:avLst/>
          </a:prstGeom>
          <a:solidFill>
            <a:srgbClr val="7D453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9476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B2017"/>
                </a:solidFill>
              </a:rPr>
              <a:t>현황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480560"/>
            <a:ext cx="311901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9" name="카드 2"/>
          <p:cNvSpPr/>
          <p:nvPr/>
        </p:nvSpPr>
        <p:spPr>
          <a:xfrm>
            <a:off x="4399178" y="3017520"/>
            <a:ext cx="3393338" cy="3017520"/>
          </a:xfrm>
          <a:prstGeom prst="roundRect">
            <a:avLst>
              <a:gd name="adj" fmla="val 8000"/>
            </a:avLst>
          </a:prstGeom>
          <a:solidFill>
            <a:srgbClr val="F9F3F0"/>
          </a:solidFill>
          <a:ln w="15875">
            <a:solidFill>
              <a:srgbClr val="EFD9D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4582058" y="3200400"/>
            <a:ext cx="457200" cy="457200"/>
          </a:xfrm>
          <a:prstGeom prst="ellipse">
            <a:avLst/>
          </a:prstGeom>
          <a:solidFill>
            <a:srgbClr val="7D453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6338" y="379476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B2017"/>
                </a:solidFill>
              </a:rPr>
              <a:t>제안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6338" y="4480560"/>
            <a:ext cx="311901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3" name="카드 3"/>
          <p:cNvSpPr/>
          <p:nvPr/>
        </p:nvSpPr>
        <p:spPr>
          <a:xfrm>
            <a:off x="8021116" y="3017520"/>
            <a:ext cx="3393338" cy="3017520"/>
          </a:xfrm>
          <a:prstGeom prst="roundRect">
            <a:avLst>
              <a:gd name="adj" fmla="val 8000"/>
            </a:avLst>
          </a:prstGeom>
          <a:solidFill>
            <a:srgbClr val="F9F3F0"/>
          </a:solidFill>
          <a:ln w="15875">
            <a:solidFill>
              <a:srgbClr val="EFD9D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203996" y="3200400"/>
            <a:ext cx="457200" cy="457200"/>
          </a:xfrm>
          <a:prstGeom prst="ellipse">
            <a:avLst/>
          </a:prstGeom>
          <a:solidFill>
            <a:srgbClr val="7D453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8276" y="379476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B2017"/>
                </a:solidFill>
              </a:rPr>
              <a:t>효과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8276" y="4480560"/>
            <a:ext cx="311901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D9D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7D453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B2017"/>
                </a:solidFill>
              </a:rPr>
              <a:t>한눈에 비교</a:t>
            </a:r>
          </a:p>
        </p:txBody>
      </p:sp>
      <p:sp>
        <p:nvSpPr>
          <p:cNvPr id="4" name="왼쪽 칸"/>
          <p:cNvSpPr/>
          <p:nvPr/>
        </p:nvSpPr>
        <p:spPr>
          <a:xfrm>
            <a:off x="777240" y="1554480"/>
            <a:ext cx="5135727" cy="4663440"/>
          </a:xfrm>
          <a:prstGeom prst="roundRect">
            <a:avLst>
              <a:gd name="adj" fmla="val 8000"/>
            </a:avLst>
          </a:prstGeom>
          <a:solidFill>
            <a:srgbClr val="F9F3F0"/>
          </a:solidFill>
          <a:ln w="12700">
            <a:solidFill>
              <a:srgbClr val="EFD9D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칸 제목 바"/>
          <p:cNvSpPr/>
          <p:nvPr/>
        </p:nvSpPr>
        <p:spPr>
          <a:xfrm>
            <a:off x="777240" y="1554480"/>
            <a:ext cx="5135727" cy="640080"/>
          </a:xfrm>
          <a:prstGeom prst="roundRect">
            <a:avLst>
              <a:gd name="adj" fmla="val 25000"/>
            </a:avLst>
          </a:prstGeom>
          <a:solidFill>
            <a:srgbClr val="7D45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54480"/>
            <a:ext cx="476996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현재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4678527" cy="37490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8" name="오른쪽 칸"/>
          <p:cNvSpPr/>
          <p:nvPr/>
        </p:nvSpPr>
        <p:spPr>
          <a:xfrm>
            <a:off x="6278727" y="1554480"/>
            <a:ext cx="5135727" cy="4663440"/>
          </a:xfrm>
          <a:prstGeom prst="roundRect">
            <a:avLst>
              <a:gd name="adj" fmla="val 8000"/>
            </a:avLst>
          </a:prstGeom>
          <a:solidFill>
            <a:srgbClr val="EFD9D1"/>
          </a:solidFill>
          <a:ln w="12700">
            <a:solidFill>
              <a:srgbClr val="EFD9D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칸 제목 바"/>
          <p:cNvSpPr/>
          <p:nvPr/>
        </p:nvSpPr>
        <p:spPr>
          <a:xfrm>
            <a:off x="6278727" y="1554480"/>
            <a:ext cx="5135727" cy="640080"/>
          </a:xfrm>
          <a:prstGeom prst="roundRect">
            <a:avLst>
              <a:gd name="adj" fmla="val 25000"/>
            </a:avLst>
          </a:prstGeom>
          <a:solidFill>
            <a:srgbClr val="3B201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1607" y="1554480"/>
            <a:ext cx="476996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제안 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7327" y="2377440"/>
            <a:ext cx="4678527" cy="37490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D9D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7D453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B2017"/>
                </a:solidFill>
              </a:rPr>
              <a:t>일정·현황</a:t>
            </a:r>
          </a:p>
        </p:txBody>
      </p:sp>
      <p:graphicFrame>
        <p:nvGraphicFramePr>
          <p:cNvPr id="4" name="표"/>
          <p:cNvGraphicFramePr>
            <a:graphicFrameLocks noGrp="1"/>
          </p:cNvGraphicFramePr>
          <p:nvPr/>
        </p:nvGraphicFramePr>
        <p:xfrm>
          <a:off x="777240" y="1554480"/>
          <a:ext cx="1063721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59303"/>
                <a:gridCol w="2659303"/>
                <a:gridCol w="2659303"/>
                <a:gridCol w="265930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단계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D4531"/>
                      </a:solidFill>
                      <a:prstDash val="solid"/>
                    </a:lnL>
                    <a:lnR w="9525" cap="flat" cmpd="sng" algn="ctr">
                      <a:solidFill>
                        <a:srgbClr val="7D4531"/>
                      </a:solidFill>
                      <a:prstDash val="solid"/>
                    </a:lnR>
                    <a:lnT w="9525" cap="flat" cmpd="sng" algn="ctr">
                      <a:solidFill>
                        <a:srgbClr val="7D4531"/>
                      </a:solidFill>
                      <a:prstDash val="solid"/>
                    </a:lnT>
                    <a:lnB w="9525" cap="flat" cmpd="sng" algn="ctr">
                      <a:solidFill>
                        <a:srgbClr val="7D4531"/>
                      </a:solidFill>
                      <a:prstDash val="solid"/>
                    </a:lnB>
                    <a:solidFill>
                      <a:srgbClr val="7D45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내용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D4531"/>
                      </a:solidFill>
                      <a:prstDash val="solid"/>
                    </a:lnL>
                    <a:lnR w="9525" cap="flat" cmpd="sng" algn="ctr">
                      <a:solidFill>
                        <a:srgbClr val="7D4531"/>
                      </a:solidFill>
                      <a:prstDash val="solid"/>
                    </a:lnR>
                    <a:lnT w="9525" cap="flat" cmpd="sng" algn="ctr">
                      <a:solidFill>
                        <a:srgbClr val="7D4531"/>
                      </a:solidFill>
                      <a:prstDash val="solid"/>
                    </a:lnT>
                    <a:lnB w="9525" cap="flat" cmpd="sng" algn="ctr">
                      <a:solidFill>
                        <a:srgbClr val="7D4531"/>
                      </a:solidFill>
                      <a:prstDash val="solid"/>
                    </a:lnB>
                    <a:solidFill>
                      <a:srgbClr val="7D45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기간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D4531"/>
                      </a:solidFill>
                      <a:prstDash val="solid"/>
                    </a:lnL>
                    <a:lnR w="9525" cap="flat" cmpd="sng" algn="ctr">
                      <a:solidFill>
                        <a:srgbClr val="7D4531"/>
                      </a:solidFill>
                      <a:prstDash val="solid"/>
                    </a:lnR>
                    <a:lnT w="9525" cap="flat" cmpd="sng" algn="ctr">
                      <a:solidFill>
                        <a:srgbClr val="7D4531"/>
                      </a:solidFill>
                      <a:prstDash val="solid"/>
                    </a:lnT>
                    <a:lnB w="9525" cap="flat" cmpd="sng" algn="ctr">
                      <a:solidFill>
                        <a:srgbClr val="7D4531"/>
                      </a:solidFill>
                      <a:prstDash val="solid"/>
                    </a:lnB>
                    <a:solidFill>
                      <a:srgbClr val="7D45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담당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D4531"/>
                      </a:solidFill>
                      <a:prstDash val="solid"/>
                    </a:lnL>
                    <a:lnR w="9525" cap="flat" cmpd="sng" algn="ctr">
                      <a:solidFill>
                        <a:srgbClr val="7D4531"/>
                      </a:solidFill>
                      <a:prstDash val="solid"/>
                    </a:lnR>
                    <a:lnT w="9525" cap="flat" cmpd="sng" algn="ctr">
                      <a:solidFill>
                        <a:srgbClr val="7D4531"/>
                      </a:solidFill>
                      <a:prstDash val="solid"/>
                    </a:lnT>
                    <a:lnB w="9525" cap="flat" cmpd="sng" algn="ctr">
                      <a:solidFill>
                        <a:srgbClr val="7D4531"/>
                      </a:solidFill>
                      <a:prstDash val="solid"/>
                    </a:lnB>
                    <a:solidFill>
                      <a:srgbClr val="7D4531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B2017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EFD9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B2017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EFD9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9F3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9F3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9F3F0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B2017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EFD9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B2017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EFD9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9F3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9F3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9F3F0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B2017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EFD9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talk-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3B2017"/>
                </a:solidFill>
              </a:rPr>
              <a:t>감사합니다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3B2017"/>
                </a:solidFill>
              </a:rPr>
              <a:t>끝까지 들어 주셔서 고맙습니다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사업 제안 발표 템플릿">
  <a:themeElements>
    <a:clrScheme name="Office">
      <a:dk1>
        <a:sysClr val="windowText" lastClr="000000"/>
      </a:dk1>
      <a:lt1>
        <a:sysClr val="window" lastClr="FFFFFF"/>
      </a:lt1>
      <a:dk2>
        <a:srgbClr val="3B2017"/>
      </a:dk2>
      <a:lt2>
        <a:srgbClr val="F9F3F0"/>
      </a:lt2>
      <a:accent1>
        <a:srgbClr val="7D4531"/>
      </a:accent1>
      <a:accent2>
        <a:srgbClr val="3B917D"/>
      </a:accent2>
      <a:accent3>
        <a:srgbClr val="3B2017"/>
      </a:accent3>
      <a:accent4>
        <a:srgbClr val="EFD9D1"/>
      </a:accent4>
      <a:accent5>
        <a:srgbClr val="5C6B57"/>
      </a:accent5>
      <a:accent6>
        <a:srgbClr val="897974"/>
      </a:accent6>
      <a:hlink>
        <a:srgbClr val="7D4531"/>
      </a:hlink>
      <a:folHlink>
        <a:srgbClr val="3B2017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사업 제안 발표 템플릿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