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5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7071183" y="960120"/>
            <a:ext cx="3657508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7558851" y="1234439"/>
            <a:ext cx="3657508" cy="452628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발표 제목을 입력하세요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마감 전에 마무리할 일 목록입니다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업무 보고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날짜 입력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AD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EBAD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6" name="포인트"/>
          <p:cNvSpPr/>
          <p:nvPr/>
        </p:nvSpPr>
        <p:spPr>
          <a:xfrm>
            <a:off x="11048695" y="502919"/>
            <a:ext cx="274320" cy="109728"/>
          </a:xfrm>
          <a:prstGeom prst="wav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목차</a:t>
            </a:r>
          </a:p>
        </p:txBody>
      </p:sp>
      <p:sp>
        <p:nvSpPr>
          <p:cNvPr id="7" name="줄 1"/>
          <p:cNvSpPr/>
          <p:nvPr/>
        </p:nvSpPr>
        <p:spPr>
          <a:xfrm>
            <a:off x="640080" y="1783080"/>
            <a:ext cx="10911535" cy="914400"/>
          </a:xfrm>
          <a:prstGeom prst="roundRect">
            <a:avLst>
              <a:gd name="adj" fmla="val 4000"/>
            </a:avLst>
          </a:prstGeom>
          <a:solidFill>
            <a:srgbClr val="FBEC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포인트 막대"/>
          <p:cNvSpPr/>
          <p:nvPr/>
        </p:nvSpPr>
        <p:spPr>
          <a:xfrm>
            <a:off x="640080" y="1892807"/>
            <a:ext cx="54864" cy="694944"/>
          </a:xfrm>
          <a:prstGeom prst="rect">
            <a:avLst/>
          </a:prstGeom>
          <a:solidFill>
            <a:srgbClr val="E198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1"/>
          <p:cNvSpPr/>
          <p:nvPr/>
        </p:nvSpPr>
        <p:spPr>
          <a:xfrm>
            <a:off x="822959" y="2011680"/>
            <a:ext cx="457200" cy="457200"/>
          </a:xfrm>
          <a:prstGeom prst="ellipse">
            <a:avLst/>
          </a:prstGeom>
          <a:solidFill>
            <a:srgbClr val="EAC7B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82880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2D"/>
                </a:solidFill>
              </a:rPr>
              <a:t>추진 경과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82880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2" name="줄 2"/>
          <p:cNvSpPr/>
          <p:nvPr/>
        </p:nvSpPr>
        <p:spPr>
          <a:xfrm>
            <a:off x="640080" y="2834639"/>
            <a:ext cx="10911535" cy="914400"/>
          </a:xfrm>
          <a:prstGeom prst="roundRect">
            <a:avLst>
              <a:gd name="adj" fmla="val 4000"/>
            </a:avLst>
          </a:prstGeom>
          <a:solidFill>
            <a:srgbClr val="FBEC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포인트 막대"/>
          <p:cNvSpPr/>
          <p:nvPr/>
        </p:nvSpPr>
        <p:spPr>
          <a:xfrm>
            <a:off x="640080" y="2944368"/>
            <a:ext cx="54864" cy="694944"/>
          </a:xfrm>
          <a:prstGeom prst="rect">
            <a:avLst/>
          </a:prstGeom>
          <a:solidFill>
            <a:srgbClr val="E198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2"/>
          <p:cNvSpPr/>
          <p:nvPr/>
        </p:nvSpPr>
        <p:spPr>
          <a:xfrm>
            <a:off x="822959" y="3063239"/>
            <a:ext cx="457200" cy="457200"/>
          </a:xfrm>
          <a:prstGeom prst="ellipse">
            <a:avLst/>
          </a:prstGeom>
          <a:solidFill>
            <a:srgbClr val="EAC7B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288035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2D"/>
                </a:solidFill>
              </a:rPr>
              <a:t>주요 성과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88035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7" name="줄 3"/>
          <p:cNvSpPr/>
          <p:nvPr/>
        </p:nvSpPr>
        <p:spPr>
          <a:xfrm>
            <a:off x="640080" y="3886200"/>
            <a:ext cx="10911535" cy="914400"/>
          </a:xfrm>
          <a:prstGeom prst="roundRect">
            <a:avLst>
              <a:gd name="adj" fmla="val 4000"/>
            </a:avLst>
          </a:prstGeom>
          <a:solidFill>
            <a:srgbClr val="FBEC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포인트 막대"/>
          <p:cNvSpPr/>
          <p:nvPr/>
        </p:nvSpPr>
        <p:spPr>
          <a:xfrm>
            <a:off x="640080" y="3995928"/>
            <a:ext cx="54864" cy="694944"/>
          </a:xfrm>
          <a:prstGeom prst="rect">
            <a:avLst/>
          </a:prstGeom>
          <a:solidFill>
            <a:srgbClr val="E198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번호 3"/>
          <p:cNvSpPr/>
          <p:nvPr/>
        </p:nvSpPr>
        <p:spPr>
          <a:xfrm>
            <a:off x="822959" y="4114800"/>
            <a:ext cx="457200" cy="457200"/>
          </a:xfrm>
          <a:prstGeom prst="ellipse">
            <a:avLst/>
          </a:prstGeom>
          <a:solidFill>
            <a:srgbClr val="EAC7B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3931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2D"/>
                </a:solidFill>
              </a:rPr>
              <a:t>이슈와 대응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39319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22" name="줄 4"/>
          <p:cNvSpPr/>
          <p:nvPr/>
        </p:nvSpPr>
        <p:spPr>
          <a:xfrm>
            <a:off x="640080" y="4937759"/>
            <a:ext cx="10911535" cy="914400"/>
          </a:xfrm>
          <a:prstGeom prst="roundRect">
            <a:avLst>
              <a:gd name="adj" fmla="val 4000"/>
            </a:avLst>
          </a:prstGeom>
          <a:solidFill>
            <a:srgbClr val="FBEC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포인트 막대"/>
          <p:cNvSpPr/>
          <p:nvPr/>
        </p:nvSpPr>
        <p:spPr>
          <a:xfrm>
            <a:off x="640080" y="5047488"/>
            <a:ext cx="54864" cy="694944"/>
          </a:xfrm>
          <a:prstGeom prst="rect">
            <a:avLst/>
          </a:prstGeom>
          <a:solidFill>
            <a:srgbClr val="E198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번호 4"/>
          <p:cNvSpPr/>
          <p:nvPr/>
        </p:nvSpPr>
        <p:spPr>
          <a:xfrm>
            <a:off x="822959" y="5166359"/>
            <a:ext cx="457200" cy="457200"/>
          </a:xfrm>
          <a:prstGeom prst="ellipse">
            <a:avLst/>
          </a:prstGeom>
          <a:solidFill>
            <a:srgbClr val="EAC7B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4983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2D"/>
                </a:solidFill>
              </a:rPr>
              <a:t>향후 계획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49834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AD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EBAD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6" name="포인트"/>
          <p:cNvSpPr/>
          <p:nvPr/>
        </p:nvSpPr>
        <p:spPr>
          <a:xfrm>
            <a:off x="11048695" y="502919"/>
            <a:ext cx="274320" cy="109728"/>
          </a:xfrm>
          <a:prstGeom prst="wav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핵심 메시지</a:t>
            </a:r>
          </a:p>
        </p:txBody>
      </p:sp>
      <p:sp>
        <p:nvSpPr>
          <p:cNvPr id="7" name="핵심 문장"/>
          <p:cNvSpPr txBox="1"/>
          <p:nvPr/>
        </p:nvSpPr>
        <p:spPr>
          <a:xfrm>
            <a:off x="640080" y="178308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49272D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8" name="카드 1"/>
          <p:cNvSpPr/>
          <p:nvPr/>
        </p:nvSpPr>
        <p:spPr>
          <a:xfrm>
            <a:off x="640080" y="3246120"/>
            <a:ext cx="3484778" cy="3017520"/>
          </a:xfrm>
          <a:prstGeom prst="roundRect">
            <a:avLst>
              <a:gd name="adj" fmla="val 4000"/>
            </a:avLst>
          </a:prstGeom>
          <a:solidFill>
            <a:srgbClr val="FBEC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포인트 막대"/>
          <p:cNvSpPr/>
          <p:nvPr/>
        </p:nvSpPr>
        <p:spPr>
          <a:xfrm>
            <a:off x="640080" y="3355848"/>
            <a:ext cx="54864" cy="2798063"/>
          </a:xfrm>
          <a:prstGeom prst="rect">
            <a:avLst/>
          </a:prstGeom>
          <a:solidFill>
            <a:srgbClr val="E198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1"/>
          <p:cNvSpPr/>
          <p:nvPr/>
        </p:nvSpPr>
        <p:spPr>
          <a:xfrm>
            <a:off x="822959" y="3429000"/>
            <a:ext cx="457200" cy="457200"/>
          </a:xfrm>
          <a:prstGeom prst="ellipse">
            <a:avLst/>
          </a:prstGeom>
          <a:solidFill>
            <a:srgbClr val="EAC7B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0233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2D"/>
                </a:solidFill>
              </a:rPr>
              <a:t>진행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7091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3" name="카드 2"/>
          <p:cNvSpPr/>
          <p:nvPr/>
        </p:nvSpPr>
        <p:spPr>
          <a:xfrm>
            <a:off x="4353458" y="3246120"/>
            <a:ext cx="3484778" cy="3017520"/>
          </a:xfrm>
          <a:prstGeom prst="roundRect">
            <a:avLst>
              <a:gd name="adj" fmla="val 4000"/>
            </a:avLst>
          </a:prstGeom>
          <a:solidFill>
            <a:srgbClr val="FBEC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포인트 막대"/>
          <p:cNvSpPr/>
          <p:nvPr/>
        </p:nvSpPr>
        <p:spPr>
          <a:xfrm>
            <a:off x="4353458" y="3355848"/>
            <a:ext cx="54864" cy="2798063"/>
          </a:xfrm>
          <a:prstGeom prst="rect">
            <a:avLst/>
          </a:prstGeom>
          <a:solidFill>
            <a:srgbClr val="E198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2"/>
          <p:cNvSpPr/>
          <p:nvPr/>
        </p:nvSpPr>
        <p:spPr>
          <a:xfrm>
            <a:off x="4536338" y="3429000"/>
            <a:ext cx="457200" cy="457200"/>
          </a:xfrm>
          <a:prstGeom prst="ellipse">
            <a:avLst/>
          </a:prstGeom>
          <a:solidFill>
            <a:srgbClr val="EAC7B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0618" y="40233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2D"/>
                </a:solidFill>
              </a:rPr>
              <a:t>성과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0618" y="47091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8" name="카드 3"/>
          <p:cNvSpPr/>
          <p:nvPr/>
        </p:nvSpPr>
        <p:spPr>
          <a:xfrm>
            <a:off x="8066836" y="3246120"/>
            <a:ext cx="3484778" cy="3017520"/>
          </a:xfrm>
          <a:prstGeom prst="roundRect">
            <a:avLst>
              <a:gd name="adj" fmla="val 4000"/>
            </a:avLst>
          </a:prstGeom>
          <a:solidFill>
            <a:srgbClr val="FBEC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포인트 막대"/>
          <p:cNvSpPr/>
          <p:nvPr/>
        </p:nvSpPr>
        <p:spPr>
          <a:xfrm>
            <a:off x="8066836" y="3355848"/>
            <a:ext cx="54864" cy="2798063"/>
          </a:xfrm>
          <a:prstGeom prst="rect">
            <a:avLst/>
          </a:prstGeom>
          <a:solidFill>
            <a:srgbClr val="E198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번호 3"/>
          <p:cNvSpPr/>
          <p:nvPr/>
        </p:nvSpPr>
        <p:spPr>
          <a:xfrm>
            <a:off x="8249716" y="3429000"/>
            <a:ext cx="457200" cy="457200"/>
          </a:xfrm>
          <a:prstGeom prst="ellipse">
            <a:avLst/>
          </a:prstGeom>
          <a:solidFill>
            <a:srgbClr val="EAC7B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3996" y="40233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2D"/>
                </a:solidFill>
              </a:rPr>
              <a:t>이슈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03996" y="47091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AD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EBAD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6" name="포인트"/>
          <p:cNvSpPr/>
          <p:nvPr/>
        </p:nvSpPr>
        <p:spPr>
          <a:xfrm>
            <a:off x="11048695" y="502919"/>
            <a:ext cx="274320" cy="109728"/>
          </a:xfrm>
          <a:prstGeom prst="wav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한눈에 비교</a:t>
            </a:r>
          </a:p>
        </p:txBody>
      </p:sp>
      <p:sp>
        <p:nvSpPr>
          <p:cNvPr id="7" name="왼쪽 칸"/>
          <p:cNvSpPr/>
          <p:nvPr/>
        </p:nvSpPr>
        <p:spPr>
          <a:xfrm>
            <a:off x="640080" y="1783080"/>
            <a:ext cx="5272887" cy="3291840"/>
          </a:xfrm>
          <a:prstGeom prst="roundRect">
            <a:avLst>
              <a:gd name="adj" fmla="val 4000"/>
            </a:avLst>
          </a:prstGeom>
          <a:solidFill>
            <a:srgbClr val="FBEC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포인트 막대"/>
          <p:cNvSpPr/>
          <p:nvPr/>
        </p:nvSpPr>
        <p:spPr>
          <a:xfrm>
            <a:off x="640080" y="1892807"/>
            <a:ext cx="54864" cy="3072384"/>
          </a:xfrm>
          <a:prstGeom prst="rect">
            <a:avLst/>
          </a:prstGeom>
          <a:solidFill>
            <a:srgbClr val="E198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칸 제목 바"/>
          <p:cNvSpPr/>
          <p:nvPr/>
        </p:nvSpPr>
        <p:spPr>
          <a:xfrm>
            <a:off x="640080" y="17830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E198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7830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6231F"/>
                </a:solidFill>
              </a:rPr>
              <a:t>계획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06040"/>
            <a:ext cx="4815687" cy="23774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2" name="오른쪽 칸"/>
          <p:cNvSpPr/>
          <p:nvPr/>
        </p:nvSpPr>
        <p:spPr>
          <a:xfrm>
            <a:off x="6278727" y="1783080"/>
            <a:ext cx="5272887" cy="3291840"/>
          </a:xfrm>
          <a:prstGeom prst="roundRect">
            <a:avLst>
              <a:gd name="adj" fmla="val 4000"/>
            </a:avLst>
          </a:prstGeom>
          <a:solidFill>
            <a:srgbClr val="F6D5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포인트 막대"/>
          <p:cNvSpPr/>
          <p:nvPr/>
        </p:nvSpPr>
        <p:spPr>
          <a:xfrm>
            <a:off x="6278727" y="1892807"/>
            <a:ext cx="54864" cy="3072384"/>
          </a:xfrm>
          <a:prstGeom prst="rect">
            <a:avLst/>
          </a:prstGeom>
          <a:solidFill>
            <a:srgbClr val="E198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칸 제목 바"/>
          <p:cNvSpPr/>
          <p:nvPr/>
        </p:nvSpPr>
        <p:spPr>
          <a:xfrm>
            <a:off x="6278727" y="17830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4927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17830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실적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2606040"/>
            <a:ext cx="4815687" cy="23774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AD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EBAD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6" name="포인트"/>
          <p:cNvSpPr/>
          <p:nvPr/>
        </p:nvSpPr>
        <p:spPr>
          <a:xfrm>
            <a:off x="11048695" y="502919"/>
            <a:ext cx="274320" cy="109728"/>
          </a:xfrm>
          <a:prstGeom prst="wav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일정·현황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640080" y="178308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98A4"/>
                      </a:solidFill>
                      <a:prstDash val="solid"/>
                    </a:lnL>
                    <a:lnR w="9525" cap="flat" cmpd="sng" algn="ctr">
                      <a:solidFill>
                        <a:srgbClr val="E198A4"/>
                      </a:solidFill>
                      <a:prstDash val="solid"/>
                    </a:lnR>
                    <a:lnT w="9525" cap="flat" cmpd="sng" algn="ctr">
                      <a:solidFill>
                        <a:srgbClr val="E198A4"/>
                      </a:solidFill>
                      <a:prstDash val="solid"/>
                    </a:lnT>
                    <a:lnB w="9525" cap="flat" cmpd="sng" algn="ctr">
                      <a:solidFill>
                        <a:srgbClr val="E198A4"/>
                      </a:solidFill>
                      <a:prstDash val="solid"/>
                    </a:lnB>
                    <a:solidFill>
                      <a:srgbClr val="E198A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목표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98A4"/>
                      </a:solidFill>
                      <a:prstDash val="solid"/>
                    </a:lnL>
                    <a:lnR w="9525" cap="flat" cmpd="sng" algn="ctr">
                      <a:solidFill>
                        <a:srgbClr val="E198A4"/>
                      </a:solidFill>
                      <a:prstDash val="solid"/>
                    </a:lnR>
                    <a:lnT w="9525" cap="flat" cmpd="sng" algn="ctr">
                      <a:solidFill>
                        <a:srgbClr val="E198A4"/>
                      </a:solidFill>
                      <a:prstDash val="solid"/>
                    </a:lnT>
                    <a:lnB w="9525" cap="flat" cmpd="sng" algn="ctr">
                      <a:solidFill>
                        <a:srgbClr val="E198A4"/>
                      </a:solidFill>
                      <a:prstDash val="solid"/>
                    </a:lnB>
                    <a:solidFill>
                      <a:srgbClr val="E198A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실적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98A4"/>
                      </a:solidFill>
                      <a:prstDash val="solid"/>
                    </a:lnL>
                    <a:lnR w="9525" cap="flat" cmpd="sng" algn="ctr">
                      <a:solidFill>
                        <a:srgbClr val="E198A4"/>
                      </a:solidFill>
                      <a:prstDash val="solid"/>
                    </a:lnR>
                    <a:lnT w="9525" cap="flat" cmpd="sng" algn="ctr">
                      <a:solidFill>
                        <a:srgbClr val="E198A4"/>
                      </a:solidFill>
                      <a:prstDash val="solid"/>
                    </a:lnT>
                    <a:lnB w="9525" cap="flat" cmpd="sng" algn="ctr">
                      <a:solidFill>
                        <a:srgbClr val="E198A4"/>
                      </a:solidFill>
                      <a:prstDash val="solid"/>
                    </a:lnB>
                    <a:solidFill>
                      <a:srgbClr val="E198A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달성률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98A4"/>
                      </a:solidFill>
                      <a:prstDash val="solid"/>
                    </a:lnL>
                    <a:lnR w="9525" cap="flat" cmpd="sng" algn="ctr">
                      <a:solidFill>
                        <a:srgbClr val="E198A4"/>
                      </a:solidFill>
                      <a:prstDash val="solid"/>
                    </a:lnR>
                    <a:lnT w="9525" cap="flat" cmpd="sng" algn="ctr">
                      <a:solidFill>
                        <a:srgbClr val="E198A4"/>
                      </a:solidFill>
                      <a:prstDash val="solid"/>
                    </a:lnT>
                    <a:lnB w="9525" cap="flat" cmpd="sng" algn="ctr">
                      <a:solidFill>
                        <a:srgbClr val="E198A4"/>
                      </a:solidFill>
                      <a:prstDash val="solid"/>
                    </a:lnB>
                    <a:solidFill>
                      <a:srgbClr val="E198A4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2D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6D5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2D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6D5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BEC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BEC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BECE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2D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6D5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2D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6D5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BEC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BEC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BECE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2D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6D5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DA"/>
                      </a:solidFill>
                      <a:prstDash val="solid"/>
                    </a:lnL>
                    <a:lnR w="9525" cap="flat" cmpd="sng" algn="ctr">
                      <a:solidFill>
                        <a:srgbClr val="F6D5DA"/>
                      </a:solidFill>
                      <a:prstDash val="solid"/>
                    </a:lnR>
                    <a:lnT w="9525" cap="flat" cmpd="sng" algn="ctr">
                      <a:solidFill>
                        <a:srgbClr val="F6D5DA"/>
                      </a:solidFill>
                      <a:prstDash val="solid"/>
                    </a:lnT>
                    <a:lnB w="9525" cap="flat" cmpd="sng" algn="ctr">
                      <a:solidFill>
                        <a:srgbClr val="F6D5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5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7071183" y="960120"/>
            <a:ext cx="3657508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7558851" y="1234439"/>
            <a:ext cx="3657508" cy="452628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감사합니다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끝까지 들어 주셔서 고맙습니다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업무 보고 발표 템플릿">
  <a:themeElements>
    <a:clrScheme name="Office">
      <a:dk1>
        <a:sysClr val="windowText" lastClr="000000"/>
      </a:dk1>
      <a:lt1>
        <a:sysClr val="window" lastClr="FFFFFF"/>
      </a:lt1>
      <a:dk2>
        <a:srgbClr val="49272D"/>
      </a:dk2>
      <a:lt2>
        <a:srgbClr val="FBECEF"/>
      </a:lt2>
      <a:accent1>
        <a:srgbClr val="E198A4"/>
      </a:accent1>
      <a:accent2>
        <a:srgbClr val="EAC7B8"/>
      </a:accent2>
      <a:accent3>
        <a:srgbClr val="49272D"/>
      </a:accent3>
      <a:accent4>
        <a:srgbClr val="F6D5DA"/>
      </a:accent4>
      <a:accent5>
        <a:srgbClr val="E6B0AE"/>
      </a:accent5>
      <a:accent6>
        <a:srgbClr val="927D81"/>
      </a:accent6>
      <a:hlink>
        <a:srgbClr val="E198A4"/>
      </a:hlink>
      <a:folHlink>
        <a:srgbClr val="49272D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업무 보고 발표 템플릿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