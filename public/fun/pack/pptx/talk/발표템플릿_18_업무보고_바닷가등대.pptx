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talk-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1394A"/>
                </a:solidFill>
              </a:rPr>
              <a:t>발표 제목을 입력하세요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1394A"/>
                </a:solidFill>
              </a:rPr>
              <a:t>문제 된 부분과 조치 결과를 정리했습니다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업무 보고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2027. 00. 00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2579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목차</a:t>
            </a:r>
          </a:p>
        </p:txBody>
      </p:sp>
      <p:sp>
        <p:nvSpPr>
          <p:cNvPr id="4" name="줄 1"/>
          <p:cNvSpPr/>
          <p:nvPr/>
        </p:nvSpPr>
        <p:spPr>
          <a:xfrm>
            <a:off x="640080" y="164592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EEF7FB"/>
          </a:solidFill>
          <a:ln w="12700">
            <a:solidFill>
              <a:srgbClr val="CCE9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번호 1"/>
          <p:cNvSpPr/>
          <p:nvPr/>
        </p:nvSpPr>
        <p:spPr>
          <a:xfrm>
            <a:off x="822959" y="1874519"/>
            <a:ext cx="457200" cy="457200"/>
          </a:xfrm>
          <a:prstGeom prst="ellipse">
            <a:avLst/>
          </a:prstGeom>
          <a:solidFill>
            <a:srgbClr val="25799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69164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394A"/>
                </a:solidFill>
              </a:rPr>
              <a:t>추진 경과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69164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8" name="줄 2"/>
          <p:cNvSpPr/>
          <p:nvPr/>
        </p:nvSpPr>
        <p:spPr>
          <a:xfrm>
            <a:off x="640080" y="269748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EEF7FB"/>
          </a:solidFill>
          <a:ln w="12700">
            <a:solidFill>
              <a:srgbClr val="CCE9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2"/>
          <p:cNvSpPr/>
          <p:nvPr/>
        </p:nvSpPr>
        <p:spPr>
          <a:xfrm>
            <a:off x="822959" y="2926080"/>
            <a:ext cx="457200" cy="457200"/>
          </a:xfrm>
          <a:prstGeom prst="ellipse">
            <a:avLst/>
          </a:prstGeom>
          <a:solidFill>
            <a:srgbClr val="25799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74320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394A"/>
                </a:solidFill>
              </a:rPr>
              <a:t>주요 성과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4320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2" name="줄 3"/>
          <p:cNvSpPr/>
          <p:nvPr/>
        </p:nvSpPr>
        <p:spPr>
          <a:xfrm>
            <a:off x="640080" y="3749039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EEF7FB"/>
          </a:solidFill>
          <a:ln w="12700">
            <a:solidFill>
              <a:srgbClr val="CCE9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3"/>
          <p:cNvSpPr/>
          <p:nvPr/>
        </p:nvSpPr>
        <p:spPr>
          <a:xfrm>
            <a:off x="822959" y="3977639"/>
            <a:ext cx="457200" cy="457200"/>
          </a:xfrm>
          <a:prstGeom prst="ellipse">
            <a:avLst/>
          </a:prstGeom>
          <a:solidFill>
            <a:srgbClr val="25799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79475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394A"/>
                </a:solidFill>
              </a:rPr>
              <a:t>이슈와 대응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79475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6" name="줄 4"/>
          <p:cNvSpPr/>
          <p:nvPr/>
        </p:nvSpPr>
        <p:spPr>
          <a:xfrm>
            <a:off x="640080" y="480060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EEF7FB"/>
          </a:solidFill>
          <a:ln w="12700">
            <a:solidFill>
              <a:srgbClr val="CCE9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4"/>
          <p:cNvSpPr/>
          <p:nvPr/>
        </p:nvSpPr>
        <p:spPr>
          <a:xfrm>
            <a:off x="822959" y="5029200"/>
            <a:ext cx="457200" cy="457200"/>
          </a:xfrm>
          <a:prstGeom prst="ellipse">
            <a:avLst/>
          </a:prstGeom>
          <a:solidFill>
            <a:srgbClr val="25799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8463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394A"/>
                </a:solidFill>
              </a:rPr>
              <a:t>향후 계획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84632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2579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핵심 메시지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640080" y="1645920"/>
            <a:ext cx="1091153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11394A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5" name="카드 1"/>
          <p:cNvSpPr/>
          <p:nvPr/>
        </p:nvSpPr>
        <p:spPr>
          <a:xfrm>
            <a:off x="640080" y="310896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EEF7FB"/>
          </a:solidFill>
          <a:ln w="15875">
            <a:solidFill>
              <a:srgbClr val="CCE9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822959" y="3291840"/>
            <a:ext cx="457200" cy="457200"/>
          </a:xfrm>
          <a:prstGeom prst="ellipse">
            <a:avLst/>
          </a:prstGeom>
          <a:solidFill>
            <a:srgbClr val="25799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8620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394A"/>
                </a:solidFill>
              </a:rPr>
              <a:t>진행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57200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9" name="카드 2"/>
          <p:cNvSpPr/>
          <p:nvPr/>
        </p:nvSpPr>
        <p:spPr>
          <a:xfrm>
            <a:off x="4353458" y="310896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EEF7FB"/>
          </a:solidFill>
          <a:ln w="15875">
            <a:solidFill>
              <a:srgbClr val="CCE9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4536338" y="3291840"/>
            <a:ext cx="457200" cy="457200"/>
          </a:xfrm>
          <a:prstGeom prst="ellipse">
            <a:avLst/>
          </a:prstGeom>
          <a:solidFill>
            <a:srgbClr val="25799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388620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394A"/>
                </a:solidFill>
              </a:rPr>
              <a:t>성과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457200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3" name="카드 3"/>
          <p:cNvSpPr/>
          <p:nvPr/>
        </p:nvSpPr>
        <p:spPr>
          <a:xfrm>
            <a:off x="8066836" y="310896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EEF7FB"/>
          </a:solidFill>
          <a:ln w="15875">
            <a:solidFill>
              <a:srgbClr val="CCE9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249716" y="3291840"/>
            <a:ext cx="457200" cy="457200"/>
          </a:xfrm>
          <a:prstGeom prst="ellipse">
            <a:avLst/>
          </a:prstGeom>
          <a:solidFill>
            <a:srgbClr val="25799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3996" y="388620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394A"/>
                </a:solidFill>
              </a:rPr>
              <a:t>이슈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3996" y="457200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2579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한눈에 비교</a:t>
            </a:r>
          </a:p>
        </p:txBody>
      </p:sp>
      <p:sp>
        <p:nvSpPr>
          <p:cNvPr id="4" name="왼쪽 칸"/>
          <p:cNvSpPr/>
          <p:nvPr/>
        </p:nvSpPr>
        <p:spPr>
          <a:xfrm>
            <a:off x="640080" y="1645920"/>
            <a:ext cx="5272887" cy="4754880"/>
          </a:xfrm>
          <a:prstGeom prst="roundRect">
            <a:avLst>
              <a:gd name="adj" fmla="val 8000"/>
            </a:avLst>
          </a:prstGeom>
          <a:solidFill>
            <a:srgbClr val="EEF7FB"/>
          </a:solidFill>
          <a:ln w="12700">
            <a:solidFill>
              <a:srgbClr val="CCE9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칸 제목 바"/>
          <p:cNvSpPr/>
          <p:nvPr/>
        </p:nvSpPr>
        <p:spPr>
          <a:xfrm>
            <a:off x="640080" y="164592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2579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64592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계획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68880"/>
            <a:ext cx="4815687" cy="3840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8" name="오른쪽 칸"/>
          <p:cNvSpPr/>
          <p:nvPr/>
        </p:nvSpPr>
        <p:spPr>
          <a:xfrm>
            <a:off x="6278727" y="1645920"/>
            <a:ext cx="5272887" cy="4754880"/>
          </a:xfrm>
          <a:prstGeom prst="roundRect">
            <a:avLst>
              <a:gd name="adj" fmla="val 8000"/>
            </a:avLst>
          </a:prstGeom>
          <a:solidFill>
            <a:srgbClr val="CCE9F5"/>
          </a:solidFill>
          <a:ln w="12700">
            <a:solidFill>
              <a:srgbClr val="CCE9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칸 제목 바"/>
          <p:cNvSpPr/>
          <p:nvPr/>
        </p:nvSpPr>
        <p:spPr>
          <a:xfrm>
            <a:off x="6278727" y="164592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1139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1607" y="164592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실적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7327" y="2468880"/>
            <a:ext cx="4815687" cy="3840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2579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일정·현황</a:t>
            </a:r>
          </a:p>
        </p:txBody>
      </p:sp>
      <p:graphicFrame>
        <p:nvGraphicFramePr>
          <p:cNvPr id="4" name="표"/>
          <p:cNvGraphicFramePr>
            <a:graphicFrameLocks noGrp="1"/>
          </p:cNvGraphicFramePr>
          <p:nvPr/>
        </p:nvGraphicFramePr>
        <p:xfrm>
          <a:off x="640080" y="1645920"/>
          <a:ext cx="1091153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5799D"/>
                      </a:solidFill>
                      <a:prstDash val="solid"/>
                    </a:lnL>
                    <a:lnR w="9525" cap="flat" cmpd="sng" algn="ctr">
                      <a:solidFill>
                        <a:srgbClr val="25799D"/>
                      </a:solidFill>
                      <a:prstDash val="solid"/>
                    </a:lnR>
                    <a:lnT w="9525" cap="flat" cmpd="sng" algn="ctr">
                      <a:solidFill>
                        <a:srgbClr val="25799D"/>
                      </a:solidFill>
                      <a:prstDash val="solid"/>
                    </a:lnT>
                    <a:lnB w="9525" cap="flat" cmpd="sng" algn="ctr">
                      <a:solidFill>
                        <a:srgbClr val="25799D"/>
                      </a:solidFill>
                      <a:prstDash val="solid"/>
                    </a:lnB>
                    <a:solidFill>
                      <a:srgbClr val="25799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목표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5799D"/>
                      </a:solidFill>
                      <a:prstDash val="solid"/>
                    </a:lnL>
                    <a:lnR w="9525" cap="flat" cmpd="sng" algn="ctr">
                      <a:solidFill>
                        <a:srgbClr val="25799D"/>
                      </a:solidFill>
                      <a:prstDash val="solid"/>
                    </a:lnR>
                    <a:lnT w="9525" cap="flat" cmpd="sng" algn="ctr">
                      <a:solidFill>
                        <a:srgbClr val="25799D"/>
                      </a:solidFill>
                      <a:prstDash val="solid"/>
                    </a:lnT>
                    <a:lnB w="9525" cap="flat" cmpd="sng" algn="ctr">
                      <a:solidFill>
                        <a:srgbClr val="25799D"/>
                      </a:solidFill>
                      <a:prstDash val="solid"/>
                    </a:lnB>
                    <a:solidFill>
                      <a:srgbClr val="25799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실적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5799D"/>
                      </a:solidFill>
                      <a:prstDash val="solid"/>
                    </a:lnL>
                    <a:lnR w="9525" cap="flat" cmpd="sng" algn="ctr">
                      <a:solidFill>
                        <a:srgbClr val="25799D"/>
                      </a:solidFill>
                      <a:prstDash val="solid"/>
                    </a:lnR>
                    <a:lnT w="9525" cap="flat" cmpd="sng" algn="ctr">
                      <a:solidFill>
                        <a:srgbClr val="25799D"/>
                      </a:solidFill>
                      <a:prstDash val="solid"/>
                    </a:lnT>
                    <a:lnB w="9525" cap="flat" cmpd="sng" algn="ctr">
                      <a:solidFill>
                        <a:srgbClr val="25799D"/>
                      </a:solidFill>
                      <a:prstDash val="solid"/>
                    </a:lnB>
                    <a:solidFill>
                      <a:srgbClr val="25799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달성률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5799D"/>
                      </a:solidFill>
                      <a:prstDash val="solid"/>
                    </a:lnL>
                    <a:lnR w="9525" cap="flat" cmpd="sng" algn="ctr">
                      <a:solidFill>
                        <a:srgbClr val="25799D"/>
                      </a:solidFill>
                      <a:prstDash val="solid"/>
                    </a:lnR>
                    <a:lnT w="9525" cap="flat" cmpd="sng" algn="ctr">
                      <a:solidFill>
                        <a:srgbClr val="25799D"/>
                      </a:solidFill>
                      <a:prstDash val="solid"/>
                    </a:lnT>
                    <a:lnB w="9525" cap="flat" cmpd="sng" algn="ctr">
                      <a:solidFill>
                        <a:srgbClr val="25799D"/>
                      </a:solidFill>
                      <a:prstDash val="solid"/>
                    </a:lnB>
                    <a:solidFill>
                      <a:srgbClr val="25799D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1394A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CCE9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1394A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CCE9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EE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EE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EEF7FB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1394A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CCE9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1394A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CCE9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EE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EE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EEF7FB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1394A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CCE9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E9F5"/>
                      </a:solidFill>
                      <a:prstDash val="solid"/>
                    </a:lnL>
                    <a:lnR w="9525" cap="flat" cmpd="sng" algn="ctr">
                      <a:solidFill>
                        <a:srgbClr val="CCE9F5"/>
                      </a:solidFill>
                      <a:prstDash val="solid"/>
                    </a:lnR>
                    <a:lnT w="9525" cap="flat" cmpd="sng" algn="ctr">
                      <a:solidFill>
                        <a:srgbClr val="CCE9F5"/>
                      </a:solidFill>
                      <a:prstDash val="solid"/>
                    </a:lnT>
                    <a:lnB w="9525" cap="flat" cmpd="sng" algn="ctr">
                      <a:solidFill>
                        <a:srgbClr val="CCE9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talk-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1394A"/>
                </a:solidFill>
              </a:rPr>
              <a:t>감사합니다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1394A"/>
                </a:solidFill>
              </a:rPr>
              <a:t>끝까지 들어 주셔서 고맙습니다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업무 보고 발표 템플릿">
  <a:themeElements>
    <a:clrScheme name="Office">
      <a:dk1>
        <a:sysClr val="windowText" lastClr="000000"/>
      </a:dk1>
      <a:lt1>
        <a:sysClr val="window" lastClr="FFFFFF"/>
      </a:lt1>
      <a:dk2>
        <a:srgbClr val="11394A"/>
      </a:dk2>
      <a:lt2>
        <a:srgbClr val="EEF7FB"/>
      </a:lt2>
      <a:accent1>
        <a:srgbClr val="25799D"/>
      </a:accent1>
      <a:accent2>
        <a:srgbClr val="913B4C"/>
      </a:accent2>
      <a:accent3>
        <a:srgbClr val="11394A"/>
      </a:accent3>
      <a:accent4>
        <a:srgbClr val="CCE9F5"/>
      </a:accent4>
      <a:accent5>
        <a:srgbClr val="5B5A74"/>
      </a:accent5>
      <a:accent6>
        <a:srgbClr val="708892"/>
      </a:accent6>
      <a:hlink>
        <a:srgbClr val="25799D"/>
      </a:hlink>
      <a:folHlink>
        <a:srgbClr val="11394A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업무 보고 발표 템플릿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