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3657508" cy="6858000"/>
          </a:xfrm>
          <a:prstGeom prst="rect">
            <a:avLst/>
          </a:prstGeom>
          <a:solidFill>
            <a:srgbClr val="97BB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108868" y="2880360"/>
            <a:ext cx="1097280" cy="1097280"/>
          </a:xfrm>
          <a:prstGeom prst="ellipse">
            <a:avLst/>
          </a:prstGeom>
          <a:solidFill>
            <a:srgbClr val="A6C6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4632844" y="2148840"/>
            <a:ext cx="6705432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32844" y="2606040"/>
            <a:ext cx="6705432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발표 제목을 입력하세요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4632844" y="3886200"/>
            <a:ext cx="6705432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달라진 숫자부터 보여 드립니다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4632844" y="4754880"/>
            <a:ext cx="6705432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업무 보고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 rot="18900000">
            <a:off x="5958687" y="246888"/>
            <a:ext cx="274320" cy="274320"/>
          </a:xfrm>
          <a:prstGeom prst="teardrop">
            <a:avLst/>
          </a:prstGeom>
          <a:solidFill>
            <a:srgbClr val="97BB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97BB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목차</a:t>
            </a:r>
          </a:p>
        </p:txBody>
      </p:sp>
      <p:sp>
        <p:nvSpPr>
          <p:cNvPr id="6" name="줄 1"/>
          <p:cNvSpPr/>
          <p:nvPr/>
        </p:nvSpPr>
        <p:spPr>
          <a:xfrm>
            <a:off x="640080" y="1783080"/>
            <a:ext cx="10911535" cy="91440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97BB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 txBox="1"/>
          <p:nvPr/>
        </p:nvSpPr>
        <p:spPr>
          <a:xfrm>
            <a:off x="731519" y="196596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97BBED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8288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549"/>
                </a:solidFill>
              </a:rPr>
              <a:t>추진 경과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82880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0" name="줄 2"/>
          <p:cNvSpPr/>
          <p:nvPr/>
        </p:nvSpPr>
        <p:spPr>
          <a:xfrm>
            <a:off x="640080" y="2834639"/>
            <a:ext cx="10911535" cy="91440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97BB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 txBox="1"/>
          <p:nvPr/>
        </p:nvSpPr>
        <p:spPr>
          <a:xfrm>
            <a:off x="731519" y="301752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97BBED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8803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549"/>
                </a:solidFill>
              </a:rPr>
              <a:t>주요 성과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88035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4" name="줄 3"/>
          <p:cNvSpPr/>
          <p:nvPr/>
        </p:nvSpPr>
        <p:spPr>
          <a:xfrm>
            <a:off x="640080" y="3886200"/>
            <a:ext cx="10911535" cy="91440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97BB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 txBox="1"/>
          <p:nvPr/>
        </p:nvSpPr>
        <p:spPr>
          <a:xfrm>
            <a:off x="731519" y="40690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97BBED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931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549"/>
                </a:solidFill>
              </a:rPr>
              <a:t>이슈와 대응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931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8" name="줄 4"/>
          <p:cNvSpPr/>
          <p:nvPr/>
        </p:nvSpPr>
        <p:spPr>
          <a:xfrm>
            <a:off x="640080" y="4937759"/>
            <a:ext cx="10911535" cy="91440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97BB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번호 4"/>
          <p:cNvSpPr txBox="1"/>
          <p:nvPr/>
        </p:nvSpPr>
        <p:spPr>
          <a:xfrm>
            <a:off x="731519" y="512064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97BBED"/>
                </a:solidFill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983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549"/>
                </a:solidFill>
              </a:rPr>
              <a:t>향후 계획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4983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 rot="18900000">
            <a:off x="5958687" y="246888"/>
            <a:ext cx="274320" cy="274320"/>
          </a:xfrm>
          <a:prstGeom prst="teardrop">
            <a:avLst/>
          </a:prstGeom>
          <a:solidFill>
            <a:srgbClr val="97BB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97BB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핵심 메시지</a:t>
            </a:r>
          </a:p>
        </p:txBody>
      </p:sp>
      <p:sp>
        <p:nvSpPr>
          <p:cNvPr id="6" name="핵심 문장"/>
          <p:cNvSpPr txBox="1"/>
          <p:nvPr/>
        </p:nvSpPr>
        <p:spPr>
          <a:xfrm>
            <a:off x="640080" y="178308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273549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7" name="카드 1"/>
          <p:cNvSpPr/>
          <p:nvPr/>
        </p:nvSpPr>
        <p:spPr>
          <a:xfrm>
            <a:off x="640080" y="3246120"/>
            <a:ext cx="3484778" cy="301752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97BB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 txBox="1"/>
          <p:nvPr/>
        </p:nvSpPr>
        <p:spPr>
          <a:xfrm>
            <a:off x="731519" y="33832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97BBED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549"/>
                </a:solidFill>
              </a:rPr>
              <a:t>진행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3246120"/>
            <a:ext cx="3484778" cy="301752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97BB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2"/>
          <p:cNvSpPr txBox="1"/>
          <p:nvPr/>
        </p:nvSpPr>
        <p:spPr>
          <a:xfrm>
            <a:off x="4444898" y="33832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97BBED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549"/>
                </a:solidFill>
              </a:rPr>
              <a:t>성과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5" name="카드 3"/>
          <p:cNvSpPr/>
          <p:nvPr/>
        </p:nvSpPr>
        <p:spPr>
          <a:xfrm>
            <a:off x="8066836" y="3246120"/>
            <a:ext cx="3484778" cy="301752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97BB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번호 3"/>
          <p:cNvSpPr txBox="1"/>
          <p:nvPr/>
        </p:nvSpPr>
        <p:spPr>
          <a:xfrm>
            <a:off x="8158276" y="33832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97BBED"/>
                </a:solidFill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549"/>
                </a:solidFill>
              </a:rPr>
              <a:t>이슈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3996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 rot="18900000">
            <a:off x="5958687" y="246888"/>
            <a:ext cx="274320" cy="274320"/>
          </a:xfrm>
          <a:prstGeom prst="teardrop">
            <a:avLst/>
          </a:prstGeom>
          <a:solidFill>
            <a:srgbClr val="97BB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97BB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한눈에 비교</a:t>
            </a:r>
          </a:p>
        </p:txBody>
      </p:sp>
      <p:sp>
        <p:nvSpPr>
          <p:cNvPr id="6" name="왼쪽 칸"/>
          <p:cNvSpPr/>
          <p:nvPr/>
        </p:nvSpPr>
        <p:spPr>
          <a:xfrm>
            <a:off x="640080" y="1783080"/>
            <a:ext cx="5272887" cy="329184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97BB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칸 제목 바"/>
          <p:cNvSpPr/>
          <p:nvPr/>
        </p:nvSpPr>
        <p:spPr>
          <a:xfrm>
            <a:off x="640080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97BB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6231F"/>
                </a:solidFill>
              </a:rPr>
              <a:t>계획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0" name="오른쪽 칸"/>
          <p:cNvSpPr/>
          <p:nvPr/>
        </p:nvSpPr>
        <p:spPr>
          <a:xfrm>
            <a:off x="6278727" y="1783080"/>
            <a:ext cx="5272887" cy="329184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97BB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칸 제목 바"/>
          <p:cNvSpPr/>
          <p:nvPr/>
        </p:nvSpPr>
        <p:spPr>
          <a:xfrm>
            <a:off x="6278727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2735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실적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7327" y="260604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 rot="18900000">
            <a:off x="5958687" y="246888"/>
            <a:ext cx="274320" cy="274320"/>
          </a:xfrm>
          <a:prstGeom prst="teardrop">
            <a:avLst/>
          </a:prstGeom>
          <a:solidFill>
            <a:srgbClr val="97BB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97BB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일정·현황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7BBED"/>
                      </a:solidFill>
                      <a:prstDash val="solid"/>
                    </a:lnL>
                    <a:lnR w="9525" cap="flat" cmpd="sng" algn="ctr">
                      <a:solidFill>
                        <a:srgbClr val="97BBED"/>
                      </a:solidFill>
                      <a:prstDash val="solid"/>
                    </a:lnR>
                    <a:lnT w="9525" cap="flat" cmpd="sng" algn="ctr">
                      <a:solidFill>
                        <a:srgbClr val="97BBED"/>
                      </a:solidFill>
                      <a:prstDash val="solid"/>
                    </a:lnT>
                    <a:lnB w="9525" cap="flat" cmpd="sng" algn="ctr">
                      <a:solidFill>
                        <a:srgbClr val="97BBED"/>
                      </a:solidFill>
                      <a:prstDash val="solid"/>
                    </a:lnB>
                    <a:solidFill>
                      <a:srgbClr val="97BB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목표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7BBED"/>
                      </a:solidFill>
                      <a:prstDash val="solid"/>
                    </a:lnL>
                    <a:lnR w="9525" cap="flat" cmpd="sng" algn="ctr">
                      <a:solidFill>
                        <a:srgbClr val="97BBED"/>
                      </a:solidFill>
                      <a:prstDash val="solid"/>
                    </a:lnR>
                    <a:lnT w="9525" cap="flat" cmpd="sng" algn="ctr">
                      <a:solidFill>
                        <a:srgbClr val="97BBED"/>
                      </a:solidFill>
                      <a:prstDash val="solid"/>
                    </a:lnT>
                    <a:lnB w="9525" cap="flat" cmpd="sng" algn="ctr">
                      <a:solidFill>
                        <a:srgbClr val="97BBED"/>
                      </a:solidFill>
                      <a:prstDash val="solid"/>
                    </a:lnB>
                    <a:solidFill>
                      <a:srgbClr val="97BB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실적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7BBED"/>
                      </a:solidFill>
                      <a:prstDash val="solid"/>
                    </a:lnL>
                    <a:lnR w="9525" cap="flat" cmpd="sng" algn="ctr">
                      <a:solidFill>
                        <a:srgbClr val="97BBED"/>
                      </a:solidFill>
                      <a:prstDash val="solid"/>
                    </a:lnR>
                    <a:lnT w="9525" cap="flat" cmpd="sng" algn="ctr">
                      <a:solidFill>
                        <a:srgbClr val="97BBED"/>
                      </a:solidFill>
                      <a:prstDash val="solid"/>
                    </a:lnT>
                    <a:lnB w="9525" cap="flat" cmpd="sng" algn="ctr">
                      <a:solidFill>
                        <a:srgbClr val="97BBED"/>
                      </a:solidFill>
                      <a:prstDash val="solid"/>
                    </a:lnB>
                    <a:solidFill>
                      <a:srgbClr val="97BB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달성률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7BBED"/>
                      </a:solidFill>
                      <a:prstDash val="solid"/>
                    </a:lnL>
                    <a:lnR w="9525" cap="flat" cmpd="sng" algn="ctr">
                      <a:solidFill>
                        <a:srgbClr val="97BBED"/>
                      </a:solidFill>
                      <a:prstDash val="solid"/>
                    </a:lnR>
                    <a:lnT w="9525" cap="flat" cmpd="sng" algn="ctr">
                      <a:solidFill>
                        <a:srgbClr val="97BBED"/>
                      </a:solidFill>
                      <a:prstDash val="solid"/>
                    </a:lnT>
                    <a:lnB w="9525" cap="flat" cmpd="sng" algn="ctr">
                      <a:solidFill>
                        <a:srgbClr val="97BBED"/>
                      </a:solidFill>
                      <a:prstDash val="solid"/>
                    </a:lnB>
                    <a:solidFill>
                      <a:srgbClr val="97BBED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549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D1E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549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D1E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549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D1E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549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D1E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549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D1E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3657508" cy="6858000"/>
          </a:xfrm>
          <a:prstGeom prst="rect">
            <a:avLst/>
          </a:prstGeom>
          <a:solidFill>
            <a:srgbClr val="97BB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108868" y="2880360"/>
            <a:ext cx="1097280" cy="1097280"/>
          </a:xfrm>
          <a:prstGeom prst="ellipse">
            <a:avLst/>
          </a:prstGeom>
          <a:solidFill>
            <a:srgbClr val="A6C6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4632844" y="2148840"/>
            <a:ext cx="6705432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32844" y="2606040"/>
            <a:ext cx="6705432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감사합니다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4632844" y="3886200"/>
            <a:ext cx="6705432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끝까지 들어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4632844" y="4754880"/>
            <a:ext cx="6705432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업무 보고 발표 템플릿">
  <a:themeElements>
    <a:clrScheme name="Office">
      <a:dk1>
        <a:sysClr val="windowText" lastClr="000000"/>
      </a:dk1>
      <a:lt1>
        <a:sysClr val="window" lastClr="FFFFFF"/>
      </a:lt1>
      <a:dk2>
        <a:srgbClr val="273549"/>
      </a:dk2>
      <a:lt2>
        <a:srgbClr val="EAF2FD"/>
      </a:lt2>
      <a:accent1>
        <a:srgbClr val="97BBED"/>
      </a:accent1>
      <a:accent2>
        <a:srgbClr val="BCBAF3"/>
      </a:accent2>
      <a:accent3>
        <a:srgbClr val="273549"/>
      </a:accent3>
      <a:accent4>
        <a:srgbClr val="D1E2FA"/>
      </a:accent4>
      <a:accent5>
        <a:srgbClr val="AABAF0"/>
      </a:accent5>
      <a:accent6>
        <a:srgbClr val="7D8692"/>
      </a:accent6>
      <a:hlink>
        <a:srgbClr val="97BBED"/>
      </a:hlink>
      <a:folHlink>
        <a:srgbClr val="27354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업무 보고 발표 템플릿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