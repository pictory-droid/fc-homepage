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26728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26728"/>
                </a:solidFill>
              </a:rPr>
              <a:t>어려운 말은 빼고 설명드립니다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교육·강의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26728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640080" y="160020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2700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9DBF5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26728"/>
                </a:solidFill>
              </a:rPr>
              <a:t>오늘의 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645920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640080" y="265176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2700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822959" y="2880360"/>
            <a:ext cx="457200" cy="457200"/>
          </a:xfrm>
          <a:prstGeom prst="ellipse">
            <a:avLst/>
          </a:prstGeom>
          <a:solidFill>
            <a:srgbClr val="9DBF5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26728"/>
                </a:solidFill>
              </a:rPr>
              <a:t>핵심 개념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69747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640080" y="3703320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2700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2959" y="3931920"/>
            <a:ext cx="457200" cy="457200"/>
          </a:xfrm>
          <a:prstGeom prst="ellipse">
            <a:avLst/>
          </a:prstGeom>
          <a:solidFill>
            <a:srgbClr val="9DBF5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26728"/>
                </a:solidFill>
              </a:rPr>
              <a:t>실습과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74903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640080" y="4754879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2700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822959" y="4983479"/>
            <a:ext cx="457200" cy="457200"/>
          </a:xfrm>
          <a:prstGeom prst="ellipse">
            <a:avLst/>
          </a:prstGeom>
          <a:solidFill>
            <a:srgbClr val="9DBF5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26728"/>
                </a:solidFill>
              </a:rPr>
              <a:t>정리와 질문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4800599"/>
            <a:ext cx="707105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26728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640080" y="1600200"/>
            <a:ext cx="1091153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526728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5875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3246120"/>
            <a:ext cx="457200" cy="457200"/>
          </a:xfrm>
          <a:prstGeom prst="ellipse">
            <a:avLst/>
          </a:prstGeom>
          <a:solidFill>
            <a:srgbClr val="9DBF5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26728"/>
                </a:solidFill>
              </a:rPr>
              <a:t>알아야 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5875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3246120"/>
            <a:ext cx="457200" cy="457200"/>
          </a:xfrm>
          <a:prstGeom prst="ellipse">
            <a:avLst/>
          </a:prstGeom>
          <a:solidFill>
            <a:srgbClr val="9DBF5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26728"/>
                </a:solidFill>
              </a:rPr>
              <a:t>해 볼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3063240"/>
            <a:ext cx="3484778" cy="301752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5875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3246120"/>
            <a:ext cx="457200" cy="457200"/>
          </a:xfrm>
          <a:prstGeom prst="ellipse">
            <a:avLst/>
          </a:prstGeom>
          <a:solidFill>
            <a:srgbClr val="9DBF5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384048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526728"/>
                </a:solidFill>
              </a:rPr>
              <a:t>기억할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4526280"/>
            <a:ext cx="321045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26728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640080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F9FCF3"/>
          </a:solidFill>
          <a:ln w="12700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640080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알기 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278727" y="1600200"/>
            <a:ext cx="5272887" cy="4800600"/>
          </a:xfrm>
          <a:prstGeom prst="roundRect">
            <a:avLst>
              <a:gd name="adj" fmla="val 8000"/>
            </a:avLst>
          </a:prstGeom>
          <a:solidFill>
            <a:srgbClr val="EBF7D4"/>
          </a:solidFill>
          <a:ln w="12700">
            <a:solidFill>
              <a:srgbClr val="EBF7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278727" y="1600200"/>
            <a:ext cx="5272887" cy="640080"/>
          </a:xfrm>
          <a:prstGeom prst="roundRect">
            <a:avLst>
              <a:gd name="adj" fmla="val 25000"/>
            </a:avLst>
          </a:prstGeom>
          <a:solidFill>
            <a:srgbClr val="5267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61607" y="1600200"/>
            <a:ext cx="490712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알고 난 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07327" y="2423160"/>
            <a:ext cx="481568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C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EBF7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9DBF5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526728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727883"/>
                <a:gridCol w="2727883"/>
                <a:gridCol w="2727883"/>
                <a:gridCol w="272788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BF5A"/>
                      </a:solidFill>
                      <a:prstDash val="solid"/>
                    </a:lnL>
                    <a:lnR w="9525" cap="flat" cmpd="sng" algn="ctr">
                      <a:solidFill>
                        <a:srgbClr val="9DBF5A"/>
                      </a:solidFill>
                      <a:prstDash val="solid"/>
                    </a:lnR>
                    <a:lnT w="9525" cap="flat" cmpd="sng" algn="ctr">
                      <a:solidFill>
                        <a:srgbClr val="9DBF5A"/>
                      </a:solidFill>
                      <a:prstDash val="solid"/>
                    </a:lnT>
                    <a:lnB w="9525" cap="flat" cmpd="sng" algn="ctr">
                      <a:solidFill>
                        <a:srgbClr val="9DBF5A"/>
                      </a:solidFill>
                      <a:prstDash val="solid"/>
                    </a:lnB>
                    <a:solidFill>
                      <a:srgbClr val="9DB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BF5A"/>
                      </a:solidFill>
                      <a:prstDash val="solid"/>
                    </a:lnL>
                    <a:lnR w="9525" cap="flat" cmpd="sng" algn="ctr">
                      <a:solidFill>
                        <a:srgbClr val="9DBF5A"/>
                      </a:solidFill>
                      <a:prstDash val="solid"/>
                    </a:lnR>
                    <a:lnT w="9525" cap="flat" cmpd="sng" algn="ctr">
                      <a:solidFill>
                        <a:srgbClr val="9DBF5A"/>
                      </a:solidFill>
                      <a:prstDash val="solid"/>
                    </a:lnT>
                    <a:lnB w="9525" cap="flat" cmpd="sng" algn="ctr">
                      <a:solidFill>
                        <a:srgbClr val="9DBF5A"/>
                      </a:solidFill>
                      <a:prstDash val="solid"/>
                    </a:lnB>
                    <a:solidFill>
                      <a:srgbClr val="9DB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BF5A"/>
                      </a:solidFill>
                      <a:prstDash val="solid"/>
                    </a:lnL>
                    <a:lnR w="9525" cap="flat" cmpd="sng" algn="ctr">
                      <a:solidFill>
                        <a:srgbClr val="9DBF5A"/>
                      </a:solidFill>
                      <a:prstDash val="solid"/>
                    </a:lnR>
                    <a:lnT w="9525" cap="flat" cmpd="sng" algn="ctr">
                      <a:solidFill>
                        <a:srgbClr val="9DBF5A"/>
                      </a:solidFill>
                      <a:prstDash val="solid"/>
                    </a:lnT>
                    <a:lnB w="9525" cap="flat" cmpd="sng" algn="ctr">
                      <a:solidFill>
                        <a:srgbClr val="9DBF5A"/>
                      </a:solidFill>
                      <a:prstDash val="solid"/>
                    </a:lnB>
                    <a:solidFill>
                      <a:srgbClr val="9DBF5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9DBF5A"/>
                      </a:solidFill>
                      <a:prstDash val="solid"/>
                    </a:lnL>
                    <a:lnR w="9525" cap="flat" cmpd="sng" algn="ctr">
                      <a:solidFill>
                        <a:srgbClr val="9DBF5A"/>
                      </a:solidFill>
                      <a:prstDash val="solid"/>
                    </a:lnR>
                    <a:lnT w="9525" cap="flat" cmpd="sng" algn="ctr">
                      <a:solidFill>
                        <a:srgbClr val="9DBF5A"/>
                      </a:solidFill>
                      <a:prstDash val="solid"/>
                    </a:lnT>
                    <a:lnB w="9525" cap="flat" cmpd="sng" algn="ctr">
                      <a:solidFill>
                        <a:srgbClr val="9DBF5A"/>
                      </a:solidFill>
                      <a:prstDash val="solid"/>
                    </a:lnB>
                    <a:solidFill>
                      <a:srgbClr val="9DBF5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26728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EB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26728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EB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9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9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9FC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26728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EB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26728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EB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9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9FC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9FCF3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526728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EBF7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EBF7D4"/>
                      </a:solidFill>
                      <a:prstDash val="solid"/>
                    </a:lnL>
                    <a:lnR w="9525" cap="flat" cmpd="sng" algn="ctr">
                      <a:solidFill>
                        <a:srgbClr val="EBF7D4"/>
                      </a:solidFill>
                      <a:prstDash val="solid"/>
                    </a:lnR>
                    <a:lnT w="9525" cap="flat" cmpd="sng" algn="ctr">
                      <a:solidFill>
                        <a:srgbClr val="EBF7D4"/>
                      </a:solidFill>
                      <a:prstDash val="solid"/>
                    </a:lnT>
                    <a:lnB w="9525" cap="flat" cmpd="sng" algn="ctr">
                      <a:solidFill>
                        <a:srgbClr val="EBF7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526728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526728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교육·강의 발표 템플릿">
  <a:themeElements>
    <a:clrScheme name="Office">
      <a:dk1>
        <a:sysClr val="windowText" lastClr="000000"/>
      </a:dk1>
      <a:lt1>
        <a:sysClr val="window" lastClr="FFFFFF"/>
      </a:lt1>
      <a:dk2>
        <a:srgbClr val="526728"/>
      </a:dk2>
      <a:lt2>
        <a:srgbClr val="F9FCF3"/>
      </a:lt2>
      <a:accent1>
        <a:srgbClr val="9DBF5A"/>
      </a:accent1>
      <a:accent2>
        <a:srgbClr val="339941"/>
      </a:accent2>
      <a:accent3>
        <a:srgbClr val="526728"/>
      </a:accent3>
      <a:accent4>
        <a:srgbClr val="EBF7D4"/>
      </a:accent4>
      <a:accent5>
        <a:srgbClr val="68AC4E"/>
      </a:accent5>
      <a:accent6>
        <a:srgbClr val="97A47E"/>
      </a:accent6>
      <a:hlink>
        <a:srgbClr val="9DBF5A"/>
      </a:hlink>
      <a:folHlink>
        <a:srgbClr val="526728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