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74649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74649"/>
                </a:solidFill>
              </a:rPr>
              <a:t>여름 모임 일정을 먼저 안내합니다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모임·동호회 소개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74649"/>
                </a:solidFill>
              </a:rPr>
              <a:t>목차</a:t>
            </a:r>
          </a:p>
        </p:txBody>
      </p:sp>
      <p:sp>
        <p:nvSpPr>
          <p:cNvPr id="5" name="줄 1"/>
          <p:cNvSpPr/>
          <p:nvPr/>
        </p:nvSpPr>
        <p:spPr>
          <a:xfrm>
            <a:off x="822960" y="1554480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2700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05840" y="1783080"/>
            <a:ext cx="457200" cy="457200"/>
          </a:xfrm>
          <a:prstGeom prst="ellipse">
            <a:avLst/>
          </a:prstGeom>
          <a:solidFill>
            <a:srgbClr val="4B868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002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649"/>
                </a:solidFill>
              </a:rPr>
              <a:t>우리 모임 소개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600200"/>
            <a:ext cx="670529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9" name="줄 2"/>
          <p:cNvSpPr/>
          <p:nvPr/>
        </p:nvSpPr>
        <p:spPr>
          <a:xfrm>
            <a:off x="822960" y="2606039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2700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1005840" y="2834639"/>
            <a:ext cx="457200" cy="457200"/>
          </a:xfrm>
          <a:prstGeom prst="ellipse">
            <a:avLst/>
          </a:prstGeom>
          <a:solidFill>
            <a:srgbClr val="4B868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6517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649"/>
                </a:solidFill>
              </a:rPr>
              <a:t>활동 이야기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651759"/>
            <a:ext cx="670529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3" name="줄 3"/>
          <p:cNvSpPr/>
          <p:nvPr/>
        </p:nvSpPr>
        <p:spPr>
          <a:xfrm>
            <a:off x="822960" y="3657600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2700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1005840" y="3886200"/>
            <a:ext cx="457200" cy="457200"/>
          </a:xfrm>
          <a:prstGeom prst="ellipse">
            <a:avLst/>
          </a:prstGeom>
          <a:solidFill>
            <a:srgbClr val="4B868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7033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649"/>
                </a:solidFill>
              </a:rPr>
              <a:t>함께하는 사람들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703320"/>
            <a:ext cx="670529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7" name="줄 4"/>
          <p:cNvSpPr/>
          <p:nvPr/>
        </p:nvSpPr>
        <p:spPr>
          <a:xfrm>
            <a:off x="822960" y="4709159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2700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4"/>
          <p:cNvSpPr/>
          <p:nvPr/>
        </p:nvSpPr>
        <p:spPr>
          <a:xfrm>
            <a:off x="1005840" y="4937759"/>
            <a:ext cx="457200" cy="457200"/>
          </a:xfrm>
          <a:prstGeom prst="ellipse">
            <a:avLst/>
          </a:prstGeom>
          <a:solidFill>
            <a:srgbClr val="4B868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7548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649"/>
                </a:solidFill>
              </a:rPr>
              <a:t>참여 방법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754879"/>
            <a:ext cx="670529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74649"/>
                </a:solidFill>
              </a:rPr>
              <a:t>핵심 메시지</a:t>
            </a:r>
          </a:p>
        </p:txBody>
      </p:sp>
      <p:sp>
        <p:nvSpPr>
          <p:cNvPr id="5" name="핵심 문장"/>
          <p:cNvSpPr txBox="1"/>
          <p:nvPr/>
        </p:nvSpPr>
        <p:spPr>
          <a:xfrm>
            <a:off x="822960" y="1554480"/>
            <a:ext cx="1054577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274649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6" name="카드 1"/>
          <p:cNvSpPr/>
          <p:nvPr/>
        </p:nvSpPr>
        <p:spPr>
          <a:xfrm>
            <a:off x="822960" y="3017520"/>
            <a:ext cx="3362858" cy="301752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587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1005840" y="3200400"/>
            <a:ext cx="457200" cy="457200"/>
          </a:xfrm>
          <a:prstGeom prst="ellipse">
            <a:avLst/>
          </a:prstGeom>
          <a:solidFill>
            <a:srgbClr val="4B868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79476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649"/>
                </a:solidFill>
              </a:rPr>
              <a:t>모임의 취지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480560"/>
            <a:ext cx="308853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0" name="카드 2"/>
          <p:cNvSpPr/>
          <p:nvPr/>
        </p:nvSpPr>
        <p:spPr>
          <a:xfrm>
            <a:off x="4414418" y="3017520"/>
            <a:ext cx="3362858" cy="301752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587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597298" y="3200400"/>
            <a:ext cx="457200" cy="457200"/>
          </a:xfrm>
          <a:prstGeom prst="ellipse">
            <a:avLst/>
          </a:prstGeom>
          <a:solidFill>
            <a:srgbClr val="4B868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1578" y="379476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649"/>
                </a:solidFill>
              </a:rPr>
              <a:t>활동 내용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1578" y="4480560"/>
            <a:ext cx="308853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카드 3"/>
          <p:cNvSpPr/>
          <p:nvPr/>
        </p:nvSpPr>
        <p:spPr>
          <a:xfrm>
            <a:off x="8005876" y="3017520"/>
            <a:ext cx="3362858" cy="301752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587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188756" y="3200400"/>
            <a:ext cx="457200" cy="457200"/>
          </a:xfrm>
          <a:prstGeom prst="ellipse">
            <a:avLst/>
          </a:prstGeom>
          <a:solidFill>
            <a:srgbClr val="4B868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3036" y="379476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649"/>
                </a:solidFill>
              </a:rPr>
              <a:t>참여 혜택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3036" y="4480560"/>
            <a:ext cx="308853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74649"/>
                </a:solidFill>
              </a:rPr>
              <a:t>한눈에 비교</a:t>
            </a:r>
          </a:p>
        </p:txBody>
      </p:sp>
      <p:sp>
        <p:nvSpPr>
          <p:cNvPr id="5" name="왼쪽 칸"/>
          <p:cNvSpPr/>
          <p:nvPr/>
        </p:nvSpPr>
        <p:spPr>
          <a:xfrm>
            <a:off x="822960" y="1554480"/>
            <a:ext cx="5090007" cy="461772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2700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칸 제목 바"/>
          <p:cNvSpPr/>
          <p:nvPr/>
        </p:nvSpPr>
        <p:spPr>
          <a:xfrm>
            <a:off x="822960" y="1554480"/>
            <a:ext cx="5090007" cy="640080"/>
          </a:xfrm>
          <a:prstGeom prst="roundRect">
            <a:avLst>
              <a:gd name="adj" fmla="val 25000"/>
            </a:avLst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72424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처음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463280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오른쪽 칸"/>
          <p:cNvSpPr/>
          <p:nvPr/>
        </p:nvSpPr>
        <p:spPr>
          <a:xfrm>
            <a:off x="6278727" y="1554480"/>
            <a:ext cx="5090007" cy="4617720"/>
          </a:xfrm>
          <a:prstGeom prst="roundRect">
            <a:avLst>
              <a:gd name="adj" fmla="val 8000"/>
            </a:avLst>
          </a:prstGeom>
          <a:solidFill>
            <a:srgbClr val="D6E9EB"/>
          </a:solidFill>
          <a:ln w="12700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6278727" y="1554480"/>
            <a:ext cx="5090007" cy="640080"/>
          </a:xfrm>
          <a:prstGeom prst="roundRect">
            <a:avLst>
              <a:gd name="adj" fmla="val 25000"/>
            </a:avLst>
          </a:prstGeom>
          <a:solidFill>
            <a:srgbClr val="2746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1554480"/>
            <a:ext cx="472424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지금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377440"/>
            <a:ext cx="463280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74649"/>
                </a:solidFill>
              </a:rPr>
              <a:t>일정·현황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822960" y="1554480"/>
          <a:ext cx="1054577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36443"/>
                <a:gridCol w="2636443"/>
                <a:gridCol w="2636443"/>
                <a:gridCol w="263644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날짜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B868B"/>
                      </a:solidFill>
                      <a:prstDash val="solid"/>
                    </a:lnL>
                    <a:lnR w="9525" cap="flat" cmpd="sng" algn="ctr">
                      <a:solidFill>
                        <a:srgbClr val="4B868B"/>
                      </a:solidFill>
                      <a:prstDash val="solid"/>
                    </a:lnR>
                    <a:lnT w="9525" cap="flat" cmpd="sng" algn="ctr">
                      <a:solidFill>
                        <a:srgbClr val="4B868B"/>
                      </a:solidFill>
                      <a:prstDash val="solid"/>
                    </a:lnT>
                    <a:lnB w="9525" cap="flat" cmpd="sng" algn="ctr">
                      <a:solidFill>
                        <a:srgbClr val="4B868B"/>
                      </a:solidFill>
                      <a:prstDash val="solid"/>
                    </a:lnB>
                    <a:solidFill>
                      <a:srgbClr val="4B86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활동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B868B"/>
                      </a:solidFill>
                      <a:prstDash val="solid"/>
                    </a:lnL>
                    <a:lnR w="9525" cap="flat" cmpd="sng" algn="ctr">
                      <a:solidFill>
                        <a:srgbClr val="4B868B"/>
                      </a:solidFill>
                      <a:prstDash val="solid"/>
                    </a:lnR>
                    <a:lnT w="9525" cap="flat" cmpd="sng" algn="ctr">
                      <a:solidFill>
                        <a:srgbClr val="4B868B"/>
                      </a:solidFill>
                      <a:prstDash val="solid"/>
                    </a:lnT>
                    <a:lnB w="9525" cap="flat" cmpd="sng" algn="ctr">
                      <a:solidFill>
                        <a:srgbClr val="4B868B"/>
                      </a:solidFill>
                      <a:prstDash val="solid"/>
                    </a:lnB>
                    <a:solidFill>
                      <a:srgbClr val="4B86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장소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B868B"/>
                      </a:solidFill>
                      <a:prstDash val="solid"/>
                    </a:lnL>
                    <a:lnR w="9525" cap="flat" cmpd="sng" algn="ctr">
                      <a:solidFill>
                        <a:srgbClr val="4B868B"/>
                      </a:solidFill>
                      <a:prstDash val="solid"/>
                    </a:lnR>
                    <a:lnT w="9525" cap="flat" cmpd="sng" algn="ctr">
                      <a:solidFill>
                        <a:srgbClr val="4B868B"/>
                      </a:solidFill>
                      <a:prstDash val="solid"/>
                    </a:lnT>
                    <a:lnB w="9525" cap="flat" cmpd="sng" algn="ctr">
                      <a:solidFill>
                        <a:srgbClr val="4B868B"/>
                      </a:solidFill>
                      <a:prstDash val="solid"/>
                    </a:lnB>
                    <a:solidFill>
                      <a:srgbClr val="4B86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참석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B868B"/>
                      </a:solidFill>
                      <a:prstDash val="solid"/>
                    </a:lnL>
                    <a:lnR w="9525" cap="flat" cmpd="sng" algn="ctr">
                      <a:solidFill>
                        <a:srgbClr val="4B868B"/>
                      </a:solidFill>
                      <a:prstDash val="solid"/>
                    </a:lnR>
                    <a:lnT w="9525" cap="flat" cmpd="sng" algn="ctr">
                      <a:solidFill>
                        <a:srgbClr val="4B868B"/>
                      </a:solidFill>
                      <a:prstDash val="solid"/>
                    </a:lnT>
                    <a:lnB w="9525" cap="flat" cmpd="sng" algn="ctr">
                      <a:solidFill>
                        <a:srgbClr val="4B868B"/>
                      </a:solidFill>
                      <a:prstDash val="solid"/>
                    </a:lnB>
                    <a:solidFill>
                      <a:srgbClr val="4B868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649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D6E9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649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D6E9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649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D6E9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649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D6E9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649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D6E9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74649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74649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모임·동호회 소개 발표 템플릿">
  <a:themeElements>
    <a:clrScheme name="Office">
      <a:dk1>
        <a:sysClr val="windowText" lastClr="000000"/>
      </a:dk1>
      <a:lt1>
        <a:sysClr val="window" lastClr="FFFFFF"/>
      </a:lt1>
      <a:dk2>
        <a:srgbClr val="274649"/>
      </a:dk2>
      <a:lt2>
        <a:srgbClr val="F2F7F8"/>
      </a:lt2>
      <a:accent1>
        <a:srgbClr val="4B868B"/>
      </a:accent1>
      <a:accent2>
        <a:srgbClr val="854761"/>
      </a:accent2>
      <a:accent3>
        <a:srgbClr val="274649"/>
      </a:accent3>
      <a:accent4>
        <a:srgbClr val="D6E9EB"/>
      </a:accent4>
      <a:accent5>
        <a:srgbClr val="686676"/>
      </a:accent5>
      <a:accent6>
        <a:srgbClr val="7D9092"/>
      </a:accent6>
      <a:hlink>
        <a:srgbClr val="4B868B"/>
      </a:hlink>
      <a:folHlink>
        <a:srgbClr val="2746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