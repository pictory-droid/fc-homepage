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56110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56110"/>
                </a:solidFill>
              </a:rPr>
              <a:t>비용과 일정부터 확인해 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사업 제안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EAB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56110"/>
                </a:solidFill>
              </a:rPr>
              <a:t>목차</a:t>
            </a:r>
          </a:p>
        </p:txBody>
      </p:sp>
      <p:sp>
        <p:nvSpPr>
          <p:cNvPr id="4" name="줄 1"/>
          <p:cNvSpPr/>
          <p:nvPr/>
        </p:nvSpPr>
        <p:spPr>
          <a:xfrm>
            <a:off x="731520" y="1600200"/>
            <a:ext cx="10728655" cy="914400"/>
          </a:xfrm>
          <a:prstGeom prst="roundRect">
            <a:avLst>
              <a:gd name="adj" fmla="val 8000"/>
            </a:avLst>
          </a:prstGeom>
          <a:solidFill>
            <a:srgbClr val="FDF9ED"/>
          </a:solidFill>
          <a:ln w="12700">
            <a:solidFill>
              <a:srgbClr val="F9EF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14400" y="1828800"/>
            <a:ext cx="457200" cy="457200"/>
          </a:xfrm>
          <a:prstGeom prst="ellipse">
            <a:avLst/>
          </a:prstGeom>
          <a:solidFill>
            <a:srgbClr val="CEAB1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1645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56110"/>
                </a:solidFill>
              </a:rPr>
              <a:t>문제와 기회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645920"/>
            <a:ext cx="688817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8" name="줄 2"/>
          <p:cNvSpPr/>
          <p:nvPr/>
        </p:nvSpPr>
        <p:spPr>
          <a:xfrm>
            <a:off x="731520" y="2651760"/>
            <a:ext cx="10728655" cy="914400"/>
          </a:xfrm>
          <a:prstGeom prst="roundRect">
            <a:avLst>
              <a:gd name="adj" fmla="val 8000"/>
            </a:avLst>
          </a:prstGeom>
          <a:solidFill>
            <a:srgbClr val="FDF9ED"/>
          </a:solidFill>
          <a:ln w="12700">
            <a:solidFill>
              <a:srgbClr val="F9EF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914400" y="2880360"/>
            <a:ext cx="457200" cy="457200"/>
          </a:xfrm>
          <a:prstGeom prst="ellipse">
            <a:avLst/>
          </a:prstGeom>
          <a:solidFill>
            <a:srgbClr val="CEAB1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697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56110"/>
                </a:solidFill>
              </a:rPr>
              <a:t>해결 방법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697479"/>
            <a:ext cx="688817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2" name="줄 3"/>
          <p:cNvSpPr/>
          <p:nvPr/>
        </p:nvSpPr>
        <p:spPr>
          <a:xfrm>
            <a:off x="731520" y="3703320"/>
            <a:ext cx="10728655" cy="914400"/>
          </a:xfrm>
          <a:prstGeom prst="roundRect">
            <a:avLst>
              <a:gd name="adj" fmla="val 8000"/>
            </a:avLst>
          </a:prstGeom>
          <a:solidFill>
            <a:srgbClr val="FDF9ED"/>
          </a:solidFill>
          <a:ln w="12700">
            <a:solidFill>
              <a:srgbClr val="F9EF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914400" y="3931920"/>
            <a:ext cx="457200" cy="457200"/>
          </a:xfrm>
          <a:prstGeom prst="ellipse">
            <a:avLst/>
          </a:prstGeom>
          <a:solidFill>
            <a:srgbClr val="CEAB1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374903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56110"/>
                </a:solidFill>
              </a:rPr>
              <a:t>기대 효과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749039"/>
            <a:ext cx="688817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6" name="줄 4"/>
          <p:cNvSpPr/>
          <p:nvPr/>
        </p:nvSpPr>
        <p:spPr>
          <a:xfrm>
            <a:off x="731520" y="4754879"/>
            <a:ext cx="10728655" cy="914400"/>
          </a:xfrm>
          <a:prstGeom prst="roundRect">
            <a:avLst>
              <a:gd name="adj" fmla="val 8000"/>
            </a:avLst>
          </a:prstGeom>
          <a:solidFill>
            <a:srgbClr val="FDF9ED"/>
          </a:solidFill>
          <a:ln w="12700">
            <a:solidFill>
              <a:srgbClr val="F9EF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4"/>
          <p:cNvSpPr/>
          <p:nvPr/>
        </p:nvSpPr>
        <p:spPr>
          <a:xfrm>
            <a:off x="914400" y="4983479"/>
            <a:ext cx="457200" cy="457200"/>
          </a:xfrm>
          <a:prstGeom prst="ellipse">
            <a:avLst/>
          </a:prstGeom>
          <a:solidFill>
            <a:srgbClr val="CEAB1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480059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56110"/>
                </a:solidFill>
              </a:rPr>
              <a:t>진행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4800599"/>
            <a:ext cx="688817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EAB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56110"/>
                </a:solidFill>
              </a:rPr>
              <a:t>핵심 메시지</a:t>
            </a:r>
          </a:p>
        </p:txBody>
      </p:sp>
      <p:sp>
        <p:nvSpPr>
          <p:cNvPr id="4" name="핵심 문장"/>
          <p:cNvSpPr txBox="1"/>
          <p:nvPr/>
        </p:nvSpPr>
        <p:spPr>
          <a:xfrm>
            <a:off x="731520" y="1600200"/>
            <a:ext cx="1072865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756110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5" name="카드 1"/>
          <p:cNvSpPr/>
          <p:nvPr/>
        </p:nvSpPr>
        <p:spPr>
          <a:xfrm>
            <a:off x="731520" y="3063240"/>
            <a:ext cx="3423818" cy="3017520"/>
          </a:xfrm>
          <a:prstGeom prst="roundRect">
            <a:avLst>
              <a:gd name="adj" fmla="val 8000"/>
            </a:avLst>
          </a:prstGeom>
          <a:solidFill>
            <a:srgbClr val="FDF9ED"/>
          </a:solidFill>
          <a:ln w="15875">
            <a:solidFill>
              <a:srgbClr val="F9EF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914400" y="3246120"/>
            <a:ext cx="457200" cy="457200"/>
          </a:xfrm>
          <a:prstGeom prst="ellipse">
            <a:avLst/>
          </a:prstGeom>
          <a:solidFill>
            <a:srgbClr val="CEAB1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56110"/>
                </a:solidFill>
              </a:rPr>
              <a:t>현황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526280"/>
            <a:ext cx="314949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83938" y="3063240"/>
            <a:ext cx="3423818" cy="3017520"/>
          </a:xfrm>
          <a:prstGeom prst="roundRect">
            <a:avLst>
              <a:gd name="adj" fmla="val 8000"/>
            </a:avLst>
          </a:prstGeom>
          <a:solidFill>
            <a:srgbClr val="FDF9ED"/>
          </a:solidFill>
          <a:ln w="15875">
            <a:solidFill>
              <a:srgbClr val="F9EF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66818" y="3246120"/>
            <a:ext cx="457200" cy="457200"/>
          </a:xfrm>
          <a:prstGeom prst="ellipse">
            <a:avLst/>
          </a:prstGeom>
          <a:solidFill>
            <a:srgbClr val="CEAB1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1098" y="384048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56110"/>
                </a:solidFill>
              </a:rPr>
              <a:t>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1098" y="4526280"/>
            <a:ext cx="314949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36356" y="3063240"/>
            <a:ext cx="3423818" cy="3017520"/>
          </a:xfrm>
          <a:prstGeom prst="roundRect">
            <a:avLst>
              <a:gd name="adj" fmla="val 8000"/>
            </a:avLst>
          </a:prstGeom>
          <a:solidFill>
            <a:srgbClr val="FDF9ED"/>
          </a:solidFill>
          <a:ln w="15875">
            <a:solidFill>
              <a:srgbClr val="F9EF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19236" y="3246120"/>
            <a:ext cx="457200" cy="457200"/>
          </a:xfrm>
          <a:prstGeom prst="ellipse">
            <a:avLst/>
          </a:prstGeom>
          <a:solidFill>
            <a:srgbClr val="CEAB1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3516" y="384048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56110"/>
                </a:solidFill>
              </a:rPr>
              <a:t>효과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3516" y="4526280"/>
            <a:ext cx="314949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EAB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56110"/>
                </a:solidFill>
              </a:rPr>
              <a:t>한눈에 비교</a:t>
            </a:r>
          </a:p>
        </p:txBody>
      </p:sp>
      <p:sp>
        <p:nvSpPr>
          <p:cNvPr id="4" name="왼쪽 칸"/>
          <p:cNvSpPr/>
          <p:nvPr/>
        </p:nvSpPr>
        <p:spPr>
          <a:xfrm>
            <a:off x="731520" y="1600200"/>
            <a:ext cx="5181447" cy="4617720"/>
          </a:xfrm>
          <a:prstGeom prst="roundRect">
            <a:avLst>
              <a:gd name="adj" fmla="val 8000"/>
            </a:avLst>
          </a:prstGeom>
          <a:solidFill>
            <a:srgbClr val="FDF9ED"/>
          </a:solidFill>
          <a:ln w="12700">
            <a:solidFill>
              <a:srgbClr val="F9EF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칸 제목 바"/>
          <p:cNvSpPr/>
          <p:nvPr/>
        </p:nvSpPr>
        <p:spPr>
          <a:xfrm>
            <a:off x="731520" y="1600200"/>
            <a:ext cx="5181447" cy="640080"/>
          </a:xfrm>
          <a:prstGeom prst="roundRect">
            <a:avLst>
              <a:gd name="adj" fmla="val 25000"/>
            </a:avLst>
          </a:prstGeom>
          <a:solidFill>
            <a:srgbClr val="CEAB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81568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현재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423160"/>
            <a:ext cx="4724247" cy="3703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8" name="오른쪽 칸"/>
          <p:cNvSpPr/>
          <p:nvPr/>
        </p:nvSpPr>
        <p:spPr>
          <a:xfrm>
            <a:off x="6278727" y="1600200"/>
            <a:ext cx="5181447" cy="4617720"/>
          </a:xfrm>
          <a:prstGeom prst="roundRect">
            <a:avLst>
              <a:gd name="adj" fmla="val 8000"/>
            </a:avLst>
          </a:prstGeom>
          <a:solidFill>
            <a:srgbClr val="F9EFC8"/>
          </a:solidFill>
          <a:ln w="12700">
            <a:solidFill>
              <a:srgbClr val="F9EF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칸 제목 바"/>
          <p:cNvSpPr/>
          <p:nvPr/>
        </p:nvSpPr>
        <p:spPr>
          <a:xfrm>
            <a:off x="6278727" y="1600200"/>
            <a:ext cx="5181447" cy="640080"/>
          </a:xfrm>
          <a:prstGeom prst="roundRect">
            <a:avLst>
              <a:gd name="adj" fmla="val 25000"/>
            </a:avLst>
          </a:prstGeom>
          <a:solidFill>
            <a:srgbClr val="7561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1607" y="1600200"/>
            <a:ext cx="481568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제안 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7327" y="2423160"/>
            <a:ext cx="4724247" cy="3703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EAB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56110"/>
                </a:solidFill>
              </a:rPr>
              <a:t>일정·현황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731520" y="1600200"/>
          <a:ext cx="1072865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단계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AB1C"/>
                      </a:solidFill>
                      <a:prstDash val="solid"/>
                    </a:lnL>
                    <a:lnR w="9525" cap="flat" cmpd="sng" algn="ctr">
                      <a:solidFill>
                        <a:srgbClr val="CEAB1C"/>
                      </a:solidFill>
                      <a:prstDash val="solid"/>
                    </a:lnR>
                    <a:lnT w="9525" cap="flat" cmpd="sng" algn="ctr">
                      <a:solidFill>
                        <a:srgbClr val="CEAB1C"/>
                      </a:solidFill>
                      <a:prstDash val="solid"/>
                    </a:lnT>
                    <a:lnB w="9525" cap="flat" cmpd="sng" algn="ctr">
                      <a:solidFill>
                        <a:srgbClr val="CEAB1C"/>
                      </a:solidFill>
                      <a:prstDash val="solid"/>
                    </a:lnB>
                    <a:solidFill>
                      <a:srgbClr val="CEAB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AB1C"/>
                      </a:solidFill>
                      <a:prstDash val="solid"/>
                    </a:lnL>
                    <a:lnR w="9525" cap="flat" cmpd="sng" algn="ctr">
                      <a:solidFill>
                        <a:srgbClr val="CEAB1C"/>
                      </a:solidFill>
                      <a:prstDash val="solid"/>
                    </a:lnR>
                    <a:lnT w="9525" cap="flat" cmpd="sng" algn="ctr">
                      <a:solidFill>
                        <a:srgbClr val="CEAB1C"/>
                      </a:solidFill>
                      <a:prstDash val="solid"/>
                    </a:lnT>
                    <a:lnB w="9525" cap="flat" cmpd="sng" algn="ctr">
                      <a:solidFill>
                        <a:srgbClr val="CEAB1C"/>
                      </a:solidFill>
                      <a:prstDash val="solid"/>
                    </a:lnB>
                    <a:solidFill>
                      <a:srgbClr val="CEAB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기간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AB1C"/>
                      </a:solidFill>
                      <a:prstDash val="solid"/>
                    </a:lnL>
                    <a:lnR w="9525" cap="flat" cmpd="sng" algn="ctr">
                      <a:solidFill>
                        <a:srgbClr val="CEAB1C"/>
                      </a:solidFill>
                      <a:prstDash val="solid"/>
                    </a:lnR>
                    <a:lnT w="9525" cap="flat" cmpd="sng" algn="ctr">
                      <a:solidFill>
                        <a:srgbClr val="CEAB1C"/>
                      </a:solidFill>
                      <a:prstDash val="solid"/>
                    </a:lnT>
                    <a:lnB w="9525" cap="flat" cmpd="sng" algn="ctr">
                      <a:solidFill>
                        <a:srgbClr val="CEAB1C"/>
                      </a:solidFill>
                      <a:prstDash val="solid"/>
                    </a:lnB>
                    <a:solidFill>
                      <a:srgbClr val="CEAB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담당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AB1C"/>
                      </a:solidFill>
                      <a:prstDash val="solid"/>
                    </a:lnL>
                    <a:lnR w="9525" cap="flat" cmpd="sng" algn="ctr">
                      <a:solidFill>
                        <a:srgbClr val="CEAB1C"/>
                      </a:solidFill>
                      <a:prstDash val="solid"/>
                    </a:lnR>
                    <a:lnT w="9525" cap="flat" cmpd="sng" algn="ctr">
                      <a:solidFill>
                        <a:srgbClr val="CEAB1C"/>
                      </a:solidFill>
                      <a:prstDash val="solid"/>
                    </a:lnT>
                    <a:lnB w="9525" cap="flat" cmpd="sng" algn="ctr">
                      <a:solidFill>
                        <a:srgbClr val="CEAB1C"/>
                      </a:solidFill>
                      <a:prstDash val="solid"/>
                    </a:lnB>
                    <a:solidFill>
                      <a:srgbClr val="CEAB1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56110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9E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56110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9E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56110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9E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56110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9E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56110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9E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56110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56110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사업 제안 발표 템플릿">
  <a:themeElements>
    <a:clrScheme name="Office">
      <a:dk1>
        <a:sysClr val="windowText" lastClr="000000"/>
      </a:dk1>
      <a:lt1>
        <a:sysClr val="window" lastClr="FFFFFF"/>
      </a:lt1>
      <a:dk2>
        <a:srgbClr val="756110"/>
      </a:dk2>
      <a:lt2>
        <a:srgbClr val="FDF9ED"/>
      </a:lt2>
      <a:accent1>
        <a:srgbClr val="CEAB1C"/>
      </a:accent1>
      <a:accent2>
        <a:srgbClr val="3B7791"/>
      </a:accent2>
      <a:accent3>
        <a:srgbClr val="756110"/>
      </a:accent3>
      <a:accent4>
        <a:srgbClr val="F9EFC8"/>
      </a:accent4>
      <a:accent5>
        <a:srgbClr val="849156"/>
      </a:accent5>
      <a:accent6>
        <a:srgbClr val="ACA070"/>
      </a:accent6>
      <a:hlink>
        <a:srgbClr val="CEAB1C"/>
      </a:hlink>
      <a:folHlink>
        <a:srgbClr val="75611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사업 제안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