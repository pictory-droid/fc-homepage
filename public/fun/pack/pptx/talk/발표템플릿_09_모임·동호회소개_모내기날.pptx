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16E21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216E21"/>
                </a:solidFill>
              </a:rPr>
              <a:t>모임이 시작된 날부터 지금까지입니다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모임·동호회 소개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C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4ECA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399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16E21"/>
                </a:solidFill>
              </a:rPr>
              <a:t>목차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60020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3FCF3"/>
          </a:solidFill>
          <a:ln w="12700">
            <a:solidFill>
              <a:srgbClr val="D4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4ECA4E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45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6E21"/>
                </a:solidFill>
              </a:rPr>
              <a:t>우리 모임 소개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45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65176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3FCF3"/>
          </a:solidFill>
          <a:ln w="12700">
            <a:solidFill>
              <a:srgbClr val="D4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2880360"/>
            <a:ext cx="457200" cy="457200"/>
          </a:xfrm>
          <a:prstGeom prst="ellipse">
            <a:avLst/>
          </a:prstGeom>
          <a:solidFill>
            <a:srgbClr val="4ECA4E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697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6E21"/>
                </a:solidFill>
              </a:rPr>
              <a:t>활동 이야기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697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70332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3FCF3"/>
          </a:solidFill>
          <a:ln w="12700">
            <a:solidFill>
              <a:srgbClr val="D4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3931920"/>
            <a:ext cx="457200" cy="457200"/>
          </a:xfrm>
          <a:prstGeom prst="ellipse">
            <a:avLst/>
          </a:prstGeom>
          <a:solidFill>
            <a:srgbClr val="4ECA4E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74903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6E21"/>
                </a:solidFill>
              </a:rPr>
              <a:t>함께하는 사람들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74903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7" name="줄 4"/>
          <p:cNvSpPr/>
          <p:nvPr/>
        </p:nvSpPr>
        <p:spPr>
          <a:xfrm>
            <a:off x="640080" y="475487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3FCF3"/>
          </a:solidFill>
          <a:ln w="12700">
            <a:solidFill>
              <a:srgbClr val="D4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822959" y="4983479"/>
            <a:ext cx="457200" cy="457200"/>
          </a:xfrm>
          <a:prstGeom prst="ellipse">
            <a:avLst/>
          </a:prstGeom>
          <a:solidFill>
            <a:srgbClr val="4ECA4E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80059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6E21"/>
                </a:solidFill>
              </a:rPr>
              <a:t>참여 방법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80059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C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4ECA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399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16E21"/>
                </a:solidFill>
              </a:rPr>
              <a:t>핵심 메시지</a:t>
            </a:r>
          </a:p>
        </p:txBody>
      </p:sp>
      <p:sp>
        <p:nvSpPr>
          <p:cNvPr id="5" name="핵심 문장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216E21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3FCF3"/>
          </a:solidFill>
          <a:ln w="15875">
            <a:solidFill>
              <a:srgbClr val="D4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3246120"/>
            <a:ext cx="457200" cy="457200"/>
          </a:xfrm>
          <a:prstGeom prst="ellipse">
            <a:avLst/>
          </a:prstGeom>
          <a:solidFill>
            <a:srgbClr val="4ECA4E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6E21"/>
                </a:solidFill>
              </a:rPr>
              <a:t>모임의 취지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3FCF3"/>
          </a:solidFill>
          <a:ln w="15875">
            <a:solidFill>
              <a:srgbClr val="D4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3246120"/>
            <a:ext cx="457200" cy="457200"/>
          </a:xfrm>
          <a:prstGeom prst="ellipse">
            <a:avLst/>
          </a:prstGeom>
          <a:solidFill>
            <a:srgbClr val="4ECA4E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6E21"/>
                </a:solidFill>
              </a:rPr>
              <a:t>활동 내용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3FCF3"/>
          </a:solidFill>
          <a:ln w="15875">
            <a:solidFill>
              <a:srgbClr val="D4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3246120"/>
            <a:ext cx="457200" cy="457200"/>
          </a:xfrm>
          <a:prstGeom prst="ellipse">
            <a:avLst/>
          </a:prstGeom>
          <a:solidFill>
            <a:srgbClr val="4ECA4E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6E21"/>
                </a:solidFill>
              </a:rPr>
              <a:t>참여 혜택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C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4ECA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399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16E21"/>
                </a:solidFill>
              </a:rPr>
              <a:t>한눈에 비교</a:t>
            </a:r>
          </a:p>
        </p:txBody>
      </p:sp>
      <p:sp>
        <p:nvSpPr>
          <p:cNvPr id="5" name="왼쪽 칸"/>
          <p:cNvSpPr/>
          <p:nvPr/>
        </p:nvSpPr>
        <p:spPr>
          <a:xfrm>
            <a:off x="640080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F3FCF3"/>
          </a:solidFill>
          <a:ln w="12700">
            <a:solidFill>
              <a:srgbClr val="D4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640080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4ECA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처음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278727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D4F7D4"/>
          </a:solidFill>
          <a:ln w="12700">
            <a:solidFill>
              <a:srgbClr val="D4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278727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216E2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지금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C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4ECA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399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16E21"/>
                </a:solidFill>
              </a:rPr>
              <a:t>일정·현황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날짜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ECA4E"/>
                      </a:solidFill>
                      <a:prstDash val="solid"/>
                    </a:lnL>
                    <a:lnR w="9525" cap="flat" cmpd="sng" algn="ctr">
                      <a:solidFill>
                        <a:srgbClr val="4ECA4E"/>
                      </a:solidFill>
                      <a:prstDash val="solid"/>
                    </a:lnR>
                    <a:lnT w="9525" cap="flat" cmpd="sng" algn="ctr">
                      <a:solidFill>
                        <a:srgbClr val="4ECA4E"/>
                      </a:solidFill>
                      <a:prstDash val="solid"/>
                    </a:lnT>
                    <a:lnB w="9525" cap="flat" cmpd="sng" algn="ctr">
                      <a:solidFill>
                        <a:srgbClr val="4ECA4E"/>
                      </a:solidFill>
                      <a:prstDash val="solid"/>
                    </a:lnB>
                    <a:solidFill>
                      <a:srgbClr val="4ECA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활동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ECA4E"/>
                      </a:solidFill>
                      <a:prstDash val="solid"/>
                    </a:lnL>
                    <a:lnR w="9525" cap="flat" cmpd="sng" algn="ctr">
                      <a:solidFill>
                        <a:srgbClr val="4ECA4E"/>
                      </a:solidFill>
                      <a:prstDash val="solid"/>
                    </a:lnR>
                    <a:lnT w="9525" cap="flat" cmpd="sng" algn="ctr">
                      <a:solidFill>
                        <a:srgbClr val="4ECA4E"/>
                      </a:solidFill>
                      <a:prstDash val="solid"/>
                    </a:lnT>
                    <a:lnB w="9525" cap="flat" cmpd="sng" algn="ctr">
                      <a:solidFill>
                        <a:srgbClr val="4ECA4E"/>
                      </a:solidFill>
                      <a:prstDash val="solid"/>
                    </a:lnB>
                    <a:solidFill>
                      <a:srgbClr val="4ECA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장소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ECA4E"/>
                      </a:solidFill>
                      <a:prstDash val="solid"/>
                    </a:lnL>
                    <a:lnR w="9525" cap="flat" cmpd="sng" algn="ctr">
                      <a:solidFill>
                        <a:srgbClr val="4ECA4E"/>
                      </a:solidFill>
                      <a:prstDash val="solid"/>
                    </a:lnR>
                    <a:lnT w="9525" cap="flat" cmpd="sng" algn="ctr">
                      <a:solidFill>
                        <a:srgbClr val="4ECA4E"/>
                      </a:solidFill>
                      <a:prstDash val="solid"/>
                    </a:lnT>
                    <a:lnB w="9525" cap="flat" cmpd="sng" algn="ctr">
                      <a:solidFill>
                        <a:srgbClr val="4ECA4E"/>
                      </a:solidFill>
                      <a:prstDash val="solid"/>
                    </a:lnB>
                    <a:solidFill>
                      <a:srgbClr val="4ECA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참석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ECA4E"/>
                      </a:solidFill>
                      <a:prstDash val="solid"/>
                    </a:lnL>
                    <a:lnR w="9525" cap="flat" cmpd="sng" algn="ctr">
                      <a:solidFill>
                        <a:srgbClr val="4ECA4E"/>
                      </a:solidFill>
                      <a:prstDash val="solid"/>
                    </a:lnR>
                    <a:lnT w="9525" cap="flat" cmpd="sng" algn="ctr">
                      <a:solidFill>
                        <a:srgbClr val="4ECA4E"/>
                      </a:solidFill>
                      <a:prstDash val="solid"/>
                    </a:lnT>
                    <a:lnB w="9525" cap="flat" cmpd="sng" algn="ctr">
                      <a:solidFill>
                        <a:srgbClr val="4ECA4E"/>
                      </a:solidFill>
                      <a:prstDash val="solid"/>
                    </a:lnB>
                    <a:solidFill>
                      <a:srgbClr val="4ECA4E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16E21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D4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16E21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D4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3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3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3FCF3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16E21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D4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16E21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D4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3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3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3FCF3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16E21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D4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4"/>
                      </a:solidFill>
                      <a:prstDash val="solid"/>
                    </a:lnL>
                    <a:lnR w="9525" cap="flat" cmpd="sng" algn="ctr">
                      <a:solidFill>
                        <a:srgbClr val="D4F7D4"/>
                      </a:solidFill>
                      <a:prstDash val="solid"/>
                    </a:lnR>
                    <a:lnT w="9525" cap="flat" cmpd="sng" algn="ctr">
                      <a:solidFill>
                        <a:srgbClr val="D4F7D4"/>
                      </a:solidFill>
                      <a:prstDash val="solid"/>
                    </a:lnT>
                    <a:lnB w="9525" cap="flat" cmpd="sng" algn="ctr">
                      <a:solidFill>
                        <a:srgbClr val="D4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16E21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216E21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모임·동호회 소개 발표 템플릿">
  <a:themeElements>
    <a:clrScheme name="Office">
      <a:dk1>
        <a:sysClr val="windowText" lastClr="000000"/>
      </a:dk1>
      <a:lt1>
        <a:sysClr val="window" lastClr="FFFFFF"/>
      </a:lt1>
      <a:dk2>
        <a:srgbClr val="216E21"/>
      </a:dk2>
      <a:lt2>
        <a:srgbClr val="F3FCF3"/>
      </a:lt2>
      <a:accent1>
        <a:srgbClr val="4ECA4E"/>
      </a:accent1>
      <a:accent2>
        <a:srgbClr val="339941"/>
      </a:accent2>
      <a:accent3>
        <a:srgbClr val="216E21"/>
      </a:accent3>
      <a:accent4>
        <a:srgbClr val="D4F7D4"/>
      </a:accent4>
      <a:accent5>
        <a:srgbClr val="40B248"/>
      </a:accent5>
      <a:accent6>
        <a:srgbClr val="7AA87A"/>
      </a:accent6>
      <a:hlink>
        <a:srgbClr val="4ECA4E"/>
      </a:hlink>
      <a:folHlink>
        <a:srgbClr val="216E21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모임·동호회 소개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