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32"/>
                </a:solidFill>
              </a:rPr>
              <a:t>발표 제목을 입력하세요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32"/>
                </a:solidFill>
              </a:rPr>
              <a:t>이번 분기 진행 상황을 보고드립니다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업무 보고 · 발표자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32"/>
                </a:solidFill>
              </a:rPr>
              <a:t>목차</a:t>
            </a:r>
          </a:p>
        </p:txBody>
      </p:sp>
      <p:sp>
        <p:nvSpPr>
          <p:cNvPr id="4" name="줄 1"/>
          <p:cNvSpPr/>
          <p:nvPr/>
        </p:nvSpPr>
        <p:spPr>
          <a:xfrm>
            <a:off x="731520" y="160020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CF3F5"/>
          </a:solidFill>
          <a:ln w="12700">
            <a:solidFill>
              <a:srgbClr val="F7D4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914400" y="1828800"/>
            <a:ext cx="457200" cy="457200"/>
          </a:xfrm>
          <a:prstGeom prst="ellipse">
            <a:avLst/>
          </a:prstGeom>
          <a:solidFill>
            <a:srgbClr val="DB3D6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1645920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32"/>
                </a:solidFill>
              </a:rPr>
              <a:t>추진 경과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89120" y="1645920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8" name="줄 2"/>
          <p:cNvSpPr/>
          <p:nvPr/>
        </p:nvSpPr>
        <p:spPr>
          <a:xfrm>
            <a:off x="731520" y="265176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CF3F5"/>
          </a:solidFill>
          <a:ln w="12700">
            <a:solidFill>
              <a:srgbClr val="F7D4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914400" y="2880360"/>
            <a:ext cx="457200" cy="457200"/>
          </a:xfrm>
          <a:prstGeom prst="ellipse">
            <a:avLst/>
          </a:prstGeom>
          <a:solidFill>
            <a:srgbClr val="DB3D6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00200" y="269747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32"/>
                </a:solidFill>
              </a:rPr>
              <a:t>주요 성과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9747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2" name="줄 3"/>
          <p:cNvSpPr/>
          <p:nvPr/>
        </p:nvSpPr>
        <p:spPr>
          <a:xfrm>
            <a:off x="731520" y="3703320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CF3F5"/>
          </a:solidFill>
          <a:ln w="12700">
            <a:solidFill>
              <a:srgbClr val="F7D4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914400" y="3931920"/>
            <a:ext cx="457200" cy="457200"/>
          </a:xfrm>
          <a:prstGeom prst="ellipse">
            <a:avLst/>
          </a:prstGeom>
          <a:solidFill>
            <a:srgbClr val="DB3D6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00200" y="374903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32"/>
                </a:solidFill>
              </a:rPr>
              <a:t>이슈와 대응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374903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  <p:sp>
        <p:nvSpPr>
          <p:cNvPr id="16" name="줄 4"/>
          <p:cNvSpPr/>
          <p:nvPr/>
        </p:nvSpPr>
        <p:spPr>
          <a:xfrm>
            <a:off x="731520" y="4754879"/>
            <a:ext cx="10728655" cy="914400"/>
          </a:xfrm>
          <a:prstGeom prst="roundRect">
            <a:avLst>
              <a:gd name="adj" fmla="val 8000"/>
            </a:avLst>
          </a:prstGeom>
          <a:solidFill>
            <a:srgbClr val="FCF3F5"/>
          </a:solidFill>
          <a:ln w="12700">
            <a:solidFill>
              <a:srgbClr val="F7D4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번호 4"/>
          <p:cNvSpPr/>
          <p:nvPr/>
        </p:nvSpPr>
        <p:spPr>
          <a:xfrm>
            <a:off x="914400" y="4983479"/>
            <a:ext cx="457200" cy="457200"/>
          </a:xfrm>
          <a:prstGeom prst="ellipse">
            <a:avLst/>
          </a:prstGeom>
          <a:solidFill>
            <a:srgbClr val="DB3D6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0200" y="4800599"/>
            <a:ext cx="2743200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32"/>
                </a:solidFill>
              </a:rPr>
              <a:t>향후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4800599"/>
            <a:ext cx="6888175" cy="82296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2B2B2B"/>
                </a:solidFill>
              </a:rPr>
              <a:t>한 줄로 내용을 적어 주세요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32"/>
                </a:solidFill>
              </a:rPr>
              <a:t>핵심 메시지</a:t>
            </a:r>
          </a:p>
        </p:txBody>
      </p:sp>
      <p:sp>
        <p:nvSpPr>
          <p:cNvPr id="4" name="핵심 문장"/>
          <p:cNvSpPr txBox="1"/>
          <p:nvPr/>
        </p:nvSpPr>
        <p:spPr>
          <a:xfrm>
            <a:off x="731520" y="1600200"/>
            <a:ext cx="10728655" cy="118872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ctr">
              <a:lnSpc>
                <a:spcPct val="115000"/>
              </a:lnSpc>
            </a:pPr>
            <a:r>
              <a:rPr sz="2600" b="1" i="0">
                <a:solidFill>
                  <a:srgbClr val="721D32"/>
                </a:solidFill>
              </a:rPr>
              <a:t>한 문장으로 말하면 — 여기에 핵심 메시지를 입력하세요</a:t>
            </a:r>
          </a:p>
        </p:txBody>
      </p:sp>
      <p:sp>
        <p:nvSpPr>
          <p:cNvPr id="5" name="카드 1"/>
          <p:cNvSpPr/>
          <p:nvPr/>
        </p:nvSpPr>
        <p:spPr>
          <a:xfrm>
            <a:off x="731520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CF3F5"/>
          </a:solidFill>
          <a:ln w="15875">
            <a:solidFill>
              <a:srgbClr val="F7D4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번호 1"/>
          <p:cNvSpPr/>
          <p:nvPr/>
        </p:nvSpPr>
        <p:spPr>
          <a:xfrm>
            <a:off x="914400" y="3246120"/>
            <a:ext cx="457200" cy="457200"/>
          </a:xfrm>
          <a:prstGeom prst="ellipse">
            <a:avLst/>
          </a:prstGeom>
          <a:solidFill>
            <a:srgbClr val="DB3D6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32"/>
                </a:solidFill>
              </a:rPr>
              <a:t>진행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9" name="카드 2"/>
          <p:cNvSpPr/>
          <p:nvPr/>
        </p:nvSpPr>
        <p:spPr>
          <a:xfrm>
            <a:off x="4383938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CF3F5"/>
          </a:solidFill>
          <a:ln w="15875">
            <a:solidFill>
              <a:srgbClr val="F7D4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번호 2"/>
          <p:cNvSpPr/>
          <p:nvPr/>
        </p:nvSpPr>
        <p:spPr>
          <a:xfrm>
            <a:off x="4566818" y="3246120"/>
            <a:ext cx="457200" cy="457200"/>
          </a:xfrm>
          <a:prstGeom prst="ellipse">
            <a:avLst/>
          </a:prstGeom>
          <a:solidFill>
            <a:srgbClr val="DB3D6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21098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32"/>
                </a:solidFill>
              </a:rPr>
              <a:t>성과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1098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13" name="카드 3"/>
          <p:cNvSpPr/>
          <p:nvPr/>
        </p:nvSpPr>
        <p:spPr>
          <a:xfrm>
            <a:off x="8036356" y="3063240"/>
            <a:ext cx="3423818" cy="3017520"/>
          </a:xfrm>
          <a:prstGeom prst="roundRect">
            <a:avLst>
              <a:gd name="adj" fmla="val 8000"/>
            </a:avLst>
          </a:prstGeom>
          <a:solidFill>
            <a:srgbClr val="FCF3F5"/>
          </a:solidFill>
          <a:ln w="15875">
            <a:solidFill>
              <a:srgbClr val="F7D4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번호 3"/>
          <p:cNvSpPr/>
          <p:nvPr/>
        </p:nvSpPr>
        <p:spPr>
          <a:xfrm>
            <a:off x="8219236" y="3246120"/>
            <a:ext cx="457200" cy="457200"/>
          </a:xfrm>
          <a:prstGeom prst="ellipse">
            <a:avLst/>
          </a:prstGeom>
          <a:solidFill>
            <a:srgbClr val="DB3D65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73516" y="3840480"/>
            <a:ext cx="314949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1D32"/>
                </a:solidFill>
              </a:rPr>
              <a:t>이슈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73516" y="4526280"/>
            <a:ext cx="3149498" cy="141731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32"/>
                </a:solidFill>
              </a:rPr>
              <a:t>한눈에 비교</a:t>
            </a:r>
          </a:p>
        </p:txBody>
      </p:sp>
      <p:sp>
        <p:nvSpPr>
          <p:cNvPr id="4" name="왼쪽 칸"/>
          <p:cNvSpPr/>
          <p:nvPr/>
        </p:nvSpPr>
        <p:spPr>
          <a:xfrm>
            <a:off x="731520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CF3F5"/>
          </a:solidFill>
          <a:ln w="12700">
            <a:solidFill>
              <a:srgbClr val="F7D4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칸 제목 바"/>
          <p:cNvSpPr/>
          <p:nvPr/>
        </p:nvSpPr>
        <p:spPr>
          <a:xfrm>
            <a:off x="731520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DB3D65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계획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  <p:sp>
        <p:nvSpPr>
          <p:cNvPr id="8" name="오른쪽 칸"/>
          <p:cNvSpPr/>
          <p:nvPr/>
        </p:nvSpPr>
        <p:spPr>
          <a:xfrm>
            <a:off x="6278727" y="1600200"/>
            <a:ext cx="5181447" cy="4617720"/>
          </a:xfrm>
          <a:prstGeom prst="roundRect">
            <a:avLst>
              <a:gd name="adj" fmla="val 8000"/>
            </a:avLst>
          </a:prstGeom>
          <a:solidFill>
            <a:srgbClr val="F7D4DD"/>
          </a:solidFill>
          <a:ln w="12700">
            <a:solidFill>
              <a:srgbClr val="F7D4D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칸 제목 바"/>
          <p:cNvSpPr/>
          <p:nvPr/>
        </p:nvSpPr>
        <p:spPr>
          <a:xfrm>
            <a:off x="6278727" y="1600200"/>
            <a:ext cx="5181447" cy="640080"/>
          </a:xfrm>
          <a:prstGeom prst="roundRect">
            <a:avLst>
              <a:gd name="adj" fmla="val 25000"/>
            </a:avLst>
          </a:prstGeom>
          <a:solidFill>
            <a:srgbClr val="721D3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61607" y="1600200"/>
            <a:ext cx="4815687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</a:rPr>
              <a:t>실적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07327" y="2423160"/>
            <a:ext cx="4724247" cy="370332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  <a:p>
            <a:pPr algn="l" marL="285750" indent="-285750">
              <a:lnSpc>
                <a:spcPct val="130000"/>
              </a:lnSpc>
              <a:spcAft>
                <a:spcPts val="600"/>
              </a:spcAft>
              <a:buFont typeface="Arial"/>
              <a:buChar char="•"/>
            </a:pPr>
            <a:r>
              <a:rPr sz="1500" b="0" i="0">
                <a:solidFill>
                  <a:srgbClr val="2B2B2B"/>
                </a:solidFill>
              </a:rPr>
              <a:t>내용을 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DB3D6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274320" y="274320"/>
            <a:ext cx="11643055" cy="6309360"/>
          </a:xfrm>
          <a:prstGeom prst="roundRect">
            <a:avLst>
              <a:gd name="adj" fmla="val 35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31520" y="548640"/>
            <a:ext cx="9448495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721D32"/>
                </a:solidFill>
              </a:rPr>
              <a:t>일정·현황</a:t>
            </a:r>
          </a:p>
        </p:txBody>
      </p:sp>
      <p:graphicFrame>
        <p:nvGraphicFramePr>
          <p:cNvPr id="4" name="표"/>
          <p:cNvGraphicFramePr>
            <a:graphicFrameLocks noGrp="1"/>
          </p:cNvGraphicFramePr>
          <p:nvPr/>
        </p:nvGraphicFramePr>
        <p:xfrm>
          <a:off x="731520" y="1600200"/>
          <a:ext cx="10728652" cy="384048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682163"/>
                <a:gridCol w="2682163"/>
                <a:gridCol w="2682163"/>
                <a:gridCol w="2682163"/>
              </a:tblGrid>
              <a:tr h="640080"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항목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3D65"/>
                      </a:solidFill>
                      <a:prstDash val="solid"/>
                    </a:lnL>
                    <a:lnR w="9525" cap="flat" cmpd="sng" algn="ctr">
                      <a:solidFill>
                        <a:srgbClr val="DB3D65"/>
                      </a:solidFill>
                      <a:prstDash val="solid"/>
                    </a:lnR>
                    <a:lnT w="9525" cap="flat" cmpd="sng" algn="ctr">
                      <a:solidFill>
                        <a:srgbClr val="DB3D65"/>
                      </a:solidFill>
                      <a:prstDash val="solid"/>
                    </a:lnT>
                    <a:lnB w="9525" cap="flat" cmpd="sng" algn="ctr">
                      <a:solidFill>
                        <a:srgbClr val="DB3D65"/>
                      </a:solidFill>
                      <a:prstDash val="solid"/>
                    </a:lnB>
                    <a:solidFill>
                      <a:srgbClr val="DB3D6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목표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3D65"/>
                      </a:solidFill>
                      <a:prstDash val="solid"/>
                    </a:lnL>
                    <a:lnR w="9525" cap="flat" cmpd="sng" algn="ctr">
                      <a:solidFill>
                        <a:srgbClr val="DB3D65"/>
                      </a:solidFill>
                      <a:prstDash val="solid"/>
                    </a:lnR>
                    <a:lnT w="9525" cap="flat" cmpd="sng" algn="ctr">
                      <a:solidFill>
                        <a:srgbClr val="DB3D65"/>
                      </a:solidFill>
                      <a:prstDash val="solid"/>
                    </a:lnT>
                    <a:lnB w="9525" cap="flat" cmpd="sng" algn="ctr">
                      <a:solidFill>
                        <a:srgbClr val="DB3D65"/>
                      </a:solidFill>
                      <a:prstDash val="solid"/>
                    </a:lnB>
                    <a:solidFill>
                      <a:srgbClr val="DB3D6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실적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3D65"/>
                      </a:solidFill>
                      <a:prstDash val="solid"/>
                    </a:lnL>
                    <a:lnR w="9525" cap="flat" cmpd="sng" algn="ctr">
                      <a:solidFill>
                        <a:srgbClr val="DB3D65"/>
                      </a:solidFill>
                      <a:prstDash val="solid"/>
                    </a:lnR>
                    <a:lnT w="9525" cap="flat" cmpd="sng" algn="ctr">
                      <a:solidFill>
                        <a:srgbClr val="DB3D65"/>
                      </a:solidFill>
                      <a:prstDash val="solid"/>
                    </a:lnT>
                    <a:lnB w="9525" cap="flat" cmpd="sng" algn="ctr">
                      <a:solidFill>
                        <a:srgbClr val="DB3D65"/>
                      </a:solidFill>
                      <a:prstDash val="solid"/>
                    </a:lnB>
                    <a:solidFill>
                      <a:srgbClr val="DB3D6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달성률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DB3D65"/>
                      </a:solidFill>
                      <a:prstDash val="solid"/>
                    </a:lnL>
                    <a:lnR w="9525" cap="flat" cmpd="sng" algn="ctr">
                      <a:solidFill>
                        <a:srgbClr val="DB3D65"/>
                      </a:solidFill>
                      <a:prstDash val="solid"/>
                    </a:lnR>
                    <a:lnT w="9525" cap="flat" cmpd="sng" algn="ctr">
                      <a:solidFill>
                        <a:srgbClr val="DB3D65"/>
                      </a:solidFill>
                      <a:prstDash val="solid"/>
                    </a:lnT>
                    <a:lnB w="9525" cap="flat" cmpd="sng" algn="ctr">
                      <a:solidFill>
                        <a:srgbClr val="DB3D65"/>
                      </a:solidFill>
                      <a:prstDash val="solid"/>
                    </a:lnB>
                    <a:solidFill>
                      <a:srgbClr val="DB3D6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1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C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C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CF3F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C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CF3F5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CF3F5"/>
                    </a:solidFill>
                  </a:tcPr>
                </a:tc>
              </a:tr>
              <a:tr h="640080">
                <a:tc>
                  <a:txBody>
                    <a:bodyPr wrap="square"/>
                    <a:lstStyle/>
                    <a:p>
                      <a:pPr algn="l"/>
                      <a:r>
                        <a:rPr sz="1500" b="1">
                          <a:solidFill>
                            <a:srgbClr val="721D32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7D4DD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>내용 입력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500" b="0">
                          <a:solidFill>
                            <a:srgbClr val="2B2B2B"/>
                          </a:solidFill>
                        </a:rPr>
                        <a:t/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D4DD"/>
                      </a:solidFill>
                      <a:prstDash val="solid"/>
                    </a:lnL>
                    <a:lnR w="9525" cap="flat" cmpd="sng" algn="ctr">
                      <a:solidFill>
                        <a:srgbClr val="F7D4DD"/>
                      </a:solidFill>
                      <a:prstDash val="solid"/>
                    </a:lnR>
                    <a:lnT w="9525" cap="flat" cmpd="sng" algn="ctr">
                      <a:solidFill>
                        <a:srgbClr val="F7D4DD"/>
                      </a:solidFill>
                      <a:prstDash val="solid"/>
                    </a:lnT>
                    <a:lnB w="9525" cap="flat" cmpd="sng" algn="ctr">
                      <a:solidFill>
                        <a:srgbClr val="F7D4DD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talk-0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1D32"/>
                </a:solidFill>
              </a:rPr>
              <a:t>감사합니다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1D32"/>
                </a:solidFill>
              </a:rPr>
              <a:t>끝까지 들어 주셔서 고맙습니다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문의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업무 보고 발표 템플릿">
  <a:themeElements>
    <a:clrScheme name="Office">
      <a:dk1>
        <a:sysClr val="windowText" lastClr="000000"/>
      </a:dk1>
      <a:lt1>
        <a:sysClr val="window" lastClr="FFFFFF"/>
      </a:lt1>
      <a:dk2>
        <a:srgbClr val="721D32"/>
      </a:dk2>
      <a:lt2>
        <a:srgbClr val="FCF3F5"/>
      </a:lt2>
      <a:accent1>
        <a:srgbClr val="DB3D65"/>
      </a:accent1>
      <a:accent2>
        <a:srgbClr val="339941"/>
      </a:accent2>
      <a:accent3>
        <a:srgbClr val="721D32"/>
      </a:accent3>
      <a:accent4>
        <a:srgbClr val="F7D4DD"/>
      </a:accent4>
      <a:accent5>
        <a:srgbClr val="876B53"/>
      </a:accent5>
      <a:accent6>
        <a:srgbClr val="AA7784"/>
      </a:accent6>
      <a:hlink>
        <a:srgbClr val="DB3D65"/>
      </a:hlink>
      <a:folHlink>
        <a:srgbClr val="721D32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업무 보고 발표 템플릿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