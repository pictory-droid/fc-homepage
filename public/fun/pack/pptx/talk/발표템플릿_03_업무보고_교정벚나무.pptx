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9E2E4A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9E2E4A"/>
                </a:solidFill>
              </a:rPr>
              <a:t>이번 분기 진행 상황을 보고드립니다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업무 보고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목차</a:t>
            </a:r>
          </a:p>
        </p:txBody>
      </p:sp>
      <p:sp>
        <p:nvSpPr>
          <p:cNvPr id="4" name="줄 1"/>
          <p:cNvSpPr/>
          <p:nvPr/>
        </p:nvSpPr>
        <p:spPr>
          <a:xfrm>
            <a:off x="731520" y="160020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2700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추진 경과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8" name="줄 2"/>
          <p:cNvSpPr/>
          <p:nvPr/>
        </p:nvSpPr>
        <p:spPr>
          <a:xfrm>
            <a:off x="731520" y="265176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2700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914400" y="288036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주요 성과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9747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2" name="줄 3"/>
          <p:cNvSpPr/>
          <p:nvPr/>
        </p:nvSpPr>
        <p:spPr>
          <a:xfrm>
            <a:off x="731520" y="370332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2700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이슈와 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4903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4"/>
          <p:cNvSpPr/>
          <p:nvPr/>
        </p:nvSpPr>
        <p:spPr>
          <a:xfrm>
            <a:off x="731520" y="4754879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2700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914400" y="4983479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향후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80059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핵심 메시지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731520" y="1600200"/>
            <a:ext cx="1072865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9E2E4A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5" name="카드 1"/>
          <p:cNvSpPr/>
          <p:nvPr/>
        </p:nvSpPr>
        <p:spPr>
          <a:xfrm>
            <a:off x="731520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5875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914400" y="324612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진행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83938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5875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66818" y="324612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성과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36356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5875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19236" y="324612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3516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이슈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3516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한눈에 비교</a:t>
            </a:r>
          </a:p>
        </p:txBody>
      </p:sp>
      <p:sp>
        <p:nvSpPr>
          <p:cNvPr id="4" name="왼쪽 칸"/>
          <p:cNvSpPr/>
          <p:nvPr/>
        </p:nvSpPr>
        <p:spPr>
          <a:xfrm>
            <a:off x="731520" y="1600200"/>
            <a:ext cx="5181447" cy="461772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2700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칸 제목 바"/>
          <p:cNvSpPr/>
          <p:nvPr/>
        </p:nvSpPr>
        <p:spPr>
          <a:xfrm>
            <a:off x="731520" y="1600200"/>
            <a:ext cx="5181447" cy="640080"/>
          </a:xfrm>
          <a:prstGeom prst="roundRect">
            <a:avLst>
              <a:gd name="adj" fmla="val 25000"/>
            </a:avLst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1568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계획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472424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오른쪽 칸"/>
          <p:cNvSpPr/>
          <p:nvPr/>
        </p:nvSpPr>
        <p:spPr>
          <a:xfrm>
            <a:off x="6278727" y="1600200"/>
            <a:ext cx="5181447" cy="4617720"/>
          </a:xfrm>
          <a:prstGeom prst="roundRect">
            <a:avLst>
              <a:gd name="adj" fmla="val 8000"/>
            </a:avLst>
          </a:prstGeom>
          <a:solidFill>
            <a:srgbClr val="F3CED7"/>
          </a:solidFill>
          <a:ln w="12700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278727" y="1600200"/>
            <a:ext cx="5181447" cy="640080"/>
          </a:xfrm>
          <a:prstGeom prst="roundRect">
            <a:avLst>
              <a:gd name="adj" fmla="val 25000"/>
            </a:avLst>
          </a:prstGeom>
          <a:solidFill>
            <a:srgbClr val="9E2E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600200"/>
            <a:ext cx="481568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실적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423160"/>
            <a:ext cx="472424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일정·현황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31520" y="1600200"/>
          <a:ext cx="1072865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9E2E4A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9E2E4A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업무 보고 발표 템플릿">
  <a:themeElements>
    <a:clrScheme name="Office">
      <a:dk1>
        <a:sysClr val="windowText" lastClr="000000"/>
      </a:dk1>
      <a:lt1>
        <a:sysClr val="window" lastClr="FFFFFF"/>
      </a:lt1>
      <a:dk2>
        <a:srgbClr val="9E2E4A"/>
      </a:dk2>
      <a:lt2>
        <a:srgbClr val="FAEFF2"/>
      </a:lt2>
      <a:accent1>
        <a:srgbClr val="D1617D"/>
      </a:accent1>
      <a:accent2>
        <a:srgbClr val="3B9151"/>
      </a:accent2>
      <a:accent3>
        <a:srgbClr val="9E2E4A"/>
      </a:accent3>
      <a:accent4>
        <a:srgbClr val="F3CED7"/>
      </a:accent4>
      <a:accent5>
        <a:srgbClr val="867967"/>
      </a:accent5>
      <a:accent6>
        <a:srgbClr val="C58292"/>
      </a:accent6>
      <a:hlink>
        <a:srgbClr val="D1617D"/>
      </a:hlink>
      <a:folHlink>
        <a:srgbClr val="9E2E4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