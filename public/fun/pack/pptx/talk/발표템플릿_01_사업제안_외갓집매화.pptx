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42F4C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42F4C"/>
                </a:solidFill>
              </a:rPr>
              <a:t>올해 상반기에 시작할 수 있는 제안입니다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사업 제안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B851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B91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42F4C"/>
                </a:solidFill>
              </a:rPr>
              <a:t>목차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60020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9F1F4"/>
          </a:solidFill>
          <a:ln w="12700">
            <a:solidFill>
              <a:srgbClr val="EFD2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B8517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45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42F4C"/>
                </a:solidFill>
              </a:rPr>
              <a:t>문제와 기회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45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65176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9F1F4"/>
          </a:solidFill>
          <a:ln w="12700">
            <a:solidFill>
              <a:srgbClr val="EFD2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2880360"/>
            <a:ext cx="457200" cy="457200"/>
          </a:xfrm>
          <a:prstGeom prst="ellipse">
            <a:avLst/>
          </a:prstGeom>
          <a:solidFill>
            <a:srgbClr val="B8517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697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42F4C"/>
                </a:solidFill>
              </a:rPr>
              <a:t>해결 방법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697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70332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9F1F4"/>
          </a:solidFill>
          <a:ln w="12700">
            <a:solidFill>
              <a:srgbClr val="EFD2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3931920"/>
            <a:ext cx="457200" cy="457200"/>
          </a:xfrm>
          <a:prstGeom prst="ellipse">
            <a:avLst/>
          </a:prstGeom>
          <a:solidFill>
            <a:srgbClr val="B8517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74903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42F4C"/>
                </a:solidFill>
              </a:rPr>
              <a:t>기대 효과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74903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7" name="줄 4"/>
          <p:cNvSpPr/>
          <p:nvPr/>
        </p:nvSpPr>
        <p:spPr>
          <a:xfrm>
            <a:off x="640080" y="475487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9F1F4"/>
          </a:solidFill>
          <a:ln w="12700">
            <a:solidFill>
              <a:srgbClr val="EFD2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822959" y="4983479"/>
            <a:ext cx="457200" cy="457200"/>
          </a:xfrm>
          <a:prstGeom prst="ellipse">
            <a:avLst/>
          </a:prstGeom>
          <a:solidFill>
            <a:srgbClr val="B8517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80059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42F4C"/>
                </a:solidFill>
              </a:rPr>
              <a:t>진행 계획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80059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B851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B91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42F4C"/>
                </a:solidFill>
              </a:rPr>
              <a:t>핵심 메시지</a:t>
            </a:r>
          </a:p>
        </p:txBody>
      </p:sp>
      <p:sp>
        <p:nvSpPr>
          <p:cNvPr id="5" name="핵심 문장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742F4C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9F1F4"/>
          </a:solidFill>
          <a:ln w="15875">
            <a:solidFill>
              <a:srgbClr val="EFD2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3246120"/>
            <a:ext cx="457200" cy="457200"/>
          </a:xfrm>
          <a:prstGeom prst="ellipse">
            <a:avLst/>
          </a:prstGeom>
          <a:solidFill>
            <a:srgbClr val="B8517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42F4C"/>
                </a:solidFill>
              </a:rPr>
              <a:t>현황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9F1F4"/>
          </a:solidFill>
          <a:ln w="15875">
            <a:solidFill>
              <a:srgbClr val="EFD2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3246120"/>
            <a:ext cx="457200" cy="457200"/>
          </a:xfrm>
          <a:prstGeom prst="ellipse">
            <a:avLst/>
          </a:prstGeom>
          <a:solidFill>
            <a:srgbClr val="B8517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42F4C"/>
                </a:solidFill>
              </a:rPr>
              <a:t>제안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9F1F4"/>
          </a:solidFill>
          <a:ln w="15875">
            <a:solidFill>
              <a:srgbClr val="EFD2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3246120"/>
            <a:ext cx="457200" cy="457200"/>
          </a:xfrm>
          <a:prstGeom prst="ellipse">
            <a:avLst/>
          </a:prstGeom>
          <a:solidFill>
            <a:srgbClr val="B8517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42F4C"/>
                </a:solidFill>
              </a:rPr>
              <a:t>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B851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B91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42F4C"/>
                </a:solidFill>
              </a:rPr>
              <a:t>한눈에 비교</a:t>
            </a:r>
          </a:p>
        </p:txBody>
      </p:sp>
      <p:sp>
        <p:nvSpPr>
          <p:cNvPr id="5" name="왼쪽 칸"/>
          <p:cNvSpPr/>
          <p:nvPr/>
        </p:nvSpPr>
        <p:spPr>
          <a:xfrm>
            <a:off x="640080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F9F1F4"/>
          </a:solidFill>
          <a:ln w="12700">
            <a:solidFill>
              <a:srgbClr val="EFD2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640080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B851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현재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278727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EFD2DE"/>
          </a:solidFill>
          <a:ln w="12700">
            <a:solidFill>
              <a:srgbClr val="EFD2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278727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742F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제안 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B851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B91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42F4C"/>
                </a:solidFill>
              </a:rPr>
              <a:t>일정·현황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단계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B8517C"/>
                      </a:solidFill>
                      <a:prstDash val="solid"/>
                    </a:lnL>
                    <a:lnR w="9525" cap="flat" cmpd="sng" algn="ctr">
                      <a:solidFill>
                        <a:srgbClr val="B8517C"/>
                      </a:solidFill>
                      <a:prstDash val="solid"/>
                    </a:lnR>
                    <a:lnT w="9525" cap="flat" cmpd="sng" algn="ctr">
                      <a:solidFill>
                        <a:srgbClr val="B8517C"/>
                      </a:solidFill>
                      <a:prstDash val="solid"/>
                    </a:lnT>
                    <a:lnB w="9525" cap="flat" cmpd="sng" algn="ctr">
                      <a:solidFill>
                        <a:srgbClr val="B8517C"/>
                      </a:solidFill>
                      <a:prstDash val="solid"/>
                    </a:lnB>
                    <a:solidFill>
                      <a:srgbClr val="B8517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B8517C"/>
                      </a:solidFill>
                      <a:prstDash val="solid"/>
                    </a:lnL>
                    <a:lnR w="9525" cap="flat" cmpd="sng" algn="ctr">
                      <a:solidFill>
                        <a:srgbClr val="B8517C"/>
                      </a:solidFill>
                      <a:prstDash val="solid"/>
                    </a:lnR>
                    <a:lnT w="9525" cap="flat" cmpd="sng" algn="ctr">
                      <a:solidFill>
                        <a:srgbClr val="B8517C"/>
                      </a:solidFill>
                      <a:prstDash val="solid"/>
                    </a:lnT>
                    <a:lnB w="9525" cap="flat" cmpd="sng" algn="ctr">
                      <a:solidFill>
                        <a:srgbClr val="B8517C"/>
                      </a:solidFill>
                      <a:prstDash val="solid"/>
                    </a:lnB>
                    <a:solidFill>
                      <a:srgbClr val="B8517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기간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B8517C"/>
                      </a:solidFill>
                      <a:prstDash val="solid"/>
                    </a:lnL>
                    <a:lnR w="9525" cap="flat" cmpd="sng" algn="ctr">
                      <a:solidFill>
                        <a:srgbClr val="B8517C"/>
                      </a:solidFill>
                      <a:prstDash val="solid"/>
                    </a:lnR>
                    <a:lnT w="9525" cap="flat" cmpd="sng" algn="ctr">
                      <a:solidFill>
                        <a:srgbClr val="B8517C"/>
                      </a:solidFill>
                      <a:prstDash val="solid"/>
                    </a:lnT>
                    <a:lnB w="9525" cap="flat" cmpd="sng" algn="ctr">
                      <a:solidFill>
                        <a:srgbClr val="B8517C"/>
                      </a:solidFill>
                      <a:prstDash val="solid"/>
                    </a:lnB>
                    <a:solidFill>
                      <a:srgbClr val="B8517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담당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B8517C"/>
                      </a:solidFill>
                      <a:prstDash val="solid"/>
                    </a:lnL>
                    <a:lnR w="9525" cap="flat" cmpd="sng" algn="ctr">
                      <a:solidFill>
                        <a:srgbClr val="B8517C"/>
                      </a:solidFill>
                      <a:prstDash val="solid"/>
                    </a:lnR>
                    <a:lnT w="9525" cap="flat" cmpd="sng" algn="ctr">
                      <a:solidFill>
                        <a:srgbClr val="B8517C"/>
                      </a:solidFill>
                      <a:prstDash val="solid"/>
                    </a:lnT>
                    <a:lnB w="9525" cap="flat" cmpd="sng" algn="ctr">
                      <a:solidFill>
                        <a:srgbClr val="B8517C"/>
                      </a:solidFill>
                      <a:prstDash val="solid"/>
                    </a:lnB>
                    <a:solidFill>
                      <a:srgbClr val="B8517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42F4C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EFD2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42F4C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EFD2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9F1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9F1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9F1F4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42F4C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EFD2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42F4C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EFD2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9F1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9F1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9F1F4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42F4C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EFD2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2DE"/>
                      </a:solidFill>
                      <a:prstDash val="solid"/>
                    </a:lnL>
                    <a:lnR w="9525" cap="flat" cmpd="sng" algn="ctr">
                      <a:solidFill>
                        <a:srgbClr val="EFD2DE"/>
                      </a:solidFill>
                      <a:prstDash val="solid"/>
                    </a:lnR>
                    <a:lnT w="9525" cap="flat" cmpd="sng" algn="ctr">
                      <a:solidFill>
                        <a:srgbClr val="EFD2DE"/>
                      </a:solidFill>
                      <a:prstDash val="solid"/>
                    </a:lnT>
                    <a:lnB w="9525" cap="flat" cmpd="sng" algn="ctr">
                      <a:solidFill>
                        <a:srgbClr val="EFD2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42F4C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42F4C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사업 제안 발표 템플릿">
  <a:themeElements>
    <a:clrScheme name="Office">
      <a:dk1>
        <a:sysClr val="windowText" lastClr="000000"/>
      </a:dk1>
      <a:lt1>
        <a:sysClr val="window" lastClr="FFFFFF"/>
      </a:lt1>
      <a:dk2>
        <a:srgbClr val="742F4C"/>
      </a:dk2>
      <a:lt2>
        <a:srgbClr val="F9F1F4"/>
      </a:lt2>
      <a:accent1>
        <a:srgbClr val="B8517C"/>
      </a:accent1>
      <a:accent2>
        <a:srgbClr val="3B9142"/>
      </a:accent2>
      <a:accent3>
        <a:srgbClr val="742F4C"/>
      </a:accent3>
      <a:accent4>
        <a:srgbClr val="EFD2DE"/>
      </a:accent4>
      <a:accent5>
        <a:srgbClr val="7A715F"/>
      </a:accent5>
      <a:accent6>
        <a:srgbClr val="AC8294"/>
      </a:accent6>
      <a:hlink>
        <a:srgbClr val="B8517C"/>
      </a:hlink>
      <a:folHlink>
        <a:srgbClr val="742F4C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사업 제안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