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329659" y="672084"/>
            <a:ext cx="2798064" cy="699516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329659" y="1278331"/>
            <a:ext cx="2798064" cy="699516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329659" y="1884578"/>
            <a:ext cx="2798064" cy="699516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발표 제목을 입력하세요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394A"/>
                </a:solidFill>
              </a:rPr>
              <a:t>등대처럼 방향을 비추는 발표를 합니다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업무 보고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19511" y="475488"/>
            <a:ext cx="1207008" cy="301752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19511" y="737006"/>
            <a:ext cx="1207008" cy="301752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19511" y="998524"/>
            <a:ext cx="1207008" cy="301752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7" name="줄 1"/>
          <p:cNvSpPr/>
          <p:nvPr/>
        </p:nvSpPr>
        <p:spPr>
          <a:xfrm>
            <a:off x="640080" y="16459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2700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9164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추진 경과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9164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69748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2700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822959" y="2926080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743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주요 성과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7432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5" name="줄 3"/>
          <p:cNvSpPr/>
          <p:nvPr/>
        </p:nvSpPr>
        <p:spPr>
          <a:xfrm>
            <a:off x="640080" y="374903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2700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2959" y="3977639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794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이슈와 대응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7947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9" name="줄 4"/>
          <p:cNvSpPr/>
          <p:nvPr/>
        </p:nvSpPr>
        <p:spPr>
          <a:xfrm>
            <a:off x="640080" y="48006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2700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4"/>
          <p:cNvSpPr/>
          <p:nvPr/>
        </p:nvSpPr>
        <p:spPr>
          <a:xfrm>
            <a:off x="822959" y="5029200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846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향후 계획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8463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19511" y="475488"/>
            <a:ext cx="1207008" cy="301752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19511" y="737006"/>
            <a:ext cx="1207008" cy="301752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19511" y="998524"/>
            <a:ext cx="1207008" cy="301752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핵심 메시지</a:t>
            </a:r>
          </a:p>
        </p:txBody>
      </p:sp>
      <p:sp>
        <p:nvSpPr>
          <p:cNvPr id="7" name="핵심 문장"/>
          <p:cNvSpPr txBox="1"/>
          <p:nvPr/>
        </p:nvSpPr>
        <p:spPr>
          <a:xfrm>
            <a:off x="640080" y="164592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1394A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8" name="카드 1"/>
          <p:cNvSpPr/>
          <p:nvPr/>
        </p:nvSpPr>
        <p:spPr>
          <a:xfrm>
            <a:off x="640080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5875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3291840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진행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5875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3291840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성과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5875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8249716" y="3291840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이슈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19511" y="475488"/>
            <a:ext cx="1207008" cy="301752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19511" y="737006"/>
            <a:ext cx="1207008" cy="301752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19511" y="998524"/>
            <a:ext cx="1207008" cy="301752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한눈에 비교</a:t>
            </a:r>
          </a:p>
        </p:txBody>
      </p:sp>
      <p:sp>
        <p:nvSpPr>
          <p:cNvPr id="7" name="왼쪽 칸"/>
          <p:cNvSpPr/>
          <p:nvPr/>
        </p:nvSpPr>
        <p:spPr>
          <a:xfrm>
            <a:off x="640080" y="1645920"/>
            <a:ext cx="5272887" cy="475488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2700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칸 제목 바"/>
          <p:cNvSpPr/>
          <p:nvPr/>
        </p:nvSpPr>
        <p:spPr>
          <a:xfrm>
            <a:off x="640080" y="164592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4592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계획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4815687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1" name="오른쪽 칸"/>
          <p:cNvSpPr/>
          <p:nvPr/>
        </p:nvSpPr>
        <p:spPr>
          <a:xfrm>
            <a:off x="6278727" y="1645920"/>
            <a:ext cx="5272887" cy="4754880"/>
          </a:xfrm>
          <a:prstGeom prst="roundRect">
            <a:avLst>
              <a:gd name="adj" fmla="val 8000"/>
            </a:avLst>
          </a:prstGeom>
          <a:solidFill>
            <a:srgbClr val="CCE9F5"/>
          </a:solidFill>
          <a:ln w="12700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칸 제목 바"/>
          <p:cNvSpPr/>
          <p:nvPr/>
        </p:nvSpPr>
        <p:spPr>
          <a:xfrm>
            <a:off x="6278727" y="164592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113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164592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실적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468880"/>
            <a:ext cx="4815687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19511" y="475488"/>
            <a:ext cx="1207008" cy="301752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19511" y="737006"/>
            <a:ext cx="1207008" cy="301752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19511" y="998524"/>
            <a:ext cx="1207008" cy="301752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일정·현황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64592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5799D"/>
                      </a:solidFill>
                      <a:prstDash val="solid"/>
                    </a:lnL>
                    <a:lnR w="9525" cap="flat" cmpd="sng" algn="ctr">
                      <a:solidFill>
                        <a:srgbClr val="25799D"/>
                      </a:solidFill>
                      <a:prstDash val="solid"/>
                    </a:lnR>
                    <a:lnT w="9525" cap="flat" cmpd="sng" algn="ctr">
                      <a:solidFill>
                        <a:srgbClr val="25799D"/>
                      </a:solidFill>
                      <a:prstDash val="solid"/>
                    </a:lnT>
                    <a:lnB w="9525" cap="flat" cmpd="sng" algn="ctr">
                      <a:solidFill>
                        <a:srgbClr val="25799D"/>
                      </a:solidFill>
                      <a:prstDash val="solid"/>
                    </a:lnB>
                    <a:solidFill>
                      <a:srgbClr val="2579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5799D"/>
                      </a:solidFill>
                      <a:prstDash val="solid"/>
                    </a:lnL>
                    <a:lnR w="9525" cap="flat" cmpd="sng" algn="ctr">
                      <a:solidFill>
                        <a:srgbClr val="25799D"/>
                      </a:solidFill>
                      <a:prstDash val="solid"/>
                    </a:lnR>
                    <a:lnT w="9525" cap="flat" cmpd="sng" algn="ctr">
                      <a:solidFill>
                        <a:srgbClr val="25799D"/>
                      </a:solidFill>
                      <a:prstDash val="solid"/>
                    </a:lnT>
                    <a:lnB w="9525" cap="flat" cmpd="sng" algn="ctr">
                      <a:solidFill>
                        <a:srgbClr val="25799D"/>
                      </a:solidFill>
                      <a:prstDash val="solid"/>
                    </a:lnB>
                    <a:solidFill>
                      <a:srgbClr val="2579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5799D"/>
                      </a:solidFill>
                      <a:prstDash val="solid"/>
                    </a:lnL>
                    <a:lnR w="9525" cap="flat" cmpd="sng" algn="ctr">
                      <a:solidFill>
                        <a:srgbClr val="25799D"/>
                      </a:solidFill>
                      <a:prstDash val="solid"/>
                    </a:lnR>
                    <a:lnT w="9525" cap="flat" cmpd="sng" algn="ctr">
                      <a:solidFill>
                        <a:srgbClr val="25799D"/>
                      </a:solidFill>
                      <a:prstDash val="solid"/>
                    </a:lnT>
                    <a:lnB w="9525" cap="flat" cmpd="sng" algn="ctr">
                      <a:solidFill>
                        <a:srgbClr val="25799D"/>
                      </a:solidFill>
                      <a:prstDash val="solid"/>
                    </a:lnB>
                    <a:solidFill>
                      <a:srgbClr val="2579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5799D"/>
                      </a:solidFill>
                      <a:prstDash val="solid"/>
                    </a:lnL>
                    <a:lnR w="9525" cap="flat" cmpd="sng" algn="ctr">
                      <a:solidFill>
                        <a:srgbClr val="25799D"/>
                      </a:solidFill>
                      <a:prstDash val="solid"/>
                    </a:lnR>
                    <a:lnT w="9525" cap="flat" cmpd="sng" algn="ctr">
                      <a:solidFill>
                        <a:srgbClr val="25799D"/>
                      </a:solidFill>
                      <a:prstDash val="solid"/>
                    </a:lnT>
                    <a:lnB w="9525" cap="flat" cmpd="sng" algn="ctr">
                      <a:solidFill>
                        <a:srgbClr val="25799D"/>
                      </a:solidFill>
                      <a:prstDash val="solid"/>
                    </a:lnB>
                    <a:solidFill>
                      <a:srgbClr val="25799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394A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CCE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394A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CCE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394A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CCE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394A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CCE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394A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CCE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329659" y="672084"/>
            <a:ext cx="2798064" cy="699516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329659" y="1278331"/>
            <a:ext cx="2798064" cy="699516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329659" y="1884578"/>
            <a:ext cx="2798064" cy="699516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394A"/>
                </a:solidFill>
              </a:rPr>
              <a:t>들어 주셔서 고맙습니다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업무 보고 발표 템플릿">
  <a:themeElements>
    <a:clrScheme name="Office">
      <a:dk1>
        <a:sysClr val="windowText" lastClr="000000"/>
      </a:dk1>
      <a:lt1>
        <a:sysClr val="window" lastClr="FFFFFF"/>
      </a:lt1>
      <a:dk2>
        <a:srgbClr val="11394A"/>
      </a:dk2>
      <a:lt2>
        <a:srgbClr val="EEF7FB"/>
      </a:lt2>
      <a:accent1>
        <a:srgbClr val="25799D"/>
      </a:accent1>
      <a:accent2>
        <a:srgbClr val="913B4C"/>
      </a:accent2>
      <a:accent3>
        <a:srgbClr val="11394A"/>
      </a:accent3>
      <a:accent4>
        <a:srgbClr val="CCE9F5"/>
      </a:accent4>
      <a:accent5>
        <a:srgbClr val="5B5A74"/>
      </a:accent5>
      <a:accent6>
        <a:srgbClr val="708892"/>
      </a:accent6>
      <a:hlink>
        <a:srgbClr val="25799D"/>
      </a:hlink>
      <a:folHlink>
        <a:srgbClr val="11394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