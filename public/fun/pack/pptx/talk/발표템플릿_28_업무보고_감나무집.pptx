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23F13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3F13"/>
                </a:solidFill>
              </a:rPr>
              <a:t>하반기 계획과 진행률입니다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업무 보고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목차</a:t>
            </a:r>
          </a:p>
        </p:txBody>
      </p:sp>
      <p:sp>
        <p:nvSpPr>
          <p:cNvPr id="5" name="줄 1"/>
          <p:cNvSpPr/>
          <p:nvPr/>
        </p:nvSpPr>
        <p:spPr>
          <a:xfrm>
            <a:off x="914400" y="160020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2700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97280" y="182880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추진 경과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9" name="줄 2"/>
          <p:cNvSpPr/>
          <p:nvPr/>
        </p:nvSpPr>
        <p:spPr>
          <a:xfrm>
            <a:off x="914400" y="265176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2700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1097280" y="288036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주요 성과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9747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3" name="줄 3"/>
          <p:cNvSpPr/>
          <p:nvPr/>
        </p:nvSpPr>
        <p:spPr>
          <a:xfrm>
            <a:off x="914400" y="370332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2700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1097280" y="393192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이슈와 대응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4903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7" name="줄 4"/>
          <p:cNvSpPr/>
          <p:nvPr/>
        </p:nvSpPr>
        <p:spPr>
          <a:xfrm>
            <a:off x="914400" y="475487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2700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1097280" y="4983479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향후 계획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80059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핵심 메시지</a:t>
            </a:r>
          </a:p>
        </p:txBody>
      </p:sp>
      <p:sp>
        <p:nvSpPr>
          <p:cNvPr id="5" name="핵심 문장"/>
          <p:cNvSpPr txBox="1"/>
          <p:nvPr/>
        </p:nvSpPr>
        <p:spPr>
          <a:xfrm>
            <a:off x="914400" y="1600200"/>
            <a:ext cx="1063721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723F13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6" name="카드 1"/>
          <p:cNvSpPr/>
          <p:nvPr/>
        </p:nvSpPr>
        <p:spPr>
          <a:xfrm>
            <a:off x="914400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5875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1097280" y="324612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536338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5875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719218" y="324612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성과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158276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5875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341156" y="3246120"/>
            <a:ext cx="457200" cy="457200"/>
          </a:xfrm>
          <a:prstGeom prst="ellipse">
            <a:avLst/>
          </a:prstGeom>
          <a:solidFill>
            <a:srgbClr val="CA702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3F13"/>
                </a:solidFill>
              </a:rPr>
              <a:t>이슈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5436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한눈에 비교</a:t>
            </a:r>
          </a:p>
        </p:txBody>
      </p:sp>
      <p:sp>
        <p:nvSpPr>
          <p:cNvPr id="5" name="왼쪽 칸"/>
          <p:cNvSpPr/>
          <p:nvPr/>
        </p:nvSpPr>
        <p:spPr>
          <a:xfrm>
            <a:off x="914400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FCF4ED"/>
          </a:solidFill>
          <a:ln w="12700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914400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계획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415887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F8DFC9"/>
          </a:solidFill>
          <a:ln w="12700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415887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723F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8767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실적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4487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3F13"/>
                </a:solidFill>
              </a:rPr>
              <a:t>일정·현황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914400" y="1600200"/>
          <a:ext cx="1063721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목표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실적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달성률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A7021"/>
                      </a:solidFill>
                      <a:prstDash val="solid"/>
                    </a:lnL>
                    <a:lnR w="9525" cap="flat" cmpd="sng" algn="ctr">
                      <a:solidFill>
                        <a:srgbClr val="CA7021"/>
                      </a:solidFill>
                      <a:prstDash val="solid"/>
                    </a:lnR>
                    <a:lnT w="9525" cap="flat" cmpd="sng" algn="ctr">
                      <a:solidFill>
                        <a:srgbClr val="CA7021"/>
                      </a:solidFill>
                      <a:prstDash val="solid"/>
                    </a:lnT>
                    <a:lnB w="9525" cap="flat" cmpd="sng" algn="ctr">
                      <a:solidFill>
                        <a:srgbClr val="CA7021"/>
                      </a:solidFill>
                      <a:prstDash val="solid"/>
                    </a:lnB>
                    <a:solidFill>
                      <a:srgbClr val="CA702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CF4E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23F13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8DF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DFC9"/>
                      </a:solidFill>
                      <a:prstDash val="solid"/>
                    </a:lnL>
                    <a:lnR w="9525" cap="flat" cmpd="sng" algn="ctr">
                      <a:solidFill>
                        <a:srgbClr val="F8DFC9"/>
                      </a:solidFill>
                      <a:prstDash val="solid"/>
                    </a:lnR>
                    <a:lnT w="9525" cap="flat" cmpd="sng" algn="ctr">
                      <a:solidFill>
                        <a:srgbClr val="F8DFC9"/>
                      </a:solidFill>
                      <a:prstDash val="solid"/>
                    </a:lnT>
                    <a:lnB w="9525" cap="flat" cmpd="sng" algn="ctr">
                      <a:solidFill>
                        <a:srgbClr val="F8DF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23F13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3F13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업무 보고 발표 템플릿">
  <a:themeElements>
    <a:clrScheme name="Office">
      <a:dk1>
        <a:sysClr val="windowText" lastClr="000000"/>
      </a:dk1>
      <a:lt1>
        <a:sysClr val="window" lastClr="FFFFFF"/>
      </a:lt1>
      <a:dk2>
        <a:srgbClr val="723F13"/>
      </a:dk2>
      <a:lt2>
        <a:srgbClr val="FCF4ED"/>
      </a:lt2>
      <a:accent1>
        <a:srgbClr val="CA7021"/>
      </a:accent1>
      <a:accent2>
        <a:srgbClr val="3B918E"/>
      </a:accent2>
      <a:accent3>
        <a:srgbClr val="723F13"/>
      </a:accent3>
      <a:accent4>
        <a:srgbClr val="F8DFC9"/>
      </a:accent4>
      <a:accent5>
        <a:srgbClr val="828058"/>
      </a:accent5>
      <a:accent6>
        <a:srgbClr val="AA8C71"/>
      </a:accent6>
      <a:hlink>
        <a:srgbClr val="CA7021"/>
      </a:hlink>
      <a:folHlink>
        <a:srgbClr val="723F1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