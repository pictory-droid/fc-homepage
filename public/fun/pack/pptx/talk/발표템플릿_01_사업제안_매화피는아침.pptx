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C570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822658" y="887010"/>
            <a:ext cx="987527" cy="15361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2727067" y="1544102"/>
            <a:ext cx="987527" cy="1536153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2381614" y="2607299"/>
            <a:ext cx="987527" cy="15361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263702" y="2607299"/>
            <a:ext cx="987527" cy="1536153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918249" y="1544102"/>
            <a:ext cx="987527" cy="15361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987246" y="2276864"/>
            <a:ext cx="658351" cy="6583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220532" y="3421079"/>
            <a:ext cx="493763" cy="7680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533097" y="3884474"/>
            <a:ext cx="493763" cy="76807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88969" y="4324937"/>
            <a:ext cx="493763" cy="7680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-336277" y="4133763"/>
            <a:ext cx="493763" cy="76807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-316769" y="3575148"/>
            <a:ext cx="493763" cy="7680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40204" y="4087330"/>
            <a:ext cx="329175" cy="32917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4377400" y="3806243"/>
            <a:ext cx="414761" cy="645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4490988" y="4261819"/>
            <a:ext cx="414761" cy="645184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4092810" y="4510629"/>
            <a:ext cx="414761" cy="645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3733135" y="4208825"/>
            <a:ext cx="414761" cy="645184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3909021" y="3773491"/>
            <a:ext cx="414761" cy="645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4189797" y="4296540"/>
            <a:ext cx="276507" cy="276507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42F4C"/>
                </a:solidFill>
              </a:rPr>
              <a:t>발표 제목을 입력하세요</a:t>
            </a:r>
          </a:p>
        </p:txBody>
      </p:sp>
      <p:sp>
        <p:nvSpPr>
          <p:cNvPr id="23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42F4C"/>
                </a:solidFill>
              </a:rPr>
              <a:t>첫 문장은 봄바람처럼 가볍게 시작해요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사업 제안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2F4C"/>
                </a:solidFill>
              </a:rPr>
              <a:t>목차</a:t>
            </a:r>
          </a:p>
        </p:txBody>
      </p:sp>
      <p:sp>
        <p:nvSpPr>
          <p:cNvPr id="23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9F1F4"/>
          </a:solidFill>
          <a:ln w="12700">
            <a:solidFill>
              <a:srgbClr val="EFD2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2F4C"/>
                </a:solidFill>
              </a:rPr>
              <a:t>문제와 기회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7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9F1F4"/>
          </a:solidFill>
          <a:ln w="12700">
            <a:solidFill>
              <a:srgbClr val="EFD2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번호 2"/>
          <p:cNvSpPr/>
          <p:nvPr/>
        </p:nvSpPr>
        <p:spPr>
          <a:xfrm>
            <a:off x="822959" y="2880360"/>
            <a:ext cx="457200" cy="45720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2F4C"/>
                </a:solidFill>
              </a:rPr>
              <a:t>해결 방법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31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9F1F4"/>
          </a:solidFill>
          <a:ln w="12700">
            <a:solidFill>
              <a:srgbClr val="EFD2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번호 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2F4C"/>
                </a:solidFill>
              </a:rPr>
              <a:t>기대 효과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35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9F1F4"/>
          </a:solidFill>
          <a:ln w="12700">
            <a:solidFill>
              <a:srgbClr val="EFD2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번호 4"/>
          <p:cNvSpPr/>
          <p:nvPr/>
        </p:nvSpPr>
        <p:spPr>
          <a:xfrm>
            <a:off x="822959" y="4983479"/>
            <a:ext cx="457200" cy="45720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2F4C"/>
                </a:solidFill>
              </a:rPr>
              <a:t>진행 계획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2F4C"/>
                </a:solidFill>
              </a:rPr>
              <a:t>핵심 메시지</a:t>
            </a:r>
          </a:p>
        </p:txBody>
      </p:sp>
      <p:sp>
        <p:nvSpPr>
          <p:cNvPr id="23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742F4C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24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9F1F4"/>
          </a:solidFill>
          <a:ln w="15875">
            <a:solidFill>
              <a:srgbClr val="EFD2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1"/>
          <p:cNvSpPr/>
          <p:nvPr/>
        </p:nvSpPr>
        <p:spPr>
          <a:xfrm>
            <a:off x="822959" y="3246120"/>
            <a:ext cx="457200" cy="45720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2F4C"/>
                </a:solidFill>
              </a:rPr>
              <a:t>현황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8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9F1F4"/>
          </a:solidFill>
          <a:ln w="15875">
            <a:solidFill>
              <a:srgbClr val="EFD2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번호 2"/>
          <p:cNvSpPr/>
          <p:nvPr/>
        </p:nvSpPr>
        <p:spPr>
          <a:xfrm>
            <a:off x="4536338" y="3246120"/>
            <a:ext cx="457200" cy="45720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2F4C"/>
                </a:solidFill>
              </a:rPr>
              <a:t>제안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32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9F1F4"/>
          </a:solidFill>
          <a:ln w="15875">
            <a:solidFill>
              <a:srgbClr val="EFD2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번호 3"/>
          <p:cNvSpPr/>
          <p:nvPr/>
        </p:nvSpPr>
        <p:spPr>
          <a:xfrm>
            <a:off x="8249716" y="3246120"/>
            <a:ext cx="457200" cy="45720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2F4C"/>
                </a:solidFill>
              </a:rPr>
              <a:t>효과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2F4C"/>
                </a:solidFill>
              </a:rPr>
              <a:t>한눈에 비교</a:t>
            </a:r>
          </a:p>
        </p:txBody>
      </p:sp>
      <p:sp>
        <p:nvSpPr>
          <p:cNvPr id="23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9F1F4"/>
          </a:solidFill>
          <a:ln w="12700">
            <a:solidFill>
              <a:srgbClr val="EFD2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현재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7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EFD2DE"/>
          </a:solidFill>
          <a:ln w="12700">
            <a:solidFill>
              <a:srgbClr val="EFD2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742F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제안 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2F4C"/>
                </a:solidFill>
              </a:rPr>
              <a:t>일정·현황</a:t>
            </a:r>
          </a:p>
        </p:txBody>
      </p:sp>
      <p:graphicFrame>
        <p:nvGraphicFramePr>
          <p:cNvPr id="23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517C"/>
                      </a:solidFill>
                      <a:prstDash val="solid"/>
                    </a:lnL>
                    <a:lnR w="9525" cap="flat" cmpd="sng" algn="ctr">
                      <a:solidFill>
                        <a:srgbClr val="B8517C"/>
                      </a:solidFill>
                      <a:prstDash val="solid"/>
                    </a:lnR>
                    <a:lnT w="9525" cap="flat" cmpd="sng" algn="ctr">
                      <a:solidFill>
                        <a:srgbClr val="B8517C"/>
                      </a:solidFill>
                      <a:prstDash val="solid"/>
                    </a:lnT>
                    <a:lnB w="9525" cap="flat" cmpd="sng" algn="ctr">
                      <a:solidFill>
                        <a:srgbClr val="B8517C"/>
                      </a:solidFill>
                      <a:prstDash val="solid"/>
                    </a:lnB>
                    <a:solidFill>
                      <a:srgbClr val="B851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517C"/>
                      </a:solidFill>
                      <a:prstDash val="solid"/>
                    </a:lnL>
                    <a:lnR w="9525" cap="flat" cmpd="sng" algn="ctr">
                      <a:solidFill>
                        <a:srgbClr val="B8517C"/>
                      </a:solidFill>
                      <a:prstDash val="solid"/>
                    </a:lnR>
                    <a:lnT w="9525" cap="flat" cmpd="sng" algn="ctr">
                      <a:solidFill>
                        <a:srgbClr val="B8517C"/>
                      </a:solidFill>
                      <a:prstDash val="solid"/>
                    </a:lnT>
                    <a:lnB w="9525" cap="flat" cmpd="sng" algn="ctr">
                      <a:solidFill>
                        <a:srgbClr val="B8517C"/>
                      </a:solidFill>
                      <a:prstDash val="solid"/>
                    </a:lnB>
                    <a:solidFill>
                      <a:srgbClr val="B851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기간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517C"/>
                      </a:solidFill>
                      <a:prstDash val="solid"/>
                    </a:lnL>
                    <a:lnR w="9525" cap="flat" cmpd="sng" algn="ctr">
                      <a:solidFill>
                        <a:srgbClr val="B8517C"/>
                      </a:solidFill>
                      <a:prstDash val="solid"/>
                    </a:lnR>
                    <a:lnT w="9525" cap="flat" cmpd="sng" algn="ctr">
                      <a:solidFill>
                        <a:srgbClr val="B8517C"/>
                      </a:solidFill>
                      <a:prstDash val="solid"/>
                    </a:lnT>
                    <a:lnB w="9525" cap="flat" cmpd="sng" algn="ctr">
                      <a:solidFill>
                        <a:srgbClr val="B8517C"/>
                      </a:solidFill>
                      <a:prstDash val="solid"/>
                    </a:lnB>
                    <a:solidFill>
                      <a:srgbClr val="B851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517C"/>
                      </a:solidFill>
                      <a:prstDash val="solid"/>
                    </a:lnL>
                    <a:lnR w="9525" cap="flat" cmpd="sng" algn="ctr">
                      <a:solidFill>
                        <a:srgbClr val="B8517C"/>
                      </a:solidFill>
                      <a:prstDash val="solid"/>
                    </a:lnR>
                    <a:lnT w="9525" cap="flat" cmpd="sng" algn="ctr">
                      <a:solidFill>
                        <a:srgbClr val="B8517C"/>
                      </a:solidFill>
                      <a:prstDash val="solid"/>
                    </a:lnT>
                    <a:lnB w="9525" cap="flat" cmpd="sng" algn="ctr">
                      <a:solidFill>
                        <a:srgbClr val="B8517C"/>
                      </a:solidFill>
                      <a:prstDash val="solid"/>
                    </a:lnB>
                    <a:solidFill>
                      <a:srgbClr val="B8517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42F4C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EFD2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42F4C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EFD2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42F4C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EFD2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42F4C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EFD2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42F4C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EFD2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C570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822658" y="887010"/>
            <a:ext cx="987527" cy="15361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2727067" y="1544102"/>
            <a:ext cx="987527" cy="1536153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2381614" y="2607299"/>
            <a:ext cx="987527" cy="15361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263702" y="2607299"/>
            <a:ext cx="987527" cy="1536153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918249" y="1544102"/>
            <a:ext cx="987527" cy="15361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987246" y="2276864"/>
            <a:ext cx="658351" cy="6583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220532" y="3421079"/>
            <a:ext cx="493763" cy="7680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533097" y="3884474"/>
            <a:ext cx="493763" cy="76807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88969" y="4324937"/>
            <a:ext cx="493763" cy="7680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-336277" y="4133763"/>
            <a:ext cx="493763" cy="76807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-316769" y="3575148"/>
            <a:ext cx="493763" cy="7680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40204" y="4087330"/>
            <a:ext cx="329175" cy="32917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4377400" y="3806243"/>
            <a:ext cx="414761" cy="645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4490988" y="4261819"/>
            <a:ext cx="414761" cy="645184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4092810" y="4510629"/>
            <a:ext cx="414761" cy="645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3733135" y="4208825"/>
            <a:ext cx="414761" cy="645184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3909021" y="3773491"/>
            <a:ext cx="414761" cy="645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4189797" y="4296540"/>
            <a:ext cx="276507" cy="276507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42F4C"/>
                </a:solidFill>
              </a:rPr>
              <a:t>감사합니다</a:t>
            </a:r>
          </a:p>
        </p:txBody>
      </p:sp>
      <p:sp>
        <p:nvSpPr>
          <p:cNvPr id="23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42F4C"/>
                </a:solidFill>
              </a:rPr>
              <a:t>들어 주셔서 고맙습니다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사업 제안 발표 템플릿">
  <a:themeElements>
    <a:clrScheme name="Office">
      <a:dk1>
        <a:sysClr val="windowText" lastClr="000000"/>
      </a:dk1>
      <a:lt1>
        <a:sysClr val="window" lastClr="FFFFFF"/>
      </a:lt1>
      <a:dk2>
        <a:srgbClr val="742F4C"/>
      </a:dk2>
      <a:lt2>
        <a:srgbClr val="F9F1F4"/>
      </a:lt2>
      <a:accent1>
        <a:srgbClr val="B8517C"/>
      </a:accent1>
      <a:accent2>
        <a:srgbClr val="3B9142"/>
      </a:accent2>
      <a:accent3>
        <a:srgbClr val="742F4C"/>
      </a:accent3>
      <a:accent4>
        <a:srgbClr val="EFD2DE"/>
      </a:accent4>
      <a:accent5>
        <a:srgbClr val="7A715F"/>
      </a:accent5>
      <a:accent6>
        <a:srgbClr val="AC8294"/>
      </a:accent6>
      <a:hlink>
        <a:srgbClr val="B8517C"/>
      </a:hlink>
      <a:folHlink>
        <a:srgbClr val="742F4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