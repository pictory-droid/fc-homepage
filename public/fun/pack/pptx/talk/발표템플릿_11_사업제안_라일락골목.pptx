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573371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73371"/>
                </a:solidFill>
              </a:rPr>
              <a:t>세 장으로 줄인 제안서입니다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사업 제안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73371"/>
                </a:solidFill>
              </a:rPr>
              <a:t>목차</a:t>
            </a:r>
          </a:p>
        </p:txBody>
      </p:sp>
      <p:sp>
        <p:nvSpPr>
          <p:cNvPr id="5" name="줄 1"/>
          <p:cNvSpPr/>
          <p:nvPr/>
        </p:nvSpPr>
        <p:spPr>
          <a:xfrm>
            <a:off x="640080" y="160020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5F1F9"/>
          </a:solidFill>
          <a:ln w="12700">
            <a:solidFill>
              <a:srgbClr val="E3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45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73371"/>
                </a:solidFill>
              </a:rPr>
              <a:t>문제와 기회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459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9" name="줄 2"/>
          <p:cNvSpPr/>
          <p:nvPr/>
        </p:nvSpPr>
        <p:spPr>
          <a:xfrm>
            <a:off x="640080" y="265176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5F1F9"/>
          </a:solidFill>
          <a:ln w="12700">
            <a:solidFill>
              <a:srgbClr val="E3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822959" y="2880360"/>
            <a:ext cx="457200" cy="45720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697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73371"/>
                </a:solidFill>
              </a:rPr>
              <a:t>해결 방법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6974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3" name="줄 3"/>
          <p:cNvSpPr/>
          <p:nvPr/>
        </p:nvSpPr>
        <p:spPr>
          <a:xfrm>
            <a:off x="640080" y="370332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5F1F9"/>
          </a:solidFill>
          <a:ln w="12700">
            <a:solidFill>
              <a:srgbClr val="E3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2959" y="3931920"/>
            <a:ext cx="457200" cy="45720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74903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73371"/>
                </a:solidFill>
              </a:rPr>
              <a:t>기대 효과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74903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7" name="줄 4"/>
          <p:cNvSpPr/>
          <p:nvPr/>
        </p:nvSpPr>
        <p:spPr>
          <a:xfrm>
            <a:off x="640080" y="4754879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5F1F9"/>
          </a:solidFill>
          <a:ln w="12700">
            <a:solidFill>
              <a:srgbClr val="E3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822959" y="4983479"/>
            <a:ext cx="457200" cy="45720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80059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73371"/>
                </a:solidFill>
              </a:rPr>
              <a:t>진행 계획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480059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73371"/>
                </a:solidFill>
              </a:rPr>
              <a:t>핵심 메시지</a:t>
            </a:r>
          </a:p>
        </p:txBody>
      </p:sp>
      <p:sp>
        <p:nvSpPr>
          <p:cNvPr id="5" name="핵심 문장"/>
          <p:cNvSpPr txBox="1"/>
          <p:nvPr/>
        </p:nvSpPr>
        <p:spPr>
          <a:xfrm>
            <a:off x="640080" y="160020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573371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5F1F9"/>
          </a:solidFill>
          <a:ln w="15875">
            <a:solidFill>
              <a:srgbClr val="E3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3246120"/>
            <a:ext cx="457200" cy="45720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73371"/>
                </a:solidFill>
              </a:rPr>
              <a:t>현황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5F1F9"/>
          </a:solidFill>
          <a:ln w="15875">
            <a:solidFill>
              <a:srgbClr val="E3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36338" y="3246120"/>
            <a:ext cx="457200" cy="45720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73371"/>
                </a:solidFill>
              </a:rPr>
              <a:t>제안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5F1F9"/>
          </a:solidFill>
          <a:ln w="15875">
            <a:solidFill>
              <a:srgbClr val="E3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49716" y="3246120"/>
            <a:ext cx="457200" cy="45720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73371"/>
                </a:solidFill>
              </a:rPr>
              <a:t>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73371"/>
                </a:solidFill>
              </a:rPr>
              <a:t>한눈에 비교</a:t>
            </a:r>
          </a:p>
        </p:txBody>
      </p:sp>
      <p:sp>
        <p:nvSpPr>
          <p:cNvPr id="5" name="왼쪽 칸"/>
          <p:cNvSpPr/>
          <p:nvPr/>
        </p:nvSpPr>
        <p:spPr>
          <a:xfrm>
            <a:off x="640080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F5F1F9"/>
          </a:solidFill>
          <a:ln w="12700">
            <a:solidFill>
              <a:srgbClr val="E3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칸 제목 바"/>
          <p:cNvSpPr/>
          <p:nvPr/>
        </p:nvSpPr>
        <p:spPr>
          <a:xfrm>
            <a:off x="640080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현재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오른쪽 칸"/>
          <p:cNvSpPr/>
          <p:nvPr/>
        </p:nvSpPr>
        <p:spPr>
          <a:xfrm>
            <a:off x="6278727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E3D3EE"/>
          </a:solidFill>
          <a:ln w="12700">
            <a:solidFill>
              <a:srgbClr val="E3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칸 제목 바"/>
          <p:cNvSpPr/>
          <p:nvPr/>
        </p:nvSpPr>
        <p:spPr>
          <a:xfrm>
            <a:off x="6278727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5733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제안 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73371"/>
                </a:solidFill>
              </a:rPr>
              <a:t>일정·현황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단계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C56B3"/>
                      </a:solidFill>
                      <a:prstDash val="solid"/>
                    </a:lnL>
                    <a:lnR w="9525" cap="flat" cmpd="sng" algn="ctr">
                      <a:solidFill>
                        <a:srgbClr val="8C56B3"/>
                      </a:solidFill>
                      <a:prstDash val="solid"/>
                    </a:lnR>
                    <a:lnT w="9525" cap="flat" cmpd="sng" algn="ctr">
                      <a:solidFill>
                        <a:srgbClr val="8C56B3"/>
                      </a:solidFill>
                      <a:prstDash val="solid"/>
                    </a:lnT>
                    <a:lnB w="9525" cap="flat" cmpd="sng" algn="ctr">
                      <a:solidFill>
                        <a:srgbClr val="8C56B3"/>
                      </a:solidFill>
                      <a:prstDash val="solid"/>
                    </a:lnB>
                    <a:solidFill>
                      <a:srgbClr val="8C56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C56B3"/>
                      </a:solidFill>
                      <a:prstDash val="solid"/>
                    </a:lnL>
                    <a:lnR w="9525" cap="flat" cmpd="sng" algn="ctr">
                      <a:solidFill>
                        <a:srgbClr val="8C56B3"/>
                      </a:solidFill>
                      <a:prstDash val="solid"/>
                    </a:lnR>
                    <a:lnT w="9525" cap="flat" cmpd="sng" algn="ctr">
                      <a:solidFill>
                        <a:srgbClr val="8C56B3"/>
                      </a:solidFill>
                      <a:prstDash val="solid"/>
                    </a:lnT>
                    <a:lnB w="9525" cap="flat" cmpd="sng" algn="ctr">
                      <a:solidFill>
                        <a:srgbClr val="8C56B3"/>
                      </a:solidFill>
                      <a:prstDash val="solid"/>
                    </a:lnB>
                    <a:solidFill>
                      <a:srgbClr val="8C56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기간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C56B3"/>
                      </a:solidFill>
                      <a:prstDash val="solid"/>
                    </a:lnL>
                    <a:lnR w="9525" cap="flat" cmpd="sng" algn="ctr">
                      <a:solidFill>
                        <a:srgbClr val="8C56B3"/>
                      </a:solidFill>
                      <a:prstDash val="solid"/>
                    </a:lnR>
                    <a:lnT w="9525" cap="flat" cmpd="sng" algn="ctr">
                      <a:solidFill>
                        <a:srgbClr val="8C56B3"/>
                      </a:solidFill>
                      <a:prstDash val="solid"/>
                    </a:lnT>
                    <a:lnB w="9525" cap="flat" cmpd="sng" algn="ctr">
                      <a:solidFill>
                        <a:srgbClr val="8C56B3"/>
                      </a:solidFill>
                      <a:prstDash val="solid"/>
                    </a:lnB>
                    <a:solidFill>
                      <a:srgbClr val="8C56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담당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C56B3"/>
                      </a:solidFill>
                      <a:prstDash val="solid"/>
                    </a:lnL>
                    <a:lnR w="9525" cap="flat" cmpd="sng" algn="ctr">
                      <a:solidFill>
                        <a:srgbClr val="8C56B3"/>
                      </a:solidFill>
                      <a:prstDash val="solid"/>
                    </a:lnR>
                    <a:lnT w="9525" cap="flat" cmpd="sng" algn="ctr">
                      <a:solidFill>
                        <a:srgbClr val="8C56B3"/>
                      </a:solidFill>
                      <a:prstDash val="solid"/>
                    </a:lnT>
                    <a:lnB w="9525" cap="flat" cmpd="sng" algn="ctr">
                      <a:solidFill>
                        <a:srgbClr val="8C56B3"/>
                      </a:solidFill>
                      <a:prstDash val="solid"/>
                    </a:lnB>
                    <a:solidFill>
                      <a:srgbClr val="8C56B3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73371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E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73371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E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73371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E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73371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E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73371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E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573371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73371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사업 제안 발표 템플릿">
  <a:themeElements>
    <a:clrScheme name="Office">
      <a:dk1>
        <a:sysClr val="windowText" lastClr="000000"/>
      </a:dk1>
      <a:lt1>
        <a:sysClr val="window" lastClr="FFFFFF"/>
      </a:lt1>
      <a:dk2>
        <a:srgbClr val="573371"/>
      </a:dk2>
      <a:lt2>
        <a:srgbClr val="F5F1F9"/>
      </a:lt2>
      <a:accent1>
        <a:srgbClr val="8C56B3"/>
      </a:accent1>
      <a:accent2>
        <a:srgbClr val="868D3F"/>
      </a:accent2>
      <a:accent3>
        <a:srgbClr val="573371"/>
      </a:accent3>
      <a:accent4>
        <a:srgbClr val="E3D3EE"/>
      </a:accent4>
      <a:accent5>
        <a:srgbClr val="897279"/>
      </a:accent5>
      <a:accent6>
        <a:srgbClr val="9A85AA"/>
      </a:accent6>
      <a:hlink>
        <a:srgbClr val="8C56B3"/>
      </a:hlink>
      <a:folHlink>
        <a:srgbClr val="573371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사업 제안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