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세 장으로 줄인 제안서입니다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사업 제안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donu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2A6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 txBox="1"/>
          <p:nvPr/>
        </p:nvSpPr>
        <p:spPr>
          <a:xfrm>
            <a:off x="731519" y="196596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997ED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749"/>
                </a:solidFill>
              </a:rPr>
              <a:t>문제와 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2A6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 txBox="1"/>
          <p:nvPr/>
        </p:nvSpPr>
        <p:spPr>
          <a:xfrm>
            <a:off x="731519" y="301752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997ED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749"/>
                </a:solidFill>
              </a:rPr>
              <a:t>해결 방법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2A6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 txBox="1"/>
          <p:nvPr/>
        </p:nvSpPr>
        <p:spPr>
          <a:xfrm>
            <a:off x="731519" y="40690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997ED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749"/>
                </a:solidFill>
              </a:rPr>
              <a:t>기대 효과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8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2A6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4"/>
          <p:cNvSpPr txBox="1"/>
          <p:nvPr/>
        </p:nvSpPr>
        <p:spPr>
          <a:xfrm>
            <a:off x="731519" y="51206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997ED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749"/>
                </a:solidFill>
              </a:rPr>
              <a:t>진행 계획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donu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3B2749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2A6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 txBox="1"/>
          <p:nvPr/>
        </p:nvSpPr>
        <p:spPr>
          <a:xfrm>
            <a:off x="731519" y="33832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997ED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749"/>
                </a:solidFill>
              </a:rPr>
              <a:t>현황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2A6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 txBox="1"/>
          <p:nvPr/>
        </p:nvSpPr>
        <p:spPr>
          <a:xfrm>
            <a:off x="4444898" y="33832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997ED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749"/>
                </a:solidFill>
              </a:rPr>
              <a:t>제안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2A6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 txBox="1"/>
          <p:nvPr/>
        </p:nvSpPr>
        <p:spPr>
          <a:xfrm>
            <a:off x="8158276" y="33832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997ED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749"/>
                </a:solidFill>
              </a:rPr>
              <a:t>효과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donu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2A6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현재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2A6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3B27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제안 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donu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단계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997ED"/>
                      </a:solidFill>
                      <a:prstDash val="solid"/>
                    </a:lnL>
                    <a:lnR w="9525" cap="flat" cmpd="sng" algn="ctr">
                      <a:solidFill>
                        <a:srgbClr val="C997ED"/>
                      </a:solidFill>
                      <a:prstDash val="solid"/>
                    </a:lnR>
                    <a:lnT w="9525" cap="flat" cmpd="sng" algn="ctr">
                      <a:solidFill>
                        <a:srgbClr val="C997ED"/>
                      </a:solidFill>
                      <a:prstDash val="solid"/>
                    </a:lnT>
                    <a:lnB w="9525" cap="flat" cmpd="sng" algn="ctr">
                      <a:solidFill>
                        <a:srgbClr val="C997ED"/>
                      </a:solidFill>
                      <a:prstDash val="solid"/>
                    </a:lnB>
                    <a:solidFill>
                      <a:srgbClr val="C99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997ED"/>
                      </a:solidFill>
                      <a:prstDash val="solid"/>
                    </a:lnL>
                    <a:lnR w="9525" cap="flat" cmpd="sng" algn="ctr">
                      <a:solidFill>
                        <a:srgbClr val="C997ED"/>
                      </a:solidFill>
                      <a:prstDash val="solid"/>
                    </a:lnR>
                    <a:lnT w="9525" cap="flat" cmpd="sng" algn="ctr">
                      <a:solidFill>
                        <a:srgbClr val="C997ED"/>
                      </a:solidFill>
                      <a:prstDash val="solid"/>
                    </a:lnT>
                    <a:lnB w="9525" cap="flat" cmpd="sng" algn="ctr">
                      <a:solidFill>
                        <a:srgbClr val="C997ED"/>
                      </a:solidFill>
                      <a:prstDash val="solid"/>
                    </a:lnB>
                    <a:solidFill>
                      <a:srgbClr val="C99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기간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997ED"/>
                      </a:solidFill>
                      <a:prstDash val="solid"/>
                    </a:lnL>
                    <a:lnR w="9525" cap="flat" cmpd="sng" algn="ctr">
                      <a:solidFill>
                        <a:srgbClr val="C997ED"/>
                      </a:solidFill>
                      <a:prstDash val="solid"/>
                    </a:lnR>
                    <a:lnT w="9525" cap="flat" cmpd="sng" algn="ctr">
                      <a:solidFill>
                        <a:srgbClr val="C997ED"/>
                      </a:solidFill>
                      <a:prstDash val="solid"/>
                    </a:lnT>
                    <a:lnB w="9525" cap="flat" cmpd="sng" algn="ctr">
                      <a:solidFill>
                        <a:srgbClr val="C997ED"/>
                      </a:solidFill>
                      <a:prstDash val="solid"/>
                    </a:lnB>
                    <a:solidFill>
                      <a:srgbClr val="C99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997ED"/>
                      </a:solidFill>
                      <a:prstDash val="solid"/>
                    </a:lnL>
                    <a:lnR w="9525" cap="flat" cmpd="sng" algn="ctr">
                      <a:solidFill>
                        <a:srgbClr val="C997ED"/>
                      </a:solidFill>
                      <a:prstDash val="solid"/>
                    </a:lnR>
                    <a:lnT w="9525" cap="flat" cmpd="sng" algn="ctr">
                      <a:solidFill>
                        <a:srgbClr val="C997ED"/>
                      </a:solidFill>
                      <a:prstDash val="solid"/>
                    </a:lnT>
                    <a:lnB w="9525" cap="flat" cmpd="sng" algn="ctr">
                      <a:solidFill>
                        <a:srgbClr val="C997ED"/>
                      </a:solidFill>
                      <a:prstDash val="solid"/>
                    </a:lnB>
                    <a:solidFill>
                      <a:srgbClr val="C997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749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749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749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749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5EAF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749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E9D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9D1FA"/>
                      </a:solidFill>
                      <a:prstDash val="solid"/>
                    </a:lnL>
                    <a:lnR w="9525" cap="flat" cmpd="sng" algn="ctr">
                      <a:solidFill>
                        <a:srgbClr val="E9D1FA"/>
                      </a:solidFill>
                      <a:prstDash val="solid"/>
                    </a:lnR>
                    <a:lnT w="9525" cap="flat" cmpd="sng" algn="ctr">
                      <a:solidFill>
                        <a:srgbClr val="E9D1FA"/>
                      </a:solidFill>
                      <a:prstDash val="solid"/>
                    </a:lnT>
                    <a:lnB w="9525" cap="flat" cmpd="sng" algn="ctr">
                      <a:solidFill>
                        <a:srgbClr val="E9D1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C997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사업 제안 발표 템플릿">
  <a:themeElements>
    <a:clrScheme name="Office">
      <a:dk1>
        <a:sysClr val="windowText" lastClr="000000"/>
      </a:dk1>
      <a:lt1>
        <a:sysClr val="window" lastClr="FFFFFF"/>
      </a:lt1>
      <a:dk2>
        <a:srgbClr val="3B2749"/>
      </a:dk2>
      <a:lt2>
        <a:srgbClr val="F5EAFD"/>
      </a:lt2>
      <a:accent1>
        <a:srgbClr val="C997ED"/>
      </a:accent1>
      <a:accent2>
        <a:srgbClr val="F3BAF0"/>
      </a:accent2>
      <a:accent3>
        <a:srgbClr val="3B2749"/>
      </a:accent3>
      <a:accent4>
        <a:srgbClr val="E9D1FA"/>
      </a:accent4>
      <a:accent5>
        <a:srgbClr val="DEA8EE"/>
      </a:accent5>
      <a:accent6>
        <a:srgbClr val="897D92"/>
      </a:accent6>
      <a:hlink>
        <a:srgbClr val="C997ED"/>
      </a:hlink>
      <a:folHlink>
        <a:srgbClr val="3B27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