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43D21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43D21"/>
                </a:solidFill>
              </a:rPr>
              <a:t>한 장 요약을 먼저 확인해 주십시오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업무 보고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777240" y="155448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2700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8308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추진 경과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60020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777240" y="260603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2700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60120" y="2834639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주요 성과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5175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777240" y="36576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2700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60120" y="388620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이슈와 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7033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777240" y="470915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2700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60120" y="4937759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향후 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7548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777240" y="155448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43D21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777240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960120" y="320040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진행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99178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82058" y="320040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성과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6338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21116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5875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03996" y="3200400"/>
            <a:ext cx="457200" cy="457200"/>
          </a:xfrm>
          <a:prstGeom prst="ellipse">
            <a:avLst/>
          </a:prstGeom>
          <a:solidFill>
            <a:srgbClr val="2B82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43D21"/>
                </a:solidFill>
              </a:rPr>
              <a:t>이슈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8276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777240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F0FAF3"/>
          </a:solidFill>
          <a:ln w="12700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777240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D0F1DA"/>
          </a:solidFill>
          <a:ln w="12700">
            <a:solidFill>
              <a:srgbClr val="D0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143D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실적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0F1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B824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21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B8245"/>
                      </a:solidFill>
                      <a:prstDash val="solid"/>
                    </a:lnL>
                    <a:lnR w="9525" cap="flat" cmpd="sng" algn="ctr">
                      <a:solidFill>
                        <a:srgbClr val="2B8245"/>
                      </a:solidFill>
                      <a:prstDash val="solid"/>
                    </a:lnR>
                    <a:lnT w="9525" cap="flat" cmpd="sng" algn="ctr">
                      <a:solidFill>
                        <a:srgbClr val="2B8245"/>
                      </a:solidFill>
                      <a:prstDash val="solid"/>
                    </a:lnT>
                    <a:lnB w="9525" cap="flat" cmpd="sng" algn="ctr">
                      <a:solidFill>
                        <a:srgbClr val="2B8245"/>
                      </a:solidFill>
                      <a:prstDash val="solid"/>
                    </a:lnB>
                    <a:solidFill>
                      <a:srgbClr val="2B824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0FAF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21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D0F1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DA"/>
                      </a:solidFill>
                      <a:prstDash val="solid"/>
                    </a:lnL>
                    <a:lnR w="9525" cap="flat" cmpd="sng" algn="ctr">
                      <a:solidFill>
                        <a:srgbClr val="D0F1DA"/>
                      </a:solidFill>
                      <a:prstDash val="solid"/>
                    </a:lnR>
                    <a:lnT w="9525" cap="flat" cmpd="sng" algn="ctr">
                      <a:solidFill>
                        <a:srgbClr val="D0F1DA"/>
                      </a:solidFill>
                      <a:prstDash val="solid"/>
                    </a:lnT>
                    <a:lnB w="9525" cap="flat" cmpd="sng" algn="ctr">
                      <a:solidFill>
                        <a:srgbClr val="D0F1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43D21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43D21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업무 보고 발표 템플릿">
  <a:themeElements>
    <a:clrScheme name="Office">
      <a:dk1>
        <a:sysClr val="windowText" lastClr="000000"/>
      </a:dk1>
      <a:lt1>
        <a:sysClr val="window" lastClr="FFFFFF"/>
      </a:lt1>
      <a:dk2>
        <a:srgbClr val="143D21"/>
      </a:dk2>
      <a:lt2>
        <a:srgbClr val="F0FAF3"/>
      </a:lt2>
      <a:accent1>
        <a:srgbClr val="2B8245"/>
      </a:accent1>
      <a:accent2>
        <a:srgbClr val="803B91"/>
      </a:accent2>
      <a:accent3>
        <a:srgbClr val="143D21"/>
      </a:accent3>
      <a:accent4>
        <a:srgbClr val="D0F1DA"/>
      </a:accent4>
      <a:accent5>
        <a:srgbClr val="565E6B"/>
      </a:accent5>
      <a:accent6>
        <a:srgbClr val="728B7A"/>
      </a:accent6>
      <a:hlink>
        <a:srgbClr val="2B8245"/>
      </a:hlink>
      <a:folHlink>
        <a:srgbClr val="143D2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