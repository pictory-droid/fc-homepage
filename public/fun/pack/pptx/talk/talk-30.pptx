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315017" y="960120"/>
            <a:ext cx="3657508" cy="5897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924601" y="1783080"/>
            <a:ext cx="2438339" cy="5074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9556238">
            <a:off x="8291309" y="3108876"/>
            <a:ext cx="310888" cy="10645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1249702">
            <a:off x="8310003" y="2916346"/>
            <a:ext cx="310888" cy="1085216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881322">
            <a:off x="8701790" y="3330933"/>
            <a:ext cx="310888" cy="972592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823128">
            <a:off x="8997996" y="2640425"/>
            <a:ext cx="310888" cy="77615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0551995">
            <a:off x="9805218" y="2695976"/>
            <a:ext cx="310888" cy="997462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7758521">
            <a:off x="9067188" y="3355660"/>
            <a:ext cx="310888" cy="885672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B2315"/>
                </a:solidFill>
              </a:rPr>
              <a:t>발표 제목을 입력하세요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853418" y="3703320"/>
            <a:ext cx="5852013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B2315"/>
                </a:solidFill>
              </a:rPr>
              <a:t>붉은 우체통에 넣는 마음을 담아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853418" y="4572000"/>
            <a:ext cx="5852013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연말 결산·회고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56238">
            <a:off x="10753421" y="594322"/>
            <a:ext cx="124358" cy="425828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249702">
            <a:off x="10760899" y="517307"/>
            <a:ext cx="124358" cy="434097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881322">
            <a:off x="10917618" y="683146"/>
            <a:ext cx="124358" cy="389046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823128">
            <a:off x="11036103" y="406936"/>
            <a:ext cx="124358" cy="310471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551995">
            <a:off x="11359000" y="429157"/>
            <a:ext cx="124358" cy="398994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758521">
            <a:off x="11063781" y="693038"/>
            <a:ext cx="124358" cy="354278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2315"/>
                </a:solidFill>
              </a:rPr>
              <a:t>목차</a:t>
            </a:r>
          </a:p>
        </p:txBody>
      </p:sp>
      <p:sp>
        <p:nvSpPr>
          <p:cNvPr id="10" name="줄 1"/>
          <p:cNvSpPr/>
          <p:nvPr/>
        </p:nvSpPr>
        <p:spPr>
          <a:xfrm>
            <a:off x="640080" y="16002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BF1EE"/>
          </a:solidFill>
          <a:ln w="12700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올해의 한 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645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4" name="줄 2"/>
          <p:cNvSpPr/>
          <p:nvPr/>
        </p:nvSpPr>
        <p:spPr>
          <a:xfrm>
            <a:off x="640080" y="265176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BF1EE"/>
          </a:solidFill>
          <a:ln w="12700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2"/>
          <p:cNvSpPr/>
          <p:nvPr/>
        </p:nvSpPr>
        <p:spPr>
          <a:xfrm>
            <a:off x="822959" y="2880360"/>
            <a:ext cx="457200" cy="457200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잘한 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697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8" name="줄 3"/>
          <p:cNvSpPr/>
          <p:nvPr/>
        </p:nvSpPr>
        <p:spPr>
          <a:xfrm>
            <a:off x="640080" y="370332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BF1EE"/>
          </a:solidFill>
          <a:ln w="12700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2959" y="3931920"/>
            <a:ext cx="457200" cy="457200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아쉬운 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74903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2" name="줄 4"/>
          <p:cNvSpPr/>
          <p:nvPr/>
        </p:nvSpPr>
        <p:spPr>
          <a:xfrm>
            <a:off x="640080" y="475487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BF1EE"/>
          </a:solidFill>
          <a:ln w="12700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4"/>
          <p:cNvSpPr/>
          <p:nvPr/>
        </p:nvSpPr>
        <p:spPr>
          <a:xfrm>
            <a:off x="822959" y="4983479"/>
            <a:ext cx="457200" cy="457200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내년의 다짐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80059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56238">
            <a:off x="10753421" y="594322"/>
            <a:ext cx="124358" cy="425828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249702">
            <a:off x="10760899" y="517307"/>
            <a:ext cx="124358" cy="434097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881322">
            <a:off x="10917618" y="683146"/>
            <a:ext cx="124358" cy="389046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823128">
            <a:off x="11036103" y="406936"/>
            <a:ext cx="124358" cy="310471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551995">
            <a:off x="11359000" y="429157"/>
            <a:ext cx="124358" cy="398994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758521">
            <a:off x="11063781" y="693038"/>
            <a:ext cx="124358" cy="354278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2315"/>
                </a:solidFill>
              </a:rPr>
              <a:t>핵심 메시지</a:t>
            </a:r>
          </a:p>
        </p:txBody>
      </p:sp>
      <p:sp>
        <p:nvSpPr>
          <p:cNvPr id="10" name="핵심 문장"/>
          <p:cNvSpPr txBox="1"/>
          <p:nvPr/>
        </p:nvSpPr>
        <p:spPr>
          <a:xfrm>
            <a:off x="640080" y="160020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5B2315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11" name="카드 1"/>
          <p:cNvSpPr/>
          <p:nvPr/>
        </p:nvSpPr>
        <p:spPr>
          <a:xfrm>
            <a:off x="640080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BF1EE"/>
          </a:solidFill>
          <a:ln w="15875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1"/>
          <p:cNvSpPr/>
          <p:nvPr/>
        </p:nvSpPr>
        <p:spPr>
          <a:xfrm>
            <a:off x="822959" y="3246120"/>
            <a:ext cx="457200" cy="457200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잘한 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5" name="카드 2"/>
          <p:cNvSpPr/>
          <p:nvPr/>
        </p:nvSpPr>
        <p:spPr>
          <a:xfrm>
            <a:off x="4353458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BF1EE"/>
          </a:solidFill>
          <a:ln w="15875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2"/>
          <p:cNvSpPr/>
          <p:nvPr/>
        </p:nvSpPr>
        <p:spPr>
          <a:xfrm>
            <a:off x="4536338" y="3246120"/>
            <a:ext cx="457200" cy="457200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0618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배운 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0618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9" name="카드 3"/>
          <p:cNvSpPr/>
          <p:nvPr/>
        </p:nvSpPr>
        <p:spPr>
          <a:xfrm>
            <a:off x="8066836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BF1EE"/>
          </a:solidFill>
          <a:ln w="15875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3"/>
          <p:cNvSpPr/>
          <p:nvPr/>
        </p:nvSpPr>
        <p:spPr>
          <a:xfrm>
            <a:off x="8249716" y="3246120"/>
            <a:ext cx="457200" cy="457200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다음 목표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3996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56238">
            <a:off x="10753421" y="594322"/>
            <a:ext cx="124358" cy="425828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249702">
            <a:off x="10760899" y="517307"/>
            <a:ext cx="124358" cy="434097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881322">
            <a:off x="10917618" y="683146"/>
            <a:ext cx="124358" cy="389046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823128">
            <a:off x="11036103" y="406936"/>
            <a:ext cx="124358" cy="310471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551995">
            <a:off x="11359000" y="429157"/>
            <a:ext cx="124358" cy="398994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758521">
            <a:off x="11063781" y="693038"/>
            <a:ext cx="124358" cy="354278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2315"/>
                </a:solidFill>
              </a:rPr>
              <a:t>한눈에 비교</a:t>
            </a:r>
          </a:p>
        </p:txBody>
      </p:sp>
      <p:sp>
        <p:nvSpPr>
          <p:cNvPr id="10" name="왼쪽 칸"/>
          <p:cNvSpPr/>
          <p:nvPr/>
        </p:nvSpPr>
        <p:spPr>
          <a:xfrm>
            <a:off x="640080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BF1EE"/>
          </a:solidFill>
          <a:ln w="12700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올해 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4" name="오른쪽 칸"/>
          <p:cNvSpPr/>
          <p:nvPr/>
        </p:nvSpPr>
        <p:spPr>
          <a:xfrm>
            <a:off x="6278727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5D4CC"/>
          </a:solidFill>
          <a:ln w="12700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5B23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올해 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7327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56238">
            <a:off x="10753421" y="594322"/>
            <a:ext cx="124358" cy="425828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249702">
            <a:off x="10760899" y="517307"/>
            <a:ext cx="124358" cy="434097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881322">
            <a:off x="10917618" y="683146"/>
            <a:ext cx="124358" cy="389046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823128">
            <a:off x="11036103" y="406936"/>
            <a:ext cx="124358" cy="310471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551995">
            <a:off x="11359000" y="429157"/>
            <a:ext cx="124358" cy="398994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758521">
            <a:off x="11063781" y="693038"/>
            <a:ext cx="124358" cy="354278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2315"/>
                </a:solidFill>
              </a:rPr>
              <a:t>일정·현황</a:t>
            </a:r>
          </a:p>
        </p:txBody>
      </p:sp>
      <p:graphicFrame>
        <p:nvGraphicFramePr>
          <p:cNvPr id="10" name="표"/>
          <p:cNvGraphicFramePr>
            <a:graphicFrameLocks noGrp="1"/>
          </p:cNvGraphicFramePr>
          <p:nvPr/>
        </p:nvGraphicFramePr>
        <p:xfrm>
          <a:off x="640080" y="160020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4329"/>
                      </a:solidFill>
                      <a:prstDash val="solid"/>
                    </a:lnL>
                    <a:lnR w="9525" cap="flat" cmpd="sng" algn="ctr">
                      <a:solidFill>
                        <a:srgbClr val="AE4329"/>
                      </a:solidFill>
                      <a:prstDash val="solid"/>
                    </a:lnR>
                    <a:lnT w="9525" cap="flat" cmpd="sng" algn="ctr">
                      <a:solidFill>
                        <a:srgbClr val="AE4329"/>
                      </a:solidFill>
                      <a:prstDash val="solid"/>
                    </a:lnT>
                    <a:lnB w="9525" cap="flat" cmpd="sng" algn="ctr">
                      <a:solidFill>
                        <a:srgbClr val="AE4329"/>
                      </a:solidFill>
                      <a:prstDash val="solid"/>
                    </a:lnB>
                    <a:solidFill>
                      <a:srgbClr val="AE43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한 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4329"/>
                      </a:solidFill>
                      <a:prstDash val="solid"/>
                    </a:lnL>
                    <a:lnR w="9525" cap="flat" cmpd="sng" algn="ctr">
                      <a:solidFill>
                        <a:srgbClr val="AE4329"/>
                      </a:solidFill>
                      <a:prstDash val="solid"/>
                    </a:lnR>
                    <a:lnT w="9525" cap="flat" cmpd="sng" algn="ctr">
                      <a:solidFill>
                        <a:srgbClr val="AE4329"/>
                      </a:solidFill>
                      <a:prstDash val="solid"/>
                    </a:lnT>
                    <a:lnB w="9525" cap="flat" cmpd="sng" algn="ctr">
                      <a:solidFill>
                        <a:srgbClr val="AE4329"/>
                      </a:solidFill>
                      <a:prstDash val="solid"/>
                    </a:lnB>
                    <a:solidFill>
                      <a:srgbClr val="AE43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배운 점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4329"/>
                      </a:solidFill>
                      <a:prstDash val="solid"/>
                    </a:lnL>
                    <a:lnR w="9525" cap="flat" cmpd="sng" algn="ctr">
                      <a:solidFill>
                        <a:srgbClr val="AE4329"/>
                      </a:solidFill>
                      <a:prstDash val="solid"/>
                    </a:lnR>
                    <a:lnT w="9525" cap="flat" cmpd="sng" algn="ctr">
                      <a:solidFill>
                        <a:srgbClr val="AE4329"/>
                      </a:solidFill>
                      <a:prstDash val="solid"/>
                    </a:lnT>
                    <a:lnB w="9525" cap="flat" cmpd="sng" algn="ctr">
                      <a:solidFill>
                        <a:srgbClr val="AE4329"/>
                      </a:solidFill>
                      <a:prstDash val="solid"/>
                    </a:lnB>
                    <a:solidFill>
                      <a:srgbClr val="AE43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4329"/>
                      </a:solidFill>
                      <a:prstDash val="solid"/>
                    </a:lnL>
                    <a:lnR w="9525" cap="flat" cmpd="sng" algn="ctr">
                      <a:solidFill>
                        <a:srgbClr val="AE4329"/>
                      </a:solidFill>
                      <a:prstDash val="solid"/>
                    </a:lnR>
                    <a:lnT w="9525" cap="flat" cmpd="sng" algn="ctr">
                      <a:solidFill>
                        <a:srgbClr val="AE4329"/>
                      </a:solidFill>
                      <a:prstDash val="solid"/>
                    </a:lnT>
                    <a:lnB w="9525" cap="flat" cmpd="sng" algn="ctr">
                      <a:solidFill>
                        <a:srgbClr val="AE4329"/>
                      </a:solidFill>
                      <a:prstDash val="solid"/>
                    </a:lnB>
                    <a:solidFill>
                      <a:srgbClr val="AE432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2315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5D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2315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5D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2315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5D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2315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5D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2315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5D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315017" y="960120"/>
            <a:ext cx="3657508" cy="5897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924601" y="1783080"/>
            <a:ext cx="2438339" cy="5074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9556238">
            <a:off x="8291309" y="3108876"/>
            <a:ext cx="310888" cy="10645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1249702">
            <a:off x="8310003" y="2916346"/>
            <a:ext cx="310888" cy="1085216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881322">
            <a:off x="8701790" y="3330933"/>
            <a:ext cx="310888" cy="972592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823128">
            <a:off x="8997996" y="2640425"/>
            <a:ext cx="310888" cy="77615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0551995">
            <a:off x="9805218" y="2695976"/>
            <a:ext cx="310888" cy="997462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7758521">
            <a:off x="9067188" y="3355660"/>
            <a:ext cx="310888" cy="885672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B2315"/>
                </a:solidFill>
              </a:rPr>
              <a:t>감사합니다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853418" y="3703320"/>
            <a:ext cx="5852013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B2315"/>
                </a:solidFill>
              </a:rPr>
              <a:t>들어 주셔서 고맙습니다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853418" y="4572000"/>
            <a:ext cx="5852013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연말 결산·회고 발표 템플릿">
  <a:themeElements>
    <a:clrScheme name="Office">
      <a:dk1>
        <a:sysClr val="windowText" lastClr="000000"/>
      </a:dk1>
      <a:lt1>
        <a:sysClr val="window" lastClr="FFFFFF"/>
      </a:lt1>
      <a:dk2>
        <a:srgbClr val="5B2315"/>
      </a:dk2>
      <a:lt2>
        <a:srgbClr val="FBF1EE"/>
      </a:lt2>
      <a:accent1>
        <a:srgbClr val="AE4329"/>
      </a:accent1>
      <a:accent2>
        <a:srgbClr val="3B9177"/>
      </a:accent2>
      <a:accent3>
        <a:srgbClr val="5B2315"/>
      </a:accent3>
      <a:accent4>
        <a:srgbClr val="F5D4CC"/>
      </a:accent4>
      <a:accent5>
        <a:srgbClr val="746A50"/>
      </a:accent5>
      <a:accent6>
        <a:srgbClr val="9D7B73"/>
      </a:accent6>
      <a:hlink>
        <a:srgbClr val="AE4329"/>
      </a:hlink>
      <a:folHlink>
        <a:srgbClr val="5B2315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연말 결산·회고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