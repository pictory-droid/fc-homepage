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CFA9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77942" y="1691662"/>
            <a:ext cx="1097252" cy="182875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2255" y="150878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52255" y="352041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767795" y="2350014"/>
            <a:ext cx="1097252" cy="1536153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2042108" y="2167138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042108" y="388616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3157649" y="1691662"/>
            <a:ext cx="1097252" cy="1828754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3431962" y="150878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3431962" y="352041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C5D27"/>
                </a:solidFill>
              </a:rPr>
              <a:t>우리 보험 점검 시간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C5D27"/>
                </a:solidFill>
              </a:rPr>
              <a:t>한지 등불처럼 은은하게 밝히는 한 해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사업장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점검 대상 현황</a:t>
            </a:r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49645"/>
                      </a:solidFill>
                      <a:prstDash val="solid"/>
                    </a:lnL>
                    <a:lnR w="9525" cap="flat" cmpd="sng" algn="ctr">
                      <a:solidFill>
                        <a:srgbClr val="C49645"/>
                      </a:solidFill>
                      <a:prstDash val="solid"/>
                    </a:lnR>
                    <a:lnT w="9525" cap="flat" cmpd="sng" algn="ctr">
                      <a:solidFill>
                        <a:srgbClr val="C49645"/>
                      </a:solidFill>
                      <a:prstDash val="solid"/>
                    </a:lnT>
                    <a:lnB w="9525" cap="flat" cmpd="sng" algn="ctr">
                      <a:solidFill>
                        <a:srgbClr val="C49645"/>
                      </a:solidFill>
                      <a:prstDash val="solid"/>
                    </a:lnB>
                    <a:solidFill>
                      <a:srgbClr val="C496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49645"/>
                      </a:solidFill>
                      <a:prstDash val="solid"/>
                    </a:lnL>
                    <a:lnR w="9525" cap="flat" cmpd="sng" algn="ctr">
                      <a:solidFill>
                        <a:srgbClr val="C49645"/>
                      </a:solidFill>
                      <a:prstDash val="solid"/>
                    </a:lnR>
                    <a:lnT w="9525" cap="flat" cmpd="sng" algn="ctr">
                      <a:solidFill>
                        <a:srgbClr val="C49645"/>
                      </a:solidFill>
                      <a:prstDash val="solid"/>
                    </a:lnT>
                    <a:lnB w="9525" cap="flat" cmpd="sng" algn="ctr">
                      <a:solidFill>
                        <a:srgbClr val="C49645"/>
                      </a:solidFill>
                      <a:prstDash val="solid"/>
                    </a:lnB>
                    <a:solidFill>
                      <a:srgbClr val="C49645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C5D27"/>
                          </a:solidFill>
                        </a:rPr>
                        <a:t>상호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C5D27"/>
                          </a:solidFill>
                        </a:rPr>
                        <a:t>업종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C5D27"/>
                          </a:solidFill>
                        </a:rPr>
                        <a:t>직원 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C5D27"/>
                          </a:solidFill>
                        </a:rPr>
                        <a:t>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가입한 보험 목록</a:t>
            </a:r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49645"/>
                      </a:solidFill>
                      <a:prstDash val="solid"/>
                    </a:lnL>
                    <a:lnR w="9525" cap="flat" cmpd="sng" algn="ctr">
                      <a:solidFill>
                        <a:srgbClr val="C49645"/>
                      </a:solidFill>
                      <a:prstDash val="solid"/>
                    </a:lnR>
                    <a:lnT w="9525" cap="flat" cmpd="sng" algn="ctr">
                      <a:solidFill>
                        <a:srgbClr val="C49645"/>
                      </a:solidFill>
                      <a:prstDash val="solid"/>
                    </a:lnT>
                    <a:lnB w="9525" cap="flat" cmpd="sng" algn="ctr">
                      <a:solidFill>
                        <a:srgbClr val="C49645"/>
                      </a:solidFill>
                      <a:prstDash val="solid"/>
                    </a:lnB>
                    <a:solidFill>
                      <a:srgbClr val="C496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49645"/>
                      </a:solidFill>
                      <a:prstDash val="solid"/>
                    </a:lnL>
                    <a:lnR w="9525" cap="flat" cmpd="sng" algn="ctr">
                      <a:solidFill>
                        <a:srgbClr val="C49645"/>
                      </a:solidFill>
                      <a:prstDash val="solid"/>
                    </a:lnR>
                    <a:lnT w="9525" cap="flat" cmpd="sng" algn="ctr">
                      <a:solidFill>
                        <a:srgbClr val="C49645"/>
                      </a:solidFill>
                      <a:prstDash val="solid"/>
                    </a:lnT>
                    <a:lnB w="9525" cap="flat" cmpd="sng" algn="ctr">
                      <a:solidFill>
                        <a:srgbClr val="C49645"/>
                      </a:solidFill>
                      <a:prstDash val="solid"/>
                    </a:lnB>
                    <a:solidFill>
                      <a:srgbClr val="C496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49645"/>
                      </a:solidFill>
                      <a:prstDash val="solid"/>
                    </a:lnL>
                    <a:lnR w="9525" cap="flat" cmpd="sng" algn="ctr">
                      <a:solidFill>
                        <a:srgbClr val="C49645"/>
                      </a:solidFill>
                      <a:prstDash val="solid"/>
                    </a:lnR>
                    <a:lnT w="9525" cap="flat" cmpd="sng" algn="ctr">
                      <a:solidFill>
                        <a:srgbClr val="C49645"/>
                      </a:solidFill>
                      <a:prstDash val="solid"/>
                    </a:lnT>
                    <a:lnB w="9525" cap="flat" cmpd="sng" algn="ctr">
                      <a:solidFill>
                        <a:srgbClr val="C49645"/>
                      </a:solidFill>
                      <a:prstDash val="solid"/>
                    </a:lnB>
                    <a:solidFill>
                      <a:srgbClr val="C496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49645"/>
                      </a:solidFill>
                      <a:prstDash val="solid"/>
                    </a:lnL>
                    <a:lnR w="9525" cap="flat" cmpd="sng" algn="ctr">
                      <a:solidFill>
                        <a:srgbClr val="C49645"/>
                      </a:solidFill>
                      <a:prstDash val="solid"/>
                    </a:lnR>
                    <a:lnT w="9525" cap="flat" cmpd="sng" algn="ctr">
                      <a:solidFill>
                        <a:srgbClr val="C49645"/>
                      </a:solidFill>
                      <a:prstDash val="solid"/>
                    </a:lnT>
                    <a:lnB w="9525" cap="flat" cmpd="sng" algn="ctr">
                      <a:solidFill>
                        <a:srgbClr val="C49645"/>
                      </a:solidFill>
                      <a:prstDash val="solid"/>
                    </a:lnB>
                    <a:solidFill>
                      <a:srgbClr val="C496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49645"/>
                      </a:solidFill>
                      <a:prstDash val="solid"/>
                    </a:lnL>
                    <a:lnR w="9525" cap="flat" cmpd="sng" algn="ctr">
                      <a:solidFill>
                        <a:srgbClr val="C49645"/>
                      </a:solidFill>
                      <a:prstDash val="solid"/>
                    </a:lnR>
                    <a:lnT w="9525" cap="flat" cmpd="sng" algn="ctr">
                      <a:solidFill>
                        <a:srgbClr val="C49645"/>
                      </a:solidFill>
                      <a:prstDash val="solid"/>
                    </a:lnT>
                    <a:lnB w="9525" cap="flat" cmpd="sng" algn="ctr">
                      <a:solidFill>
                        <a:srgbClr val="C49645"/>
                      </a:solidFill>
                      <a:prstDash val="solid"/>
                    </a:lnB>
                    <a:solidFill>
                      <a:srgbClr val="C4964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보장 항목 체크</a:t>
            </a:r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49645"/>
                      </a:solidFill>
                      <a:prstDash val="solid"/>
                    </a:lnL>
                    <a:lnR w="9525" cap="flat" cmpd="sng" algn="ctr">
                      <a:solidFill>
                        <a:srgbClr val="C49645"/>
                      </a:solidFill>
                      <a:prstDash val="solid"/>
                    </a:lnR>
                    <a:lnT w="9525" cap="flat" cmpd="sng" algn="ctr">
                      <a:solidFill>
                        <a:srgbClr val="C49645"/>
                      </a:solidFill>
                      <a:prstDash val="solid"/>
                    </a:lnT>
                    <a:lnB w="9525" cap="flat" cmpd="sng" algn="ctr">
                      <a:solidFill>
                        <a:srgbClr val="C49645"/>
                      </a:solidFill>
                      <a:prstDash val="solid"/>
                    </a:lnB>
                    <a:solidFill>
                      <a:srgbClr val="C496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49645"/>
                      </a:solidFill>
                      <a:prstDash val="solid"/>
                    </a:lnL>
                    <a:lnR w="9525" cap="flat" cmpd="sng" algn="ctr">
                      <a:solidFill>
                        <a:srgbClr val="C49645"/>
                      </a:solidFill>
                      <a:prstDash val="solid"/>
                    </a:lnR>
                    <a:lnT w="9525" cap="flat" cmpd="sng" algn="ctr">
                      <a:solidFill>
                        <a:srgbClr val="C49645"/>
                      </a:solidFill>
                      <a:prstDash val="solid"/>
                    </a:lnT>
                    <a:lnB w="9525" cap="flat" cmpd="sng" algn="ctr">
                      <a:solidFill>
                        <a:srgbClr val="C49645"/>
                      </a:solidFill>
                      <a:prstDash val="solid"/>
                    </a:lnB>
                    <a:solidFill>
                      <a:srgbClr val="C496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49645"/>
                      </a:solidFill>
                      <a:prstDash val="solid"/>
                    </a:lnL>
                    <a:lnR w="9525" cap="flat" cmpd="sng" algn="ctr">
                      <a:solidFill>
                        <a:srgbClr val="C49645"/>
                      </a:solidFill>
                      <a:prstDash val="solid"/>
                    </a:lnR>
                    <a:lnT w="9525" cap="flat" cmpd="sng" algn="ctr">
                      <a:solidFill>
                        <a:srgbClr val="C49645"/>
                      </a:solidFill>
                      <a:prstDash val="solid"/>
                    </a:lnT>
                    <a:lnB w="9525" cap="flat" cmpd="sng" algn="ctr">
                      <a:solidFill>
                        <a:srgbClr val="C49645"/>
                      </a:solidFill>
                      <a:prstDash val="solid"/>
                    </a:lnB>
                    <a:solidFill>
                      <a:srgbClr val="C496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C49645"/>
                      </a:solidFill>
                      <a:prstDash val="solid"/>
                    </a:lnL>
                    <a:lnR w="9525" cap="flat" cmpd="sng" algn="ctr">
                      <a:solidFill>
                        <a:srgbClr val="C49645"/>
                      </a:solidFill>
                      <a:prstDash val="solid"/>
                    </a:lnR>
                    <a:lnT w="9525" cap="flat" cmpd="sng" algn="ctr">
                      <a:solidFill>
                        <a:srgbClr val="C49645"/>
                      </a:solidFill>
                      <a:prstDash val="solid"/>
                    </a:lnT>
                    <a:lnB w="9525" cap="flat" cmpd="sng" algn="ctr">
                      <a:solidFill>
                        <a:srgbClr val="C49645"/>
                      </a:solidFill>
                      <a:prstDash val="solid"/>
                    </a:lnB>
                    <a:solidFill>
                      <a:srgbClr val="C4964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C5D27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C5D27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C5D27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C5D27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C5D27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C5D27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C5D27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C5D27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월 보험료 한눈에</a:t>
            </a:r>
          </a:p>
        </p:txBody>
      </p:sp>
      <p:sp>
        <p:nvSpPr>
          <p:cNvPr id="14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5875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C5D27"/>
                </a:solidFill>
              </a:rPr>
              <a:t>월 보험료 합계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8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5875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C5D27"/>
                </a:solidFill>
              </a:rPr>
              <a:t>연 보험료 합계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2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5875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C5D27"/>
                </a:solidFill>
              </a:rPr>
              <a:t>월 소득 대비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6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점검 메모와 다음 할 일</a:t>
            </a:r>
          </a:p>
        </p:txBody>
      </p:sp>
      <p:sp>
        <p:nvSpPr>
          <p:cNvPr id="14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5875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확인할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8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5875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문의할 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2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5875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정리할 날짜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6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사업장 점검)">
  <a:themeElements>
    <a:clrScheme name="Office">
      <a:dk1>
        <a:sysClr val="windowText" lastClr="000000"/>
      </a:dk1>
      <a:lt1>
        <a:sysClr val="window" lastClr="FFFFFF"/>
      </a:lt1>
      <a:dk2>
        <a:srgbClr val="7C5D27"/>
      </a:dk2>
      <a:lt2>
        <a:srgbClr val="FAF6EF"/>
      </a:lt2>
      <a:accent1>
        <a:srgbClr val="C49645"/>
      </a:accent1>
      <a:accent2>
        <a:srgbClr val="3B8591"/>
      </a:accent2>
      <a:accent3>
        <a:srgbClr val="7C5D27"/>
      </a:accent3>
      <a:accent4>
        <a:srgbClr val="F2E5CF"/>
      </a:accent4>
      <a:accent5>
        <a:srgbClr val="808E6B"/>
      </a:accent5>
      <a:accent6>
        <a:srgbClr val="B09E7D"/>
      </a:accent6>
      <a:hlink>
        <a:srgbClr val="C49645"/>
      </a:hlink>
      <a:folHlink>
        <a:srgbClr val="7C5D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