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review-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314149"/>
                </a:solidFill>
              </a:rPr>
              <a:t>우리 보험 점검 시간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314149"/>
                </a:solidFill>
              </a:rPr>
              <a:t>만기가 언제인지 달력에 표시합니다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본인 점검 · 2027.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14149"/>
                </a:solidFill>
              </a:rPr>
              <a:t>점검 대상 현황</a:t>
            </a:r>
          </a:p>
        </p:txBody>
      </p:sp>
      <p:graphicFrame>
        <p:nvGraphicFramePr>
          <p:cNvPr id="4" name="표"/>
          <p:cNvGraphicFramePr>
            <a:graphicFrameLocks noGrp="1"/>
          </p:cNvGraphicFramePr>
          <p:nvPr/>
        </p:nvGraphicFramePr>
        <p:xfrm>
          <a:off x="640080" y="1600200"/>
          <a:ext cx="10911534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455767"/>
                <a:gridCol w="5455767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A7887"/>
                      </a:solidFill>
                      <a:prstDash val="solid"/>
                    </a:lnL>
                    <a:lnR w="9525" cap="flat" cmpd="sng" algn="ctr">
                      <a:solidFill>
                        <a:srgbClr val="5A7887"/>
                      </a:solidFill>
                      <a:prstDash val="solid"/>
                    </a:lnR>
                    <a:lnT w="9525" cap="flat" cmpd="sng" algn="ctr">
                      <a:solidFill>
                        <a:srgbClr val="5A7887"/>
                      </a:solidFill>
                      <a:prstDash val="solid"/>
                    </a:lnT>
                    <a:lnB w="9525" cap="flat" cmpd="sng" algn="ctr">
                      <a:solidFill>
                        <a:srgbClr val="5A7887"/>
                      </a:solidFill>
                      <a:prstDash val="solid"/>
                    </a:lnB>
                    <a:solidFill>
                      <a:srgbClr val="5A788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내용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A7887"/>
                      </a:solidFill>
                      <a:prstDash val="solid"/>
                    </a:lnL>
                    <a:lnR w="9525" cap="flat" cmpd="sng" algn="ctr">
                      <a:solidFill>
                        <a:srgbClr val="5A7887"/>
                      </a:solidFill>
                      <a:prstDash val="solid"/>
                    </a:lnR>
                    <a:lnT w="9525" cap="flat" cmpd="sng" algn="ctr">
                      <a:solidFill>
                        <a:srgbClr val="5A7887"/>
                      </a:solidFill>
                      <a:prstDash val="solid"/>
                    </a:lnT>
                    <a:lnB w="9525" cap="flat" cmpd="sng" algn="ctr">
                      <a:solidFill>
                        <a:srgbClr val="5A7887"/>
                      </a:solidFill>
                      <a:prstDash val="solid"/>
                    </a:lnB>
                    <a:solidFill>
                      <a:srgbClr val="5A7887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314149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D9E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314149"/>
                          </a:solidFill>
                        </a:rPr>
                        <a:t>나이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D9E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314149"/>
                          </a:solidFill>
                        </a:rPr>
                        <a:t>직업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D9E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314149"/>
                          </a:solidFill>
                        </a:rPr>
                        <a:t>가족 구성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D9E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14149"/>
                </a:solidFill>
              </a:rPr>
              <a:t>가입한 보험 목록</a:t>
            </a:r>
          </a:p>
        </p:txBody>
      </p:sp>
      <p:graphicFrame>
        <p:nvGraphicFramePr>
          <p:cNvPr id="4" name="표"/>
          <p:cNvGraphicFramePr>
            <a:graphicFrameLocks noGrp="1"/>
          </p:cNvGraphicFramePr>
          <p:nvPr/>
        </p:nvGraphicFramePr>
        <p:xfrm>
          <a:off x="640080" y="1600200"/>
          <a:ext cx="1091153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213329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A7887"/>
                      </a:solidFill>
                      <a:prstDash val="solid"/>
                    </a:lnL>
                    <a:lnR w="9525" cap="flat" cmpd="sng" algn="ctr">
                      <a:solidFill>
                        <a:srgbClr val="5A7887"/>
                      </a:solidFill>
                      <a:prstDash val="solid"/>
                    </a:lnR>
                    <a:lnT w="9525" cap="flat" cmpd="sng" algn="ctr">
                      <a:solidFill>
                        <a:srgbClr val="5A7887"/>
                      </a:solidFill>
                      <a:prstDash val="solid"/>
                    </a:lnT>
                    <a:lnB w="9525" cap="flat" cmpd="sng" algn="ctr">
                      <a:solidFill>
                        <a:srgbClr val="5A7887"/>
                      </a:solidFill>
                      <a:prstDash val="solid"/>
                    </a:lnB>
                    <a:solidFill>
                      <a:srgbClr val="5A788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A7887"/>
                      </a:solidFill>
                      <a:prstDash val="solid"/>
                    </a:lnL>
                    <a:lnR w="9525" cap="flat" cmpd="sng" algn="ctr">
                      <a:solidFill>
                        <a:srgbClr val="5A7887"/>
                      </a:solidFill>
                      <a:prstDash val="solid"/>
                    </a:lnR>
                    <a:lnT w="9525" cap="flat" cmpd="sng" algn="ctr">
                      <a:solidFill>
                        <a:srgbClr val="5A7887"/>
                      </a:solidFill>
                      <a:prstDash val="solid"/>
                    </a:lnT>
                    <a:lnB w="9525" cap="flat" cmpd="sng" algn="ctr">
                      <a:solidFill>
                        <a:srgbClr val="5A7887"/>
                      </a:solidFill>
                      <a:prstDash val="solid"/>
                    </a:lnB>
                    <a:solidFill>
                      <a:srgbClr val="5A788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A7887"/>
                      </a:solidFill>
                      <a:prstDash val="solid"/>
                    </a:lnL>
                    <a:lnR w="9525" cap="flat" cmpd="sng" algn="ctr">
                      <a:solidFill>
                        <a:srgbClr val="5A7887"/>
                      </a:solidFill>
                      <a:prstDash val="solid"/>
                    </a:lnR>
                    <a:lnT w="9525" cap="flat" cmpd="sng" algn="ctr">
                      <a:solidFill>
                        <a:srgbClr val="5A7887"/>
                      </a:solidFill>
                      <a:prstDash val="solid"/>
                    </a:lnT>
                    <a:lnB w="9525" cap="flat" cmpd="sng" algn="ctr">
                      <a:solidFill>
                        <a:srgbClr val="5A7887"/>
                      </a:solidFill>
                      <a:prstDash val="solid"/>
                    </a:lnB>
                    <a:solidFill>
                      <a:srgbClr val="5A788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A7887"/>
                      </a:solidFill>
                      <a:prstDash val="solid"/>
                    </a:lnL>
                    <a:lnR w="9525" cap="flat" cmpd="sng" algn="ctr">
                      <a:solidFill>
                        <a:srgbClr val="5A7887"/>
                      </a:solidFill>
                      <a:prstDash val="solid"/>
                    </a:lnR>
                    <a:lnT w="9525" cap="flat" cmpd="sng" algn="ctr">
                      <a:solidFill>
                        <a:srgbClr val="5A7887"/>
                      </a:solidFill>
                      <a:prstDash val="solid"/>
                    </a:lnT>
                    <a:lnB w="9525" cap="flat" cmpd="sng" algn="ctr">
                      <a:solidFill>
                        <a:srgbClr val="5A7887"/>
                      </a:solidFill>
                      <a:prstDash val="solid"/>
                    </a:lnB>
                    <a:solidFill>
                      <a:srgbClr val="5A788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A7887"/>
                      </a:solidFill>
                      <a:prstDash val="solid"/>
                    </a:lnL>
                    <a:lnR w="9525" cap="flat" cmpd="sng" algn="ctr">
                      <a:solidFill>
                        <a:srgbClr val="5A7887"/>
                      </a:solidFill>
                      <a:prstDash val="solid"/>
                    </a:lnR>
                    <a:lnT w="9525" cap="flat" cmpd="sng" algn="ctr">
                      <a:solidFill>
                        <a:srgbClr val="5A7887"/>
                      </a:solidFill>
                      <a:prstDash val="solid"/>
                    </a:lnT>
                    <a:lnB w="9525" cap="flat" cmpd="sng" algn="ctr">
                      <a:solidFill>
                        <a:srgbClr val="5A7887"/>
                      </a:solidFill>
                      <a:prstDash val="solid"/>
                    </a:lnB>
                    <a:solidFill>
                      <a:srgbClr val="5A7887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14149"/>
                </a:solidFill>
              </a:rPr>
              <a:t>보장 항목 체크</a:t>
            </a:r>
          </a:p>
        </p:txBody>
      </p:sp>
      <p:graphicFrame>
        <p:nvGraphicFramePr>
          <p:cNvPr id="4" name="표"/>
          <p:cNvGraphicFramePr>
            <a:graphicFrameLocks noGrp="1"/>
          </p:cNvGraphicFramePr>
          <p:nvPr/>
        </p:nvGraphicFramePr>
        <p:xfrm>
          <a:off x="640080" y="1600200"/>
          <a:ext cx="1091153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417978"/>
                <a:gridCol w="2417978"/>
                <a:gridCol w="241797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A7887"/>
                      </a:solidFill>
                      <a:prstDash val="solid"/>
                    </a:lnL>
                    <a:lnR w="9525" cap="flat" cmpd="sng" algn="ctr">
                      <a:solidFill>
                        <a:srgbClr val="5A7887"/>
                      </a:solidFill>
                      <a:prstDash val="solid"/>
                    </a:lnR>
                    <a:lnT w="9525" cap="flat" cmpd="sng" algn="ctr">
                      <a:solidFill>
                        <a:srgbClr val="5A7887"/>
                      </a:solidFill>
                      <a:prstDash val="solid"/>
                    </a:lnT>
                    <a:lnB w="9525" cap="flat" cmpd="sng" algn="ctr">
                      <a:solidFill>
                        <a:srgbClr val="5A7887"/>
                      </a:solidFill>
                      <a:prstDash val="solid"/>
                    </a:lnB>
                    <a:solidFill>
                      <a:srgbClr val="5A788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A7887"/>
                      </a:solidFill>
                      <a:prstDash val="solid"/>
                    </a:lnL>
                    <a:lnR w="9525" cap="flat" cmpd="sng" algn="ctr">
                      <a:solidFill>
                        <a:srgbClr val="5A7887"/>
                      </a:solidFill>
                      <a:prstDash val="solid"/>
                    </a:lnR>
                    <a:lnT w="9525" cap="flat" cmpd="sng" algn="ctr">
                      <a:solidFill>
                        <a:srgbClr val="5A7887"/>
                      </a:solidFill>
                      <a:prstDash val="solid"/>
                    </a:lnT>
                    <a:lnB w="9525" cap="flat" cmpd="sng" algn="ctr">
                      <a:solidFill>
                        <a:srgbClr val="5A7887"/>
                      </a:solidFill>
                      <a:prstDash val="solid"/>
                    </a:lnB>
                    <a:solidFill>
                      <a:srgbClr val="5A788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A7887"/>
                      </a:solidFill>
                      <a:prstDash val="solid"/>
                    </a:lnL>
                    <a:lnR w="9525" cap="flat" cmpd="sng" algn="ctr">
                      <a:solidFill>
                        <a:srgbClr val="5A7887"/>
                      </a:solidFill>
                      <a:prstDash val="solid"/>
                    </a:lnR>
                    <a:lnT w="9525" cap="flat" cmpd="sng" algn="ctr">
                      <a:solidFill>
                        <a:srgbClr val="5A7887"/>
                      </a:solidFill>
                      <a:prstDash val="solid"/>
                    </a:lnT>
                    <a:lnB w="9525" cap="flat" cmpd="sng" algn="ctr">
                      <a:solidFill>
                        <a:srgbClr val="5A7887"/>
                      </a:solidFill>
                      <a:prstDash val="solid"/>
                    </a:lnB>
                    <a:solidFill>
                      <a:srgbClr val="5A788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A7887"/>
                      </a:solidFill>
                      <a:prstDash val="solid"/>
                    </a:lnL>
                    <a:lnR w="9525" cap="flat" cmpd="sng" algn="ctr">
                      <a:solidFill>
                        <a:srgbClr val="5A7887"/>
                      </a:solidFill>
                      <a:prstDash val="solid"/>
                    </a:lnR>
                    <a:lnT w="9525" cap="flat" cmpd="sng" algn="ctr">
                      <a:solidFill>
                        <a:srgbClr val="5A7887"/>
                      </a:solidFill>
                      <a:prstDash val="solid"/>
                    </a:lnT>
                    <a:lnB w="9525" cap="flat" cmpd="sng" algn="ctr">
                      <a:solidFill>
                        <a:srgbClr val="5A7887"/>
                      </a:solidFill>
                      <a:prstDash val="solid"/>
                    </a:lnB>
                    <a:solidFill>
                      <a:srgbClr val="5A7887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14149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D9E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14149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D9E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14149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D9E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14149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D9E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14149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D9E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14149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D9E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14149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D9E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14149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D9E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14149"/>
                </a:solidFill>
              </a:rPr>
              <a:t>월 보험료 한눈에</a:t>
            </a:r>
          </a:p>
        </p:txBody>
      </p:sp>
      <p:sp>
        <p:nvSpPr>
          <p:cNvPr id="4" name="카드 1"/>
          <p:cNvSpPr/>
          <p:nvPr/>
        </p:nvSpPr>
        <p:spPr>
          <a:xfrm>
            <a:off x="640080" y="160020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 w="15875">
            <a:solidFill>
              <a:srgbClr val="D9E3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5A788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314149"/>
                </a:solidFill>
              </a:rPr>
              <a:t>월 보험료 합계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8" name="카드 2"/>
          <p:cNvSpPr/>
          <p:nvPr/>
        </p:nvSpPr>
        <p:spPr>
          <a:xfrm>
            <a:off x="4353458" y="160020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 w="15875">
            <a:solidFill>
              <a:srgbClr val="D9E3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2"/>
          <p:cNvSpPr/>
          <p:nvPr/>
        </p:nvSpPr>
        <p:spPr>
          <a:xfrm>
            <a:off x="4536338" y="1783080"/>
            <a:ext cx="457200" cy="457200"/>
          </a:xfrm>
          <a:prstGeom prst="ellipse">
            <a:avLst/>
          </a:prstGeom>
          <a:solidFill>
            <a:srgbClr val="5A788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0618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314149"/>
                </a:solidFill>
              </a:rPr>
              <a:t>연 보험료 합계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0618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12" name="카드 3"/>
          <p:cNvSpPr/>
          <p:nvPr/>
        </p:nvSpPr>
        <p:spPr>
          <a:xfrm>
            <a:off x="8066836" y="160020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 w="15875">
            <a:solidFill>
              <a:srgbClr val="D9E3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3"/>
          <p:cNvSpPr/>
          <p:nvPr/>
        </p:nvSpPr>
        <p:spPr>
          <a:xfrm>
            <a:off x="8249716" y="1783080"/>
            <a:ext cx="457200" cy="457200"/>
          </a:xfrm>
          <a:prstGeom prst="ellipse">
            <a:avLst/>
          </a:prstGeom>
          <a:solidFill>
            <a:srgbClr val="5A788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3996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314149"/>
                </a:solidFill>
              </a:rPr>
              <a:t>월 소득 대비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3996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0 %</a:t>
            </a:r>
          </a:p>
        </p:txBody>
      </p:sp>
      <p:sp>
        <p:nvSpPr>
          <p:cNvPr id="16" name="안내"/>
          <p:cNvSpPr txBox="1"/>
          <p:nvPr/>
        </p:nvSpPr>
        <p:spPr>
          <a:xfrm>
            <a:off x="640080" y="4709160"/>
            <a:ext cx="1091153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14149"/>
                </a:solidFill>
              </a:rPr>
              <a:t>점검 메모와 다음 할 일</a:t>
            </a:r>
          </a:p>
        </p:txBody>
      </p:sp>
      <p:sp>
        <p:nvSpPr>
          <p:cNvPr id="4" name="카드 1"/>
          <p:cNvSpPr/>
          <p:nvPr/>
        </p:nvSpPr>
        <p:spPr>
          <a:xfrm>
            <a:off x="640080" y="1600200"/>
            <a:ext cx="3484778" cy="416052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 w="15875">
            <a:solidFill>
              <a:srgbClr val="D9E3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5A788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14149"/>
                </a:solidFill>
              </a:rPr>
              <a:t>확인할 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063240"/>
            <a:ext cx="321045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8" name="카드 2"/>
          <p:cNvSpPr/>
          <p:nvPr/>
        </p:nvSpPr>
        <p:spPr>
          <a:xfrm>
            <a:off x="4353458" y="1600200"/>
            <a:ext cx="3484778" cy="416052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 w="15875">
            <a:solidFill>
              <a:srgbClr val="D9E3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2"/>
          <p:cNvSpPr/>
          <p:nvPr/>
        </p:nvSpPr>
        <p:spPr>
          <a:xfrm>
            <a:off x="4536338" y="1783080"/>
            <a:ext cx="457200" cy="457200"/>
          </a:xfrm>
          <a:prstGeom prst="ellipse">
            <a:avLst/>
          </a:prstGeom>
          <a:solidFill>
            <a:srgbClr val="5A788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0618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14149"/>
                </a:solidFill>
              </a:rPr>
              <a:t>문의할 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0618" y="3063240"/>
            <a:ext cx="321045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2" name="카드 3"/>
          <p:cNvSpPr/>
          <p:nvPr/>
        </p:nvSpPr>
        <p:spPr>
          <a:xfrm>
            <a:off x="8066836" y="1600200"/>
            <a:ext cx="3484778" cy="416052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 w="15875">
            <a:solidFill>
              <a:srgbClr val="D9E3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3"/>
          <p:cNvSpPr/>
          <p:nvPr/>
        </p:nvSpPr>
        <p:spPr>
          <a:xfrm>
            <a:off x="8249716" y="1783080"/>
            <a:ext cx="457200" cy="457200"/>
          </a:xfrm>
          <a:prstGeom prst="ellipse">
            <a:avLst/>
          </a:prstGeom>
          <a:solidFill>
            <a:srgbClr val="5A788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3996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14149"/>
                </a:solidFill>
              </a:rPr>
              <a:t>정리할 날짜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3996" y="3063240"/>
            <a:ext cx="321045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6" name="안내 문구"/>
          <p:cNvSpPr txBox="1"/>
          <p:nvPr/>
        </p:nvSpPr>
        <p:spPr>
          <a:xfrm>
            <a:off x="640080" y="5852160"/>
            <a:ext cx="1091153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본인 점검)">
  <a:themeElements>
    <a:clrScheme name="Office">
      <a:dk1>
        <a:sysClr val="windowText" lastClr="000000"/>
      </a:dk1>
      <a:lt1>
        <a:sysClr val="window" lastClr="FFFFFF"/>
      </a:lt1>
      <a:dk2>
        <a:srgbClr val="314149"/>
      </a:dk2>
      <a:lt2>
        <a:srgbClr val="F3F5F7"/>
      </a:lt2>
      <a:accent1>
        <a:srgbClr val="5A7887"/>
      </a:accent1>
      <a:accent2>
        <a:srgbClr val="7A5258"/>
      </a:accent2>
      <a:accent3>
        <a:srgbClr val="314149"/>
      </a:accent3>
      <a:accent4>
        <a:srgbClr val="D9E3E8"/>
      </a:accent4>
      <a:accent5>
        <a:srgbClr val="6A6570"/>
      </a:accent5>
      <a:accent6>
        <a:srgbClr val="838D92"/>
      </a:accent6>
      <a:hlink>
        <a:srgbClr val="5A7887"/>
      </a:hlink>
      <a:folHlink>
        <a:srgbClr val="31414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발표자료(본인 점검)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