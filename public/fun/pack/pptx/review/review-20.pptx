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732263" y="3840480"/>
            <a:ext cx="2606039" cy="1508760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966703" y="4526280"/>
            <a:ext cx="1645919" cy="1042416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41806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24102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063983" y="5678424"/>
            <a:ext cx="329184" cy="329184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3535C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3535C"/>
                </a:solidFill>
              </a:rPr>
              <a:t>소나기 그친 하늘처럼 맑게 정리해요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점검 대상 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535C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535C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535C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535C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가입한 보험 목록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보장 항목 체크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F95A6"/>
                      </a:solidFill>
                      <a:prstDash val="solid"/>
                    </a:lnL>
                    <a:lnR w="9525" cap="flat" cmpd="sng" algn="ctr">
                      <a:solidFill>
                        <a:srgbClr val="3F95A6"/>
                      </a:solidFill>
                      <a:prstDash val="solid"/>
                    </a:lnR>
                    <a:lnT w="9525" cap="flat" cmpd="sng" algn="ctr">
                      <a:solidFill>
                        <a:srgbClr val="3F95A6"/>
                      </a:solidFill>
                      <a:prstDash val="solid"/>
                    </a:lnT>
                    <a:lnB w="9525" cap="flat" cmpd="sng" algn="ctr">
                      <a:solidFill>
                        <a:srgbClr val="3F95A6"/>
                      </a:solidFill>
                      <a:prstDash val="solid"/>
                    </a:lnB>
                    <a:solidFill>
                      <a:srgbClr val="3F95A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535C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D1EB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BF0"/>
                      </a:solidFill>
                      <a:prstDash val="solid"/>
                    </a:lnL>
                    <a:lnR w="9525" cap="flat" cmpd="sng" algn="ctr">
                      <a:solidFill>
                        <a:srgbClr val="D1EBF0"/>
                      </a:solidFill>
                      <a:prstDash val="solid"/>
                    </a:lnR>
                    <a:lnT w="9525" cap="flat" cmpd="sng" algn="ctr">
                      <a:solidFill>
                        <a:srgbClr val="D1EBF0"/>
                      </a:solidFill>
                      <a:prstDash val="solid"/>
                    </a:lnT>
                    <a:lnB w="9525" cap="flat" cmpd="sng" algn="ctr">
                      <a:solidFill>
                        <a:srgbClr val="D1EBF0"/>
                      </a:solidFill>
                      <a:prstDash val="solid"/>
                    </a:lnB>
                    <a:solidFill>
                      <a:srgbClr val="F0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월 보험료 한눈에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3535C"/>
                </a:solidFill>
              </a:rPr>
              <a:t>월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3535C"/>
                </a:solidFill>
              </a:rPr>
              <a:t>연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3535C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1EB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3F95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913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3535C"/>
                </a:solidFill>
              </a:rPr>
              <a:t>점검 메모와 다음 할 일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확인할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문의할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8F9"/>
          </a:solidFill>
          <a:ln w="15875">
            <a:solidFill>
              <a:srgbClr val="D1EB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F95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3535C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23535C"/>
      </a:dk2>
      <a:lt2>
        <a:srgbClr val="F0F8F9"/>
      </a:lt2>
      <a:accent1>
        <a:srgbClr val="3F95A6"/>
      </a:accent1>
      <a:accent2>
        <a:srgbClr val="913B58"/>
      </a:accent2>
      <a:accent3>
        <a:srgbClr val="23535C"/>
      </a:accent3>
      <a:accent4>
        <a:srgbClr val="D1EBF0"/>
      </a:accent4>
      <a:accent5>
        <a:srgbClr val="68687F"/>
      </a:accent5>
      <a:accent6>
        <a:srgbClr val="7B989D"/>
      </a:accent6>
      <a:hlink>
        <a:srgbClr val="3F95A6"/>
      </a:hlink>
      <a:folHlink>
        <a:srgbClr val="23535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