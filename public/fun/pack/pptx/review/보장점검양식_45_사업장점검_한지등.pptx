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정산 전에 서류를 모읍니다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사업장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D27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D27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D27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D27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C698"/>
                      </a:solidFill>
                      <a:prstDash val="solid"/>
                    </a:lnL>
                    <a:lnR w="9525" cap="flat" cmpd="sng" algn="ctr">
                      <a:solidFill>
                        <a:srgbClr val="E1C698"/>
                      </a:solidFill>
                      <a:prstDash val="solid"/>
                    </a:lnR>
                    <a:lnT w="9525" cap="flat" cmpd="sng" algn="ctr">
                      <a:solidFill>
                        <a:srgbClr val="E1C698"/>
                      </a:solidFill>
                      <a:prstDash val="solid"/>
                    </a:lnT>
                    <a:lnB w="9525" cap="flat" cmpd="sng" algn="ctr">
                      <a:solidFill>
                        <a:srgbClr val="E1C698"/>
                      </a:solidFill>
                      <a:prstDash val="solid"/>
                    </a:lnB>
                    <a:solidFill>
                      <a:srgbClr val="E1C69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D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6EA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D5"/>
                      </a:solidFill>
                      <a:prstDash val="solid"/>
                    </a:lnL>
                    <a:lnR w="9525" cap="flat" cmpd="sng" algn="ctr">
                      <a:solidFill>
                        <a:srgbClr val="F6EAD5"/>
                      </a:solidFill>
                      <a:prstDash val="solid"/>
                    </a:lnR>
                    <a:lnT w="9525" cap="flat" cmpd="sng" algn="ctr">
                      <a:solidFill>
                        <a:srgbClr val="F6EAD5"/>
                      </a:solidFill>
                      <a:prstDash val="solid"/>
                    </a:lnT>
                    <a:lnB w="9525" cap="flat" cmpd="sng" algn="ctr">
                      <a:solidFill>
                        <a:srgbClr val="F6EA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698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D27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69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D27"/>
                </a:solidFill>
              </a:rPr>
              <a:t>연 보험료 합계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698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D27"/>
                </a:solidFill>
              </a:rPr>
              <a:t>월 소득 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9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포인트"/>
          <p:cNvSpPr/>
          <p:nvPr/>
        </p:nvSpPr>
        <p:spPr>
          <a:xfrm>
            <a:off x="5958687" y="246888"/>
            <a:ext cx="274320" cy="109728"/>
          </a:xfrm>
          <a:prstGeom prst="wave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37490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698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7490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69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문의할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783080"/>
            <a:ext cx="3484778" cy="37490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1C698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정리할 날짜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2461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9" name="안내 문구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493D27"/>
      </a:dk2>
      <a:lt2>
        <a:srgbClr val="FBF6EC"/>
      </a:lt2>
      <a:accent1>
        <a:srgbClr val="E1C698"/>
      </a:accent1>
      <a:accent2>
        <a:srgbClr val="E5EAB8"/>
      </a:accent2>
      <a:accent3>
        <a:srgbClr val="493D27"/>
      </a:accent3>
      <a:accent4>
        <a:srgbClr val="F6EAD5"/>
      </a:accent4>
      <a:accent5>
        <a:srgbClr val="E3D8A8"/>
      </a:accent5>
      <a:accent6>
        <a:srgbClr val="928B7D"/>
      </a:accent6>
      <a:hlink>
        <a:srgbClr val="E1C698"/>
      </a:hlink>
      <a:folHlink>
        <a:srgbClr val="493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