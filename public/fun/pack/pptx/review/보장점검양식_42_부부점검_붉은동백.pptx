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92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0" y="0"/>
            <a:ext cx="12191695" cy="3154680"/>
          </a:xfrm>
          <a:prstGeom prst="rect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36234" y="1965960"/>
            <a:ext cx="2377440" cy="2377440"/>
          </a:xfrm>
          <a:prstGeom prst="ellipse">
            <a:avLst/>
          </a:prstGeom>
          <a:solidFill>
            <a:srgbClr val="AC707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라벨"/>
          <p:cNvSpPr txBox="1"/>
          <p:nvPr/>
        </p:nvSpPr>
        <p:spPr>
          <a:xfrm>
            <a:off x="822960" y="3657600"/>
            <a:ext cx="7315017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FFFFFF"/>
                </a:solidFill>
              </a:rPr>
              <a:t>INSURANCE CHECK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4114800"/>
            <a:ext cx="7315017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FFFFFF"/>
                </a:solidFill>
              </a:rPr>
              <a:t>우리 보험 점검 시간</a:t>
            </a:r>
          </a:p>
        </p:txBody>
      </p:sp>
      <p:sp>
        <p:nvSpPr>
          <p:cNvPr id="6" name="한 줄 문구"/>
          <p:cNvSpPr txBox="1"/>
          <p:nvPr/>
        </p:nvSpPr>
        <p:spPr>
          <a:xfrm>
            <a:off x="822960" y="5394960"/>
            <a:ext cx="731501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FFFFFF"/>
                </a:solidFill>
              </a:rPr>
              <a:t>따뜻한 차 놓고 정리합니다</a:t>
            </a:r>
          </a:p>
        </p:txBody>
      </p:sp>
      <p:sp>
        <p:nvSpPr>
          <p:cNvPr id="7" name="안내 문구"/>
          <p:cNvSpPr txBox="1"/>
          <p:nvPr/>
        </p:nvSpPr>
        <p:spPr>
          <a:xfrm>
            <a:off x="822960" y="6263640"/>
            <a:ext cx="731501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부부 점검 · 날짜 입력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FFFFFF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대상 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남편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26231F"/>
                          </a:solidFill>
                        </a:rPr>
                        <a:t>아내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2A"/>
                          </a:solidFill>
                        </a:rPr>
                        <a:t>이름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2A"/>
                          </a:solidFill>
                        </a:rPr>
                        <a:t>나이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2A"/>
                          </a:solidFill>
                        </a:rPr>
                        <a:t>직업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49272A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가입한 보험 목록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보장 항목 체크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26231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E1989E"/>
                      </a:solidFill>
                      <a:prstDash val="solid"/>
                    </a:lnL>
                    <a:lnR w="9525" cap="flat" cmpd="sng" algn="ctr">
                      <a:solidFill>
                        <a:srgbClr val="E1989E"/>
                      </a:solidFill>
                      <a:prstDash val="solid"/>
                    </a:lnR>
                    <a:lnT w="9525" cap="flat" cmpd="sng" algn="ctr">
                      <a:solidFill>
                        <a:srgbClr val="E1989E"/>
                      </a:solidFill>
                      <a:prstDash val="solid"/>
                    </a:lnT>
                    <a:lnB w="9525" cap="flat" cmpd="sng" algn="ctr">
                      <a:solidFill>
                        <a:srgbClr val="E1989E"/>
                      </a:solidFill>
                      <a:prstDash val="solid"/>
                    </a:lnB>
                    <a:solidFill>
                      <a:srgbClr val="E1989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49272A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6D5D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6231F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D5D8"/>
                      </a:solidFill>
                      <a:prstDash val="solid"/>
                    </a:lnL>
                    <a:lnR w="9525" cap="flat" cmpd="sng" algn="ctr">
                      <a:solidFill>
                        <a:srgbClr val="F6D5D8"/>
                      </a:solidFill>
                      <a:prstDash val="solid"/>
                    </a:lnR>
                    <a:lnT w="9525" cap="flat" cmpd="sng" algn="ctr">
                      <a:solidFill>
                        <a:srgbClr val="F6D5D8"/>
                      </a:solidFill>
                      <a:prstDash val="solid"/>
                    </a:lnT>
                    <a:lnB w="9525" cap="flat" cmpd="sng" algn="ctr">
                      <a:solidFill>
                        <a:srgbClr val="F6D5D8"/>
                      </a:solidFill>
                      <a:prstDash val="solid"/>
                    </a:lnB>
                    <a:solidFill>
                      <a:srgbClr val="FBECE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월 보험료 한눈에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2A"/>
                </a:solidFill>
              </a:rPr>
              <a:t>월 보험료 합계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2A"/>
                </a:solidFill>
              </a:rPr>
              <a:t>연 보험료 합계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0원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49272A"/>
                </a:solidFill>
              </a:rPr>
              <a:t>월 소득 대비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6231F"/>
                </a:solidFill>
              </a:rPr>
              <a:t>0 %</a:t>
            </a:r>
          </a:p>
        </p:txBody>
      </p:sp>
      <p:sp>
        <p:nvSpPr>
          <p:cNvPr id="18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D5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6400800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하단 라벨"/>
          <p:cNvSpPr txBox="1"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INSURANCE CHECK</a:t>
            </a:r>
          </a:p>
        </p:txBody>
      </p:sp>
      <p:sp>
        <p:nvSpPr>
          <p:cNvPr id="5" name="포인트"/>
          <p:cNvSpPr/>
          <p:nvPr/>
        </p:nvSpPr>
        <p:spPr>
          <a:xfrm>
            <a:off x="11213287" y="6473952"/>
            <a:ext cx="219456" cy="87782"/>
          </a:xfrm>
          <a:prstGeom prst="wave">
            <a:avLst/>
          </a:prstGeom>
          <a:solidFill>
            <a:srgbClr val="E1989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502920"/>
            <a:ext cx="10911535" cy="91440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점검 메모와 다음 할 일</a:t>
            </a:r>
          </a:p>
        </p:txBody>
      </p:sp>
      <p:sp>
        <p:nvSpPr>
          <p:cNvPr id="6" name="카드 1"/>
          <p:cNvSpPr/>
          <p:nvPr/>
        </p:nvSpPr>
        <p:spPr>
          <a:xfrm>
            <a:off x="640080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번호 1"/>
          <p:cNvSpPr/>
          <p:nvPr/>
        </p:nvSpPr>
        <p:spPr>
          <a:xfrm>
            <a:off x="822959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확인할 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0" name="카드 2"/>
          <p:cNvSpPr/>
          <p:nvPr/>
        </p:nvSpPr>
        <p:spPr>
          <a:xfrm>
            <a:off x="4353458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번호 2"/>
          <p:cNvSpPr/>
          <p:nvPr/>
        </p:nvSpPr>
        <p:spPr>
          <a:xfrm>
            <a:off x="4536338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문의할 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90618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4" name="카드 3"/>
          <p:cNvSpPr/>
          <p:nvPr/>
        </p:nvSpPr>
        <p:spPr>
          <a:xfrm>
            <a:off x="8066836" y="1600200"/>
            <a:ext cx="3484778" cy="393192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EBADB2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3"/>
          <p:cNvSpPr/>
          <p:nvPr/>
        </p:nvSpPr>
        <p:spPr>
          <a:xfrm>
            <a:off x="8249716" y="1783080"/>
            <a:ext cx="457200" cy="457200"/>
          </a:xfrm>
          <a:prstGeom prst="roundRect">
            <a:avLst>
              <a:gd name="adj" fmla="val 25000"/>
            </a:avLst>
          </a:prstGeom>
          <a:solidFill>
            <a:srgbClr val="E1989E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9272A"/>
                </a:solidFill>
              </a:rPr>
              <a:t>정리할 날짜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3996" y="3063240"/>
            <a:ext cx="3210458" cy="23317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8" name="안내 문구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부 점검)">
  <a:themeElements>
    <a:clrScheme name="Office">
      <a:dk1>
        <a:sysClr val="windowText" lastClr="000000"/>
      </a:dk1>
      <a:lt1>
        <a:sysClr val="window" lastClr="FFFFFF"/>
      </a:lt1>
      <a:dk2>
        <a:srgbClr val="49272A"/>
      </a:dk2>
      <a:lt2>
        <a:srgbClr val="FBECED"/>
      </a:lt2>
      <a:accent1>
        <a:srgbClr val="E1989E"/>
      </a:accent1>
      <a:accent2>
        <a:srgbClr val="EACBB8"/>
      </a:accent2>
      <a:accent3>
        <a:srgbClr val="49272A"/>
      </a:accent3>
      <a:accent4>
        <a:srgbClr val="F6D5D8"/>
      </a:accent4>
      <a:accent5>
        <a:srgbClr val="E6B2AB"/>
      </a:accent5>
      <a:accent6>
        <a:srgbClr val="927D7F"/>
      </a:accent6>
      <a:hlink>
        <a:srgbClr val="E1989E"/>
      </a:hlink>
      <a:folHlink>
        <a:srgbClr val="49272A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발표자료(부부 점검)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