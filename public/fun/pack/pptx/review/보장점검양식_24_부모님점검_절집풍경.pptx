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1595F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595F"/>
                </a:solidFill>
              </a:rPr>
              <a:t>더운 날 건강 챙기는 김에 같이 봅니다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부모님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26B8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1F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95F"/>
                </a:solidFill>
              </a:rPr>
              <a:t>점검 대상 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822960" y="1554480"/>
          <a:ext cx="1054577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15258"/>
                <a:gridCol w="3515258"/>
                <a:gridCol w="351525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B8C5"/>
                      </a:solidFill>
                      <a:prstDash val="solid"/>
                    </a:lnL>
                    <a:lnR w="9525" cap="flat" cmpd="sng" algn="ctr">
                      <a:solidFill>
                        <a:srgbClr val="26B8C5"/>
                      </a:solidFill>
                      <a:prstDash val="solid"/>
                    </a:lnR>
                    <a:lnT w="9525" cap="flat" cmpd="sng" algn="ctr">
                      <a:solidFill>
                        <a:srgbClr val="26B8C5"/>
                      </a:solidFill>
                      <a:prstDash val="solid"/>
                    </a:lnT>
                    <a:lnB w="9525" cap="flat" cmpd="sng" algn="ctr">
                      <a:solidFill>
                        <a:srgbClr val="26B8C5"/>
                      </a:solidFill>
                      <a:prstDash val="solid"/>
                    </a:lnB>
                    <a:solidFill>
                      <a:srgbClr val="26B8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아버지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B8C5"/>
                      </a:solidFill>
                      <a:prstDash val="solid"/>
                    </a:lnL>
                    <a:lnR w="9525" cap="flat" cmpd="sng" algn="ctr">
                      <a:solidFill>
                        <a:srgbClr val="26B8C5"/>
                      </a:solidFill>
                      <a:prstDash val="solid"/>
                    </a:lnR>
                    <a:lnT w="9525" cap="flat" cmpd="sng" algn="ctr">
                      <a:solidFill>
                        <a:srgbClr val="26B8C5"/>
                      </a:solidFill>
                      <a:prstDash val="solid"/>
                    </a:lnT>
                    <a:lnB w="9525" cap="flat" cmpd="sng" algn="ctr">
                      <a:solidFill>
                        <a:srgbClr val="26B8C5"/>
                      </a:solidFill>
                      <a:prstDash val="solid"/>
                    </a:lnB>
                    <a:solidFill>
                      <a:srgbClr val="26B8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어머니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B8C5"/>
                      </a:solidFill>
                      <a:prstDash val="solid"/>
                    </a:lnL>
                    <a:lnR w="9525" cap="flat" cmpd="sng" algn="ctr">
                      <a:solidFill>
                        <a:srgbClr val="26B8C5"/>
                      </a:solidFill>
                      <a:prstDash val="solid"/>
                    </a:lnR>
                    <a:lnT w="9525" cap="flat" cmpd="sng" algn="ctr">
                      <a:solidFill>
                        <a:srgbClr val="26B8C5"/>
                      </a:solidFill>
                      <a:prstDash val="solid"/>
                    </a:lnT>
                    <a:lnB w="9525" cap="flat" cmpd="sng" algn="ctr">
                      <a:solidFill>
                        <a:srgbClr val="26B8C5"/>
                      </a:solidFill>
                      <a:prstDash val="solid"/>
                    </a:lnB>
                    <a:solidFill>
                      <a:srgbClr val="26B8C5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595F"/>
                          </a:solidFill>
                        </a:rPr>
                        <a:t>성함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D1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595F"/>
                          </a:solidFill>
                        </a:rPr>
                        <a:t>연세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D1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EE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EEFBF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595F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D1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595F"/>
                          </a:solidFill>
                        </a:rPr>
                        <a:t>함께 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D1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EE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EEFB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26B8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1F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95F"/>
                </a:solidFill>
              </a:rPr>
              <a:t>가입한 보험 목록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822960" y="1554480"/>
          <a:ext cx="1054577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176753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B8C5"/>
                      </a:solidFill>
                      <a:prstDash val="solid"/>
                    </a:lnL>
                    <a:lnR w="9525" cap="flat" cmpd="sng" algn="ctr">
                      <a:solidFill>
                        <a:srgbClr val="26B8C5"/>
                      </a:solidFill>
                      <a:prstDash val="solid"/>
                    </a:lnR>
                    <a:lnT w="9525" cap="flat" cmpd="sng" algn="ctr">
                      <a:solidFill>
                        <a:srgbClr val="26B8C5"/>
                      </a:solidFill>
                      <a:prstDash val="solid"/>
                    </a:lnT>
                    <a:lnB w="9525" cap="flat" cmpd="sng" algn="ctr">
                      <a:solidFill>
                        <a:srgbClr val="26B8C5"/>
                      </a:solidFill>
                      <a:prstDash val="solid"/>
                    </a:lnB>
                    <a:solidFill>
                      <a:srgbClr val="26B8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B8C5"/>
                      </a:solidFill>
                      <a:prstDash val="solid"/>
                    </a:lnL>
                    <a:lnR w="9525" cap="flat" cmpd="sng" algn="ctr">
                      <a:solidFill>
                        <a:srgbClr val="26B8C5"/>
                      </a:solidFill>
                      <a:prstDash val="solid"/>
                    </a:lnR>
                    <a:lnT w="9525" cap="flat" cmpd="sng" algn="ctr">
                      <a:solidFill>
                        <a:srgbClr val="26B8C5"/>
                      </a:solidFill>
                      <a:prstDash val="solid"/>
                    </a:lnT>
                    <a:lnB w="9525" cap="flat" cmpd="sng" algn="ctr">
                      <a:solidFill>
                        <a:srgbClr val="26B8C5"/>
                      </a:solidFill>
                      <a:prstDash val="solid"/>
                    </a:lnB>
                    <a:solidFill>
                      <a:srgbClr val="26B8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B8C5"/>
                      </a:solidFill>
                      <a:prstDash val="solid"/>
                    </a:lnL>
                    <a:lnR w="9525" cap="flat" cmpd="sng" algn="ctr">
                      <a:solidFill>
                        <a:srgbClr val="26B8C5"/>
                      </a:solidFill>
                      <a:prstDash val="solid"/>
                    </a:lnR>
                    <a:lnT w="9525" cap="flat" cmpd="sng" algn="ctr">
                      <a:solidFill>
                        <a:srgbClr val="26B8C5"/>
                      </a:solidFill>
                      <a:prstDash val="solid"/>
                    </a:lnT>
                    <a:lnB w="9525" cap="flat" cmpd="sng" algn="ctr">
                      <a:solidFill>
                        <a:srgbClr val="26B8C5"/>
                      </a:solidFill>
                      <a:prstDash val="solid"/>
                    </a:lnB>
                    <a:solidFill>
                      <a:srgbClr val="26B8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B8C5"/>
                      </a:solidFill>
                      <a:prstDash val="solid"/>
                    </a:lnL>
                    <a:lnR w="9525" cap="flat" cmpd="sng" algn="ctr">
                      <a:solidFill>
                        <a:srgbClr val="26B8C5"/>
                      </a:solidFill>
                      <a:prstDash val="solid"/>
                    </a:lnR>
                    <a:lnT w="9525" cap="flat" cmpd="sng" algn="ctr">
                      <a:solidFill>
                        <a:srgbClr val="26B8C5"/>
                      </a:solidFill>
                      <a:prstDash val="solid"/>
                    </a:lnT>
                    <a:lnB w="9525" cap="flat" cmpd="sng" algn="ctr">
                      <a:solidFill>
                        <a:srgbClr val="26B8C5"/>
                      </a:solidFill>
                      <a:prstDash val="solid"/>
                    </a:lnB>
                    <a:solidFill>
                      <a:srgbClr val="26B8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B8C5"/>
                      </a:solidFill>
                      <a:prstDash val="solid"/>
                    </a:lnL>
                    <a:lnR w="9525" cap="flat" cmpd="sng" algn="ctr">
                      <a:solidFill>
                        <a:srgbClr val="26B8C5"/>
                      </a:solidFill>
                      <a:prstDash val="solid"/>
                    </a:lnR>
                    <a:lnT w="9525" cap="flat" cmpd="sng" algn="ctr">
                      <a:solidFill>
                        <a:srgbClr val="26B8C5"/>
                      </a:solidFill>
                      <a:prstDash val="solid"/>
                    </a:lnT>
                    <a:lnB w="9525" cap="flat" cmpd="sng" algn="ctr">
                      <a:solidFill>
                        <a:srgbClr val="26B8C5"/>
                      </a:solidFill>
                      <a:prstDash val="solid"/>
                    </a:lnB>
                    <a:solidFill>
                      <a:srgbClr val="26B8C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EE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EE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EE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EE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EEFB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EE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EE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EE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EE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EEFB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EE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EE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EE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EE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EEFB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26B8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1F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95F"/>
                </a:solidFill>
              </a:rPr>
              <a:t>보장 항목 체크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822960" y="1554480"/>
          <a:ext cx="1054577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296058"/>
                <a:gridCol w="2296058"/>
                <a:gridCol w="229605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B8C5"/>
                      </a:solidFill>
                      <a:prstDash val="solid"/>
                    </a:lnL>
                    <a:lnR w="9525" cap="flat" cmpd="sng" algn="ctr">
                      <a:solidFill>
                        <a:srgbClr val="26B8C5"/>
                      </a:solidFill>
                      <a:prstDash val="solid"/>
                    </a:lnR>
                    <a:lnT w="9525" cap="flat" cmpd="sng" algn="ctr">
                      <a:solidFill>
                        <a:srgbClr val="26B8C5"/>
                      </a:solidFill>
                      <a:prstDash val="solid"/>
                    </a:lnT>
                    <a:lnB w="9525" cap="flat" cmpd="sng" algn="ctr">
                      <a:solidFill>
                        <a:srgbClr val="26B8C5"/>
                      </a:solidFill>
                      <a:prstDash val="solid"/>
                    </a:lnB>
                    <a:solidFill>
                      <a:srgbClr val="26B8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B8C5"/>
                      </a:solidFill>
                      <a:prstDash val="solid"/>
                    </a:lnL>
                    <a:lnR w="9525" cap="flat" cmpd="sng" algn="ctr">
                      <a:solidFill>
                        <a:srgbClr val="26B8C5"/>
                      </a:solidFill>
                      <a:prstDash val="solid"/>
                    </a:lnR>
                    <a:lnT w="9525" cap="flat" cmpd="sng" algn="ctr">
                      <a:solidFill>
                        <a:srgbClr val="26B8C5"/>
                      </a:solidFill>
                      <a:prstDash val="solid"/>
                    </a:lnT>
                    <a:lnB w="9525" cap="flat" cmpd="sng" algn="ctr">
                      <a:solidFill>
                        <a:srgbClr val="26B8C5"/>
                      </a:solidFill>
                      <a:prstDash val="solid"/>
                    </a:lnB>
                    <a:solidFill>
                      <a:srgbClr val="26B8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B8C5"/>
                      </a:solidFill>
                      <a:prstDash val="solid"/>
                    </a:lnL>
                    <a:lnR w="9525" cap="flat" cmpd="sng" algn="ctr">
                      <a:solidFill>
                        <a:srgbClr val="26B8C5"/>
                      </a:solidFill>
                      <a:prstDash val="solid"/>
                    </a:lnR>
                    <a:lnT w="9525" cap="flat" cmpd="sng" algn="ctr">
                      <a:solidFill>
                        <a:srgbClr val="26B8C5"/>
                      </a:solidFill>
                      <a:prstDash val="solid"/>
                    </a:lnT>
                    <a:lnB w="9525" cap="flat" cmpd="sng" algn="ctr">
                      <a:solidFill>
                        <a:srgbClr val="26B8C5"/>
                      </a:solidFill>
                      <a:prstDash val="solid"/>
                    </a:lnB>
                    <a:solidFill>
                      <a:srgbClr val="26B8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B8C5"/>
                      </a:solidFill>
                      <a:prstDash val="solid"/>
                    </a:lnL>
                    <a:lnR w="9525" cap="flat" cmpd="sng" algn="ctr">
                      <a:solidFill>
                        <a:srgbClr val="26B8C5"/>
                      </a:solidFill>
                      <a:prstDash val="solid"/>
                    </a:lnR>
                    <a:lnT w="9525" cap="flat" cmpd="sng" algn="ctr">
                      <a:solidFill>
                        <a:srgbClr val="26B8C5"/>
                      </a:solidFill>
                      <a:prstDash val="solid"/>
                    </a:lnT>
                    <a:lnB w="9525" cap="flat" cmpd="sng" algn="ctr">
                      <a:solidFill>
                        <a:srgbClr val="26B8C5"/>
                      </a:solidFill>
                      <a:prstDash val="solid"/>
                    </a:lnB>
                    <a:solidFill>
                      <a:srgbClr val="26B8C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595F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D1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595F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D1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EE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EE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EEFBF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595F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D1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595F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D1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EE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EE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EEFBF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595F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D1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595F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D1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EE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EE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EEFBF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595F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D1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595F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D1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EE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EE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EEFB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26B8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1F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95F"/>
                </a:solidFill>
              </a:rPr>
              <a:t>월 보험료 한눈에</a:t>
            </a:r>
          </a:p>
        </p:txBody>
      </p:sp>
      <p:sp>
        <p:nvSpPr>
          <p:cNvPr id="5" name="카드 1"/>
          <p:cNvSpPr/>
          <p:nvPr/>
        </p:nvSpPr>
        <p:spPr>
          <a:xfrm>
            <a:off x="822960" y="1554480"/>
            <a:ext cx="3362858" cy="2926080"/>
          </a:xfrm>
          <a:prstGeom prst="roundRect">
            <a:avLst>
              <a:gd name="adj" fmla="val 8000"/>
            </a:avLst>
          </a:prstGeom>
          <a:solidFill>
            <a:srgbClr val="EEFBFC"/>
          </a:solidFill>
          <a:ln w="15875">
            <a:solidFill>
              <a:srgbClr val="D1F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05840" y="1737360"/>
            <a:ext cx="457200" cy="457200"/>
          </a:xfrm>
          <a:prstGeom prst="ellipse">
            <a:avLst/>
          </a:prstGeom>
          <a:solidFill>
            <a:srgbClr val="26B8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595F"/>
                </a:solidFill>
              </a:rPr>
              <a:t>월 보험료 합계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308853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9" name="카드 2"/>
          <p:cNvSpPr/>
          <p:nvPr/>
        </p:nvSpPr>
        <p:spPr>
          <a:xfrm>
            <a:off x="4414418" y="1554480"/>
            <a:ext cx="3362858" cy="2926080"/>
          </a:xfrm>
          <a:prstGeom prst="roundRect">
            <a:avLst>
              <a:gd name="adj" fmla="val 8000"/>
            </a:avLst>
          </a:prstGeom>
          <a:solidFill>
            <a:srgbClr val="EEFBFC"/>
          </a:solidFill>
          <a:ln w="15875">
            <a:solidFill>
              <a:srgbClr val="D1F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97298" y="1737360"/>
            <a:ext cx="457200" cy="457200"/>
          </a:xfrm>
          <a:prstGeom prst="ellipse">
            <a:avLst/>
          </a:prstGeom>
          <a:solidFill>
            <a:srgbClr val="26B8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1578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595F"/>
                </a:solidFill>
              </a:rPr>
              <a:t>연 보험료 합계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1578" y="3017520"/>
            <a:ext cx="308853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3" name="카드 3"/>
          <p:cNvSpPr/>
          <p:nvPr/>
        </p:nvSpPr>
        <p:spPr>
          <a:xfrm>
            <a:off x="8005876" y="1554480"/>
            <a:ext cx="3362858" cy="2926080"/>
          </a:xfrm>
          <a:prstGeom prst="roundRect">
            <a:avLst>
              <a:gd name="adj" fmla="val 8000"/>
            </a:avLst>
          </a:prstGeom>
          <a:solidFill>
            <a:srgbClr val="EEFBFC"/>
          </a:solidFill>
          <a:ln w="15875">
            <a:solidFill>
              <a:srgbClr val="D1F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188756" y="1737360"/>
            <a:ext cx="457200" cy="457200"/>
          </a:xfrm>
          <a:prstGeom prst="ellipse">
            <a:avLst/>
          </a:prstGeom>
          <a:solidFill>
            <a:srgbClr val="26B8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3036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595F"/>
                </a:solidFill>
              </a:rPr>
              <a:t>월 소득 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3036" y="3017520"/>
            <a:ext cx="308853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7" name="안내"/>
          <p:cNvSpPr txBox="1"/>
          <p:nvPr/>
        </p:nvSpPr>
        <p:spPr>
          <a:xfrm>
            <a:off x="822960" y="4663440"/>
            <a:ext cx="1054577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26B8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1F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95F"/>
                </a:solidFill>
              </a:rPr>
              <a:t>점검 메모와 다음 할 일</a:t>
            </a:r>
          </a:p>
        </p:txBody>
      </p:sp>
      <p:sp>
        <p:nvSpPr>
          <p:cNvPr id="5" name="카드 1"/>
          <p:cNvSpPr/>
          <p:nvPr/>
        </p:nvSpPr>
        <p:spPr>
          <a:xfrm>
            <a:off x="822960" y="1554480"/>
            <a:ext cx="3362858" cy="3977639"/>
          </a:xfrm>
          <a:prstGeom prst="roundRect">
            <a:avLst>
              <a:gd name="adj" fmla="val 8000"/>
            </a:avLst>
          </a:prstGeom>
          <a:solidFill>
            <a:srgbClr val="EEFBFC"/>
          </a:solidFill>
          <a:ln w="15875">
            <a:solidFill>
              <a:srgbClr val="D1F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05840" y="1737360"/>
            <a:ext cx="457200" cy="457200"/>
          </a:xfrm>
          <a:prstGeom prst="ellipse">
            <a:avLst/>
          </a:prstGeom>
          <a:solidFill>
            <a:srgbClr val="26B8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95F"/>
                </a:solidFill>
              </a:rPr>
              <a:t>확인할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308853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414418" y="1554480"/>
            <a:ext cx="3362858" cy="3977639"/>
          </a:xfrm>
          <a:prstGeom prst="roundRect">
            <a:avLst>
              <a:gd name="adj" fmla="val 8000"/>
            </a:avLst>
          </a:prstGeom>
          <a:solidFill>
            <a:srgbClr val="EEFBFC"/>
          </a:solidFill>
          <a:ln w="15875">
            <a:solidFill>
              <a:srgbClr val="D1F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97298" y="1737360"/>
            <a:ext cx="457200" cy="457200"/>
          </a:xfrm>
          <a:prstGeom prst="ellipse">
            <a:avLst/>
          </a:prstGeom>
          <a:solidFill>
            <a:srgbClr val="26B8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1578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95F"/>
                </a:solidFill>
              </a:rPr>
              <a:t>문의할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1578" y="3017520"/>
            <a:ext cx="308853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05876" y="1554480"/>
            <a:ext cx="3362858" cy="3977639"/>
          </a:xfrm>
          <a:prstGeom prst="roundRect">
            <a:avLst>
              <a:gd name="adj" fmla="val 8000"/>
            </a:avLst>
          </a:prstGeom>
          <a:solidFill>
            <a:srgbClr val="EEFBFC"/>
          </a:solidFill>
          <a:ln w="15875">
            <a:solidFill>
              <a:srgbClr val="D1F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188756" y="1737360"/>
            <a:ext cx="457200" cy="457200"/>
          </a:xfrm>
          <a:prstGeom prst="ellipse">
            <a:avLst/>
          </a:prstGeom>
          <a:solidFill>
            <a:srgbClr val="26B8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3036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95F"/>
                </a:solidFill>
              </a:rPr>
              <a:t>정리할 날짜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3036" y="3017520"/>
            <a:ext cx="308853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822960" y="5623560"/>
            <a:ext cx="1054577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모님 점검)">
  <a:themeElements>
    <a:clrScheme name="Office">
      <a:dk1>
        <a:sysClr val="windowText" lastClr="000000"/>
      </a:dk1>
      <a:lt1>
        <a:sysClr val="window" lastClr="FFFFFF"/>
      </a:lt1>
      <a:dk2>
        <a:srgbClr val="11595F"/>
      </a:dk2>
      <a:lt2>
        <a:srgbClr val="EEFBFC"/>
      </a:lt2>
      <a:accent1>
        <a:srgbClr val="26B8C5"/>
      </a:accent1>
      <a:accent2>
        <a:srgbClr val="209DB6"/>
      </a:accent2>
      <a:accent3>
        <a:srgbClr val="11595F"/>
      </a:accent3>
      <a:accent4>
        <a:srgbClr val="D1F7FA"/>
      </a:accent4>
      <a:accent5>
        <a:srgbClr val="23AABE"/>
      </a:accent5>
      <a:accent6>
        <a:srgbClr val="709B9F"/>
      </a:accent6>
      <a:hlink>
        <a:srgbClr val="26B8C5"/>
      </a:hlink>
      <a:folHlink>
        <a:srgbClr val="11595F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