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review-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83A23"/>
                </a:solidFill>
              </a:rPr>
              <a:t>우리 보험 점검 시간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83A23"/>
                </a:solidFill>
              </a:rPr>
              <a:t>새해 계획 세울 때 같이 봅니다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부부 점검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2EF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2965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83A23"/>
                </a:solidFill>
              </a:rPr>
              <a:t>점검 대상 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4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37178"/>
                <a:gridCol w="3637178"/>
                <a:gridCol w="3637178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9653D"/>
                      </a:solidFill>
                      <a:prstDash val="solid"/>
                    </a:lnL>
                    <a:lnR w="9525" cap="flat" cmpd="sng" algn="ctr">
                      <a:solidFill>
                        <a:srgbClr val="29653D"/>
                      </a:solidFill>
                      <a:prstDash val="solid"/>
                    </a:lnR>
                    <a:lnT w="9525" cap="flat" cmpd="sng" algn="ctr">
                      <a:solidFill>
                        <a:srgbClr val="29653D"/>
                      </a:solidFill>
                      <a:prstDash val="solid"/>
                    </a:lnT>
                    <a:lnB w="9525" cap="flat" cmpd="sng" algn="ctr">
                      <a:solidFill>
                        <a:srgbClr val="29653D"/>
                      </a:solidFill>
                      <a:prstDash val="solid"/>
                    </a:lnB>
                    <a:solidFill>
                      <a:srgbClr val="2965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남편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9653D"/>
                      </a:solidFill>
                      <a:prstDash val="solid"/>
                    </a:lnL>
                    <a:lnR w="9525" cap="flat" cmpd="sng" algn="ctr">
                      <a:solidFill>
                        <a:srgbClr val="29653D"/>
                      </a:solidFill>
                      <a:prstDash val="solid"/>
                    </a:lnR>
                    <a:lnT w="9525" cap="flat" cmpd="sng" algn="ctr">
                      <a:solidFill>
                        <a:srgbClr val="29653D"/>
                      </a:solidFill>
                      <a:prstDash val="solid"/>
                    </a:lnT>
                    <a:lnB w="9525" cap="flat" cmpd="sng" algn="ctr">
                      <a:solidFill>
                        <a:srgbClr val="29653D"/>
                      </a:solidFill>
                      <a:prstDash val="solid"/>
                    </a:lnB>
                    <a:solidFill>
                      <a:srgbClr val="2965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아내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9653D"/>
                      </a:solidFill>
                      <a:prstDash val="solid"/>
                    </a:lnL>
                    <a:lnR w="9525" cap="flat" cmpd="sng" algn="ctr">
                      <a:solidFill>
                        <a:srgbClr val="29653D"/>
                      </a:solidFill>
                      <a:prstDash val="solid"/>
                    </a:lnR>
                    <a:lnT w="9525" cap="flat" cmpd="sng" algn="ctr">
                      <a:solidFill>
                        <a:srgbClr val="29653D"/>
                      </a:solidFill>
                      <a:prstDash val="solid"/>
                    </a:lnT>
                    <a:lnB w="9525" cap="flat" cmpd="sng" algn="ctr">
                      <a:solidFill>
                        <a:srgbClr val="29653D"/>
                      </a:solidFill>
                      <a:prstDash val="solid"/>
                    </a:lnB>
                    <a:solidFill>
                      <a:srgbClr val="29653D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83A23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D2EF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83A23"/>
                          </a:solidFill>
                        </a:rPr>
                        <a:t>나이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D2EF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1F9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1F9F3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83A23"/>
                          </a:solidFill>
                        </a:rPr>
                        <a:t>직업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D2EF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83A23"/>
                          </a:solidFill>
                        </a:rPr>
                        <a:t>건강 상태 메모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D2EF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1F9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1F9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2EF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2965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83A23"/>
                </a:solidFill>
              </a:rPr>
              <a:t>가입한 보험 목록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213329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9653D"/>
                      </a:solidFill>
                      <a:prstDash val="solid"/>
                    </a:lnL>
                    <a:lnR w="9525" cap="flat" cmpd="sng" algn="ctr">
                      <a:solidFill>
                        <a:srgbClr val="29653D"/>
                      </a:solidFill>
                      <a:prstDash val="solid"/>
                    </a:lnR>
                    <a:lnT w="9525" cap="flat" cmpd="sng" algn="ctr">
                      <a:solidFill>
                        <a:srgbClr val="29653D"/>
                      </a:solidFill>
                      <a:prstDash val="solid"/>
                    </a:lnT>
                    <a:lnB w="9525" cap="flat" cmpd="sng" algn="ctr">
                      <a:solidFill>
                        <a:srgbClr val="29653D"/>
                      </a:solidFill>
                      <a:prstDash val="solid"/>
                    </a:lnB>
                    <a:solidFill>
                      <a:srgbClr val="2965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9653D"/>
                      </a:solidFill>
                      <a:prstDash val="solid"/>
                    </a:lnL>
                    <a:lnR w="9525" cap="flat" cmpd="sng" algn="ctr">
                      <a:solidFill>
                        <a:srgbClr val="29653D"/>
                      </a:solidFill>
                      <a:prstDash val="solid"/>
                    </a:lnR>
                    <a:lnT w="9525" cap="flat" cmpd="sng" algn="ctr">
                      <a:solidFill>
                        <a:srgbClr val="29653D"/>
                      </a:solidFill>
                      <a:prstDash val="solid"/>
                    </a:lnT>
                    <a:lnB w="9525" cap="flat" cmpd="sng" algn="ctr">
                      <a:solidFill>
                        <a:srgbClr val="29653D"/>
                      </a:solidFill>
                      <a:prstDash val="solid"/>
                    </a:lnB>
                    <a:solidFill>
                      <a:srgbClr val="2965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9653D"/>
                      </a:solidFill>
                      <a:prstDash val="solid"/>
                    </a:lnL>
                    <a:lnR w="9525" cap="flat" cmpd="sng" algn="ctr">
                      <a:solidFill>
                        <a:srgbClr val="29653D"/>
                      </a:solidFill>
                      <a:prstDash val="solid"/>
                    </a:lnR>
                    <a:lnT w="9525" cap="flat" cmpd="sng" algn="ctr">
                      <a:solidFill>
                        <a:srgbClr val="29653D"/>
                      </a:solidFill>
                      <a:prstDash val="solid"/>
                    </a:lnT>
                    <a:lnB w="9525" cap="flat" cmpd="sng" algn="ctr">
                      <a:solidFill>
                        <a:srgbClr val="29653D"/>
                      </a:solidFill>
                      <a:prstDash val="solid"/>
                    </a:lnB>
                    <a:solidFill>
                      <a:srgbClr val="2965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9653D"/>
                      </a:solidFill>
                      <a:prstDash val="solid"/>
                    </a:lnL>
                    <a:lnR w="9525" cap="flat" cmpd="sng" algn="ctr">
                      <a:solidFill>
                        <a:srgbClr val="29653D"/>
                      </a:solidFill>
                      <a:prstDash val="solid"/>
                    </a:lnR>
                    <a:lnT w="9525" cap="flat" cmpd="sng" algn="ctr">
                      <a:solidFill>
                        <a:srgbClr val="29653D"/>
                      </a:solidFill>
                      <a:prstDash val="solid"/>
                    </a:lnT>
                    <a:lnB w="9525" cap="flat" cmpd="sng" algn="ctr">
                      <a:solidFill>
                        <a:srgbClr val="29653D"/>
                      </a:solidFill>
                      <a:prstDash val="solid"/>
                    </a:lnB>
                    <a:solidFill>
                      <a:srgbClr val="2965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9653D"/>
                      </a:solidFill>
                      <a:prstDash val="solid"/>
                    </a:lnL>
                    <a:lnR w="9525" cap="flat" cmpd="sng" algn="ctr">
                      <a:solidFill>
                        <a:srgbClr val="29653D"/>
                      </a:solidFill>
                      <a:prstDash val="solid"/>
                    </a:lnR>
                    <a:lnT w="9525" cap="flat" cmpd="sng" algn="ctr">
                      <a:solidFill>
                        <a:srgbClr val="29653D"/>
                      </a:solidFill>
                      <a:prstDash val="solid"/>
                    </a:lnT>
                    <a:lnB w="9525" cap="flat" cmpd="sng" algn="ctr">
                      <a:solidFill>
                        <a:srgbClr val="29653D"/>
                      </a:solidFill>
                      <a:prstDash val="solid"/>
                    </a:lnB>
                    <a:solidFill>
                      <a:srgbClr val="29653D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1F9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1F9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1F9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1F9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1F9F3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1F9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1F9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1F9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1F9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1F9F3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1F9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1F9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1F9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1F9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1F9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2EF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2965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83A23"/>
                </a:solidFill>
              </a:rPr>
              <a:t>보장 항목 체크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417978"/>
                <a:gridCol w="2417978"/>
                <a:gridCol w="241797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9653D"/>
                      </a:solidFill>
                      <a:prstDash val="solid"/>
                    </a:lnL>
                    <a:lnR w="9525" cap="flat" cmpd="sng" algn="ctr">
                      <a:solidFill>
                        <a:srgbClr val="29653D"/>
                      </a:solidFill>
                      <a:prstDash val="solid"/>
                    </a:lnR>
                    <a:lnT w="9525" cap="flat" cmpd="sng" algn="ctr">
                      <a:solidFill>
                        <a:srgbClr val="29653D"/>
                      </a:solidFill>
                      <a:prstDash val="solid"/>
                    </a:lnT>
                    <a:lnB w="9525" cap="flat" cmpd="sng" algn="ctr">
                      <a:solidFill>
                        <a:srgbClr val="29653D"/>
                      </a:solidFill>
                      <a:prstDash val="solid"/>
                    </a:lnB>
                    <a:solidFill>
                      <a:srgbClr val="2965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9653D"/>
                      </a:solidFill>
                      <a:prstDash val="solid"/>
                    </a:lnL>
                    <a:lnR w="9525" cap="flat" cmpd="sng" algn="ctr">
                      <a:solidFill>
                        <a:srgbClr val="29653D"/>
                      </a:solidFill>
                      <a:prstDash val="solid"/>
                    </a:lnR>
                    <a:lnT w="9525" cap="flat" cmpd="sng" algn="ctr">
                      <a:solidFill>
                        <a:srgbClr val="29653D"/>
                      </a:solidFill>
                      <a:prstDash val="solid"/>
                    </a:lnT>
                    <a:lnB w="9525" cap="flat" cmpd="sng" algn="ctr">
                      <a:solidFill>
                        <a:srgbClr val="29653D"/>
                      </a:solidFill>
                      <a:prstDash val="solid"/>
                    </a:lnB>
                    <a:solidFill>
                      <a:srgbClr val="2965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9653D"/>
                      </a:solidFill>
                      <a:prstDash val="solid"/>
                    </a:lnL>
                    <a:lnR w="9525" cap="flat" cmpd="sng" algn="ctr">
                      <a:solidFill>
                        <a:srgbClr val="29653D"/>
                      </a:solidFill>
                      <a:prstDash val="solid"/>
                    </a:lnR>
                    <a:lnT w="9525" cap="flat" cmpd="sng" algn="ctr">
                      <a:solidFill>
                        <a:srgbClr val="29653D"/>
                      </a:solidFill>
                      <a:prstDash val="solid"/>
                    </a:lnT>
                    <a:lnB w="9525" cap="flat" cmpd="sng" algn="ctr">
                      <a:solidFill>
                        <a:srgbClr val="29653D"/>
                      </a:solidFill>
                      <a:prstDash val="solid"/>
                    </a:lnB>
                    <a:solidFill>
                      <a:srgbClr val="2965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9653D"/>
                      </a:solidFill>
                      <a:prstDash val="solid"/>
                    </a:lnL>
                    <a:lnR w="9525" cap="flat" cmpd="sng" algn="ctr">
                      <a:solidFill>
                        <a:srgbClr val="29653D"/>
                      </a:solidFill>
                      <a:prstDash val="solid"/>
                    </a:lnR>
                    <a:lnT w="9525" cap="flat" cmpd="sng" algn="ctr">
                      <a:solidFill>
                        <a:srgbClr val="29653D"/>
                      </a:solidFill>
                      <a:prstDash val="solid"/>
                    </a:lnT>
                    <a:lnB w="9525" cap="flat" cmpd="sng" algn="ctr">
                      <a:solidFill>
                        <a:srgbClr val="29653D"/>
                      </a:solidFill>
                      <a:prstDash val="solid"/>
                    </a:lnB>
                    <a:solidFill>
                      <a:srgbClr val="29653D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83A23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D2EF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83A23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D2EF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1F9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1F9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1F9F3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83A23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D2EF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83A23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D2EF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1F9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1F9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1F9F3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83A23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D2EF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83A23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D2EF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1F9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1F9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1F9F3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83A23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D2EF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83A23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D2EF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1F9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1F9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2EFDC"/>
                      </a:solidFill>
                      <a:prstDash val="solid"/>
                    </a:lnL>
                    <a:lnR w="9525" cap="flat" cmpd="sng" algn="ctr">
                      <a:solidFill>
                        <a:srgbClr val="D2EFDC"/>
                      </a:solidFill>
                      <a:prstDash val="solid"/>
                    </a:lnR>
                    <a:lnT w="9525" cap="flat" cmpd="sng" algn="ctr">
                      <a:solidFill>
                        <a:srgbClr val="D2EFDC"/>
                      </a:solidFill>
                      <a:prstDash val="solid"/>
                    </a:lnT>
                    <a:lnB w="9525" cap="flat" cmpd="sng" algn="ctr">
                      <a:solidFill>
                        <a:srgbClr val="D2EFDC"/>
                      </a:solidFill>
                      <a:prstDash val="solid"/>
                    </a:lnB>
                    <a:solidFill>
                      <a:srgbClr val="F1F9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2EF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2965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83A23"/>
                </a:solidFill>
              </a:rPr>
              <a:t>월 보험료 한눈에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1F9F3"/>
          </a:solidFill>
          <a:ln w="15875">
            <a:solidFill>
              <a:srgbClr val="D2EF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29653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83A23"/>
                </a:solidFill>
              </a:rPr>
              <a:t>월 보험료 합계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1F9F3"/>
          </a:solidFill>
          <a:ln w="15875">
            <a:solidFill>
              <a:srgbClr val="D2EF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1783080"/>
            <a:ext cx="457200" cy="457200"/>
          </a:xfrm>
          <a:prstGeom prst="ellipse">
            <a:avLst/>
          </a:prstGeom>
          <a:solidFill>
            <a:srgbClr val="29653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83A23"/>
                </a:solidFill>
              </a:rPr>
              <a:t>연 보험료 합계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1F9F3"/>
          </a:solidFill>
          <a:ln w="15875">
            <a:solidFill>
              <a:srgbClr val="D2EF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1783080"/>
            <a:ext cx="457200" cy="457200"/>
          </a:xfrm>
          <a:prstGeom prst="ellipse">
            <a:avLst/>
          </a:prstGeom>
          <a:solidFill>
            <a:srgbClr val="29653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83A23"/>
                </a:solidFill>
              </a:rPr>
              <a:t>월 소득 대비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0 %</a:t>
            </a:r>
          </a:p>
        </p:txBody>
      </p:sp>
      <p:sp>
        <p:nvSpPr>
          <p:cNvPr id="17" name="안내"/>
          <p:cNvSpPr txBox="1"/>
          <p:nvPr/>
        </p:nvSpPr>
        <p:spPr>
          <a:xfrm>
            <a:off x="640080" y="4709160"/>
            <a:ext cx="1091153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2EF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2965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83A23"/>
                </a:solidFill>
              </a:rPr>
              <a:t>점검 메모와 다음 할 일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F1F9F3"/>
          </a:solidFill>
          <a:ln w="15875">
            <a:solidFill>
              <a:srgbClr val="D2EF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29653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83A23"/>
                </a:solidFill>
              </a:rPr>
              <a:t>확인할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F1F9F3"/>
          </a:solidFill>
          <a:ln w="15875">
            <a:solidFill>
              <a:srgbClr val="D2EF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1783080"/>
            <a:ext cx="457200" cy="457200"/>
          </a:xfrm>
          <a:prstGeom prst="ellipse">
            <a:avLst/>
          </a:prstGeom>
          <a:solidFill>
            <a:srgbClr val="29653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83A23"/>
                </a:solidFill>
              </a:rPr>
              <a:t>문의할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F1F9F3"/>
          </a:solidFill>
          <a:ln w="15875">
            <a:solidFill>
              <a:srgbClr val="D2EF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1783080"/>
            <a:ext cx="457200" cy="457200"/>
          </a:xfrm>
          <a:prstGeom prst="ellipse">
            <a:avLst/>
          </a:prstGeom>
          <a:solidFill>
            <a:srgbClr val="29653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83A23"/>
                </a:solidFill>
              </a:rPr>
              <a:t>정리할 날짜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7" name="안내 문구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부부 점검)">
  <a:themeElements>
    <a:clrScheme name="Office">
      <a:dk1>
        <a:sysClr val="windowText" lastClr="000000"/>
      </a:dk1>
      <a:lt1>
        <a:sysClr val="window" lastClr="FFFFFF"/>
      </a:lt1>
      <a:dk2>
        <a:srgbClr val="183A23"/>
      </a:dk2>
      <a:lt2>
        <a:srgbClr val="F1F9F3"/>
      </a:lt2>
      <a:accent1>
        <a:srgbClr val="29653D"/>
      </a:accent1>
      <a:accent2>
        <a:srgbClr val="833B91"/>
      </a:accent2>
      <a:accent3>
        <a:srgbClr val="183A23"/>
      </a:accent3>
      <a:accent4>
        <a:srgbClr val="D2EFDC"/>
      </a:accent4>
      <a:accent5>
        <a:srgbClr val="565067"/>
      </a:accent5>
      <a:accent6>
        <a:srgbClr val="74897B"/>
      </a:accent6>
      <a:hlink>
        <a:srgbClr val="29653D"/>
      </a:hlink>
      <a:folHlink>
        <a:srgbClr val="183A23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발표자료(부부 점검)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