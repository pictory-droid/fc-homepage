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E2D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3154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778020" y="1965960"/>
            <a:ext cx="2377440" cy="237744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3657600"/>
            <a:ext cx="7315017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0"/>
            <a:ext cx="7315017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53949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사업 계획 전에 점검합니다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626364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사업장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round2SameRec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내용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527"/>
                          </a:solidFill>
                        </a:rPr>
                        <a:t>상호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527"/>
                          </a:solidFill>
                        </a:rPr>
                        <a:t>업종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527"/>
                          </a:solidFill>
                        </a:rPr>
                        <a:t>직원 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3527"/>
                          </a:solidFill>
                        </a:rPr>
                        <a:t>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round2SameRec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round2SameRec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B598"/>
                      </a:solidFill>
                      <a:prstDash val="solid"/>
                    </a:lnL>
                    <a:lnR w="9525" cap="flat" cmpd="sng" algn="ctr">
                      <a:solidFill>
                        <a:srgbClr val="E1B598"/>
                      </a:solidFill>
                      <a:prstDash val="solid"/>
                    </a:lnR>
                    <a:lnT w="9525" cap="flat" cmpd="sng" algn="ctr">
                      <a:solidFill>
                        <a:srgbClr val="E1B598"/>
                      </a:solidFill>
                      <a:prstDash val="solid"/>
                    </a:lnT>
                    <a:lnB w="9525" cap="flat" cmpd="sng" algn="ctr">
                      <a:solidFill>
                        <a:srgbClr val="E1B598"/>
                      </a:solidFill>
                      <a:prstDash val="solid"/>
                    </a:lnB>
                    <a:solidFill>
                      <a:srgbClr val="E1B598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527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527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527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527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527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527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527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3527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round2SameRec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C6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527"/>
                </a:solidFill>
              </a:rPr>
              <a:t>월 보험료 합계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C6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527"/>
                </a:solidFill>
              </a:rPr>
              <a:t>연 보험료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C6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3527"/>
                </a:solidFill>
              </a:rPr>
              <a:t>월 소득 대비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9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6" name="포인트"/>
          <p:cNvSpPr/>
          <p:nvPr/>
        </p:nvSpPr>
        <p:spPr>
          <a:xfrm>
            <a:off x="11213287" y="6473952"/>
            <a:ext cx="219456" cy="219456"/>
          </a:xfrm>
          <a:prstGeom prst="round2SameRect">
            <a:avLst/>
          </a:prstGeom>
          <a:solidFill>
            <a:srgbClr val="E1B59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60020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C6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확인할 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카드 2"/>
          <p:cNvSpPr/>
          <p:nvPr/>
        </p:nvSpPr>
        <p:spPr>
          <a:xfrm>
            <a:off x="4353458" y="160020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C6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문의할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5" name="카드 3"/>
          <p:cNvSpPr/>
          <p:nvPr/>
        </p:nvSpPr>
        <p:spPr>
          <a:xfrm>
            <a:off x="8066836" y="160020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C6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B5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정리할 날짜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9" name="안내 문구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사업장 점검)">
  <a:themeElements>
    <a:clrScheme name="Office">
      <a:dk1>
        <a:sysClr val="windowText" lastClr="000000"/>
      </a:dk1>
      <a:lt1>
        <a:sysClr val="window" lastClr="FFFFFF"/>
      </a:lt1>
      <a:dk2>
        <a:srgbClr val="493527"/>
      </a:dk2>
      <a:lt2>
        <a:srgbClr val="FBF2EC"/>
      </a:lt2>
      <a:accent1>
        <a:srgbClr val="E1B598"/>
      </a:accent1>
      <a:accent2>
        <a:srgbClr val="EAE4B8"/>
      </a:accent2>
      <a:accent3>
        <a:srgbClr val="493527"/>
      </a:accent3>
      <a:accent4>
        <a:srgbClr val="F6E2D5"/>
      </a:accent4>
      <a:accent5>
        <a:srgbClr val="E6CCA8"/>
      </a:accent5>
      <a:accent6>
        <a:srgbClr val="92867D"/>
      </a:accent6>
      <a:hlink>
        <a:srgbClr val="E1B598"/>
      </a:hlink>
      <a:folHlink>
        <a:srgbClr val="4935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