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4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53A41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253A41"/>
                </a:solidFill>
              </a:rPr>
              <a:t>이름과 증권 번호를 한 줄씩 옮겨 적습니다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본인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점검 대상 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4592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55767"/>
                <a:gridCol w="545576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7483"/>
                      </a:solidFill>
                      <a:prstDash val="solid"/>
                    </a:lnL>
                    <a:lnR w="9525" cap="flat" cmpd="sng" algn="ctr">
                      <a:solidFill>
                        <a:srgbClr val="497483"/>
                      </a:solidFill>
                      <a:prstDash val="solid"/>
                    </a:lnR>
                    <a:lnT w="9525" cap="flat" cmpd="sng" algn="ctr">
                      <a:solidFill>
                        <a:srgbClr val="497483"/>
                      </a:solidFill>
                      <a:prstDash val="solid"/>
                    </a:lnT>
                    <a:lnB w="9525" cap="flat" cmpd="sng" algn="ctr">
                      <a:solidFill>
                        <a:srgbClr val="497483"/>
                      </a:solidFill>
                      <a:prstDash val="solid"/>
                    </a:lnB>
                    <a:solidFill>
                      <a:srgbClr val="49748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7483"/>
                      </a:solidFill>
                      <a:prstDash val="solid"/>
                    </a:lnL>
                    <a:lnR w="9525" cap="flat" cmpd="sng" algn="ctr">
                      <a:solidFill>
                        <a:srgbClr val="497483"/>
                      </a:solidFill>
                      <a:prstDash val="solid"/>
                    </a:lnR>
                    <a:lnT w="9525" cap="flat" cmpd="sng" algn="ctr">
                      <a:solidFill>
                        <a:srgbClr val="497483"/>
                      </a:solidFill>
                      <a:prstDash val="solid"/>
                    </a:lnT>
                    <a:lnB w="9525" cap="flat" cmpd="sng" algn="ctr">
                      <a:solidFill>
                        <a:srgbClr val="497483"/>
                      </a:solidFill>
                      <a:prstDash val="solid"/>
                    </a:lnB>
                    <a:solidFill>
                      <a:srgbClr val="497483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53A41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D6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53A41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D6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53A41"/>
                          </a:solidFill>
                        </a:rPr>
                        <a:t>직업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D6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253A41"/>
                          </a:solidFill>
                        </a:rPr>
                        <a:t>가족 구성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D6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가입한 보험 목록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4592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7483"/>
                      </a:solidFill>
                      <a:prstDash val="solid"/>
                    </a:lnL>
                    <a:lnR w="9525" cap="flat" cmpd="sng" algn="ctr">
                      <a:solidFill>
                        <a:srgbClr val="497483"/>
                      </a:solidFill>
                      <a:prstDash val="solid"/>
                    </a:lnR>
                    <a:lnT w="9525" cap="flat" cmpd="sng" algn="ctr">
                      <a:solidFill>
                        <a:srgbClr val="497483"/>
                      </a:solidFill>
                      <a:prstDash val="solid"/>
                    </a:lnT>
                    <a:lnB w="9525" cap="flat" cmpd="sng" algn="ctr">
                      <a:solidFill>
                        <a:srgbClr val="497483"/>
                      </a:solidFill>
                      <a:prstDash val="solid"/>
                    </a:lnB>
                    <a:solidFill>
                      <a:srgbClr val="49748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7483"/>
                      </a:solidFill>
                      <a:prstDash val="solid"/>
                    </a:lnL>
                    <a:lnR w="9525" cap="flat" cmpd="sng" algn="ctr">
                      <a:solidFill>
                        <a:srgbClr val="497483"/>
                      </a:solidFill>
                      <a:prstDash val="solid"/>
                    </a:lnR>
                    <a:lnT w="9525" cap="flat" cmpd="sng" algn="ctr">
                      <a:solidFill>
                        <a:srgbClr val="497483"/>
                      </a:solidFill>
                      <a:prstDash val="solid"/>
                    </a:lnT>
                    <a:lnB w="9525" cap="flat" cmpd="sng" algn="ctr">
                      <a:solidFill>
                        <a:srgbClr val="497483"/>
                      </a:solidFill>
                      <a:prstDash val="solid"/>
                    </a:lnB>
                    <a:solidFill>
                      <a:srgbClr val="49748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7483"/>
                      </a:solidFill>
                      <a:prstDash val="solid"/>
                    </a:lnL>
                    <a:lnR w="9525" cap="flat" cmpd="sng" algn="ctr">
                      <a:solidFill>
                        <a:srgbClr val="497483"/>
                      </a:solidFill>
                      <a:prstDash val="solid"/>
                    </a:lnR>
                    <a:lnT w="9525" cap="flat" cmpd="sng" algn="ctr">
                      <a:solidFill>
                        <a:srgbClr val="497483"/>
                      </a:solidFill>
                      <a:prstDash val="solid"/>
                    </a:lnT>
                    <a:lnB w="9525" cap="flat" cmpd="sng" algn="ctr">
                      <a:solidFill>
                        <a:srgbClr val="497483"/>
                      </a:solidFill>
                      <a:prstDash val="solid"/>
                    </a:lnB>
                    <a:solidFill>
                      <a:srgbClr val="49748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7483"/>
                      </a:solidFill>
                      <a:prstDash val="solid"/>
                    </a:lnL>
                    <a:lnR w="9525" cap="flat" cmpd="sng" algn="ctr">
                      <a:solidFill>
                        <a:srgbClr val="497483"/>
                      </a:solidFill>
                      <a:prstDash val="solid"/>
                    </a:lnR>
                    <a:lnT w="9525" cap="flat" cmpd="sng" algn="ctr">
                      <a:solidFill>
                        <a:srgbClr val="497483"/>
                      </a:solidFill>
                      <a:prstDash val="solid"/>
                    </a:lnT>
                    <a:lnB w="9525" cap="flat" cmpd="sng" algn="ctr">
                      <a:solidFill>
                        <a:srgbClr val="497483"/>
                      </a:solidFill>
                      <a:prstDash val="solid"/>
                    </a:lnB>
                    <a:solidFill>
                      <a:srgbClr val="49748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7483"/>
                      </a:solidFill>
                      <a:prstDash val="solid"/>
                    </a:lnL>
                    <a:lnR w="9525" cap="flat" cmpd="sng" algn="ctr">
                      <a:solidFill>
                        <a:srgbClr val="497483"/>
                      </a:solidFill>
                      <a:prstDash val="solid"/>
                    </a:lnR>
                    <a:lnT w="9525" cap="flat" cmpd="sng" algn="ctr">
                      <a:solidFill>
                        <a:srgbClr val="497483"/>
                      </a:solidFill>
                      <a:prstDash val="solid"/>
                    </a:lnT>
                    <a:lnB w="9525" cap="flat" cmpd="sng" algn="ctr">
                      <a:solidFill>
                        <a:srgbClr val="497483"/>
                      </a:solidFill>
                      <a:prstDash val="solid"/>
                    </a:lnB>
                    <a:solidFill>
                      <a:srgbClr val="49748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보장 항목 체크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640080" y="164592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7483"/>
                      </a:solidFill>
                      <a:prstDash val="solid"/>
                    </a:lnL>
                    <a:lnR w="9525" cap="flat" cmpd="sng" algn="ctr">
                      <a:solidFill>
                        <a:srgbClr val="497483"/>
                      </a:solidFill>
                      <a:prstDash val="solid"/>
                    </a:lnR>
                    <a:lnT w="9525" cap="flat" cmpd="sng" algn="ctr">
                      <a:solidFill>
                        <a:srgbClr val="497483"/>
                      </a:solidFill>
                      <a:prstDash val="solid"/>
                    </a:lnT>
                    <a:lnB w="9525" cap="flat" cmpd="sng" algn="ctr">
                      <a:solidFill>
                        <a:srgbClr val="497483"/>
                      </a:solidFill>
                      <a:prstDash val="solid"/>
                    </a:lnB>
                    <a:solidFill>
                      <a:srgbClr val="49748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7483"/>
                      </a:solidFill>
                      <a:prstDash val="solid"/>
                    </a:lnL>
                    <a:lnR w="9525" cap="flat" cmpd="sng" algn="ctr">
                      <a:solidFill>
                        <a:srgbClr val="497483"/>
                      </a:solidFill>
                      <a:prstDash val="solid"/>
                    </a:lnR>
                    <a:lnT w="9525" cap="flat" cmpd="sng" algn="ctr">
                      <a:solidFill>
                        <a:srgbClr val="497483"/>
                      </a:solidFill>
                      <a:prstDash val="solid"/>
                    </a:lnT>
                    <a:lnB w="9525" cap="flat" cmpd="sng" algn="ctr">
                      <a:solidFill>
                        <a:srgbClr val="497483"/>
                      </a:solidFill>
                      <a:prstDash val="solid"/>
                    </a:lnB>
                    <a:solidFill>
                      <a:srgbClr val="49748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7483"/>
                      </a:solidFill>
                      <a:prstDash val="solid"/>
                    </a:lnL>
                    <a:lnR w="9525" cap="flat" cmpd="sng" algn="ctr">
                      <a:solidFill>
                        <a:srgbClr val="497483"/>
                      </a:solidFill>
                      <a:prstDash val="solid"/>
                    </a:lnR>
                    <a:lnT w="9525" cap="flat" cmpd="sng" algn="ctr">
                      <a:solidFill>
                        <a:srgbClr val="497483"/>
                      </a:solidFill>
                      <a:prstDash val="solid"/>
                    </a:lnT>
                    <a:lnB w="9525" cap="flat" cmpd="sng" algn="ctr">
                      <a:solidFill>
                        <a:srgbClr val="497483"/>
                      </a:solidFill>
                      <a:prstDash val="solid"/>
                    </a:lnB>
                    <a:solidFill>
                      <a:srgbClr val="49748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97483"/>
                      </a:solidFill>
                      <a:prstDash val="solid"/>
                    </a:lnL>
                    <a:lnR w="9525" cap="flat" cmpd="sng" algn="ctr">
                      <a:solidFill>
                        <a:srgbClr val="497483"/>
                      </a:solidFill>
                      <a:prstDash val="solid"/>
                    </a:lnR>
                    <a:lnT w="9525" cap="flat" cmpd="sng" algn="ctr">
                      <a:solidFill>
                        <a:srgbClr val="497483"/>
                      </a:solidFill>
                      <a:prstDash val="solid"/>
                    </a:lnT>
                    <a:lnB w="9525" cap="flat" cmpd="sng" algn="ctr">
                      <a:solidFill>
                        <a:srgbClr val="497483"/>
                      </a:solidFill>
                      <a:prstDash val="solid"/>
                    </a:lnB>
                    <a:solidFill>
                      <a:srgbClr val="497483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53A41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D6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53A41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D6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53A41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D6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53A41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D6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53A41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D6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53A41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D6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53A41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D6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53A41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D6E5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6E5EA"/>
                      </a:solidFill>
                      <a:prstDash val="solid"/>
                    </a:lnL>
                    <a:lnR w="9525" cap="flat" cmpd="sng" algn="ctr">
                      <a:solidFill>
                        <a:srgbClr val="D6E5EA"/>
                      </a:solidFill>
                      <a:prstDash val="solid"/>
                    </a:lnR>
                    <a:lnT w="9525" cap="flat" cmpd="sng" algn="ctr">
                      <a:solidFill>
                        <a:srgbClr val="D6E5EA"/>
                      </a:solidFill>
                      <a:prstDash val="solid"/>
                    </a:lnT>
                    <a:lnB w="9525" cap="flat" cmpd="sng" algn="ctr">
                      <a:solidFill>
                        <a:srgbClr val="D6E5EA"/>
                      </a:solidFill>
                      <a:prstDash val="solid"/>
                    </a:lnB>
                    <a:solidFill>
                      <a:srgbClr val="F2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월 보험료 한눈에</a:t>
            </a:r>
          </a:p>
        </p:txBody>
      </p:sp>
      <p:sp>
        <p:nvSpPr>
          <p:cNvPr id="4" name="카드 1"/>
          <p:cNvSpPr/>
          <p:nvPr/>
        </p:nvSpPr>
        <p:spPr>
          <a:xfrm>
            <a:off x="640080" y="164592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2F6F8"/>
          </a:solidFill>
          <a:ln w="15875">
            <a:solidFill>
              <a:srgbClr val="D6E5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49748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53A41"/>
                </a:solidFill>
              </a:rPr>
              <a:t>월 보험료 합계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0896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8" name="카드 2"/>
          <p:cNvSpPr/>
          <p:nvPr/>
        </p:nvSpPr>
        <p:spPr>
          <a:xfrm>
            <a:off x="4353458" y="164592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2F6F8"/>
          </a:solidFill>
          <a:ln w="15875">
            <a:solidFill>
              <a:srgbClr val="D6E5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36338" y="1828800"/>
            <a:ext cx="457200" cy="457200"/>
          </a:xfrm>
          <a:prstGeom prst="ellipse">
            <a:avLst/>
          </a:prstGeom>
          <a:solidFill>
            <a:srgbClr val="49748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0618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53A41"/>
                </a:solidFill>
              </a:rPr>
              <a:t>연 보험료 합계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310896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2" name="카드 3"/>
          <p:cNvSpPr/>
          <p:nvPr/>
        </p:nvSpPr>
        <p:spPr>
          <a:xfrm>
            <a:off x="8066836" y="164592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2F6F8"/>
          </a:solidFill>
          <a:ln w="15875">
            <a:solidFill>
              <a:srgbClr val="D6E5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49716" y="1828800"/>
            <a:ext cx="457200" cy="457200"/>
          </a:xfrm>
          <a:prstGeom prst="ellipse">
            <a:avLst/>
          </a:prstGeom>
          <a:solidFill>
            <a:srgbClr val="49748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3996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53A41"/>
                </a:solidFill>
              </a:rPr>
              <a:t>월 소득 대비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310896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6" name="안내"/>
          <p:cNvSpPr txBox="1"/>
          <p:nvPr/>
        </p:nvSpPr>
        <p:spPr>
          <a:xfrm>
            <a:off x="640080" y="475488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점검 메모와 다음 할 일</a:t>
            </a:r>
          </a:p>
        </p:txBody>
      </p:sp>
      <p:sp>
        <p:nvSpPr>
          <p:cNvPr id="4" name="카드 1"/>
          <p:cNvSpPr/>
          <p:nvPr/>
        </p:nvSpPr>
        <p:spPr>
          <a:xfrm>
            <a:off x="640080" y="1645920"/>
            <a:ext cx="3484778" cy="4114800"/>
          </a:xfrm>
          <a:prstGeom prst="roundRect">
            <a:avLst>
              <a:gd name="adj" fmla="val 8000"/>
            </a:avLst>
          </a:prstGeom>
          <a:solidFill>
            <a:srgbClr val="F2F6F8"/>
          </a:solidFill>
          <a:ln w="15875">
            <a:solidFill>
              <a:srgbClr val="D6E5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49748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3A41"/>
                </a:solidFill>
              </a:rPr>
              <a:t>확인할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08960"/>
            <a:ext cx="3210458" cy="2514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카드 2"/>
          <p:cNvSpPr/>
          <p:nvPr/>
        </p:nvSpPr>
        <p:spPr>
          <a:xfrm>
            <a:off x="4353458" y="1645920"/>
            <a:ext cx="3484778" cy="4114800"/>
          </a:xfrm>
          <a:prstGeom prst="roundRect">
            <a:avLst>
              <a:gd name="adj" fmla="val 8000"/>
            </a:avLst>
          </a:prstGeom>
          <a:solidFill>
            <a:srgbClr val="F2F6F8"/>
          </a:solidFill>
          <a:ln w="15875">
            <a:solidFill>
              <a:srgbClr val="D6E5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36338" y="1828800"/>
            <a:ext cx="457200" cy="457200"/>
          </a:xfrm>
          <a:prstGeom prst="ellipse">
            <a:avLst/>
          </a:prstGeom>
          <a:solidFill>
            <a:srgbClr val="49748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0618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3A41"/>
                </a:solidFill>
              </a:rPr>
              <a:t>문의할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3108960"/>
            <a:ext cx="3210458" cy="2514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2" name="카드 3"/>
          <p:cNvSpPr/>
          <p:nvPr/>
        </p:nvSpPr>
        <p:spPr>
          <a:xfrm>
            <a:off x="8066836" y="1645920"/>
            <a:ext cx="3484778" cy="4114800"/>
          </a:xfrm>
          <a:prstGeom prst="roundRect">
            <a:avLst>
              <a:gd name="adj" fmla="val 8000"/>
            </a:avLst>
          </a:prstGeom>
          <a:solidFill>
            <a:srgbClr val="F2F6F8"/>
          </a:solidFill>
          <a:ln w="15875">
            <a:solidFill>
              <a:srgbClr val="D6E5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49716" y="1828800"/>
            <a:ext cx="457200" cy="457200"/>
          </a:xfrm>
          <a:prstGeom prst="ellipse">
            <a:avLst/>
          </a:prstGeom>
          <a:solidFill>
            <a:srgbClr val="49748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3996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53A41"/>
                </a:solidFill>
              </a:rPr>
              <a:t>정리할 날짜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3108960"/>
            <a:ext cx="3210458" cy="2514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6" name="안내 문구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본인 점검)">
  <a:themeElements>
    <a:clrScheme name="Office">
      <a:dk1>
        <a:sysClr val="windowText" lastClr="000000"/>
      </a:dk1>
      <a:lt1>
        <a:sysClr val="window" lastClr="FFFFFF"/>
      </a:lt1>
      <a:dk2>
        <a:srgbClr val="253A41"/>
      </a:dk2>
      <a:lt2>
        <a:srgbClr val="F2F6F8"/>
      </a:lt2>
      <a:accent1>
        <a:srgbClr val="497483"/>
      </a:accent1>
      <a:accent2>
        <a:srgbClr val="834958"/>
      </a:accent2>
      <a:accent3>
        <a:srgbClr val="253A41"/>
      </a:accent3>
      <a:accent4>
        <a:srgbClr val="D6E5EA"/>
      </a:accent4>
      <a:accent5>
        <a:srgbClr val="665E6E"/>
      </a:accent5>
      <a:accent6>
        <a:srgbClr val="7C898D"/>
      </a:accent6>
      <a:hlink>
        <a:srgbClr val="497483"/>
      </a:hlink>
      <a:folHlink>
        <a:srgbClr val="253A4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발표자료(본인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