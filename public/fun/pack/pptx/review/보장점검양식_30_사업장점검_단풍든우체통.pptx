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556238">
            <a:off x="8291309" y="3108876"/>
            <a:ext cx="310888" cy="10645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1249702">
            <a:off x="8310003" y="2916346"/>
            <a:ext cx="310888" cy="1085216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81322">
            <a:off x="8701790" y="3330933"/>
            <a:ext cx="310888" cy="97259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8823128">
            <a:off x="8997996" y="2640425"/>
            <a:ext cx="310888" cy="77615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551995">
            <a:off x="9805218" y="2695976"/>
            <a:ext cx="310888" cy="997462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17758521">
            <a:off x="9067188" y="3355660"/>
            <a:ext cx="310888" cy="885672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B2315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2315"/>
                </a:solidFill>
              </a:rPr>
              <a:t>붉은 우체통처럼 눈에 띄는 중요 날짜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사업장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점검 대상 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B2315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가입한 보험 목록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보장 항목 체크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4329"/>
                      </a:solidFill>
                      <a:prstDash val="solid"/>
                    </a:lnL>
                    <a:lnR w="9525" cap="flat" cmpd="sng" algn="ctr">
                      <a:solidFill>
                        <a:srgbClr val="AE4329"/>
                      </a:solidFill>
                      <a:prstDash val="solid"/>
                    </a:lnR>
                    <a:lnT w="9525" cap="flat" cmpd="sng" algn="ctr">
                      <a:solidFill>
                        <a:srgbClr val="AE4329"/>
                      </a:solidFill>
                      <a:prstDash val="solid"/>
                    </a:lnT>
                    <a:lnB w="9525" cap="flat" cmpd="sng" algn="ctr">
                      <a:solidFill>
                        <a:srgbClr val="AE4329"/>
                      </a:solidFill>
                      <a:prstDash val="solid"/>
                    </a:lnB>
                    <a:solidFill>
                      <a:srgbClr val="AE432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B2315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5D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D4CC"/>
                      </a:solidFill>
                      <a:prstDash val="solid"/>
                    </a:lnL>
                    <a:lnR w="9525" cap="flat" cmpd="sng" algn="ctr">
                      <a:solidFill>
                        <a:srgbClr val="F5D4CC"/>
                      </a:solidFill>
                      <a:prstDash val="solid"/>
                    </a:lnR>
                    <a:lnT w="9525" cap="flat" cmpd="sng" algn="ctr">
                      <a:solidFill>
                        <a:srgbClr val="F5D4CC"/>
                      </a:solidFill>
                      <a:prstDash val="solid"/>
                    </a:lnT>
                    <a:lnB w="9525" cap="flat" cmpd="sng" algn="ctr">
                      <a:solidFill>
                        <a:srgbClr val="F5D4CC"/>
                      </a:solidFill>
                      <a:prstDash val="soli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월 보험료 한눈에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2315"/>
                </a:solidFill>
              </a:rPr>
              <a:t>월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2315"/>
                </a:solidFill>
              </a:rPr>
              <a:t>연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B2315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1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9556238">
            <a:off x="10753421" y="594322"/>
            <a:ext cx="124358" cy="425828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21249702">
            <a:off x="10760899" y="517307"/>
            <a:ext cx="124358" cy="434097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881322">
            <a:off x="10917618" y="683146"/>
            <a:ext cx="124358" cy="389046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18823128">
            <a:off x="11036103" y="406936"/>
            <a:ext cx="124358" cy="310471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551995">
            <a:off x="11359000" y="429157"/>
            <a:ext cx="124358" cy="398994"/>
          </a:xfrm>
          <a:prstGeom prst="ellipse">
            <a:avLst/>
          </a:prstGeom>
          <a:solidFill>
            <a:srgbClr val="F5D4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758521">
            <a:off x="11063781" y="693038"/>
            <a:ext cx="124358" cy="354278"/>
          </a:xfrm>
          <a:prstGeom prst="ellipse">
            <a:avLst/>
          </a:prstGeom>
          <a:solidFill>
            <a:srgbClr val="3B91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B2315"/>
                </a:solidFill>
              </a:rPr>
              <a:t>점검 메모와 다음 할 일</a:t>
            </a:r>
          </a:p>
        </p:txBody>
      </p:sp>
      <p:sp>
        <p:nvSpPr>
          <p:cNvPr id="10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문의할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1EE"/>
          </a:solidFill>
          <a:ln w="15875">
            <a:solidFill>
              <a:srgbClr val="F5D4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E43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2315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5B2315"/>
      </a:dk2>
      <a:lt2>
        <a:srgbClr val="FBF1EE"/>
      </a:lt2>
      <a:accent1>
        <a:srgbClr val="AE4329"/>
      </a:accent1>
      <a:accent2>
        <a:srgbClr val="3B9177"/>
      </a:accent2>
      <a:accent3>
        <a:srgbClr val="5B2315"/>
      </a:accent3>
      <a:accent4>
        <a:srgbClr val="F5D4CC"/>
      </a:accent4>
      <a:accent5>
        <a:srgbClr val="746A50"/>
      </a:accent5>
      <a:accent6>
        <a:srgbClr val="9D7B73"/>
      </a:accent6>
      <a:hlink>
        <a:srgbClr val="AE4329"/>
      </a:hlink>
      <a:folHlink>
        <a:srgbClr val="5B23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