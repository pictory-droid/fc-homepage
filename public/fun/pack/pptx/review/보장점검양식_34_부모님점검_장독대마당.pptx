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4D2019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4D2019"/>
                </a:solidFill>
              </a:rPr>
              <a:t>부모님이 아는 것과 실제 가입 내용을 맞춰 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부모님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점검 대상 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37178"/>
                <a:gridCol w="3637178"/>
                <a:gridCol w="3637178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아버지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어머니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D2019"/>
                          </a:solidFill>
                        </a:rPr>
                        <a:t>성함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D2019"/>
                          </a:solidFill>
                        </a:rPr>
                        <a:t>연세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D2019"/>
                          </a:solidFill>
                        </a:rPr>
                        <a:t>건강 상태 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D2019"/>
                          </a:solidFill>
                        </a:rPr>
                        <a:t>함께 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가입한 보험 목록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보장 항목 체크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94133"/>
                      </a:solidFill>
                      <a:prstDash val="solid"/>
                    </a:lnL>
                    <a:lnR w="9525" cap="flat" cmpd="sng" algn="ctr">
                      <a:solidFill>
                        <a:srgbClr val="994133"/>
                      </a:solidFill>
                      <a:prstDash val="solid"/>
                    </a:lnR>
                    <a:lnT w="9525" cap="flat" cmpd="sng" algn="ctr">
                      <a:solidFill>
                        <a:srgbClr val="994133"/>
                      </a:solidFill>
                      <a:prstDash val="solid"/>
                    </a:lnT>
                    <a:lnB w="9525" cap="flat" cmpd="sng" algn="ctr">
                      <a:solidFill>
                        <a:srgbClr val="994133"/>
                      </a:solidFill>
                      <a:prstDash val="solid"/>
                    </a:lnB>
                    <a:solidFill>
                      <a:srgbClr val="994133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D2019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D2019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D2019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D2019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D2019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D2019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D2019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D2019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1D4D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1D4D0"/>
                      </a:solidFill>
                      <a:prstDash val="solid"/>
                    </a:lnL>
                    <a:lnR w="9525" cap="flat" cmpd="sng" algn="ctr">
                      <a:solidFill>
                        <a:srgbClr val="F1D4D0"/>
                      </a:solidFill>
                      <a:prstDash val="solid"/>
                    </a:lnR>
                    <a:lnT w="9525" cap="flat" cmpd="sng" algn="ctr">
                      <a:solidFill>
                        <a:srgbClr val="F1D4D0"/>
                      </a:solidFill>
                      <a:prstDash val="solid"/>
                    </a:lnT>
                    <a:lnB w="9525" cap="flat" cmpd="sng" algn="ctr">
                      <a:solidFill>
                        <a:srgbClr val="F1D4D0"/>
                      </a:solidFill>
                      <a:prstDash val="solid"/>
                    </a:lnB>
                    <a:solidFill>
                      <a:srgbClr val="FAF1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월 보험료 한눈에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5875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D2019"/>
                </a:solidFill>
              </a:rPr>
              <a:t>월 보험료 합계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5875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D2019"/>
                </a:solidFill>
              </a:rPr>
              <a:t>연 보험료 합계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292608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5875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D2019"/>
                </a:solidFill>
              </a:rPr>
              <a:t>월 소득 대비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7" name="안내"/>
          <p:cNvSpPr txBox="1"/>
          <p:nvPr/>
        </p:nvSpPr>
        <p:spPr>
          <a:xfrm>
            <a:off x="640080" y="470916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1D4D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9413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D2019"/>
                </a:solidFill>
              </a:rPr>
              <a:t>점검 메모와 다음 할 일</a:t>
            </a:r>
          </a:p>
        </p:txBody>
      </p:sp>
      <p:sp>
        <p:nvSpPr>
          <p:cNvPr id="5" name="카드 1"/>
          <p:cNvSpPr/>
          <p:nvPr/>
        </p:nvSpPr>
        <p:spPr>
          <a:xfrm>
            <a:off x="640080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5875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78308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확인할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53458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5875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36338" y="178308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문의할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66836" y="1600200"/>
            <a:ext cx="3484778" cy="4160520"/>
          </a:xfrm>
          <a:prstGeom prst="roundRect">
            <a:avLst>
              <a:gd name="adj" fmla="val 8000"/>
            </a:avLst>
          </a:prstGeom>
          <a:solidFill>
            <a:srgbClr val="FAF1F0"/>
          </a:solidFill>
          <a:ln w="15875">
            <a:solidFill>
              <a:srgbClr val="F1D4D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49716" y="1783080"/>
            <a:ext cx="457200" cy="457200"/>
          </a:xfrm>
          <a:prstGeom prst="ellipse">
            <a:avLst/>
          </a:prstGeom>
          <a:solidFill>
            <a:srgbClr val="99413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237744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D2019"/>
                </a:solidFill>
              </a:rPr>
              <a:t>정리할 날짜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063240"/>
            <a:ext cx="3210458" cy="2560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7" name="안내 문구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부모님 점검)">
  <a:themeElements>
    <a:clrScheme name="Office">
      <a:dk1>
        <a:sysClr val="windowText" lastClr="000000"/>
      </a:dk1>
      <a:lt1>
        <a:sysClr val="window" lastClr="FFFFFF"/>
      </a:lt1>
      <a:dk2>
        <a:srgbClr val="4D2019"/>
      </a:dk2>
      <a:lt2>
        <a:srgbClr val="FAF1F0"/>
      </a:lt2>
      <a:accent1>
        <a:srgbClr val="994133"/>
      </a:accent1>
      <a:accent2>
        <a:srgbClr val="3B9171"/>
      </a:accent2>
      <a:accent3>
        <a:srgbClr val="4D2019"/>
      </a:accent3>
      <a:accent4>
        <a:srgbClr val="F1D4D0"/>
      </a:accent4>
      <a:accent5>
        <a:srgbClr val="6A6952"/>
      </a:accent5>
      <a:accent6>
        <a:srgbClr val="947975"/>
      </a:accent6>
      <a:hlink>
        <a:srgbClr val="994133"/>
      </a:hlink>
      <a:folHlink>
        <a:srgbClr val="4D201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발표자료(부모님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