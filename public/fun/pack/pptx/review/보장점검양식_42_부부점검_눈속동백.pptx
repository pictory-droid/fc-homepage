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5B151B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B151B"/>
                </a:solidFill>
              </a:rPr>
              <a:t>겨울 저녁에 따뜻한 차 놓고 정리합니다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부부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E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AE29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151B"/>
                </a:solidFill>
              </a:rPr>
              <a:t>점검 대상 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914400" y="1600200"/>
          <a:ext cx="1063721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545738"/>
                <a:gridCol w="3545738"/>
                <a:gridCol w="354573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2934"/>
                      </a:solidFill>
                      <a:prstDash val="solid"/>
                    </a:lnL>
                    <a:lnR w="9525" cap="flat" cmpd="sng" algn="ctr">
                      <a:solidFill>
                        <a:srgbClr val="AE2934"/>
                      </a:solidFill>
                      <a:prstDash val="solid"/>
                    </a:lnR>
                    <a:lnT w="9525" cap="flat" cmpd="sng" algn="ctr">
                      <a:solidFill>
                        <a:srgbClr val="AE2934"/>
                      </a:solidFill>
                      <a:prstDash val="solid"/>
                    </a:lnT>
                    <a:lnB w="9525" cap="flat" cmpd="sng" algn="ctr">
                      <a:solidFill>
                        <a:srgbClr val="AE2934"/>
                      </a:solidFill>
                      <a:prstDash val="solid"/>
                    </a:lnB>
                    <a:solidFill>
                      <a:srgbClr val="AE293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남편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2934"/>
                      </a:solidFill>
                      <a:prstDash val="solid"/>
                    </a:lnL>
                    <a:lnR w="9525" cap="flat" cmpd="sng" algn="ctr">
                      <a:solidFill>
                        <a:srgbClr val="AE2934"/>
                      </a:solidFill>
                      <a:prstDash val="solid"/>
                    </a:lnR>
                    <a:lnT w="9525" cap="flat" cmpd="sng" algn="ctr">
                      <a:solidFill>
                        <a:srgbClr val="AE2934"/>
                      </a:solidFill>
                      <a:prstDash val="solid"/>
                    </a:lnT>
                    <a:lnB w="9525" cap="flat" cmpd="sng" algn="ctr">
                      <a:solidFill>
                        <a:srgbClr val="AE2934"/>
                      </a:solidFill>
                      <a:prstDash val="solid"/>
                    </a:lnB>
                    <a:solidFill>
                      <a:srgbClr val="AE293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아내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2934"/>
                      </a:solidFill>
                      <a:prstDash val="solid"/>
                    </a:lnL>
                    <a:lnR w="9525" cap="flat" cmpd="sng" algn="ctr">
                      <a:solidFill>
                        <a:srgbClr val="AE2934"/>
                      </a:solidFill>
                      <a:prstDash val="solid"/>
                    </a:lnR>
                    <a:lnT w="9525" cap="flat" cmpd="sng" algn="ctr">
                      <a:solidFill>
                        <a:srgbClr val="AE2934"/>
                      </a:solidFill>
                      <a:prstDash val="solid"/>
                    </a:lnT>
                    <a:lnB w="9525" cap="flat" cmpd="sng" algn="ctr">
                      <a:solidFill>
                        <a:srgbClr val="AE2934"/>
                      </a:solidFill>
                      <a:prstDash val="solid"/>
                    </a:lnB>
                    <a:solidFill>
                      <a:srgbClr val="AE293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5B151B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5CC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5B151B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5CC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BEE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BEEF0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5B151B"/>
                          </a:solidFill>
                        </a:rPr>
                        <a:t>직업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5CC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5B151B"/>
                          </a:solidFill>
                        </a:rPr>
                        <a:t>건강 상태 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5CC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BEE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BEE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E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AE29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151B"/>
                </a:solidFill>
              </a:rPr>
              <a:t>가입한 보험 목록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914400" y="1600200"/>
          <a:ext cx="1063721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185897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2934"/>
                      </a:solidFill>
                      <a:prstDash val="solid"/>
                    </a:lnL>
                    <a:lnR w="9525" cap="flat" cmpd="sng" algn="ctr">
                      <a:solidFill>
                        <a:srgbClr val="AE2934"/>
                      </a:solidFill>
                      <a:prstDash val="solid"/>
                    </a:lnR>
                    <a:lnT w="9525" cap="flat" cmpd="sng" algn="ctr">
                      <a:solidFill>
                        <a:srgbClr val="AE2934"/>
                      </a:solidFill>
                      <a:prstDash val="solid"/>
                    </a:lnT>
                    <a:lnB w="9525" cap="flat" cmpd="sng" algn="ctr">
                      <a:solidFill>
                        <a:srgbClr val="AE2934"/>
                      </a:solidFill>
                      <a:prstDash val="solid"/>
                    </a:lnB>
                    <a:solidFill>
                      <a:srgbClr val="AE293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2934"/>
                      </a:solidFill>
                      <a:prstDash val="solid"/>
                    </a:lnL>
                    <a:lnR w="9525" cap="flat" cmpd="sng" algn="ctr">
                      <a:solidFill>
                        <a:srgbClr val="AE2934"/>
                      </a:solidFill>
                      <a:prstDash val="solid"/>
                    </a:lnR>
                    <a:lnT w="9525" cap="flat" cmpd="sng" algn="ctr">
                      <a:solidFill>
                        <a:srgbClr val="AE2934"/>
                      </a:solidFill>
                      <a:prstDash val="solid"/>
                    </a:lnT>
                    <a:lnB w="9525" cap="flat" cmpd="sng" algn="ctr">
                      <a:solidFill>
                        <a:srgbClr val="AE2934"/>
                      </a:solidFill>
                      <a:prstDash val="solid"/>
                    </a:lnB>
                    <a:solidFill>
                      <a:srgbClr val="AE293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2934"/>
                      </a:solidFill>
                      <a:prstDash val="solid"/>
                    </a:lnL>
                    <a:lnR w="9525" cap="flat" cmpd="sng" algn="ctr">
                      <a:solidFill>
                        <a:srgbClr val="AE2934"/>
                      </a:solidFill>
                      <a:prstDash val="solid"/>
                    </a:lnR>
                    <a:lnT w="9525" cap="flat" cmpd="sng" algn="ctr">
                      <a:solidFill>
                        <a:srgbClr val="AE2934"/>
                      </a:solidFill>
                      <a:prstDash val="solid"/>
                    </a:lnT>
                    <a:lnB w="9525" cap="flat" cmpd="sng" algn="ctr">
                      <a:solidFill>
                        <a:srgbClr val="AE2934"/>
                      </a:solidFill>
                      <a:prstDash val="solid"/>
                    </a:lnB>
                    <a:solidFill>
                      <a:srgbClr val="AE293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2934"/>
                      </a:solidFill>
                      <a:prstDash val="solid"/>
                    </a:lnL>
                    <a:lnR w="9525" cap="flat" cmpd="sng" algn="ctr">
                      <a:solidFill>
                        <a:srgbClr val="AE2934"/>
                      </a:solidFill>
                      <a:prstDash val="solid"/>
                    </a:lnR>
                    <a:lnT w="9525" cap="flat" cmpd="sng" algn="ctr">
                      <a:solidFill>
                        <a:srgbClr val="AE2934"/>
                      </a:solidFill>
                      <a:prstDash val="solid"/>
                    </a:lnT>
                    <a:lnB w="9525" cap="flat" cmpd="sng" algn="ctr">
                      <a:solidFill>
                        <a:srgbClr val="AE2934"/>
                      </a:solidFill>
                      <a:prstDash val="solid"/>
                    </a:lnB>
                    <a:solidFill>
                      <a:srgbClr val="AE293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2934"/>
                      </a:solidFill>
                      <a:prstDash val="solid"/>
                    </a:lnL>
                    <a:lnR w="9525" cap="flat" cmpd="sng" algn="ctr">
                      <a:solidFill>
                        <a:srgbClr val="AE2934"/>
                      </a:solidFill>
                      <a:prstDash val="solid"/>
                    </a:lnR>
                    <a:lnT w="9525" cap="flat" cmpd="sng" algn="ctr">
                      <a:solidFill>
                        <a:srgbClr val="AE2934"/>
                      </a:solidFill>
                      <a:prstDash val="solid"/>
                    </a:lnT>
                    <a:lnB w="9525" cap="flat" cmpd="sng" algn="ctr">
                      <a:solidFill>
                        <a:srgbClr val="AE2934"/>
                      </a:solidFill>
                      <a:prstDash val="solid"/>
                    </a:lnB>
                    <a:solidFill>
                      <a:srgbClr val="AE2934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BEE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BEE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BEE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BEE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BEEF0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BEE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BEE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BEE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BEE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BEEF0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BEE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BEE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BEE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BEE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BEE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E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AE29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151B"/>
                </a:solidFill>
              </a:rPr>
              <a:t>보장 항목 체크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914400" y="1600200"/>
          <a:ext cx="1063721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326538"/>
                <a:gridCol w="2326538"/>
                <a:gridCol w="232653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2934"/>
                      </a:solidFill>
                      <a:prstDash val="solid"/>
                    </a:lnL>
                    <a:lnR w="9525" cap="flat" cmpd="sng" algn="ctr">
                      <a:solidFill>
                        <a:srgbClr val="AE2934"/>
                      </a:solidFill>
                      <a:prstDash val="solid"/>
                    </a:lnR>
                    <a:lnT w="9525" cap="flat" cmpd="sng" algn="ctr">
                      <a:solidFill>
                        <a:srgbClr val="AE2934"/>
                      </a:solidFill>
                      <a:prstDash val="solid"/>
                    </a:lnT>
                    <a:lnB w="9525" cap="flat" cmpd="sng" algn="ctr">
                      <a:solidFill>
                        <a:srgbClr val="AE2934"/>
                      </a:solidFill>
                      <a:prstDash val="solid"/>
                    </a:lnB>
                    <a:solidFill>
                      <a:srgbClr val="AE293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2934"/>
                      </a:solidFill>
                      <a:prstDash val="solid"/>
                    </a:lnL>
                    <a:lnR w="9525" cap="flat" cmpd="sng" algn="ctr">
                      <a:solidFill>
                        <a:srgbClr val="AE2934"/>
                      </a:solidFill>
                      <a:prstDash val="solid"/>
                    </a:lnR>
                    <a:lnT w="9525" cap="flat" cmpd="sng" algn="ctr">
                      <a:solidFill>
                        <a:srgbClr val="AE2934"/>
                      </a:solidFill>
                      <a:prstDash val="solid"/>
                    </a:lnT>
                    <a:lnB w="9525" cap="flat" cmpd="sng" algn="ctr">
                      <a:solidFill>
                        <a:srgbClr val="AE2934"/>
                      </a:solidFill>
                      <a:prstDash val="solid"/>
                    </a:lnB>
                    <a:solidFill>
                      <a:srgbClr val="AE293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2934"/>
                      </a:solidFill>
                      <a:prstDash val="solid"/>
                    </a:lnL>
                    <a:lnR w="9525" cap="flat" cmpd="sng" algn="ctr">
                      <a:solidFill>
                        <a:srgbClr val="AE2934"/>
                      </a:solidFill>
                      <a:prstDash val="solid"/>
                    </a:lnR>
                    <a:lnT w="9525" cap="flat" cmpd="sng" algn="ctr">
                      <a:solidFill>
                        <a:srgbClr val="AE2934"/>
                      </a:solidFill>
                      <a:prstDash val="solid"/>
                    </a:lnT>
                    <a:lnB w="9525" cap="flat" cmpd="sng" algn="ctr">
                      <a:solidFill>
                        <a:srgbClr val="AE2934"/>
                      </a:solidFill>
                      <a:prstDash val="solid"/>
                    </a:lnB>
                    <a:solidFill>
                      <a:srgbClr val="AE293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2934"/>
                      </a:solidFill>
                      <a:prstDash val="solid"/>
                    </a:lnL>
                    <a:lnR w="9525" cap="flat" cmpd="sng" algn="ctr">
                      <a:solidFill>
                        <a:srgbClr val="AE2934"/>
                      </a:solidFill>
                      <a:prstDash val="solid"/>
                    </a:lnR>
                    <a:lnT w="9525" cap="flat" cmpd="sng" algn="ctr">
                      <a:solidFill>
                        <a:srgbClr val="AE2934"/>
                      </a:solidFill>
                      <a:prstDash val="solid"/>
                    </a:lnT>
                    <a:lnB w="9525" cap="flat" cmpd="sng" algn="ctr">
                      <a:solidFill>
                        <a:srgbClr val="AE2934"/>
                      </a:solidFill>
                      <a:prstDash val="solid"/>
                    </a:lnB>
                    <a:solidFill>
                      <a:srgbClr val="AE293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B151B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5CC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B151B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5CC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BEE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BEE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BEEF0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B151B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5CC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B151B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5CC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BEE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BEE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BEEF0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B151B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5CC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B151B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5CC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BEE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BEE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BEEF0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B151B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5CC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B151B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5CC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BEE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BEE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BEE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E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AE29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151B"/>
                </a:solidFill>
              </a:rPr>
              <a:t>월 보험료 한눈에</a:t>
            </a:r>
          </a:p>
        </p:txBody>
      </p:sp>
      <p:sp>
        <p:nvSpPr>
          <p:cNvPr id="5" name="카드 1"/>
          <p:cNvSpPr/>
          <p:nvPr/>
        </p:nvSpPr>
        <p:spPr>
          <a:xfrm>
            <a:off x="914400" y="1600200"/>
            <a:ext cx="3393338" cy="2926080"/>
          </a:xfrm>
          <a:prstGeom prst="roundRect">
            <a:avLst>
              <a:gd name="adj" fmla="val 8000"/>
            </a:avLst>
          </a:prstGeom>
          <a:solidFill>
            <a:srgbClr val="FBEEF0"/>
          </a:solidFill>
          <a:ln w="15875">
            <a:solidFill>
              <a:srgbClr val="F5CC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97280" y="1783080"/>
            <a:ext cx="457200" cy="457200"/>
          </a:xfrm>
          <a:prstGeom prst="ellipse">
            <a:avLst/>
          </a:prstGeom>
          <a:solidFill>
            <a:srgbClr val="AE293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7744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5B151B"/>
                </a:solidFill>
              </a:rPr>
              <a:t>월 보험료 합계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63240"/>
            <a:ext cx="311901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9" name="카드 2"/>
          <p:cNvSpPr/>
          <p:nvPr/>
        </p:nvSpPr>
        <p:spPr>
          <a:xfrm>
            <a:off x="4536338" y="1600200"/>
            <a:ext cx="3393338" cy="2926080"/>
          </a:xfrm>
          <a:prstGeom prst="roundRect">
            <a:avLst>
              <a:gd name="adj" fmla="val 8000"/>
            </a:avLst>
          </a:prstGeom>
          <a:solidFill>
            <a:srgbClr val="FBEEF0"/>
          </a:solidFill>
          <a:ln w="15875">
            <a:solidFill>
              <a:srgbClr val="F5CC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719218" y="1783080"/>
            <a:ext cx="457200" cy="457200"/>
          </a:xfrm>
          <a:prstGeom prst="ellipse">
            <a:avLst/>
          </a:prstGeom>
          <a:solidFill>
            <a:srgbClr val="AE293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3498" y="237744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5B151B"/>
                </a:solidFill>
              </a:rPr>
              <a:t>연 보험료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3498" y="3063240"/>
            <a:ext cx="311901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3" name="카드 3"/>
          <p:cNvSpPr/>
          <p:nvPr/>
        </p:nvSpPr>
        <p:spPr>
          <a:xfrm>
            <a:off x="8158276" y="1600200"/>
            <a:ext cx="3393338" cy="2926080"/>
          </a:xfrm>
          <a:prstGeom prst="roundRect">
            <a:avLst>
              <a:gd name="adj" fmla="val 8000"/>
            </a:avLst>
          </a:prstGeom>
          <a:solidFill>
            <a:srgbClr val="FBEEF0"/>
          </a:solidFill>
          <a:ln w="15875">
            <a:solidFill>
              <a:srgbClr val="F5CC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341156" y="1783080"/>
            <a:ext cx="457200" cy="457200"/>
          </a:xfrm>
          <a:prstGeom prst="ellipse">
            <a:avLst/>
          </a:prstGeom>
          <a:solidFill>
            <a:srgbClr val="AE293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5436" y="237744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5B151B"/>
                </a:solidFill>
              </a:rPr>
              <a:t>월 소득 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5436" y="3063240"/>
            <a:ext cx="311901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7" name="안내"/>
          <p:cNvSpPr txBox="1"/>
          <p:nvPr/>
        </p:nvSpPr>
        <p:spPr>
          <a:xfrm>
            <a:off x="914400" y="4709160"/>
            <a:ext cx="1063721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E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AE29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151B"/>
                </a:solidFill>
              </a:rPr>
              <a:t>점검 메모와 다음 할 일</a:t>
            </a:r>
          </a:p>
        </p:txBody>
      </p:sp>
      <p:sp>
        <p:nvSpPr>
          <p:cNvPr id="5" name="카드 1"/>
          <p:cNvSpPr/>
          <p:nvPr/>
        </p:nvSpPr>
        <p:spPr>
          <a:xfrm>
            <a:off x="914400" y="1600200"/>
            <a:ext cx="3393338" cy="4160520"/>
          </a:xfrm>
          <a:prstGeom prst="roundRect">
            <a:avLst>
              <a:gd name="adj" fmla="val 8000"/>
            </a:avLst>
          </a:prstGeom>
          <a:solidFill>
            <a:srgbClr val="FBEEF0"/>
          </a:solidFill>
          <a:ln w="15875">
            <a:solidFill>
              <a:srgbClr val="F5CC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97280" y="1783080"/>
            <a:ext cx="457200" cy="457200"/>
          </a:xfrm>
          <a:prstGeom prst="ellipse">
            <a:avLst/>
          </a:prstGeom>
          <a:solidFill>
            <a:srgbClr val="AE293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7744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151B"/>
                </a:solidFill>
              </a:rPr>
              <a:t>확인할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63240"/>
            <a:ext cx="311901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536338" y="1600200"/>
            <a:ext cx="3393338" cy="4160520"/>
          </a:xfrm>
          <a:prstGeom prst="roundRect">
            <a:avLst>
              <a:gd name="adj" fmla="val 8000"/>
            </a:avLst>
          </a:prstGeom>
          <a:solidFill>
            <a:srgbClr val="FBEEF0"/>
          </a:solidFill>
          <a:ln w="15875">
            <a:solidFill>
              <a:srgbClr val="F5CC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719218" y="1783080"/>
            <a:ext cx="457200" cy="457200"/>
          </a:xfrm>
          <a:prstGeom prst="ellipse">
            <a:avLst/>
          </a:prstGeom>
          <a:solidFill>
            <a:srgbClr val="AE293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3498" y="237744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151B"/>
                </a:solidFill>
              </a:rPr>
              <a:t>문의할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3498" y="3063240"/>
            <a:ext cx="311901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158276" y="1600200"/>
            <a:ext cx="3393338" cy="4160520"/>
          </a:xfrm>
          <a:prstGeom prst="roundRect">
            <a:avLst>
              <a:gd name="adj" fmla="val 8000"/>
            </a:avLst>
          </a:prstGeom>
          <a:solidFill>
            <a:srgbClr val="FBEEF0"/>
          </a:solidFill>
          <a:ln w="15875">
            <a:solidFill>
              <a:srgbClr val="F5CC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341156" y="1783080"/>
            <a:ext cx="457200" cy="457200"/>
          </a:xfrm>
          <a:prstGeom prst="ellipse">
            <a:avLst/>
          </a:prstGeom>
          <a:solidFill>
            <a:srgbClr val="AE293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5436" y="237744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151B"/>
                </a:solidFill>
              </a:rPr>
              <a:t>정리할 날짜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5436" y="3063240"/>
            <a:ext cx="311901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914400" y="5852160"/>
            <a:ext cx="1063721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부부 점검)">
  <a:themeElements>
    <a:clrScheme name="Office">
      <a:dk1>
        <a:sysClr val="windowText" lastClr="000000"/>
      </a:dk1>
      <a:lt1>
        <a:sysClr val="window" lastClr="FFFFFF"/>
      </a:lt1>
      <a:dk2>
        <a:srgbClr val="5B151B"/>
      </a:dk2>
      <a:lt2>
        <a:srgbClr val="FBEEF0"/>
      </a:lt2>
      <a:accent1>
        <a:srgbClr val="AE2934"/>
      </a:accent1>
      <a:accent2>
        <a:srgbClr val="3B915F"/>
      </a:accent2>
      <a:accent3>
        <a:srgbClr val="5B151B"/>
      </a:accent3>
      <a:accent4>
        <a:srgbClr val="F5CCCF"/>
      </a:accent4>
      <a:accent5>
        <a:srgbClr val="745D4A"/>
      </a:accent5>
      <a:accent6>
        <a:srgbClr val="9D7376"/>
      </a:accent6>
      <a:hlink>
        <a:srgbClr val="AE2934"/>
      </a:hlink>
      <a:folHlink>
        <a:srgbClr val="5B151B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발표자료(부부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