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071183" y="-1714500"/>
            <a:ext cx="7886700" cy="788670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9509522" y="3977639"/>
            <a:ext cx="3429000" cy="34290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0782259" y="1555275"/>
            <a:ext cx="976391" cy="976391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0414036" y="1552978"/>
            <a:ext cx="459072" cy="459072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9955499" y="1672413"/>
            <a:ext cx="563630" cy="563630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8808791" y="644596"/>
            <a:ext cx="460727" cy="460727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9270768" y="-129320"/>
            <a:ext cx="659911" cy="659911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7836792" y="443136"/>
            <a:ext cx="875492" cy="875492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705432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83A23"/>
                </a:solidFill>
              </a:rPr>
              <a:t>우리 보험 점검 시간</a:t>
            </a:r>
          </a:p>
        </p:txBody>
      </p:sp>
      <p:sp>
        <p:nvSpPr>
          <p:cNvPr id="11" name="한 줄 문구"/>
          <p:cNvSpPr txBox="1"/>
          <p:nvPr/>
        </p:nvSpPr>
        <p:spPr>
          <a:xfrm>
            <a:off x="853418" y="3611880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83A23"/>
                </a:solidFill>
              </a:rPr>
              <a:t>선물 포장하듯 가지런히 정리해요</a:t>
            </a:r>
          </a:p>
        </p:txBody>
      </p:sp>
      <p:sp>
        <p:nvSpPr>
          <p:cNvPr id="12" name="안내 문구"/>
          <p:cNvSpPr txBox="1"/>
          <p:nvPr/>
        </p:nvSpPr>
        <p:spPr>
          <a:xfrm>
            <a:off x="853418" y="448056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부부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1682314" y="745586"/>
            <a:ext cx="340962" cy="340962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1553729" y="744784"/>
            <a:ext cx="160310" cy="160310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11393604" y="786491"/>
            <a:ext cx="196823" cy="196823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10993167" y="427571"/>
            <a:ext cx="160888" cy="160888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11154492" y="157314"/>
            <a:ext cx="230445" cy="230445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10653738" y="357220"/>
            <a:ext cx="305727" cy="305727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점검 대상 현황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남편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83A23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83A23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83A23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83A23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1682314" y="745586"/>
            <a:ext cx="340962" cy="340962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1553729" y="744784"/>
            <a:ext cx="160310" cy="160310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11393604" y="786491"/>
            <a:ext cx="196823" cy="196823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10993167" y="427571"/>
            <a:ext cx="160888" cy="160888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11154492" y="157314"/>
            <a:ext cx="230445" cy="230445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10653738" y="357220"/>
            <a:ext cx="305727" cy="305727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가입한 보험 목록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1682314" y="745586"/>
            <a:ext cx="340962" cy="340962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1553729" y="744784"/>
            <a:ext cx="160310" cy="160310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11393604" y="786491"/>
            <a:ext cx="196823" cy="196823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10993167" y="427571"/>
            <a:ext cx="160888" cy="160888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11154492" y="157314"/>
            <a:ext cx="230445" cy="230445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10653738" y="357220"/>
            <a:ext cx="305727" cy="305727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보장 항목 체크</a:t>
            </a:r>
          </a:p>
        </p:txBody>
      </p:sp>
      <p:graphicFrame>
        <p:nvGraphicFramePr>
          <p:cNvPr id="11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653D"/>
                      </a:solidFill>
                      <a:prstDash val="solid"/>
                    </a:lnL>
                    <a:lnR w="9525" cap="flat" cmpd="sng" algn="ctr">
                      <a:solidFill>
                        <a:srgbClr val="29653D"/>
                      </a:solidFill>
                      <a:prstDash val="solid"/>
                    </a:lnR>
                    <a:lnT w="9525" cap="flat" cmpd="sng" algn="ctr">
                      <a:solidFill>
                        <a:srgbClr val="29653D"/>
                      </a:solidFill>
                      <a:prstDash val="solid"/>
                    </a:lnT>
                    <a:lnB w="9525" cap="flat" cmpd="sng" algn="ctr">
                      <a:solidFill>
                        <a:srgbClr val="29653D"/>
                      </a:solidFill>
                      <a:prstDash val="solid"/>
                    </a:lnB>
                    <a:solidFill>
                      <a:srgbClr val="29653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83A23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83A23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83A23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83A23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83A23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83A23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83A23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83A23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D2EFD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2EFDC"/>
                      </a:solidFill>
                      <a:prstDash val="solid"/>
                    </a:lnL>
                    <a:lnR w="9525" cap="flat" cmpd="sng" algn="ctr">
                      <a:solidFill>
                        <a:srgbClr val="D2EFDC"/>
                      </a:solidFill>
                      <a:prstDash val="solid"/>
                    </a:lnR>
                    <a:lnT w="9525" cap="flat" cmpd="sng" algn="ctr">
                      <a:solidFill>
                        <a:srgbClr val="D2EFDC"/>
                      </a:solidFill>
                      <a:prstDash val="solid"/>
                    </a:lnT>
                    <a:lnB w="9525" cap="flat" cmpd="sng" algn="ctr">
                      <a:solidFill>
                        <a:srgbClr val="D2EFDC"/>
                      </a:solidFill>
                      <a:prstDash val="solid"/>
                    </a:lnB>
                    <a:solidFill>
                      <a:srgbClr val="F1F9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1682314" y="745586"/>
            <a:ext cx="340962" cy="340962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1553729" y="744784"/>
            <a:ext cx="160310" cy="160310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11393604" y="786491"/>
            <a:ext cx="196823" cy="196823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10993167" y="427571"/>
            <a:ext cx="160888" cy="160888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11154492" y="157314"/>
            <a:ext cx="230445" cy="230445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10653738" y="357220"/>
            <a:ext cx="305727" cy="305727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월 보험료 한눈에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83A23"/>
                </a:solidFill>
              </a:rPr>
              <a:t>월 보험료 합계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5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83A23"/>
                </a:solidFill>
              </a:rPr>
              <a:t>연 보험료 합계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9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83A23"/>
                </a:solidFill>
              </a:rPr>
              <a:t>월 소득 대비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3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088225">
            <a:off x="11682314" y="745586"/>
            <a:ext cx="340962" cy="340962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20948372">
            <a:off x="11553729" y="744784"/>
            <a:ext cx="160310" cy="160310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663695">
            <a:off x="11393604" y="786491"/>
            <a:ext cx="196823" cy="196823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1527148">
            <a:off x="10993167" y="427571"/>
            <a:ext cx="160888" cy="160888"/>
          </a:xfrm>
          <a:prstGeom prst="star5">
            <a:avLst/>
          </a:prstGeom>
          <a:solidFill>
            <a:srgbClr val="2965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21578965">
            <a:off x="11154492" y="157314"/>
            <a:ext cx="230445" cy="230445"/>
          </a:xfrm>
          <a:prstGeom prst="star5">
            <a:avLst/>
          </a:prstGeom>
          <a:solidFill>
            <a:srgbClr val="D2EF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 rot="21592929">
            <a:off x="10653738" y="357220"/>
            <a:ext cx="305727" cy="305727"/>
          </a:xfrm>
          <a:prstGeom prst="star5">
            <a:avLst/>
          </a:prstGeom>
          <a:solidFill>
            <a:srgbClr val="833B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83A23"/>
                </a:solidFill>
              </a:rPr>
              <a:t>점검 메모와 다음 할 일</a:t>
            </a:r>
          </a:p>
        </p:txBody>
      </p:sp>
      <p:sp>
        <p:nvSpPr>
          <p:cNvPr id="11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확인할 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5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문의할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9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1F9F3"/>
          </a:solidFill>
          <a:ln w="15875">
            <a:solidFill>
              <a:srgbClr val="D2EF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29653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83A23"/>
                </a:solidFill>
              </a:rPr>
              <a:t>정리할 날짜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3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부 점검)">
  <a:themeElements>
    <a:clrScheme name="Office">
      <a:dk1>
        <a:sysClr val="windowText" lastClr="000000"/>
      </a:dk1>
      <a:lt1>
        <a:sysClr val="window" lastClr="FFFFFF"/>
      </a:lt1>
      <a:dk2>
        <a:srgbClr val="183A23"/>
      </a:dk2>
      <a:lt2>
        <a:srgbClr val="F1F9F3"/>
      </a:lt2>
      <a:accent1>
        <a:srgbClr val="29653D"/>
      </a:accent1>
      <a:accent2>
        <a:srgbClr val="833B91"/>
      </a:accent2>
      <a:accent3>
        <a:srgbClr val="183A23"/>
      </a:accent3>
      <a:accent4>
        <a:srgbClr val="D2EFDC"/>
      </a:accent4>
      <a:accent5>
        <a:srgbClr val="565067"/>
      </a:accent5>
      <a:accent6>
        <a:srgbClr val="74897B"/>
      </a:accent6>
      <a:hlink>
        <a:srgbClr val="29653D"/>
      </a:hlink>
      <a:folHlink>
        <a:srgbClr val="183A2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