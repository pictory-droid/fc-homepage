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49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7BE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</a:rPr>
              <a:t>우리 보험 점검 시간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</a:rPr>
              <a:t>연세와 건강 상태를 메모해 둡니다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부모님 점검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5F3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109728"/>
          </a:xfrm>
          <a:prstGeom prst="wav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대상 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37178"/>
                <a:gridCol w="3637178"/>
                <a:gridCol w="363717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C5"/>
                      </a:solidFill>
                      <a:prstDash val="solid"/>
                    </a:lnL>
                    <a:lnR w="9525" cap="flat" cmpd="sng" algn="ctr">
                      <a:solidFill>
                        <a:srgbClr val="7BEAC5"/>
                      </a:solidFill>
                      <a:prstDash val="solid"/>
                    </a:lnR>
                    <a:lnT w="9525" cap="flat" cmpd="sng" algn="ctr">
                      <a:solidFill>
                        <a:srgbClr val="7BEAC5"/>
                      </a:solidFill>
                      <a:prstDash val="solid"/>
                    </a:lnT>
                    <a:lnB w="9525" cap="flat" cmpd="sng" algn="ctr">
                      <a:solidFill>
                        <a:srgbClr val="7BEAC5"/>
                      </a:solidFill>
                      <a:prstDash val="solid"/>
                    </a:lnB>
                    <a:solidFill>
                      <a:srgbClr val="7BEA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아버지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C5"/>
                      </a:solidFill>
                      <a:prstDash val="solid"/>
                    </a:lnL>
                    <a:lnR w="9525" cap="flat" cmpd="sng" algn="ctr">
                      <a:solidFill>
                        <a:srgbClr val="7BEAC5"/>
                      </a:solidFill>
                      <a:prstDash val="solid"/>
                    </a:lnR>
                    <a:lnT w="9525" cap="flat" cmpd="sng" algn="ctr">
                      <a:solidFill>
                        <a:srgbClr val="7BEAC5"/>
                      </a:solidFill>
                      <a:prstDash val="solid"/>
                    </a:lnT>
                    <a:lnB w="9525" cap="flat" cmpd="sng" algn="ctr">
                      <a:solidFill>
                        <a:srgbClr val="7BEAC5"/>
                      </a:solidFill>
                      <a:prstDash val="solid"/>
                    </a:lnB>
                    <a:solidFill>
                      <a:srgbClr val="7BEA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어머니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C5"/>
                      </a:solidFill>
                      <a:prstDash val="solid"/>
                    </a:lnL>
                    <a:lnR w="9525" cap="flat" cmpd="sng" algn="ctr">
                      <a:solidFill>
                        <a:srgbClr val="7BEAC5"/>
                      </a:solidFill>
                      <a:prstDash val="solid"/>
                    </a:lnR>
                    <a:lnT w="9525" cap="flat" cmpd="sng" algn="ctr">
                      <a:solidFill>
                        <a:srgbClr val="7BEAC5"/>
                      </a:solidFill>
                      <a:prstDash val="solid"/>
                    </a:lnT>
                    <a:lnB w="9525" cap="flat" cmpd="sng" algn="ctr">
                      <a:solidFill>
                        <a:srgbClr val="7BEAC5"/>
                      </a:solidFill>
                      <a:prstDash val="solid"/>
                    </a:lnB>
                    <a:solidFill>
                      <a:srgbClr val="7BEAC5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493E"/>
                          </a:solidFill>
                        </a:rPr>
                        <a:t>성함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493E"/>
                          </a:solidFill>
                        </a:rPr>
                        <a:t>연세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493E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493E"/>
                          </a:solidFill>
                        </a:rPr>
                        <a:t>함께 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5F3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109728"/>
          </a:xfrm>
          <a:prstGeom prst="wav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가입한 보험 목록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C5"/>
                      </a:solidFill>
                      <a:prstDash val="solid"/>
                    </a:lnL>
                    <a:lnR w="9525" cap="flat" cmpd="sng" algn="ctr">
                      <a:solidFill>
                        <a:srgbClr val="7BEAC5"/>
                      </a:solidFill>
                      <a:prstDash val="solid"/>
                    </a:lnR>
                    <a:lnT w="9525" cap="flat" cmpd="sng" algn="ctr">
                      <a:solidFill>
                        <a:srgbClr val="7BEAC5"/>
                      </a:solidFill>
                      <a:prstDash val="solid"/>
                    </a:lnT>
                    <a:lnB w="9525" cap="flat" cmpd="sng" algn="ctr">
                      <a:solidFill>
                        <a:srgbClr val="7BEAC5"/>
                      </a:solidFill>
                      <a:prstDash val="solid"/>
                    </a:lnB>
                    <a:solidFill>
                      <a:srgbClr val="7BEA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C5"/>
                      </a:solidFill>
                      <a:prstDash val="solid"/>
                    </a:lnL>
                    <a:lnR w="9525" cap="flat" cmpd="sng" algn="ctr">
                      <a:solidFill>
                        <a:srgbClr val="7BEAC5"/>
                      </a:solidFill>
                      <a:prstDash val="solid"/>
                    </a:lnR>
                    <a:lnT w="9525" cap="flat" cmpd="sng" algn="ctr">
                      <a:solidFill>
                        <a:srgbClr val="7BEAC5"/>
                      </a:solidFill>
                      <a:prstDash val="solid"/>
                    </a:lnT>
                    <a:lnB w="9525" cap="flat" cmpd="sng" algn="ctr">
                      <a:solidFill>
                        <a:srgbClr val="7BEAC5"/>
                      </a:solidFill>
                      <a:prstDash val="solid"/>
                    </a:lnB>
                    <a:solidFill>
                      <a:srgbClr val="7BEA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C5"/>
                      </a:solidFill>
                      <a:prstDash val="solid"/>
                    </a:lnL>
                    <a:lnR w="9525" cap="flat" cmpd="sng" algn="ctr">
                      <a:solidFill>
                        <a:srgbClr val="7BEAC5"/>
                      </a:solidFill>
                      <a:prstDash val="solid"/>
                    </a:lnR>
                    <a:lnT w="9525" cap="flat" cmpd="sng" algn="ctr">
                      <a:solidFill>
                        <a:srgbClr val="7BEAC5"/>
                      </a:solidFill>
                      <a:prstDash val="solid"/>
                    </a:lnT>
                    <a:lnB w="9525" cap="flat" cmpd="sng" algn="ctr">
                      <a:solidFill>
                        <a:srgbClr val="7BEAC5"/>
                      </a:solidFill>
                      <a:prstDash val="solid"/>
                    </a:lnB>
                    <a:solidFill>
                      <a:srgbClr val="7BEA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C5"/>
                      </a:solidFill>
                      <a:prstDash val="solid"/>
                    </a:lnL>
                    <a:lnR w="9525" cap="flat" cmpd="sng" algn="ctr">
                      <a:solidFill>
                        <a:srgbClr val="7BEAC5"/>
                      </a:solidFill>
                      <a:prstDash val="solid"/>
                    </a:lnR>
                    <a:lnT w="9525" cap="flat" cmpd="sng" algn="ctr">
                      <a:solidFill>
                        <a:srgbClr val="7BEAC5"/>
                      </a:solidFill>
                      <a:prstDash val="solid"/>
                    </a:lnT>
                    <a:lnB w="9525" cap="flat" cmpd="sng" algn="ctr">
                      <a:solidFill>
                        <a:srgbClr val="7BEAC5"/>
                      </a:solidFill>
                      <a:prstDash val="solid"/>
                    </a:lnB>
                    <a:solidFill>
                      <a:srgbClr val="7BEA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C5"/>
                      </a:solidFill>
                      <a:prstDash val="solid"/>
                    </a:lnL>
                    <a:lnR w="9525" cap="flat" cmpd="sng" algn="ctr">
                      <a:solidFill>
                        <a:srgbClr val="7BEAC5"/>
                      </a:solidFill>
                      <a:prstDash val="solid"/>
                    </a:lnR>
                    <a:lnT w="9525" cap="flat" cmpd="sng" algn="ctr">
                      <a:solidFill>
                        <a:srgbClr val="7BEAC5"/>
                      </a:solidFill>
                      <a:prstDash val="solid"/>
                    </a:lnT>
                    <a:lnB w="9525" cap="flat" cmpd="sng" algn="ctr">
                      <a:solidFill>
                        <a:srgbClr val="7BEAC5"/>
                      </a:solidFill>
                      <a:prstDash val="solid"/>
                    </a:lnB>
                    <a:solidFill>
                      <a:srgbClr val="7BEAC5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5F3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109728"/>
          </a:xfrm>
          <a:prstGeom prst="wav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보장 항목 체크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C5"/>
                      </a:solidFill>
                      <a:prstDash val="solid"/>
                    </a:lnL>
                    <a:lnR w="9525" cap="flat" cmpd="sng" algn="ctr">
                      <a:solidFill>
                        <a:srgbClr val="7BEAC5"/>
                      </a:solidFill>
                      <a:prstDash val="solid"/>
                    </a:lnR>
                    <a:lnT w="9525" cap="flat" cmpd="sng" algn="ctr">
                      <a:solidFill>
                        <a:srgbClr val="7BEAC5"/>
                      </a:solidFill>
                      <a:prstDash val="solid"/>
                    </a:lnT>
                    <a:lnB w="9525" cap="flat" cmpd="sng" algn="ctr">
                      <a:solidFill>
                        <a:srgbClr val="7BEAC5"/>
                      </a:solidFill>
                      <a:prstDash val="solid"/>
                    </a:lnB>
                    <a:solidFill>
                      <a:srgbClr val="7BEA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C5"/>
                      </a:solidFill>
                      <a:prstDash val="solid"/>
                    </a:lnL>
                    <a:lnR w="9525" cap="flat" cmpd="sng" algn="ctr">
                      <a:solidFill>
                        <a:srgbClr val="7BEAC5"/>
                      </a:solidFill>
                      <a:prstDash val="solid"/>
                    </a:lnR>
                    <a:lnT w="9525" cap="flat" cmpd="sng" algn="ctr">
                      <a:solidFill>
                        <a:srgbClr val="7BEAC5"/>
                      </a:solidFill>
                      <a:prstDash val="solid"/>
                    </a:lnT>
                    <a:lnB w="9525" cap="flat" cmpd="sng" algn="ctr">
                      <a:solidFill>
                        <a:srgbClr val="7BEAC5"/>
                      </a:solidFill>
                      <a:prstDash val="solid"/>
                    </a:lnB>
                    <a:solidFill>
                      <a:srgbClr val="7BEA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C5"/>
                      </a:solidFill>
                      <a:prstDash val="solid"/>
                    </a:lnL>
                    <a:lnR w="9525" cap="flat" cmpd="sng" algn="ctr">
                      <a:solidFill>
                        <a:srgbClr val="7BEAC5"/>
                      </a:solidFill>
                      <a:prstDash val="solid"/>
                    </a:lnR>
                    <a:lnT w="9525" cap="flat" cmpd="sng" algn="ctr">
                      <a:solidFill>
                        <a:srgbClr val="7BEAC5"/>
                      </a:solidFill>
                      <a:prstDash val="solid"/>
                    </a:lnT>
                    <a:lnB w="9525" cap="flat" cmpd="sng" algn="ctr">
                      <a:solidFill>
                        <a:srgbClr val="7BEAC5"/>
                      </a:solidFill>
                      <a:prstDash val="solid"/>
                    </a:lnB>
                    <a:solidFill>
                      <a:srgbClr val="7BEA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C5"/>
                      </a:solidFill>
                      <a:prstDash val="solid"/>
                    </a:lnL>
                    <a:lnR w="9525" cap="flat" cmpd="sng" algn="ctr">
                      <a:solidFill>
                        <a:srgbClr val="7BEAC5"/>
                      </a:solidFill>
                      <a:prstDash val="solid"/>
                    </a:lnR>
                    <a:lnT w="9525" cap="flat" cmpd="sng" algn="ctr">
                      <a:solidFill>
                        <a:srgbClr val="7BEAC5"/>
                      </a:solidFill>
                      <a:prstDash val="solid"/>
                    </a:lnT>
                    <a:lnB w="9525" cap="flat" cmpd="sng" algn="ctr">
                      <a:solidFill>
                        <a:srgbClr val="7BEAC5"/>
                      </a:solidFill>
                      <a:prstDash val="solid"/>
                    </a:lnB>
                    <a:solidFill>
                      <a:srgbClr val="7BEAC5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3E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3E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3E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3E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3E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3E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3E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3E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5F3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109728"/>
          </a:xfrm>
          <a:prstGeom prst="wav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월 보험료 한눈에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2926080"/>
          </a:xfrm>
          <a:prstGeom prst="roundRect">
            <a:avLst>
              <a:gd name="adj" fmla="val 4000"/>
            </a:avLst>
          </a:prstGeom>
          <a:solidFill>
            <a:srgbClr val="EAFD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포인트 막대"/>
          <p:cNvSpPr/>
          <p:nvPr/>
        </p:nvSpPr>
        <p:spPr>
          <a:xfrm>
            <a:off x="640080" y="1892807"/>
            <a:ext cx="54864" cy="2706624"/>
          </a:xfrm>
          <a:prstGeom prst="rect">
            <a:avLst/>
          </a:prstGeom>
          <a:solidFill>
            <a:srgbClr val="7BE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9FE5E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7493E"/>
                </a:solidFill>
              </a:rPr>
              <a:t>월 보험료 합계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783080"/>
            <a:ext cx="3484778" cy="2926080"/>
          </a:xfrm>
          <a:prstGeom prst="roundRect">
            <a:avLst>
              <a:gd name="adj" fmla="val 4000"/>
            </a:avLst>
          </a:prstGeom>
          <a:solidFill>
            <a:srgbClr val="EAFD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포인트 막대"/>
          <p:cNvSpPr/>
          <p:nvPr/>
        </p:nvSpPr>
        <p:spPr>
          <a:xfrm>
            <a:off x="4353458" y="1892807"/>
            <a:ext cx="54864" cy="2706624"/>
          </a:xfrm>
          <a:prstGeom prst="rect">
            <a:avLst/>
          </a:prstGeom>
          <a:solidFill>
            <a:srgbClr val="7BE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solidFill>
            <a:srgbClr val="9FE5E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7493E"/>
                </a:solidFill>
              </a:rPr>
              <a:t>연 보험료 합계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6" name="카드 3"/>
          <p:cNvSpPr/>
          <p:nvPr/>
        </p:nvSpPr>
        <p:spPr>
          <a:xfrm>
            <a:off x="8066836" y="1783080"/>
            <a:ext cx="3484778" cy="2926080"/>
          </a:xfrm>
          <a:prstGeom prst="roundRect">
            <a:avLst>
              <a:gd name="adj" fmla="val 4000"/>
            </a:avLst>
          </a:prstGeom>
          <a:solidFill>
            <a:srgbClr val="EAFD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포인트 막대"/>
          <p:cNvSpPr/>
          <p:nvPr/>
        </p:nvSpPr>
        <p:spPr>
          <a:xfrm>
            <a:off x="8066836" y="1892807"/>
            <a:ext cx="54864" cy="2706624"/>
          </a:xfrm>
          <a:prstGeom prst="rect">
            <a:avLst/>
          </a:prstGeom>
          <a:solidFill>
            <a:srgbClr val="7BE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solidFill>
            <a:srgbClr val="9FE5E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7493E"/>
                </a:solidFill>
              </a:rPr>
              <a:t>월 소득 대비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0 %</a:t>
            </a:r>
          </a:p>
        </p:txBody>
      </p:sp>
      <p:sp>
        <p:nvSpPr>
          <p:cNvPr id="21" name="안내"/>
          <p:cNvSpPr txBox="1"/>
          <p:nvPr/>
        </p:nvSpPr>
        <p:spPr>
          <a:xfrm>
            <a:off x="640080" y="489204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5F3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109728"/>
          </a:xfrm>
          <a:prstGeom prst="wav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메모와 다음 할 일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3931920"/>
          </a:xfrm>
          <a:prstGeom prst="roundRect">
            <a:avLst>
              <a:gd name="adj" fmla="val 4000"/>
            </a:avLst>
          </a:prstGeom>
          <a:solidFill>
            <a:srgbClr val="EAFD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포인트 막대"/>
          <p:cNvSpPr/>
          <p:nvPr/>
        </p:nvSpPr>
        <p:spPr>
          <a:xfrm>
            <a:off x="640080" y="1892807"/>
            <a:ext cx="54864" cy="3712463"/>
          </a:xfrm>
          <a:prstGeom prst="rect">
            <a:avLst/>
          </a:prstGeom>
          <a:solidFill>
            <a:srgbClr val="7BE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9FE5E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93E"/>
                </a:solidFill>
              </a:rPr>
              <a:t>확인할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783080"/>
            <a:ext cx="3484778" cy="3931920"/>
          </a:xfrm>
          <a:prstGeom prst="roundRect">
            <a:avLst>
              <a:gd name="adj" fmla="val 4000"/>
            </a:avLst>
          </a:prstGeom>
          <a:solidFill>
            <a:srgbClr val="EAFD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포인트 막대"/>
          <p:cNvSpPr/>
          <p:nvPr/>
        </p:nvSpPr>
        <p:spPr>
          <a:xfrm>
            <a:off x="4353458" y="1892807"/>
            <a:ext cx="54864" cy="3712463"/>
          </a:xfrm>
          <a:prstGeom prst="rect">
            <a:avLst/>
          </a:prstGeom>
          <a:solidFill>
            <a:srgbClr val="7BE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solidFill>
            <a:srgbClr val="9FE5E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93E"/>
                </a:solidFill>
              </a:rPr>
              <a:t>문의할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6" name="카드 3"/>
          <p:cNvSpPr/>
          <p:nvPr/>
        </p:nvSpPr>
        <p:spPr>
          <a:xfrm>
            <a:off x="8066836" y="1783080"/>
            <a:ext cx="3484778" cy="3931920"/>
          </a:xfrm>
          <a:prstGeom prst="roundRect">
            <a:avLst>
              <a:gd name="adj" fmla="val 4000"/>
            </a:avLst>
          </a:prstGeom>
          <a:solidFill>
            <a:srgbClr val="EAFD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포인트 막대"/>
          <p:cNvSpPr/>
          <p:nvPr/>
        </p:nvSpPr>
        <p:spPr>
          <a:xfrm>
            <a:off x="8066836" y="1892807"/>
            <a:ext cx="54864" cy="3712463"/>
          </a:xfrm>
          <a:prstGeom prst="rect">
            <a:avLst/>
          </a:prstGeom>
          <a:solidFill>
            <a:srgbClr val="7BE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solidFill>
            <a:srgbClr val="9FE5E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93E"/>
                </a:solidFill>
              </a:rPr>
              <a:t>정리할 날짜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21" name="안내 문구"/>
          <p:cNvSpPr txBox="1"/>
          <p:nvPr/>
        </p:nvSpPr>
        <p:spPr>
          <a:xfrm>
            <a:off x="640080" y="580644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모님 점검)">
  <a:themeElements>
    <a:clrScheme name="Office">
      <a:dk1>
        <a:sysClr val="windowText" lastClr="000000"/>
      </a:dk1>
      <a:lt1>
        <a:sysClr val="window" lastClr="FFFFFF"/>
      </a:lt1>
      <a:dk2>
        <a:srgbClr val="27493E"/>
      </a:dk2>
      <a:lt2>
        <a:srgbClr val="EAFDF7"/>
      </a:lt2>
      <a:accent1>
        <a:srgbClr val="7BEAC5"/>
      </a:accent1>
      <a:accent2>
        <a:srgbClr val="9FE5EF"/>
      </a:accent2>
      <a:accent3>
        <a:srgbClr val="27493E"/>
      </a:accent3>
      <a:accent4>
        <a:srgbClr val="D1FAEC"/>
      </a:accent4>
      <a:accent5>
        <a:srgbClr val="8DE8DA"/>
      </a:accent5>
      <a:accent6>
        <a:srgbClr val="7D928B"/>
      </a:accent6>
      <a:hlink>
        <a:srgbClr val="7BEAC5"/>
      </a:hlink>
      <a:folHlink>
        <a:srgbClr val="27493E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발표자료(부모님 점검)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