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1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2880360"/>
            <a:ext cx="5486262" cy="3977639"/>
          </a:xfrm>
          <a:prstGeom prst="rtTriangle">
            <a:avLst/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4526280"/>
            <a:ext cx="3169840" cy="2331720"/>
          </a:xfrm>
          <a:prstGeom prst="rtTriangle">
            <a:avLst/>
          </a:prstGeom>
          <a:solidFill>
            <a:srgbClr val="9941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0800000">
            <a:off x="7802684" y="0"/>
            <a:ext cx="4389010" cy="2743200"/>
          </a:xfrm>
          <a:prstGeom prst="rtTriangle">
            <a:avLst/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1412842">
            <a:off x="9769615" y="5970263"/>
            <a:ext cx="652092" cy="652092"/>
          </a:xfrm>
          <a:prstGeom prst="star5">
            <a:avLst/>
          </a:prstGeom>
          <a:solidFill>
            <a:srgbClr val="9941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690837">
            <a:off x="11392094" y="4365368"/>
            <a:ext cx="385284" cy="385284"/>
          </a:xfrm>
          <a:prstGeom prst="star5">
            <a:avLst/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193618">
            <a:off x="9691086" y="3199032"/>
            <a:ext cx="585667" cy="585667"/>
          </a:xfrm>
          <a:prstGeom prst="star5">
            <a:avLst/>
          </a:prstGeom>
          <a:solidFill>
            <a:srgbClr val="3B91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996890">
            <a:off x="11344552" y="4917092"/>
            <a:ext cx="530257" cy="530257"/>
          </a:xfrm>
          <a:prstGeom prst="star5">
            <a:avLst/>
          </a:prstGeom>
          <a:solidFill>
            <a:srgbClr val="9941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21031246">
            <a:off x="10556842" y="3356582"/>
            <a:ext cx="490238" cy="490238"/>
          </a:xfrm>
          <a:prstGeom prst="star5">
            <a:avLst/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21529189">
            <a:off x="10658927" y="5116916"/>
            <a:ext cx="863210" cy="863210"/>
          </a:xfrm>
          <a:prstGeom prst="star5">
            <a:avLst/>
          </a:prstGeom>
          <a:solidFill>
            <a:srgbClr val="3B91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5335" y="1097280"/>
            <a:ext cx="7558851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4D2019"/>
                </a:solidFill>
              </a:rPr>
              <a:t>우리 보험 점검 시간</a:t>
            </a:r>
          </a:p>
        </p:txBody>
      </p:sp>
      <p:sp>
        <p:nvSpPr>
          <p:cNvPr id="12" name="한 줄 문구"/>
          <p:cNvSpPr txBox="1"/>
          <p:nvPr/>
        </p:nvSpPr>
        <p:spPr>
          <a:xfrm>
            <a:off x="975335" y="2651760"/>
            <a:ext cx="731501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4D2019"/>
                </a:solidFill>
              </a:rPr>
              <a:t>높은 하늘처럼 넓게 보는 가족 보장</a:t>
            </a:r>
          </a:p>
        </p:txBody>
      </p:sp>
      <p:sp>
        <p:nvSpPr>
          <p:cNvPr id="13" name="안내 문구"/>
          <p:cNvSpPr txBox="1"/>
          <p:nvPr/>
        </p:nvSpPr>
        <p:spPr>
          <a:xfrm>
            <a:off x="975335" y="3520439"/>
            <a:ext cx="731501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부모님 점검 · 2026.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가입 내용을 정리하고 함께 확인하는 양식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1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9941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1412842">
            <a:off x="11150165" y="1206116"/>
            <a:ext cx="239100" cy="239100"/>
          </a:xfrm>
          <a:prstGeom prst="star5">
            <a:avLst/>
          </a:prstGeom>
          <a:solidFill>
            <a:srgbClr val="9941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690837">
            <a:off x="11745074" y="617655"/>
            <a:ext cx="141271" cy="141271"/>
          </a:xfrm>
          <a:prstGeom prst="star5">
            <a:avLst/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193618">
            <a:off x="11121371" y="189998"/>
            <a:ext cx="214744" cy="214744"/>
          </a:xfrm>
          <a:prstGeom prst="star5">
            <a:avLst/>
          </a:prstGeom>
          <a:solidFill>
            <a:srgbClr val="3B91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996890">
            <a:off x="11727642" y="819953"/>
            <a:ext cx="194427" cy="194427"/>
          </a:xfrm>
          <a:prstGeom prst="star5">
            <a:avLst/>
          </a:prstGeom>
          <a:solidFill>
            <a:srgbClr val="9941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1031246">
            <a:off x="11438815" y="247766"/>
            <a:ext cx="179754" cy="179754"/>
          </a:xfrm>
          <a:prstGeom prst="star5">
            <a:avLst/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21529189">
            <a:off x="11476246" y="893222"/>
            <a:ext cx="316510" cy="316510"/>
          </a:xfrm>
          <a:prstGeom prst="star5">
            <a:avLst/>
          </a:prstGeom>
          <a:solidFill>
            <a:srgbClr val="3B91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D2019"/>
                </a:solidFill>
              </a:rPr>
              <a:t>점검 대상 현황</a:t>
            </a:r>
          </a:p>
        </p:txBody>
      </p:sp>
      <p:graphicFrame>
        <p:nvGraphicFramePr>
          <p:cNvPr id="11" name="표"/>
          <p:cNvGraphicFramePr>
            <a:graphicFrameLocks noGrp="1"/>
          </p:cNvGraphicFramePr>
          <p:nvPr/>
        </p:nvGraphicFramePr>
        <p:xfrm>
          <a:off x="640080" y="1600200"/>
          <a:ext cx="10911534" cy="3657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37178"/>
                <a:gridCol w="3637178"/>
                <a:gridCol w="3637178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94133"/>
                      </a:solidFill>
                      <a:prstDash val="solid"/>
                    </a:lnL>
                    <a:lnR w="9525" cap="flat" cmpd="sng" algn="ctr">
                      <a:solidFill>
                        <a:srgbClr val="994133"/>
                      </a:solidFill>
                      <a:prstDash val="solid"/>
                    </a:lnR>
                    <a:lnT w="9525" cap="flat" cmpd="sng" algn="ctr">
                      <a:solidFill>
                        <a:srgbClr val="994133"/>
                      </a:solidFill>
                      <a:prstDash val="solid"/>
                    </a:lnT>
                    <a:lnB w="9525" cap="flat" cmpd="sng" algn="ctr">
                      <a:solidFill>
                        <a:srgbClr val="994133"/>
                      </a:solidFill>
                      <a:prstDash val="solid"/>
                    </a:lnB>
                    <a:solidFill>
                      <a:srgbClr val="9941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아버지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94133"/>
                      </a:solidFill>
                      <a:prstDash val="solid"/>
                    </a:lnL>
                    <a:lnR w="9525" cap="flat" cmpd="sng" algn="ctr">
                      <a:solidFill>
                        <a:srgbClr val="994133"/>
                      </a:solidFill>
                      <a:prstDash val="solid"/>
                    </a:lnR>
                    <a:lnT w="9525" cap="flat" cmpd="sng" algn="ctr">
                      <a:solidFill>
                        <a:srgbClr val="994133"/>
                      </a:solidFill>
                      <a:prstDash val="solid"/>
                    </a:lnT>
                    <a:lnB w="9525" cap="flat" cmpd="sng" algn="ctr">
                      <a:solidFill>
                        <a:srgbClr val="994133"/>
                      </a:solidFill>
                      <a:prstDash val="solid"/>
                    </a:lnB>
                    <a:solidFill>
                      <a:srgbClr val="9941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어머니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94133"/>
                      </a:solidFill>
                      <a:prstDash val="solid"/>
                    </a:lnL>
                    <a:lnR w="9525" cap="flat" cmpd="sng" algn="ctr">
                      <a:solidFill>
                        <a:srgbClr val="994133"/>
                      </a:solidFill>
                      <a:prstDash val="solid"/>
                    </a:lnR>
                    <a:lnT w="9525" cap="flat" cmpd="sng" algn="ctr">
                      <a:solidFill>
                        <a:srgbClr val="994133"/>
                      </a:solidFill>
                      <a:prstDash val="solid"/>
                    </a:lnT>
                    <a:lnB w="9525" cap="flat" cmpd="sng" algn="ctr">
                      <a:solidFill>
                        <a:srgbClr val="994133"/>
                      </a:solidFill>
                      <a:prstDash val="solid"/>
                    </a:lnB>
                    <a:solidFill>
                      <a:srgbClr val="994133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4D2019"/>
                          </a:solidFill>
                        </a:rPr>
                        <a:t>성함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1D4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4D2019"/>
                          </a:solidFill>
                        </a:rPr>
                        <a:t>연세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1D4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AF1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AF1F0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4D2019"/>
                          </a:solidFill>
                        </a:rPr>
                        <a:t>건강 상태 메모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1D4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4D2019"/>
                          </a:solidFill>
                        </a:rPr>
                        <a:t>함께 확인할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1D4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AF1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AF1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1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9941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1412842">
            <a:off x="11150165" y="1206116"/>
            <a:ext cx="239100" cy="239100"/>
          </a:xfrm>
          <a:prstGeom prst="star5">
            <a:avLst/>
          </a:prstGeom>
          <a:solidFill>
            <a:srgbClr val="9941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690837">
            <a:off x="11745074" y="617655"/>
            <a:ext cx="141271" cy="141271"/>
          </a:xfrm>
          <a:prstGeom prst="star5">
            <a:avLst/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193618">
            <a:off x="11121371" y="189998"/>
            <a:ext cx="214744" cy="214744"/>
          </a:xfrm>
          <a:prstGeom prst="star5">
            <a:avLst/>
          </a:prstGeom>
          <a:solidFill>
            <a:srgbClr val="3B91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996890">
            <a:off x="11727642" y="819953"/>
            <a:ext cx="194427" cy="194427"/>
          </a:xfrm>
          <a:prstGeom prst="star5">
            <a:avLst/>
          </a:prstGeom>
          <a:solidFill>
            <a:srgbClr val="9941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1031246">
            <a:off x="11438815" y="247766"/>
            <a:ext cx="179754" cy="179754"/>
          </a:xfrm>
          <a:prstGeom prst="star5">
            <a:avLst/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21529189">
            <a:off x="11476246" y="893222"/>
            <a:ext cx="316510" cy="316510"/>
          </a:xfrm>
          <a:prstGeom prst="star5">
            <a:avLst/>
          </a:prstGeom>
          <a:solidFill>
            <a:srgbClr val="3B91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D2019"/>
                </a:solidFill>
              </a:rPr>
              <a:t>가입한 보험 목록</a:t>
            </a:r>
          </a:p>
        </p:txBody>
      </p:sp>
      <p:graphicFrame>
        <p:nvGraphicFramePr>
          <p:cNvPr id="11" name="표"/>
          <p:cNvGraphicFramePr>
            <a:graphicFrameLocks noGrp="1"/>
          </p:cNvGraphicFramePr>
          <p:nvPr/>
        </p:nvGraphicFramePr>
        <p:xfrm>
          <a:off x="640080" y="1600200"/>
          <a:ext cx="10911535" cy="4224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3108960"/>
                <a:gridCol w="1828800"/>
                <a:gridCol w="1828800"/>
                <a:gridCol w="213329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보험회사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94133"/>
                      </a:solidFill>
                      <a:prstDash val="solid"/>
                    </a:lnL>
                    <a:lnR w="9525" cap="flat" cmpd="sng" algn="ctr">
                      <a:solidFill>
                        <a:srgbClr val="994133"/>
                      </a:solidFill>
                      <a:prstDash val="solid"/>
                    </a:lnR>
                    <a:lnT w="9525" cap="flat" cmpd="sng" algn="ctr">
                      <a:solidFill>
                        <a:srgbClr val="994133"/>
                      </a:solidFill>
                      <a:prstDash val="solid"/>
                    </a:lnT>
                    <a:lnB w="9525" cap="flat" cmpd="sng" algn="ctr">
                      <a:solidFill>
                        <a:srgbClr val="994133"/>
                      </a:solidFill>
                      <a:prstDash val="solid"/>
                    </a:lnB>
                    <a:solidFill>
                      <a:srgbClr val="9941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상품명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94133"/>
                      </a:solidFill>
                      <a:prstDash val="solid"/>
                    </a:lnL>
                    <a:lnR w="9525" cap="flat" cmpd="sng" algn="ctr">
                      <a:solidFill>
                        <a:srgbClr val="994133"/>
                      </a:solidFill>
                      <a:prstDash val="solid"/>
                    </a:lnR>
                    <a:lnT w="9525" cap="flat" cmpd="sng" algn="ctr">
                      <a:solidFill>
                        <a:srgbClr val="994133"/>
                      </a:solidFill>
                      <a:prstDash val="solid"/>
                    </a:lnT>
                    <a:lnB w="9525" cap="flat" cmpd="sng" algn="ctr">
                      <a:solidFill>
                        <a:srgbClr val="994133"/>
                      </a:solidFill>
                      <a:prstDash val="solid"/>
                    </a:lnB>
                    <a:solidFill>
                      <a:srgbClr val="9941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종류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94133"/>
                      </a:solidFill>
                      <a:prstDash val="solid"/>
                    </a:lnL>
                    <a:lnR w="9525" cap="flat" cmpd="sng" algn="ctr">
                      <a:solidFill>
                        <a:srgbClr val="994133"/>
                      </a:solidFill>
                      <a:prstDash val="solid"/>
                    </a:lnR>
                    <a:lnT w="9525" cap="flat" cmpd="sng" algn="ctr">
                      <a:solidFill>
                        <a:srgbClr val="994133"/>
                      </a:solidFill>
                      <a:prstDash val="solid"/>
                    </a:lnT>
                    <a:lnB w="9525" cap="flat" cmpd="sng" algn="ctr">
                      <a:solidFill>
                        <a:srgbClr val="994133"/>
                      </a:solidFill>
                      <a:prstDash val="solid"/>
                    </a:lnB>
                    <a:solidFill>
                      <a:srgbClr val="9941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만기일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94133"/>
                      </a:solidFill>
                      <a:prstDash val="solid"/>
                    </a:lnL>
                    <a:lnR w="9525" cap="flat" cmpd="sng" algn="ctr">
                      <a:solidFill>
                        <a:srgbClr val="994133"/>
                      </a:solidFill>
                      <a:prstDash val="solid"/>
                    </a:lnR>
                    <a:lnT w="9525" cap="flat" cmpd="sng" algn="ctr">
                      <a:solidFill>
                        <a:srgbClr val="994133"/>
                      </a:solidFill>
                      <a:prstDash val="solid"/>
                    </a:lnT>
                    <a:lnB w="9525" cap="flat" cmpd="sng" algn="ctr">
                      <a:solidFill>
                        <a:srgbClr val="994133"/>
                      </a:solidFill>
                      <a:prstDash val="solid"/>
                    </a:lnB>
                    <a:solidFill>
                      <a:srgbClr val="9941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월 보험료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94133"/>
                      </a:solidFill>
                      <a:prstDash val="solid"/>
                    </a:lnL>
                    <a:lnR w="9525" cap="flat" cmpd="sng" algn="ctr">
                      <a:solidFill>
                        <a:srgbClr val="994133"/>
                      </a:solidFill>
                      <a:prstDash val="solid"/>
                    </a:lnR>
                    <a:lnT w="9525" cap="flat" cmpd="sng" algn="ctr">
                      <a:solidFill>
                        <a:srgbClr val="994133"/>
                      </a:solidFill>
                      <a:prstDash val="solid"/>
                    </a:lnT>
                    <a:lnB w="9525" cap="flat" cmpd="sng" algn="ctr">
                      <a:solidFill>
                        <a:srgbClr val="994133"/>
                      </a:solidFill>
                      <a:prstDash val="solid"/>
                    </a:lnB>
                    <a:solidFill>
                      <a:srgbClr val="994133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AF1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AF1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AF1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AF1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AF1F0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AF1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AF1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AF1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AF1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AF1F0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AF1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AF1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AF1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AF1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AF1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1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9941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1412842">
            <a:off x="11150165" y="1206116"/>
            <a:ext cx="239100" cy="239100"/>
          </a:xfrm>
          <a:prstGeom prst="star5">
            <a:avLst/>
          </a:prstGeom>
          <a:solidFill>
            <a:srgbClr val="9941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690837">
            <a:off x="11745074" y="617655"/>
            <a:ext cx="141271" cy="141271"/>
          </a:xfrm>
          <a:prstGeom prst="star5">
            <a:avLst/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193618">
            <a:off x="11121371" y="189998"/>
            <a:ext cx="214744" cy="214744"/>
          </a:xfrm>
          <a:prstGeom prst="star5">
            <a:avLst/>
          </a:prstGeom>
          <a:solidFill>
            <a:srgbClr val="3B91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996890">
            <a:off x="11727642" y="819953"/>
            <a:ext cx="194427" cy="194427"/>
          </a:xfrm>
          <a:prstGeom prst="star5">
            <a:avLst/>
          </a:prstGeom>
          <a:solidFill>
            <a:srgbClr val="9941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1031246">
            <a:off x="11438815" y="247766"/>
            <a:ext cx="179754" cy="179754"/>
          </a:xfrm>
          <a:prstGeom prst="star5">
            <a:avLst/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21529189">
            <a:off x="11476246" y="893222"/>
            <a:ext cx="316510" cy="316510"/>
          </a:xfrm>
          <a:prstGeom prst="star5">
            <a:avLst/>
          </a:prstGeom>
          <a:solidFill>
            <a:srgbClr val="3B91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D2019"/>
                </a:solidFill>
              </a:rPr>
              <a:t>보장 항목 체크</a:t>
            </a:r>
          </a:p>
        </p:txBody>
      </p:sp>
      <p:graphicFrame>
        <p:nvGraphicFramePr>
          <p:cNvPr id="11" name="표"/>
          <p:cNvGraphicFramePr>
            <a:graphicFrameLocks noGrp="1"/>
          </p:cNvGraphicFramePr>
          <p:nvPr/>
        </p:nvGraphicFramePr>
        <p:xfrm>
          <a:off x="640080" y="1600200"/>
          <a:ext cx="10911534" cy="47731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57600"/>
                <a:gridCol w="2417978"/>
                <a:gridCol w="2417978"/>
                <a:gridCol w="241797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보장 항목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94133"/>
                      </a:solidFill>
                      <a:prstDash val="solid"/>
                    </a:lnL>
                    <a:lnR w="9525" cap="flat" cmpd="sng" algn="ctr">
                      <a:solidFill>
                        <a:srgbClr val="994133"/>
                      </a:solidFill>
                      <a:prstDash val="solid"/>
                    </a:lnR>
                    <a:lnT w="9525" cap="flat" cmpd="sng" algn="ctr">
                      <a:solidFill>
                        <a:srgbClr val="994133"/>
                      </a:solidFill>
                      <a:prstDash val="solid"/>
                    </a:lnT>
                    <a:lnB w="9525" cap="flat" cmpd="sng" algn="ctr">
                      <a:solidFill>
                        <a:srgbClr val="994133"/>
                      </a:solidFill>
                      <a:prstDash val="solid"/>
                    </a:lnB>
                    <a:solidFill>
                      <a:srgbClr val="9941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가입 확인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94133"/>
                      </a:solidFill>
                      <a:prstDash val="solid"/>
                    </a:lnL>
                    <a:lnR w="9525" cap="flat" cmpd="sng" algn="ctr">
                      <a:solidFill>
                        <a:srgbClr val="994133"/>
                      </a:solidFill>
                      <a:prstDash val="solid"/>
                    </a:lnR>
                    <a:lnT w="9525" cap="flat" cmpd="sng" algn="ctr">
                      <a:solidFill>
                        <a:srgbClr val="994133"/>
                      </a:solidFill>
                      <a:prstDash val="solid"/>
                    </a:lnT>
                    <a:lnB w="9525" cap="flat" cmpd="sng" algn="ctr">
                      <a:solidFill>
                        <a:srgbClr val="994133"/>
                      </a:solidFill>
                      <a:prstDash val="solid"/>
                    </a:lnB>
                    <a:solidFill>
                      <a:srgbClr val="9941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확인 필요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94133"/>
                      </a:solidFill>
                      <a:prstDash val="solid"/>
                    </a:lnL>
                    <a:lnR w="9525" cap="flat" cmpd="sng" algn="ctr">
                      <a:solidFill>
                        <a:srgbClr val="994133"/>
                      </a:solidFill>
                      <a:prstDash val="solid"/>
                    </a:lnR>
                    <a:lnT w="9525" cap="flat" cmpd="sng" algn="ctr">
                      <a:solidFill>
                        <a:srgbClr val="994133"/>
                      </a:solidFill>
                      <a:prstDash val="solid"/>
                    </a:lnT>
                    <a:lnB w="9525" cap="flat" cmpd="sng" algn="ctr">
                      <a:solidFill>
                        <a:srgbClr val="994133"/>
                      </a:solidFill>
                      <a:prstDash val="solid"/>
                    </a:lnB>
                    <a:solidFill>
                      <a:srgbClr val="9941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해당 없음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94133"/>
                      </a:solidFill>
                      <a:prstDash val="solid"/>
                    </a:lnL>
                    <a:lnR w="9525" cap="flat" cmpd="sng" algn="ctr">
                      <a:solidFill>
                        <a:srgbClr val="994133"/>
                      </a:solidFill>
                      <a:prstDash val="solid"/>
                    </a:lnR>
                    <a:lnT w="9525" cap="flat" cmpd="sng" algn="ctr">
                      <a:solidFill>
                        <a:srgbClr val="994133"/>
                      </a:solidFill>
                      <a:prstDash val="solid"/>
                    </a:lnT>
                    <a:lnB w="9525" cap="flat" cmpd="sng" algn="ctr">
                      <a:solidFill>
                        <a:srgbClr val="994133"/>
                      </a:solidFill>
                      <a:prstDash val="solid"/>
                    </a:lnB>
                    <a:solidFill>
                      <a:srgbClr val="994133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D2019"/>
                          </a:solidFill>
                        </a:rPr>
                        <a:t>사망·재해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1D4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D2019"/>
                          </a:solidFill>
                        </a:rPr>
                        <a:t>질병 진단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1D4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AF1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AF1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AF1F0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D2019"/>
                          </a:solidFill>
                        </a:rPr>
                        <a:t>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1D4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D2019"/>
                          </a:solidFill>
                        </a:rPr>
                        <a:t>뇌·심장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1D4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AF1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AF1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AF1F0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D2019"/>
                          </a:solidFill>
                        </a:rPr>
                        <a:t>입원·수술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1D4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D2019"/>
                          </a:solidFill>
                        </a:rPr>
                        <a:t>상해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1D4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AF1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AF1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AF1F0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D2019"/>
                          </a:solidFill>
                        </a:rPr>
                        <a:t>실손의료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1D4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D2019"/>
                          </a:solidFill>
                        </a:rPr>
                        <a:t>연금·노후자금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1D4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AF1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AF1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AF1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1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9941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1412842">
            <a:off x="11150165" y="1206116"/>
            <a:ext cx="239100" cy="239100"/>
          </a:xfrm>
          <a:prstGeom prst="star5">
            <a:avLst/>
          </a:prstGeom>
          <a:solidFill>
            <a:srgbClr val="9941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690837">
            <a:off x="11745074" y="617655"/>
            <a:ext cx="141271" cy="141271"/>
          </a:xfrm>
          <a:prstGeom prst="star5">
            <a:avLst/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193618">
            <a:off x="11121371" y="189998"/>
            <a:ext cx="214744" cy="214744"/>
          </a:xfrm>
          <a:prstGeom prst="star5">
            <a:avLst/>
          </a:prstGeom>
          <a:solidFill>
            <a:srgbClr val="3B91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996890">
            <a:off x="11727642" y="819953"/>
            <a:ext cx="194427" cy="194427"/>
          </a:xfrm>
          <a:prstGeom prst="star5">
            <a:avLst/>
          </a:prstGeom>
          <a:solidFill>
            <a:srgbClr val="9941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1031246">
            <a:off x="11438815" y="247766"/>
            <a:ext cx="179754" cy="179754"/>
          </a:xfrm>
          <a:prstGeom prst="star5">
            <a:avLst/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21529189">
            <a:off x="11476246" y="893222"/>
            <a:ext cx="316510" cy="316510"/>
          </a:xfrm>
          <a:prstGeom prst="star5">
            <a:avLst/>
          </a:prstGeom>
          <a:solidFill>
            <a:srgbClr val="3B91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D2019"/>
                </a:solidFill>
              </a:rPr>
              <a:t>월 보험료 한눈에</a:t>
            </a:r>
          </a:p>
        </p:txBody>
      </p:sp>
      <p:sp>
        <p:nvSpPr>
          <p:cNvPr id="11" name="카드 1"/>
          <p:cNvSpPr/>
          <p:nvPr/>
        </p:nvSpPr>
        <p:spPr>
          <a:xfrm>
            <a:off x="640080" y="160020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AF1F0"/>
          </a:solidFill>
          <a:ln w="15875">
            <a:solidFill>
              <a:srgbClr val="F1D4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번호 1"/>
          <p:cNvSpPr/>
          <p:nvPr/>
        </p:nvSpPr>
        <p:spPr>
          <a:xfrm>
            <a:off x="822959" y="1783080"/>
            <a:ext cx="457200" cy="457200"/>
          </a:xfrm>
          <a:prstGeom prst="ellipse">
            <a:avLst/>
          </a:prstGeom>
          <a:solidFill>
            <a:srgbClr val="99413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4D2019"/>
                </a:solidFill>
              </a:rPr>
              <a:t>월 보험료 합계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06324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15" name="카드 2"/>
          <p:cNvSpPr/>
          <p:nvPr/>
        </p:nvSpPr>
        <p:spPr>
          <a:xfrm>
            <a:off x="4353458" y="160020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AF1F0"/>
          </a:solidFill>
          <a:ln w="15875">
            <a:solidFill>
              <a:srgbClr val="F1D4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번호 2"/>
          <p:cNvSpPr/>
          <p:nvPr/>
        </p:nvSpPr>
        <p:spPr>
          <a:xfrm>
            <a:off x="4536338" y="1783080"/>
            <a:ext cx="457200" cy="457200"/>
          </a:xfrm>
          <a:prstGeom prst="ellipse">
            <a:avLst/>
          </a:prstGeom>
          <a:solidFill>
            <a:srgbClr val="99413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0618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4D2019"/>
                </a:solidFill>
              </a:rPr>
              <a:t>연 보험료 합계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0618" y="306324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19" name="카드 3"/>
          <p:cNvSpPr/>
          <p:nvPr/>
        </p:nvSpPr>
        <p:spPr>
          <a:xfrm>
            <a:off x="8066836" y="160020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AF1F0"/>
          </a:solidFill>
          <a:ln w="15875">
            <a:solidFill>
              <a:srgbClr val="F1D4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번호 3"/>
          <p:cNvSpPr/>
          <p:nvPr/>
        </p:nvSpPr>
        <p:spPr>
          <a:xfrm>
            <a:off x="8249716" y="1783080"/>
            <a:ext cx="457200" cy="457200"/>
          </a:xfrm>
          <a:prstGeom prst="ellipse">
            <a:avLst/>
          </a:prstGeom>
          <a:solidFill>
            <a:srgbClr val="99413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3996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4D2019"/>
                </a:solidFill>
              </a:rPr>
              <a:t>월 소득 대비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03996" y="306324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0 %</a:t>
            </a:r>
          </a:p>
        </p:txBody>
      </p:sp>
      <p:sp>
        <p:nvSpPr>
          <p:cNvPr id="23" name="안내"/>
          <p:cNvSpPr txBox="1"/>
          <p:nvPr/>
        </p:nvSpPr>
        <p:spPr>
          <a:xfrm>
            <a:off x="640080" y="4709160"/>
            <a:ext cx="10911535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숫자를 눌러 직접 고쳐 쓰세요.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1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9941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1412842">
            <a:off x="11150165" y="1206116"/>
            <a:ext cx="239100" cy="239100"/>
          </a:xfrm>
          <a:prstGeom prst="star5">
            <a:avLst/>
          </a:prstGeom>
          <a:solidFill>
            <a:srgbClr val="9941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690837">
            <a:off x="11745074" y="617655"/>
            <a:ext cx="141271" cy="141271"/>
          </a:xfrm>
          <a:prstGeom prst="star5">
            <a:avLst/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193618">
            <a:off x="11121371" y="189998"/>
            <a:ext cx="214744" cy="214744"/>
          </a:xfrm>
          <a:prstGeom prst="star5">
            <a:avLst/>
          </a:prstGeom>
          <a:solidFill>
            <a:srgbClr val="3B91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996890">
            <a:off x="11727642" y="819953"/>
            <a:ext cx="194427" cy="194427"/>
          </a:xfrm>
          <a:prstGeom prst="star5">
            <a:avLst/>
          </a:prstGeom>
          <a:solidFill>
            <a:srgbClr val="9941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1031246">
            <a:off x="11438815" y="247766"/>
            <a:ext cx="179754" cy="179754"/>
          </a:xfrm>
          <a:prstGeom prst="star5">
            <a:avLst/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21529189">
            <a:off x="11476246" y="893222"/>
            <a:ext cx="316510" cy="316510"/>
          </a:xfrm>
          <a:prstGeom prst="star5">
            <a:avLst/>
          </a:prstGeom>
          <a:solidFill>
            <a:srgbClr val="3B91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D2019"/>
                </a:solidFill>
              </a:rPr>
              <a:t>점검 메모와 다음 할 일</a:t>
            </a:r>
          </a:p>
        </p:txBody>
      </p:sp>
      <p:sp>
        <p:nvSpPr>
          <p:cNvPr id="11" name="카드 1"/>
          <p:cNvSpPr/>
          <p:nvPr/>
        </p:nvSpPr>
        <p:spPr>
          <a:xfrm>
            <a:off x="640080" y="1600200"/>
            <a:ext cx="3484778" cy="4160520"/>
          </a:xfrm>
          <a:prstGeom prst="roundRect">
            <a:avLst>
              <a:gd name="adj" fmla="val 8000"/>
            </a:avLst>
          </a:prstGeom>
          <a:solidFill>
            <a:srgbClr val="FAF1F0"/>
          </a:solidFill>
          <a:ln w="15875">
            <a:solidFill>
              <a:srgbClr val="F1D4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번호 1"/>
          <p:cNvSpPr/>
          <p:nvPr/>
        </p:nvSpPr>
        <p:spPr>
          <a:xfrm>
            <a:off x="822959" y="1783080"/>
            <a:ext cx="457200" cy="457200"/>
          </a:xfrm>
          <a:prstGeom prst="ellipse">
            <a:avLst/>
          </a:prstGeom>
          <a:solidFill>
            <a:srgbClr val="99413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D2019"/>
                </a:solidFill>
              </a:rPr>
              <a:t>확인할 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063240"/>
            <a:ext cx="3210458" cy="2560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5" name="카드 2"/>
          <p:cNvSpPr/>
          <p:nvPr/>
        </p:nvSpPr>
        <p:spPr>
          <a:xfrm>
            <a:off x="4353458" y="1600200"/>
            <a:ext cx="3484778" cy="4160520"/>
          </a:xfrm>
          <a:prstGeom prst="roundRect">
            <a:avLst>
              <a:gd name="adj" fmla="val 8000"/>
            </a:avLst>
          </a:prstGeom>
          <a:solidFill>
            <a:srgbClr val="FAF1F0"/>
          </a:solidFill>
          <a:ln w="15875">
            <a:solidFill>
              <a:srgbClr val="F1D4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번호 2"/>
          <p:cNvSpPr/>
          <p:nvPr/>
        </p:nvSpPr>
        <p:spPr>
          <a:xfrm>
            <a:off x="4536338" y="1783080"/>
            <a:ext cx="457200" cy="457200"/>
          </a:xfrm>
          <a:prstGeom prst="ellipse">
            <a:avLst/>
          </a:prstGeom>
          <a:solidFill>
            <a:srgbClr val="99413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0618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D2019"/>
                </a:solidFill>
              </a:rPr>
              <a:t>문의할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0618" y="3063240"/>
            <a:ext cx="3210458" cy="2560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9" name="카드 3"/>
          <p:cNvSpPr/>
          <p:nvPr/>
        </p:nvSpPr>
        <p:spPr>
          <a:xfrm>
            <a:off x="8066836" y="1600200"/>
            <a:ext cx="3484778" cy="4160520"/>
          </a:xfrm>
          <a:prstGeom prst="roundRect">
            <a:avLst>
              <a:gd name="adj" fmla="val 8000"/>
            </a:avLst>
          </a:prstGeom>
          <a:solidFill>
            <a:srgbClr val="FAF1F0"/>
          </a:solidFill>
          <a:ln w="15875">
            <a:solidFill>
              <a:srgbClr val="F1D4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번호 3"/>
          <p:cNvSpPr/>
          <p:nvPr/>
        </p:nvSpPr>
        <p:spPr>
          <a:xfrm>
            <a:off x="8249716" y="1783080"/>
            <a:ext cx="457200" cy="457200"/>
          </a:xfrm>
          <a:prstGeom prst="ellipse">
            <a:avLst/>
          </a:prstGeom>
          <a:solidFill>
            <a:srgbClr val="99413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3996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D2019"/>
                </a:solidFill>
              </a:rPr>
              <a:t>정리할 날짜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03996" y="3063240"/>
            <a:ext cx="3210458" cy="2560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23" name="안내 문구"/>
          <p:cNvSpPr txBox="1"/>
          <p:nvPr/>
        </p:nvSpPr>
        <p:spPr>
          <a:xfrm>
            <a:off x="640080" y="5852160"/>
            <a:ext cx="10911535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보험 보장 점검 발표자료(부모님 점검)">
  <a:themeElements>
    <a:clrScheme name="Office">
      <a:dk1>
        <a:sysClr val="windowText" lastClr="000000"/>
      </a:dk1>
      <a:lt1>
        <a:sysClr val="window" lastClr="FFFFFF"/>
      </a:lt1>
      <a:dk2>
        <a:srgbClr val="4D2019"/>
      </a:dk2>
      <a:lt2>
        <a:srgbClr val="FAF1F0"/>
      </a:lt2>
      <a:accent1>
        <a:srgbClr val="994133"/>
      </a:accent1>
      <a:accent2>
        <a:srgbClr val="3B9171"/>
      </a:accent2>
      <a:accent3>
        <a:srgbClr val="4D2019"/>
      </a:accent3>
      <a:accent4>
        <a:srgbClr val="F1D4D0"/>
      </a:accent4>
      <a:accent5>
        <a:srgbClr val="6A6952"/>
      </a:accent5>
      <a:accent6>
        <a:srgbClr val="947975"/>
      </a:accent6>
      <a:hlink>
        <a:srgbClr val="994133"/>
      </a:hlink>
      <a:folHlink>
        <a:srgbClr val="4D2019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발표자료(부모님 점검)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