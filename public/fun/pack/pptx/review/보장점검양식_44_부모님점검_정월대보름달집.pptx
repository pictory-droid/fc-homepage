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7315017" y="960120"/>
            <a:ext cx="3657508" cy="58978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7924601" y="1783080"/>
            <a:ext cx="2438339" cy="507492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8595145" y="2651782"/>
            <a:ext cx="1097252" cy="1828754"/>
          </a:xfrm>
          <a:prstGeom prst="moon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0091702" y="2808669"/>
            <a:ext cx="271746" cy="271746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0089969" y="3132535"/>
            <a:ext cx="317927" cy="317927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장식"/>
          <p:cNvSpPr/>
          <p:nvPr/>
        </p:nvSpPr>
        <p:spPr>
          <a:xfrm>
            <a:off x="9774343" y="4154626"/>
            <a:ext cx="361791" cy="36179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544212"/>
                </a:solidFill>
              </a:rPr>
              <a:t>우리 보험 점검 시간</a:t>
            </a:r>
          </a:p>
        </p:txBody>
      </p:sp>
      <p:sp>
        <p:nvSpPr>
          <p:cNvPr id="9" name="한 줄 문구"/>
          <p:cNvSpPr txBox="1"/>
          <p:nvPr/>
        </p:nvSpPr>
        <p:spPr>
          <a:xfrm>
            <a:off x="853418" y="3703320"/>
            <a:ext cx="5852013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544212"/>
                </a:solidFill>
              </a:rPr>
              <a:t>달집 태우던 소원처럼 안심을 빌어요</a:t>
            </a:r>
          </a:p>
        </p:txBody>
      </p:sp>
      <p:sp>
        <p:nvSpPr>
          <p:cNvPr id="10" name="안내 문구"/>
          <p:cNvSpPr txBox="1"/>
          <p:nvPr/>
        </p:nvSpPr>
        <p:spPr>
          <a:xfrm>
            <a:off x="853418" y="4572000"/>
            <a:ext cx="5852013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부모님 점검 · 2026. 00. 00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가입 내용을 정리하고 함께 확인하는 양식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점검 대상 현황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640080" y="1600200"/>
          <a:ext cx="10911534" cy="3657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731520"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구분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아버지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1">
                          <a:solidFill>
                            <a:srgbClr val="FFFFFF"/>
                          </a:solidFill>
                        </a:rPr>
                        <a:t>어머니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44212"/>
                          </a:solidFill>
                        </a:rPr>
                        <a:t>성함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44212"/>
                          </a:solidFill>
                        </a:rPr>
                        <a:t>연세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44212"/>
                          </a:solidFill>
                        </a:rPr>
                        <a:t>건강 상태 메모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 algn="l"/>
                      <a:r>
                        <a:rPr sz="1600" b="1">
                          <a:solidFill>
                            <a:srgbClr val="544212"/>
                          </a:solidFill>
                        </a:rPr>
                        <a:t>함께 확인할 것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6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가입한 보험 목록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640080" y="1600200"/>
          <a:ext cx="10911535" cy="422452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011680"/>
                <a:gridCol w="3108960"/>
                <a:gridCol w="1828800"/>
                <a:gridCol w="1828800"/>
                <a:gridCol w="2133295"/>
              </a:tblGrid>
              <a:tr h="603504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보험회사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상품명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종류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만기일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월 보험료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pPr algn="l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/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보장 항목 체크</a:t>
            </a:r>
          </a:p>
        </p:txBody>
      </p:sp>
      <p:graphicFrame>
        <p:nvGraphicFramePr>
          <p:cNvPr id="8" name="표"/>
          <p:cNvGraphicFramePr>
            <a:graphicFrameLocks noGrp="1"/>
          </p:cNvGraphicFramePr>
          <p:nvPr/>
        </p:nvGraphicFramePr>
        <p:xfrm>
          <a:off x="640080" y="1600200"/>
          <a:ext cx="10911534" cy="4773168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3657600"/>
                <a:gridCol w="2417978"/>
                <a:gridCol w="2417978"/>
                <a:gridCol w="2417978"/>
              </a:tblGrid>
              <a:tr h="530352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보장 항목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가입 확인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확인 필요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해당 없음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A78425"/>
                      </a:solidFill>
                      <a:prstDash val="solid"/>
                    </a:lnL>
                    <a:lnR w="9525" cap="flat" cmpd="sng" algn="ctr">
                      <a:solidFill>
                        <a:srgbClr val="A78425"/>
                      </a:solidFill>
                      <a:prstDash val="solid"/>
                    </a:lnR>
                    <a:lnT w="9525" cap="flat" cmpd="sng" algn="ctr">
                      <a:solidFill>
                        <a:srgbClr val="A78425"/>
                      </a:solidFill>
                      <a:prstDash val="solid"/>
                    </a:lnT>
                    <a:lnB w="9525" cap="flat" cmpd="sng" algn="ctr">
                      <a:solidFill>
                        <a:srgbClr val="A78425"/>
                      </a:solidFill>
                      <a:prstDash val="solid"/>
                    </a:lnB>
                    <a:solidFill>
                      <a:srgbClr val="A78425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사망·재해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질병 진단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뇌·심장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입원·수술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상해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실손의료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544212"/>
                          </a:solidFill>
                        </a:rPr>
                        <a:t>연금·노후자금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6EAC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□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F6EACB"/>
                      </a:solidFill>
                      <a:prstDash val="solid"/>
                    </a:lnL>
                    <a:lnR w="9525" cap="flat" cmpd="sng" algn="ctr">
                      <a:solidFill>
                        <a:srgbClr val="F6EACB"/>
                      </a:solidFill>
                      <a:prstDash val="solid"/>
                    </a:lnR>
                    <a:lnT w="9525" cap="flat" cmpd="sng" algn="ctr">
                      <a:solidFill>
                        <a:srgbClr val="F6EACB"/>
                      </a:solidFill>
                      <a:prstDash val="solid"/>
                    </a:lnT>
                    <a:lnB w="9525" cap="flat" cmpd="sng" algn="ctr">
                      <a:solidFill>
                        <a:srgbClr val="F6EACB"/>
                      </a:solidFill>
                      <a:prstDash val="solid"/>
                    </a:lnB>
                    <a:solidFill>
                      <a:srgbClr val="FBF8E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월 보험료 한눈에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44212"/>
                </a:solidFill>
              </a:rPr>
              <a:t>월 보험료 합계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44212"/>
                </a:solidFill>
              </a:rPr>
              <a:t>연 보험료 합계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0원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292608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1" i="0">
                <a:solidFill>
                  <a:srgbClr val="544212"/>
                </a:solidFill>
              </a:rPr>
              <a:t>월 소득 대비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3063240"/>
            <a:ext cx="3210458" cy="13258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3000" b="0" i="0">
                <a:solidFill>
                  <a:srgbClr val="2B2B2B"/>
                </a:solidFill>
              </a:rPr>
              <a:t>0 %</a:t>
            </a:r>
          </a:p>
        </p:txBody>
      </p:sp>
      <p:sp>
        <p:nvSpPr>
          <p:cNvPr id="20" name="안내"/>
          <p:cNvSpPr txBox="1"/>
          <p:nvPr/>
        </p:nvSpPr>
        <p:spPr>
          <a:xfrm>
            <a:off x="640080" y="4709160"/>
            <a:ext cx="10911535" cy="3657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숫자를 눌러 직접 고쳐 쓰세요.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8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 rot="10800000">
            <a:off x="10637215" y="0"/>
            <a:ext cx="914400" cy="1554480"/>
          </a:xfrm>
          <a:prstGeom prst="round2SameRect">
            <a:avLst>
              <a:gd name="adj1" fmla="val 50000"/>
              <a:gd name="adj2" fmla="val 0"/>
            </a:avLst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0874959" y="411479"/>
            <a:ext cx="438912" cy="731520"/>
          </a:xfrm>
          <a:prstGeom prst="moon">
            <a:avLst/>
          </a:prstGeom>
          <a:solidFill>
            <a:srgbClr val="A7842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장식"/>
          <p:cNvSpPr/>
          <p:nvPr/>
        </p:nvSpPr>
        <p:spPr>
          <a:xfrm>
            <a:off x="11473597" y="474236"/>
            <a:ext cx="108701" cy="108701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장식"/>
          <p:cNvSpPr/>
          <p:nvPr/>
        </p:nvSpPr>
        <p:spPr>
          <a:xfrm>
            <a:off x="11472904" y="603785"/>
            <a:ext cx="127173" cy="127173"/>
          </a:xfrm>
          <a:prstGeom prst="star5">
            <a:avLst/>
          </a:prstGeom>
          <a:solidFill>
            <a:srgbClr val="3B7D9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장식"/>
          <p:cNvSpPr/>
          <p:nvPr/>
        </p:nvSpPr>
        <p:spPr>
          <a:xfrm>
            <a:off x="11346650" y="1012632"/>
            <a:ext cx="144720" cy="144720"/>
          </a:xfrm>
          <a:prstGeom prst="star5">
            <a:avLst/>
          </a:prstGeom>
          <a:solidFill>
            <a:srgbClr val="F6EACB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544212"/>
                </a:solidFill>
              </a:rPr>
              <a:t>점검 메모와 다음 할 일</a:t>
            </a:r>
          </a:p>
        </p:txBody>
      </p:sp>
      <p:sp>
        <p:nvSpPr>
          <p:cNvPr id="8" name="카드 1"/>
          <p:cNvSpPr/>
          <p:nvPr/>
        </p:nvSpPr>
        <p:spPr>
          <a:xfrm>
            <a:off x="640080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1"/>
          <p:cNvSpPr/>
          <p:nvPr/>
        </p:nvSpPr>
        <p:spPr>
          <a:xfrm>
            <a:off x="822959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확인할 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2" name="카드 2"/>
          <p:cNvSpPr/>
          <p:nvPr/>
        </p:nvSpPr>
        <p:spPr>
          <a:xfrm>
            <a:off x="4353458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2"/>
          <p:cNvSpPr/>
          <p:nvPr/>
        </p:nvSpPr>
        <p:spPr>
          <a:xfrm>
            <a:off x="4536338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90618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문의할 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90618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16" name="카드 3"/>
          <p:cNvSpPr/>
          <p:nvPr/>
        </p:nvSpPr>
        <p:spPr>
          <a:xfrm>
            <a:off x="8066836" y="1600200"/>
            <a:ext cx="3484778" cy="4160520"/>
          </a:xfrm>
          <a:prstGeom prst="roundRect">
            <a:avLst>
              <a:gd name="adj" fmla="val 8000"/>
            </a:avLst>
          </a:prstGeom>
          <a:solidFill>
            <a:srgbClr val="FBF8EE"/>
          </a:solidFill>
          <a:ln w="15875">
            <a:solidFill>
              <a:srgbClr val="F6EACB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번호 3"/>
          <p:cNvSpPr/>
          <p:nvPr/>
        </p:nvSpPr>
        <p:spPr>
          <a:xfrm>
            <a:off x="8249716" y="1783080"/>
            <a:ext cx="457200" cy="457200"/>
          </a:xfrm>
          <a:prstGeom prst="ellipse">
            <a:avLst/>
          </a:prstGeom>
          <a:solidFill>
            <a:srgbClr val="A78425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3996" y="2377440"/>
            <a:ext cx="321045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544212"/>
                </a:solidFill>
              </a:rPr>
              <a:t>정리할 날짜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3996" y="3063240"/>
            <a:ext cx="3210458" cy="25603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내용을 입력하세요</a:t>
            </a:r>
          </a:p>
        </p:txBody>
      </p:sp>
      <p:sp>
        <p:nvSpPr>
          <p:cNvPr id="20" name="안내 문구"/>
          <p:cNvSpPr txBox="1"/>
          <p:nvPr/>
        </p:nvSpPr>
        <p:spPr>
          <a:xfrm>
            <a:off x="640080" y="5852160"/>
            <a:ext cx="10911535" cy="54864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100" b="0" i="1">
                <a:solidFill>
                  <a:srgbClr val="777777"/>
                </a:solidFill>
              </a:rPr>
              <a:t>이 양식은 가입 내용을 스스로 정리하기 위한 것이며 보험 가입을 권유하거나 보장의 적정성을 판단하지 않습니다. 정확한 내용은 증권·약관과 가입한 보험회사에서 확인하세요.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보험 보장 점검 발표자료(부모님 점검)">
  <a:themeElements>
    <a:clrScheme name="Office">
      <a:dk1>
        <a:sysClr val="windowText" lastClr="000000"/>
      </a:dk1>
      <a:lt1>
        <a:sysClr val="window" lastClr="FFFFFF"/>
      </a:lt1>
      <a:dk2>
        <a:srgbClr val="544212"/>
      </a:dk2>
      <a:lt2>
        <a:srgbClr val="FBF8EE"/>
      </a:lt2>
      <a:accent1>
        <a:srgbClr val="A78425"/>
      </a:accent1>
      <a:accent2>
        <a:srgbClr val="3B7D91"/>
      </a:accent2>
      <a:accent3>
        <a:srgbClr val="544212"/>
      </a:accent3>
      <a:accent4>
        <a:srgbClr val="F6EACB"/>
      </a:accent4>
      <a:accent5>
        <a:srgbClr val="71805B"/>
      </a:accent5>
      <a:accent6>
        <a:srgbClr val="988E71"/>
      </a:accent6>
      <a:hlink>
        <a:srgbClr val="A78425"/>
      </a:hlink>
      <a:folHlink>
        <a:srgbClr val="544212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보험 보장 점검 발표자료(부모님 점검)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