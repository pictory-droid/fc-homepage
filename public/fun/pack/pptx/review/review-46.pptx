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10241023" cy="1828800"/>
          </a:xfrm>
          <a:prstGeom prst="homePlate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9509522" cy="64008"/>
          </a:xfrm>
          <a:prstGeom prst="rect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446245" y="555497"/>
            <a:ext cx="2215134" cy="1282446"/>
          </a:xfrm>
          <a:prstGeom prst="cloud">
            <a:avLst/>
          </a:prstGeom>
          <a:solidFill>
            <a:srgbClr val="D6E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495519" y="1138428"/>
            <a:ext cx="1399032" cy="886053"/>
          </a:xfrm>
          <a:prstGeom prst="cloud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0029175" y="2117750"/>
            <a:ext cx="279806" cy="279806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0728691" y="2117750"/>
            <a:ext cx="279806" cy="279806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428207" y="2117750"/>
            <a:ext cx="279806" cy="279806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01" y="2167128"/>
            <a:ext cx="8778020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</a:rPr>
              <a:t>우리 보험 점검 시간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731501" y="416052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53A41"/>
                </a:solidFill>
              </a:rPr>
              <a:t>새벽 시장처럼 부지런하게 정리해요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731501" y="502920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본인 점검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69803" y="425196"/>
            <a:ext cx="955547" cy="553212"/>
          </a:xfrm>
          <a:prstGeom prst="cloud">
            <a:avLst/>
          </a:prstGeom>
          <a:solidFill>
            <a:srgbClr val="D6E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22431" y="676656"/>
            <a:ext cx="603504" cy="382219"/>
          </a:xfrm>
          <a:prstGeom prst="cloud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021263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323015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624767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점검 대상 현황</a:t>
            </a:r>
          </a:p>
        </p:txBody>
      </p:sp>
      <p:graphicFrame>
        <p:nvGraphicFramePr>
          <p:cNvPr id="9" name="표"/>
          <p:cNvGraphicFramePr>
            <a:graphicFrameLocks noGrp="1"/>
          </p:cNvGraphicFramePr>
          <p:nvPr/>
        </p:nvGraphicFramePr>
        <p:xfrm>
          <a:off x="640080" y="164592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55767"/>
                <a:gridCol w="545576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483"/>
                      </a:solidFill>
                      <a:prstDash val="solid"/>
                    </a:lnL>
                    <a:lnR w="9525" cap="flat" cmpd="sng" algn="ctr">
                      <a:solidFill>
                        <a:srgbClr val="497483"/>
                      </a:solidFill>
                      <a:prstDash val="solid"/>
                    </a:lnR>
                    <a:lnT w="9525" cap="flat" cmpd="sng" algn="ctr">
                      <a:solidFill>
                        <a:srgbClr val="497483"/>
                      </a:solidFill>
                      <a:prstDash val="solid"/>
                    </a:lnT>
                    <a:lnB w="9525" cap="flat" cmpd="sng" algn="ctr">
                      <a:solidFill>
                        <a:srgbClr val="497483"/>
                      </a:solidFill>
                      <a:prstDash val="solid"/>
                    </a:lnB>
                    <a:solidFill>
                      <a:srgbClr val="4974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483"/>
                      </a:solidFill>
                      <a:prstDash val="solid"/>
                    </a:lnL>
                    <a:lnR w="9525" cap="flat" cmpd="sng" algn="ctr">
                      <a:solidFill>
                        <a:srgbClr val="497483"/>
                      </a:solidFill>
                      <a:prstDash val="solid"/>
                    </a:lnR>
                    <a:lnT w="9525" cap="flat" cmpd="sng" algn="ctr">
                      <a:solidFill>
                        <a:srgbClr val="497483"/>
                      </a:solidFill>
                      <a:prstDash val="solid"/>
                    </a:lnT>
                    <a:lnB w="9525" cap="flat" cmpd="sng" algn="ctr">
                      <a:solidFill>
                        <a:srgbClr val="497483"/>
                      </a:solidFill>
                      <a:prstDash val="solid"/>
                    </a:lnB>
                    <a:solidFill>
                      <a:srgbClr val="497483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53A41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D6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53A41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D6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53A41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D6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53A41"/>
                          </a:solidFill>
                        </a:rPr>
                        <a:t>가족 구성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D6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69803" y="425196"/>
            <a:ext cx="955547" cy="553212"/>
          </a:xfrm>
          <a:prstGeom prst="cloud">
            <a:avLst/>
          </a:prstGeom>
          <a:solidFill>
            <a:srgbClr val="D6E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22431" y="676656"/>
            <a:ext cx="603504" cy="382219"/>
          </a:xfrm>
          <a:prstGeom prst="cloud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021263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323015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624767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가입한 보험 목록</a:t>
            </a:r>
          </a:p>
        </p:txBody>
      </p:sp>
      <p:graphicFrame>
        <p:nvGraphicFramePr>
          <p:cNvPr id="9" name="표"/>
          <p:cNvGraphicFramePr>
            <a:graphicFrameLocks noGrp="1"/>
          </p:cNvGraphicFramePr>
          <p:nvPr/>
        </p:nvGraphicFramePr>
        <p:xfrm>
          <a:off x="640080" y="164592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483"/>
                      </a:solidFill>
                      <a:prstDash val="solid"/>
                    </a:lnL>
                    <a:lnR w="9525" cap="flat" cmpd="sng" algn="ctr">
                      <a:solidFill>
                        <a:srgbClr val="497483"/>
                      </a:solidFill>
                      <a:prstDash val="solid"/>
                    </a:lnR>
                    <a:lnT w="9525" cap="flat" cmpd="sng" algn="ctr">
                      <a:solidFill>
                        <a:srgbClr val="497483"/>
                      </a:solidFill>
                      <a:prstDash val="solid"/>
                    </a:lnT>
                    <a:lnB w="9525" cap="flat" cmpd="sng" algn="ctr">
                      <a:solidFill>
                        <a:srgbClr val="497483"/>
                      </a:solidFill>
                      <a:prstDash val="solid"/>
                    </a:lnB>
                    <a:solidFill>
                      <a:srgbClr val="4974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483"/>
                      </a:solidFill>
                      <a:prstDash val="solid"/>
                    </a:lnL>
                    <a:lnR w="9525" cap="flat" cmpd="sng" algn="ctr">
                      <a:solidFill>
                        <a:srgbClr val="497483"/>
                      </a:solidFill>
                      <a:prstDash val="solid"/>
                    </a:lnR>
                    <a:lnT w="9525" cap="flat" cmpd="sng" algn="ctr">
                      <a:solidFill>
                        <a:srgbClr val="497483"/>
                      </a:solidFill>
                      <a:prstDash val="solid"/>
                    </a:lnT>
                    <a:lnB w="9525" cap="flat" cmpd="sng" algn="ctr">
                      <a:solidFill>
                        <a:srgbClr val="497483"/>
                      </a:solidFill>
                      <a:prstDash val="solid"/>
                    </a:lnB>
                    <a:solidFill>
                      <a:srgbClr val="4974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483"/>
                      </a:solidFill>
                      <a:prstDash val="solid"/>
                    </a:lnL>
                    <a:lnR w="9525" cap="flat" cmpd="sng" algn="ctr">
                      <a:solidFill>
                        <a:srgbClr val="497483"/>
                      </a:solidFill>
                      <a:prstDash val="solid"/>
                    </a:lnR>
                    <a:lnT w="9525" cap="flat" cmpd="sng" algn="ctr">
                      <a:solidFill>
                        <a:srgbClr val="497483"/>
                      </a:solidFill>
                      <a:prstDash val="solid"/>
                    </a:lnT>
                    <a:lnB w="9525" cap="flat" cmpd="sng" algn="ctr">
                      <a:solidFill>
                        <a:srgbClr val="497483"/>
                      </a:solidFill>
                      <a:prstDash val="solid"/>
                    </a:lnB>
                    <a:solidFill>
                      <a:srgbClr val="4974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483"/>
                      </a:solidFill>
                      <a:prstDash val="solid"/>
                    </a:lnL>
                    <a:lnR w="9525" cap="flat" cmpd="sng" algn="ctr">
                      <a:solidFill>
                        <a:srgbClr val="497483"/>
                      </a:solidFill>
                      <a:prstDash val="solid"/>
                    </a:lnR>
                    <a:lnT w="9525" cap="flat" cmpd="sng" algn="ctr">
                      <a:solidFill>
                        <a:srgbClr val="497483"/>
                      </a:solidFill>
                      <a:prstDash val="solid"/>
                    </a:lnT>
                    <a:lnB w="9525" cap="flat" cmpd="sng" algn="ctr">
                      <a:solidFill>
                        <a:srgbClr val="497483"/>
                      </a:solidFill>
                      <a:prstDash val="solid"/>
                    </a:lnB>
                    <a:solidFill>
                      <a:srgbClr val="4974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483"/>
                      </a:solidFill>
                      <a:prstDash val="solid"/>
                    </a:lnL>
                    <a:lnR w="9525" cap="flat" cmpd="sng" algn="ctr">
                      <a:solidFill>
                        <a:srgbClr val="497483"/>
                      </a:solidFill>
                      <a:prstDash val="solid"/>
                    </a:lnR>
                    <a:lnT w="9525" cap="flat" cmpd="sng" algn="ctr">
                      <a:solidFill>
                        <a:srgbClr val="497483"/>
                      </a:solidFill>
                      <a:prstDash val="solid"/>
                    </a:lnT>
                    <a:lnB w="9525" cap="flat" cmpd="sng" algn="ctr">
                      <a:solidFill>
                        <a:srgbClr val="497483"/>
                      </a:solidFill>
                      <a:prstDash val="solid"/>
                    </a:lnB>
                    <a:solidFill>
                      <a:srgbClr val="497483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69803" y="425196"/>
            <a:ext cx="955547" cy="553212"/>
          </a:xfrm>
          <a:prstGeom prst="cloud">
            <a:avLst/>
          </a:prstGeom>
          <a:solidFill>
            <a:srgbClr val="D6E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22431" y="676656"/>
            <a:ext cx="603504" cy="382219"/>
          </a:xfrm>
          <a:prstGeom prst="cloud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021263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323015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624767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보장 항목 체크</a:t>
            </a:r>
          </a:p>
        </p:txBody>
      </p:sp>
      <p:graphicFrame>
        <p:nvGraphicFramePr>
          <p:cNvPr id="9" name="표"/>
          <p:cNvGraphicFramePr>
            <a:graphicFrameLocks noGrp="1"/>
          </p:cNvGraphicFramePr>
          <p:nvPr/>
        </p:nvGraphicFramePr>
        <p:xfrm>
          <a:off x="640080" y="164592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483"/>
                      </a:solidFill>
                      <a:prstDash val="solid"/>
                    </a:lnL>
                    <a:lnR w="9525" cap="flat" cmpd="sng" algn="ctr">
                      <a:solidFill>
                        <a:srgbClr val="497483"/>
                      </a:solidFill>
                      <a:prstDash val="solid"/>
                    </a:lnR>
                    <a:lnT w="9525" cap="flat" cmpd="sng" algn="ctr">
                      <a:solidFill>
                        <a:srgbClr val="497483"/>
                      </a:solidFill>
                      <a:prstDash val="solid"/>
                    </a:lnT>
                    <a:lnB w="9525" cap="flat" cmpd="sng" algn="ctr">
                      <a:solidFill>
                        <a:srgbClr val="497483"/>
                      </a:solidFill>
                      <a:prstDash val="solid"/>
                    </a:lnB>
                    <a:solidFill>
                      <a:srgbClr val="4974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483"/>
                      </a:solidFill>
                      <a:prstDash val="solid"/>
                    </a:lnL>
                    <a:lnR w="9525" cap="flat" cmpd="sng" algn="ctr">
                      <a:solidFill>
                        <a:srgbClr val="497483"/>
                      </a:solidFill>
                      <a:prstDash val="solid"/>
                    </a:lnR>
                    <a:lnT w="9525" cap="flat" cmpd="sng" algn="ctr">
                      <a:solidFill>
                        <a:srgbClr val="497483"/>
                      </a:solidFill>
                      <a:prstDash val="solid"/>
                    </a:lnT>
                    <a:lnB w="9525" cap="flat" cmpd="sng" algn="ctr">
                      <a:solidFill>
                        <a:srgbClr val="497483"/>
                      </a:solidFill>
                      <a:prstDash val="solid"/>
                    </a:lnB>
                    <a:solidFill>
                      <a:srgbClr val="4974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483"/>
                      </a:solidFill>
                      <a:prstDash val="solid"/>
                    </a:lnL>
                    <a:lnR w="9525" cap="flat" cmpd="sng" algn="ctr">
                      <a:solidFill>
                        <a:srgbClr val="497483"/>
                      </a:solidFill>
                      <a:prstDash val="solid"/>
                    </a:lnR>
                    <a:lnT w="9525" cap="flat" cmpd="sng" algn="ctr">
                      <a:solidFill>
                        <a:srgbClr val="497483"/>
                      </a:solidFill>
                      <a:prstDash val="solid"/>
                    </a:lnT>
                    <a:lnB w="9525" cap="flat" cmpd="sng" algn="ctr">
                      <a:solidFill>
                        <a:srgbClr val="497483"/>
                      </a:solidFill>
                      <a:prstDash val="solid"/>
                    </a:lnB>
                    <a:solidFill>
                      <a:srgbClr val="4974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483"/>
                      </a:solidFill>
                      <a:prstDash val="solid"/>
                    </a:lnL>
                    <a:lnR w="9525" cap="flat" cmpd="sng" algn="ctr">
                      <a:solidFill>
                        <a:srgbClr val="497483"/>
                      </a:solidFill>
                      <a:prstDash val="solid"/>
                    </a:lnR>
                    <a:lnT w="9525" cap="flat" cmpd="sng" algn="ctr">
                      <a:solidFill>
                        <a:srgbClr val="497483"/>
                      </a:solidFill>
                      <a:prstDash val="solid"/>
                    </a:lnT>
                    <a:lnB w="9525" cap="flat" cmpd="sng" algn="ctr">
                      <a:solidFill>
                        <a:srgbClr val="497483"/>
                      </a:solidFill>
                      <a:prstDash val="solid"/>
                    </a:lnB>
                    <a:solidFill>
                      <a:srgbClr val="497483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53A41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D6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53A41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D6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53A41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D6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53A41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D6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53A41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D6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53A41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D6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53A41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D6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53A41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D6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69803" y="425196"/>
            <a:ext cx="955547" cy="553212"/>
          </a:xfrm>
          <a:prstGeom prst="cloud">
            <a:avLst/>
          </a:prstGeom>
          <a:solidFill>
            <a:srgbClr val="D6E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22431" y="676656"/>
            <a:ext cx="603504" cy="382219"/>
          </a:xfrm>
          <a:prstGeom prst="cloud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021263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323015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624767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월 보험료 한눈에</a:t>
            </a:r>
          </a:p>
        </p:txBody>
      </p:sp>
      <p:sp>
        <p:nvSpPr>
          <p:cNvPr id="9" name="카드 1"/>
          <p:cNvSpPr/>
          <p:nvPr/>
        </p:nvSpPr>
        <p:spPr>
          <a:xfrm>
            <a:off x="640080" y="164592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 w="15875">
            <a:solidFill>
              <a:srgbClr val="D6E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49748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53A41"/>
                </a:solidFill>
              </a:rPr>
              <a:t>월 보험료 합계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0896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3" name="카드 2"/>
          <p:cNvSpPr/>
          <p:nvPr/>
        </p:nvSpPr>
        <p:spPr>
          <a:xfrm>
            <a:off x="4353458" y="164592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 w="15875">
            <a:solidFill>
              <a:srgbClr val="D6E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4536338" y="1828800"/>
            <a:ext cx="457200" cy="457200"/>
          </a:xfrm>
          <a:prstGeom prst="ellipse">
            <a:avLst/>
          </a:prstGeom>
          <a:solidFill>
            <a:srgbClr val="49748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53A41"/>
                </a:solidFill>
              </a:rPr>
              <a:t>연 보험료 합계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618" y="310896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7" name="카드 3"/>
          <p:cNvSpPr/>
          <p:nvPr/>
        </p:nvSpPr>
        <p:spPr>
          <a:xfrm>
            <a:off x="8066836" y="164592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 w="15875">
            <a:solidFill>
              <a:srgbClr val="D6E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49716" y="1828800"/>
            <a:ext cx="457200" cy="457200"/>
          </a:xfrm>
          <a:prstGeom prst="ellipse">
            <a:avLst/>
          </a:prstGeom>
          <a:solidFill>
            <a:srgbClr val="49748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3996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53A41"/>
                </a:solidFill>
              </a:rPr>
              <a:t>월 소득 대비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310896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21" name="안내"/>
          <p:cNvSpPr txBox="1"/>
          <p:nvPr/>
        </p:nvSpPr>
        <p:spPr>
          <a:xfrm>
            <a:off x="640080" y="475488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69803" y="425196"/>
            <a:ext cx="955547" cy="553212"/>
          </a:xfrm>
          <a:prstGeom prst="cloud">
            <a:avLst/>
          </a:prstGeom>
          <a:solidFill>
            <a:srgbClr val="D6E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22431" y="676656"/>
            <a:ext cx="603504" cy="382219"/>
          </a:xfrm>
          <a:prstGeom prst="cloud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021263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323015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624767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점검 메모와 다음 할 일</a:t>
            </a:r>
          </a:p>
        </p:txBody>
      </p:sp>
      <p:sp>
        <p:nvSpPr>
          <p:cNvPr id="9" name="카드 1"/>
          <p:cNvSpPr/>
          <p:nvPr/>
        </p:nvSpPr>
        <p:spPr>
          <a:xfrm>
            <a:off x="640080" y="1645920"/>
            <a:ext cx="3484778" cy="411480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 w="15875">
            <a:solidFill>
              <a:srgbClr val="D6E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49748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53A41"/>
                </a:solidFill>
              </a:rPr>
              <a:t>확인할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08960"/>
            <a:ext cx="3210458" cy="2514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2"/>
          <p:cNvSpPr/>
          <p:nvPr/>
        </p:nvSpPr>
        <p:spPr>
          <a:xfrm>
            <a:off x="4353458" y="1645920"/>
            <a:ext cx="3484778" cy="411480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 w="15875">
            <a:solidFill>
              <a:srgbClr val="D6E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4536338" y="1828800"/>
            <a:ext cx="457200" cy="457200"/>
          </a:xfrm>
          <a:prstGeom prst="ellipse">
            <a:avLst/>
          </a:prstGeom>
          <a:solidFill>
            <a:srgbClr val="49748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53A41"/>
                </a:solidFill>
              </a:rPr>
              <a:t>문의할 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618" y="3108960"/>
            <a:ext cx="3210458" cy="2514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7" name="카드 3"/>
          <p:cNvSpPr/>
          <p:nvPr/>
        </p:nvSpPr>
        <p:spPr>
          <a:xfrm>
            <a:off x="8066836" y="1645920"/>
            <a:ext cx="3484778" cy="411480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 w="15875">
            <a:solidFill>
              <a:srgbClr val="D6E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49716" y="1828800"/>
            <a:ext cx="457200" cy="457200"/>
          </a:xfrm>
          <a:prstGeom prst="ellipse">
            <a:avLst/>
          </a:prstGeom>
          <a:solidFill>
            <a:srgbClr val="49748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3996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53A41"/>
                </a:solidFill>
              </a:rPr>
              <a:t>정리할 날짜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3108960"/>
            <a:ext cx="3210458" cy="2514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1" name="안내 문구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본인 점검)">
  <a:themeElements>
    <a:clrScheme name="Office">
      <a:dk1>
        <a:sysClr val="windowText" lastClr="000000"/>
      </a:dk1>
      <a:lt1>
        <a:sysClr val="window" lastClr="FFFFFF"/>
      </a:lt1>
      <a:dk2>
        <a:srgbClr val="253A41"/>
      </a:dk2>
      <a:lt2>
        <a:srgbClr val="F2F6F8"/>
      </a:lt2>
      <a:accent1>
        <a:srgbClr val="497483"/>
      </a:accent1>
      <a:accent2>
        <a:srgbClr val="834958"/>
      </a:accent2>
      <a:accent3>
        <a:srgbClr val="253A41"/>
      </a:accent3>
      <a:accent4>
        <a:srgbClr val="D6E5EA"/>
      </a:accent4>
      <a:accent5>
        <a:srgbClr val="665E6E"/>
      </a:accent5>
      <a:accent6>
        <a:srgbClr val="7C898D"/>
      </a:accent6>
      <a:hlink>
        <a:srgbClr val="497483"/>
      </a:hlink>
      <a:folHlink>
        <a:srgbClr val="253A4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발표자료(본인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