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8534186" y="0"/>
            <a:ext cx="3657508" cy="6858000"/>
          </a:xfrm>
          <a:prstGeom prst="rect">
            <a:avLst/>
          </a:prstGeom>
          <a:solidFill>
            <a:srgbClr val="7BD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7985546" y="2880360"/>
            <a:ext cx="1097280" cy="1097280"/>
          </a:xfrm>
          <a:prstGeom prst="ellipse">
            <a:avLst/>
          </a:prstGeom>
          <a:solidFill>
            <a:srgbClr val="A5E6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6705432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6705432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6231F"/>
                </a:solidFill>
              </a:rPr>
              <a:t>우리 보험 점검 시간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6705432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갱신 시기를 달력에 표시합니다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6705432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사업장 점검 · 날짜 입력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274320"/>
          </a:xfrm>
          <a:prstGeom prst="star4">
            <a:avLst/>
          </a:prstGeom>
          <a:solidFill>
            <a:srgbClr val="7BD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7BD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INSURANCE CHECK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점검 대상 현황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783080"/>
          <a:ext cx="1091153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455767"/>
                <a:gridCol w="545576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D7EA"/>
                      </a:solidFill>
                      <a:prstDash val="solid"/>
                    </a:lnL>
                    <a:lnR w="9525" cap="flat" cmpd="sng" algn="ctr">
                      <a:solidFill>
                        <a:srgbClr val="7BD7EA"/>
                      </a:solidFill>
                      <a:prstDash val="solid"/>
                    </a:lnR>
                    <a:lnT w="9525" cap="flat" cmpd="sng" algn="ctr">
                      <a:solidFill>
                        <a:srgbClr val="7BD7EA"/>
                      </a:solidFill>
                      <a:prstDash val="solid"/>
                    </a:lnT>
                    <a:lnB w="9525" cap="flat" cmpd="sng" algn="ctr">
                      <a:solidFill>
                        <a:srgbClr val="7BD7EA"/>
                      </a:solidFill>
                      <a:prstDash val="solid"/>
                    </a:lnB>
                    <a:solidFill>
                      <a:srgbClr val="7BD7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내용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D7EA"/>
                      </a:solidFill>
                      <a:prstDash val="solid"/>
                    </a:lnL>
                    <a:lnR w="9525" cap="flat" cmpd="sng" algn="ctr">
                      <a:solidFill>
                        <a:srgbClr val="7BD7EA"/>
                      </a:solidFill>
                      <a:prstDash val="solid"/>
                    </a:lnR>
                    <a:lnT w="9525" cap="flat" cmpd="sng" algn="ctr">
                      <a:solidFill>
                        <a:srgbClr val="7BD7EA"/>
                      </a:solidFill>
                      <a:prstDash val="solid"/>
                    </a:lnT>
                    <a:lnB w="9525" cap="flat" cmpd="sng" algn="ctr">
                      <a:solidFill>
                        <a:srgbClr val="7BD7EA"/>
                      </a:solidFill>
                      <a:prstDash val="solid"/>
                    </a:lnB>
                    <a:solidFill>
                      <a:srgbClr val="7BD7E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74349"/>
                          </a:solidFill>
                        </a:rPr>
                        <a:t>상호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D1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74349"/>
                          </a:solidFill>
                        </a:rPr>
                        <a:t>업종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D1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EAFAFD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74349"/>
                          </a:solidFill>
                        </a:rPr>
                        <a:t>직원 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D1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74349"/>
                          </a:solidFill>
                        </a:rPr>
                        <a:t>확인할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D1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EAFA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274320"/>
          </a:xfrm>
          <a:prstGeom prst="star4">
            <a:avLst/>
          </a:prstGeom>
          <a:solidFill>
            <a:srgbClr val="7BD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7BD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INSURANCE CHECK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가입한 보험 목록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78308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D7EA"/>
                      </a:solidFill>
                      <a:prstDash val="solid"/>
                    </a:lnL>
                    <a:lnR w="9525" cap="flat" cmpd="sng" algn="ctr">
                      <a:solidFill>
                        <a:srgbClr val="7BD7EA"/>
                      </a:solidFill>
                      <a:prstDash val="solid"/>
                    </a:lnR>
                    <a:lnT w="9525" cap="flat" cmpd="sng" algn="ctr">
                      <a:solidFill>
                        <a:srgbClr val="7BD7EA"/>
                      </a:solidFill>
                      <a:prstDash val="solid"/>
                    </a:lnT>
                    <a:lnB w="9525" cap="flat" cmpd="sng" algn="ctr">
                      <a:solidFill>
                        <a:srgbClr val="7BD7EA"/>
                      </a:solidFill>
                      <a:prstDash val="solid"/>
                    </a:lnB>
                    <a:solidFill>
                      <a:srgbClr val="7BD7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D7EA"/>
                      </a:solidFill>
                      <a:prstDash val="solid"/>
                    </a:lnL>
                    <a:lnR w="9525" cap="flat" cmpd="sng" algn="ctr">
                      <a:solidFill>
                        <a:srgbClr val="7BD7EA"/>
                      </a:solidFill>
                      <a:prstDash val="solid"/>
                    </a:lnR>
                    <a:lnT w="9525" cap="flat" cmpd="sng" algn="ctr">
                      <a:solidFill>
                        <a:srgbClr val="7BD7EA"/>
                      </a:solidFill>
                      <a:prstDash val="solid"/>
                    </a:lnT>
                    <a:lnB w="9525" cap="flat" cmpd="sng" algn="ctr">
                      <a:solidFill>
                        <a:srgbClr val="7BD7EA"/>
                      </a:solidFill>
                      <a:prstDash val="solid"/>
                    </a:lnB>
                    <a:solidFill>
                      <a:srgbClr val="7BD7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D7EA"/>
                      </a:solidFill>
                      <a:prstDash val="solid"/>
                    </a:lnL>
                    <a:lnR w="9525" cap="flat" cmpd="sng" algn="ctr">
                      <a:solidFill>
                        <a:srgbClr val="7BD7EA"/>
                      </a:solidFill>
                      <a:prstDash val="solid"/>
                    </a:lnR>
                    <a:lnT w="9525" cap="flat" cmpd="sng" algn="ctr">
                      <a:solidFill>
                        <a:srgbClr val="7BD7EA"/>
                      </a:solidFill>
                      <a:prstDash val="solid"/>
                    </a:lnT>
                    <a:lnB w="9525" cap="flat" cmpd="sng" algn="ctr">
                      <a:solidFill>
                        <a:srgbClr val="7BD7EA"/>
                      </a:solidFill>
                      <a:prstDash val="solid"/>
                    </a:lnB>
                    <a:solidFill>
                      <a:srgbClr val="7BD7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D7EA"/>
                      </a:solidFill>
                      <a:prstDash val="solid"/>
                    </a:lnL>
                    <a:lnR w="9525" cap="flat" cmpd="sng" algn="ctr">
                      <a:solidFill>
                        <a:srgbClr val="7BD7EA"/>
                      </a:solidFill>
                      <a:prstDash val="solid"/>
                    </a:lnR>
                    <a:lnT w="9525" cap="flat" cmpd="sng" algn="ctr">
                      <a:solidFill>
                        <a:srgbClr val="7BD7EA"/>
                      </a:solidFill>
                      <a:prstDash val="solid"/>
                    </a:lnT>
                    <a:lnB w="9525" cap="flat" cmpd="sng" algn="ctr">
                      <a:solidFill>
                        <a:srgbClr val="7BD7EA"/>
                      </a:solidFill>
                      <a:prstDash val="solid"/>
                    </a:lnB>
                    <a:solidFill>
                      <a:srgbClr val="7BD7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D7EA"/>
                      </a:solidFill>
                      <a:prstDash val="solid"/>
                    </a:lnL>
                    <a:lnR w="9525" cap="flat" cmpd="sng" algn="ctr">
                      <a:solidFill>
                        <a:srgbClr val="7BD7EA"/>
                      </a:solidFill>
                      <a:prstDash val="solid"/>
                    </a:lnR>
                    <a:lnT w="9525" cap="flat" cmpd="sng" algn="ctr">
                      <a:solidFill>
                        <a:srgbClr val="7BD7EA"/>
                      </a:solidFill>
                      <a:prstDash val="solid"/>
                    </a:lnT>
                    <a:lnB w="9525" cap="flat" cmpd="sng" algn="ctr">
                      <a:solidFill>
                        <a:srgbClr val="7BD7EA"/>
                      </a:solidFill>
                      <a:prstDash val="solid"/>
                    </a:lnB>
                    <a:solidFill>
                      <a:srgbClr val="7BD7E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EA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EA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EA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EA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EAFAFD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EA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EA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EA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EA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EAFAFD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EA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EA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EA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EA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EAFA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274320"/>
          </a:xfrm>
          <a:prstGeom prst="star4">
            <a:avLst/>
          </a:prstGeom>
          <a:solidFill>
            <a:srgbClr val="7BD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7BD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INSURANCE CHECK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보장 항목 체크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78308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D7EA"/>
                      </a:solidFill>
                      <a:prstDash val="solid"/>
                    </a:lnL>
                    <a:lnR w="9525" cap="flat" cmpd="sng" algn="ctr">
                      <a:solidFill>
                        <a:srgbClr val="7BD7EA"/>
                      </a:solidFill>
                      <a:prstDash val="solid"/>
                    </a:lnR>
                    <a:lnT w="9525" cap="flat" cmpd="sng" algn="ctr">
                      <a:solidFill>
                        <a:srgbClr val="7BD7EA"/>
                      </a:solidFill>
                      <a:prstDash val="solid"/>
                    </a:lnT>
                    <a:lnB w="9525" cap="flat" cmpd="sng" algn="ctr">
                      <a:solidFill>
                        <a:srgbClr val="7BD7EA"/>
                      </a:solidFill>
                      <a:prstDash val="solid"/>
                    </a:lnB>
                    <a:solidFill>
                      <a:srgbClr val="7BD7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D7EA"/>
                      </a:solidFill>
                      <a:prstDash val="solid"/>
                    </a:lnL>
                    <a:lnR w="9525" cap="flat" cmpd="sng" algn="ctr">
                      <a:solidFill>
                        <a:srgbClr val="7BD7EA"/>
                      </a:solidFill>
                      <a:prstDash val="solid"/>
                    </a:lnR>
                    <a:lnT w="9525" cap="flat" cmpd="sng" algn="ctr">
                      <a:solidFill>
                        <a:srgbClr val="7BD7EA"/>
                      </a:solidFill>
                      <a:prstDash val="solid"/>
                    </a:lnT>
                    <a:lnB w="9525" cap="flat" cmpd="sng" algn="ctr">
                      <a:solidFill>
                        <a:srgbClr val="7BD7EA"/>
                      </a:solidFill>
                      <a:prstDash val="solid"/>
                    </a:lnB>
                    <a:solidFill>
                      <a:srgbClr val="7BD7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D7EA"/>
                      </a:solidFill>
                      <a:prstDash val="solid"/>
                    </a:lnL>
                    <a:lnR w="9525" cap="flat" cmpd="sng" algn="ctr">
                      <a:solidFill>
                        <a:srgbClr val="7BD7EA"/>
                      </a:solidFill>
                      <a:prstDash val="solid"/>
                    </a:lnR>
                    <a:lnT w="9525" cap="flat" cmpd="sng" algn="ctr">
                      <a:solidFill>
                        <a:srgbClr val="7BD7EA"/>
                      </a:solidFill>
                      <a:prstDash val="solid"/>
                    </a:lnT>
                    <a:lnB w="9525" cap="flat" cmpd="sng" algn="ctr">
                      <a:solidFill>
                        <a:srgbClr val="7BD7EA"/>
                      </a:solidFill>
                      <a:prstDash val="solid"/>
                    </a:lnB>
                    <a:solidFill>
                      <a:srgbClr val="7BD7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D7EA"/>
                      </a:solidFill>
                      <a:prstDash val="solid"/>
                    </a:lnL>
                    <a:lnR w="9525" cap="flat" cmpd="sng" algn="ctr">
                      <a:solidFill>
                        <a:srgbClr val="7BD7EA"/>
                      </a:solidFill>
                      <a:prstDash val="solid"/>
                    </a:lnR>
                    <a:lnT w="9525" cap="flat" cmpd="sng" algn="ctr">
                      <a:solidFill>
                        <a:srgbClr val="7BD7EA"/>
                      </a:solidFill>
                      <a:prstDash val="solid"/>
                    </a:lnT>
                    <a:lnB w="9525" cap="flat" cmpd="sng" algn="ctr">
                      <a:solidFill>
                        <a:srgbClr val="7BD7EA"/>
                      </a:solidFill>
                      <a:prstDash val="solid"/>
                    </a:lnB>
                    <a:solidFill>
                      <a:srgbClr val="7BD7E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4349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D1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4349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D1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EA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EA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EAFAFD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4349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D1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4349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D1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EA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EA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EAFAFD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4349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D1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4349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D1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EA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EA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EAFAFD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4349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D1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4349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D1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EA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EA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EAFA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274320"/>
          </a:xfrm>
          <a:prstGeom prst="star4">
            <a:avLst/>
          </a:prstGeom>
          <a:solidFill>
            <a:srgbClr val="7BD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7BD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INSURANCE CHECK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월 보험료 한눈에</a:t>
            </a:r>
          </a:p>
        </p:txBody>
      </p:sp>
      <p:sp>
        <p:nvSpPr>
          <p:cNvPr id="6" name="카드 1"/>
          <p:cNvSpPr/>
          <p:nvPr/>
        </p:nvSpPr>
        <p:spPr>
          <a:xfrm>
            <a:off x="640080" y="1783080"/>
            <a:ext cx="3484778" cy="292608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7BD7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 txBox="1"/>
          <p:nvPr/>
        </p:nvSpPr>
        <p:spPr>
          <a:xfrm>
            <a:off x="731519" y="192024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7BD7EA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74349"/>
                </a:solidFill>
              </a:rPr>
              <a:t>월 보험료 합계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461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0원</a:t>
            </a:r>
          </a:p>
        </p:txBody>
      </p:sp>
      <p:sp>
        <p:nvSpPr>
          <p:cNvPr id="10" name="카드 2"/>
          <p:cNvSpPr/>
          <p:nvPr/>
        </p:nvSpPr>
        <p:spPr>
          <a:xfrm>
            <a:off x="4353458" y="1783080"/>
            <a:ext cx="3484778" cy="292608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7BD7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 txBox="1"/>
          <p:nvPr/>
        </p:nvSpPr>
        <p:spPr>
          <a:xfrm>
            <a:off x="4444898" y="192024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7BD7EA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74349"/>
                </a:solidFill>
              </a:rPr>
              <a:t>연 보험료 합계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32461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0원</a:t>
            </a:r>
          </a:p>
        </p:txBody>
      </p:sp>
      <p:sp>
        <p:nvSpPr>
          <p:cNvPr id="14" name="카드 3"/>
          <p:cNvSpPr/>
          <p:nvPr/>
        </p:nvSpPr>
        <p:spPr>
          <a:xfrm>
            <a:off x="8066836" y="1783080"/>
            <a:ext cx="3484778" cy="292608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7BD7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 txBox="1"/>
          <p:nvPr/>
        </p:nvSpPr>
        <p:spPr>
          <a:xfrm>
            <a:off x="8158276" y="192024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7BD7EA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74349"/>
                </a:solidFill>
              </a:rPr>
              <a:t>월 소득 대비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3996" y="32461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0 %</a:t>
            </a:r>
          </a:p>
        </p:txBody>
      </p:sp>
      <p:sp>
        <p:nvSpPr>
          <p:cNvPr id="18" name="안내"/>
          <p:cNvSpPr txBox="1"/>
          <p:nvPr/>
        </p:nvSpPr>
        <p:spPr>
          <a:xfrm>
            <a:off x="640080" y="489204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274320"/>
          </a:xfrm>
          <a:prstGeom prst="star4">
            <a:avLst/>
          </a:prstGeom>
          <a:solidFill>
            <a:srgbClr val="7BD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7BD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INSURANCE CHECK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점검 메모와 다음 할 일</a:t>
            </a:r>
          </a:p>
        </p:txBody>
      </p:sp>
      <p:sp>
        <p:nvSpPr>
          <p:cNvPr id="6" name="카드 1"/>
          <p:cNvSpPr/>
          <p:nvPr/>
        </p:nvSpPr>
        <p:spPr>
          <a:xfrm>
            <a:off x="640080" y="1783080"/>
            <a:ext cx="3484778" cy="393192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7BD7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 txBox="1"/>
          <p:nvPr/>
        </p:nvSpPr>
        <p:spPr>
          <a:xfrm>
            <a:off x="731519" y="192024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7BD7EA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349"/>
                </a:solidFill>
              </a:rPr>
              <a:t>확인할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46120"/>
            <a:ext cx="3210458" cy="2331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0" name="카드 2"/>
          <p:cNvSpPr/>
          <p:nvPr/>
        </p:nvSpPr>
        <p:spPr>
          <a:xfrm>
            <a:off x="4353458" y="1783080"/>
            <a:ext cx="3484778" cy="393192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7BD7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 txBox="1"/>
          <p:nvPr/>
        </p:nvSpPr>
        <p:spPr>
          <a:xfrm>
            <a:off x="4444898" y="192024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7BD7EA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349"/>
                </a:solidFill>
              </a:rPr>
              <a:t>문의할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3246120"/>
            <a:ext cx="3210458" cy="2331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4" name="카드 3"/>
          <p:cNvSpPr/>
          <p:nvPr/>
        </p:nvSpPr>
        <p:spPr>
          <a:xfrm>
            <a:off x="8066836" y="1783080"/>
            <a:ext cx="3484778" cy="393192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7BD7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 txBox="1"/>
          <p:nvPr/>
        </p:nvSpPr>
        <p:spPr>
          <a:xfrm>
            <a:off x="8158276" y="192024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7BD7EA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349"/>
                </a:solidFill>
              </a:rPr>
              <a:t>정리할 날짜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3996" y="3246120"/>
            <a:ext cx="3210458" cy="2331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8" name="안내 문구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사업장 점검)">
  <a:themeElements>
    <a:clrScheme name="Office">
      <a:dk1>
        <a:sysClr val="windowText" lastClr="000000"/>
      </a:dk1>
      <a:lt1>
        <a:sysClr val="window" lastClr="FFFFFF"/>
      </a:lt1>
      <a:dk2>
        <a:srgbClr val="274349"/>
      </a:dk2>
      <a:lt2>
        <a:srgbClr val="EAFAFD"/>
      </a:lt2>
      <a:accent1>
        <a:srgbClr val="7BD7EA"/>
      </a:accent1>
      <a:accent2>
        <a:srgbClr val="9FBCEF"/>
      </a:accent2>
      <a:accent3>
        <a:srgbClr val="274349"/>
      </a:accent3>
      <a:accent4>
        <a:srgbClr val="D1F3FA"/>
      </a:accent4>
      <a:accent5>
        <a:srgbClr val="8DCAEC"/>
      </a:accent5>
      <a:accent6>
        <a:srgbClr val="7D8E92"/>
      </a:accent6>
      <a:hlink>
        <a:srgbClr val="7BD7EA"/>
      </a:hlink>
      <a:folHlink>
        <a:srgbClr val="2743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발표자료(사업장 점검)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