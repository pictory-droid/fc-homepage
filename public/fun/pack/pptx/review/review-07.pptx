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626858" y="630936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0305182" y="1123767"/>
            <a:ext cx="740664" cy="1152143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0046085" y="1921184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9207630" y="1921184"/>
            <a:ext cx="740664" cy="1152143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8948534" y="1123767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750302" y="1673352"/>
            <a:ext cx="493775" cy="49377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8425233" y="2531534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8659662" y="2879089"/>
            <a:ext cx="370332" cy="576071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8401560" y="3209445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8007616" y="3066061"/>
            <a:ext cx="370332" cy="576071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8022246" y="2647089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8364986" y="3031236"/>
            <a:ext cx="246887" cy="246887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542962" y="2820415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628155" y="3162105"/>
            <a:ext cx="311078" cy="48390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329514" y="3348717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059751" y="3122359"/>
            <a:ext cx="311078" cy="48390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191669" y="2795850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402257" y="3188147"/>
            <a:ext cx="207385" cy="20738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1285B"/>
                </a:solidFill>
              </a:rPr>
              <a:t>우리 보험 점검 시간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1285B"/>
                </a:solidFill>
              </a:rPr>
              <a:t>붉은 밑줄 대신 연한 형광펜으로 표시해요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부부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점검 대상 현황</a:t>
            </a:r>
          </a:p>
        </p:txBody>
      </p:sp>
      <p:graphicFrame>
        <p:nvGraphicFramePr>
          <p:cNvPr id="23" name="표"/>
          <p:cNvGraphicFramePr>
            <a:graphicFrameLocks noGrp="1"/>
          </p:cNvGraphicFramePr>
          <p:nvPr/>
        </p:nvGraphicFramePr>
        <p:xfrm>
          <a:off x="640080" y="155448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남편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1285B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1285B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1285B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71285B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가입한 보험 목록</a:t>
            </a:r>
          </a:p>
        </p:txBody>
      </p:sp>
      <p:graphicFrame>
        <p:nvGraphicFramePr>
          <p:cNvPr id="23" name="표"/>
          <p:cNvGraphicFramePr>
            <a:graphicFrameLocks noGrp="1"/>
          </p:cNvGraphicFramePr>
          <p:nvPr/>
        </p:nvGraphicFramePr>
        <p:xfrm>
          <a:off x="640080" y="15544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보장 항목 체크</a:t>
            </a:r>
          </a:p>
        </p:txBody>
      </p:sp>
      <p:graphicFrame>
        <p:nvGraphicFramePr>
          <p:cNvPr id="23" name="표"/>
          <p:cNvGraphicFramePr>
            <a:graphicFrameLocks noGrp="1"/>
          </p:cNvGraphicFramePr>
          <p:nvPr/>
        </p:nvGraphicFramePr>
        <p:xfrm>
          <a:off x="640080" y="15544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D4298"/>
                      </a:solidFill>
                      <a:prstDash val="solid"/>
                    </a:lnL>
                    <a:lnR w="9525" cap="flat" cmpd="sng" algn="ctr">
                      <a:solidFill>
                        <a:srgbClr val="BD4298"/>
                      </a:solidFill>
                      <a:prstDash val="solid"/>
                    </a:lnR>
                    <a:lnT w="9525" cap="flat" cmpd="sng" algn="ctr">
                      <a:solidFill>
                        <a:srgbClr val="BD4298"/>
                      </a:solidFill>
                      <a:prstDash val="solid"/>
                    </a:lnT>
                    <a:lnB w="9525" cap="flat" cmpd="sng" algn="ctr">
                      <a:solidFill>
                        <a:srgbClr val="BD4298"/>
                      </a:solidFill>
                      <a:prstDash val="solid"/>
                    </a:lnB>
                    <a:solidFill>
                      <a:srgbClr val="BD429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285B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285B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285B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285B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285B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285B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285B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1285B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1D0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1D0E7"/>
                      </a:solidFill>
                      <a:prstDash val="solid"/>
                    </a:lnL>
                    <a:lnR w="9525" cap="flat" cmpd="sng" algn="ctr">
                      <a:solidFill>
                        <a:srgbClr val="F1D0E7"/>
                      </a:solidFill>
                      <a:prstDash val="solid"/>
                    </a:lnR>
                    <a:lnT w="9525" cap="flat" cmpd="sng" algn="ctr">
                      <a:solidFill>
                        <a:srgbClr val="F1D0E7"/>
                      </a:solidFill>
                      <a:prstDash val="solid"/>
                    </a:lnT>
                    <a:lnB w="9525" cap="flat" cmpd="sng" algn="ctr">
                      <a:solidFill>
                        <a:srgbClr val="F1D0E7"/>
                      </a:solidFill>
                      <a:prstDash val="solid"/>
                    </a:lnB>
                    <a:solidFill>
                      <a:srgbClr val="F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월 보험료 한눈에</a:t>
            </a:r>
          </a:p>
        </p:txBody>
      </p:sp>
      <p:sp>
        <p:nvSpPr>
          <p:cNvPr id="23" name="카드 1"/>
          <p:cNvSpPr/>
          <p:nvPr/>
        </p:nvSpPr>
        <p:spPr>
          <a:xfrm>
            <a:off x="640080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1285B"/>
                </a:solidFill>
              </a:rPr>
              <a:t>월 보험료 합계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27" name="카드 2"/>
          <p:cNvSpPr/>
          <p:nvPr/>
        </p:nvSpPr>
        <p:spPr>
          <a:xfrm>
            <a:off x="4353458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2"/>
          <p:cNvSpPr/>
          <p:nvPr/>
        </p:nvSpPr>
        <p:spPr>
          <a:xfrm>
            <a:off x="4536338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0618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1285B"/>
                </a:solidFill>
              </a:rPr>
              <a:t>연 보험료 합계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0618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31" name="카드 3"/>
          <p:cNvSpPr/>
          <p:nvPr/>
        </p:nvSpPr>
        <p:spPr>
          <a:xfrm>
            <a:off x="8066836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번호 3"/>
          <p:cNvSpPr/>
          <p:nvPr/>
        </p:nvSpPr>
        <p:spPr>
          <a:xfrm>
            <a:off x="8249716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3996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1285B"/>
                </a:solidFill>
              </a:rPr>
              <a:t>월 소득 대비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3996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35" name="안내"/>
          <p:cNvSpPr txBox="1"/>
          <p:nvPr/>
        </p:nvSpPr>
        <p:spPr>
          <a:xfrm>
            <a:off x="640080" y="46634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점검 메모와 다음 할 일</a:t>
            </a:r>
          </a:p>
        </p:txBody>
      </p:sp>
      <p:sp>
        <p:nvSpPr>
          <p:cNvPr id="23" name="카드 1"/>
          <p:cNvSpPr/>
          <p:nvPr/>
        </p:nvSpPr>
        <p:spPr>
          <a:xfrm>
            <a:off x="640080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확인할 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7" name="카드 2"/>
          <p:cNvSpPr/>
          <p:nvPr/>
        </p:nvSpPr>
        <p:spPr>
          <a:xfrm>
            <a:off x="4353458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2"/>
          <p:cNvSpPr/>
          <p:nvPr/>
        </p:nvSpPr>
        <p:spPr>
          <a:xfrm>
            <a:off x="4536338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0618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문의할 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0618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31" name="카드 3"/>
          <p:cNvSpPr/>
          <p:nvPr/>
        </p:nvSpPr>
        <p:spPr>
          <a:xfrm>
            <a:off x="8066836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번호 3"/>
          <p:cNvSpPr/>
          <p:nvPr/>
        </p:nvSpPr>
        <p:spPr>
          <a:xfrm>
            <a:off x="8249716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3996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정리할 날짜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3996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35" name="안내 문구"/>
          <p:cNvSpPr txBox="1"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부 점검)">
  <a:themeElements>
    <a:clrScheme name="Office">
      <a:dk1>
        <a:sysClr val="windowText" lastClr="000000"/>
      </a:dk1>
      <a:lt1>
        <a:sysClr val="window" lastClr="FFFFFF"/>
      </a:lt1>
      <a:dk2>
        <a:srgbClr val="71285B"/>
      </a:dk2>
      <a:lt2>
        <a:srgbClr val="FAF0F7"/>
      </a:lt2>
      <a:accent1>
        <a:srgbClr val="BD4298"/>
      </a:accent1>
      <a:accent2>
        <a:srgbClr val="4C913B"/>
      </a:accent2>
      <a:accent3>
        <a:srgbClr val="71285B"/>
      </a:accent3>
      <a:accent4>
        <a:srgbClr val="F1D0E7"/>
      </a:accent4>
      <a:accent5>
        <a:srgbClr val="846A6A"/>
      </a:accent5>
      <a:accent6>
        <a:srgbClr val="AA7E9D"/>
      </a:accent6>
      <a:hlink>
        <a:srgbClr val="BD4298"/>
      </a:hlink>
      <a:folHlink>
        <a:srgbClr val="71285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