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3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7558851" y="685800"/>
            <a:ext cx="3169840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6827349" y="4251960"/>
            <a:ext cx="1005840" cy="1005840"/>
          </a:xfrm>
          <a:prstGeom prst="ellipse">
            <a:avLst/>
          </a:prstGeom>
          <a:solidFill>
            <a:srgbClr val="A681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라벨"/>
          <p:cNvSpPr txBox="1"/>
          <p:nvPr/>
        </p:nvSpPr>
        <p:spPr>
          <a:xfrm>
            <a:off x="822960" y="2148840"/>
            <a:ext cx="5608179" cy="274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000" b="1" i="0" spc="250">
                <a:solidFill>
                  <a:srgbClr val="FFFFFF"/>
                </a:solidFill>
              </a:rPr>
              <a:t>INSURANCE CHECK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2606040"/>
            <a:ext cx="5608179" cy="118872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</a:rPr>
              <a:t>우리 보험 점검 시간</a:t>
            </a:r>
          </a:p>
        </p:txBody>
      </p:sp>
      <p:sp>
        <p:nvSpPr>
          <p:cNvPr id="6" name="한 줄 문구"/>
          <p:cNvSpPr txBox="1"/>
          <p:nvPr/>
        </p:nvSpPr>
        <p:spPr>
          <a:xfrm>
            <a:off x="822960" y="3886200"/>
            <a:ext cx="5608179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FFFFFF"/>
                </a:solidFill>
              </a:rPr>
              <a:t>직원 관련 가입 내역을 따로 모읍니다</a:t>
            </a:r>
          </a:p>
        </p:txBody>
      </p:sp>
      <p:sp>
        <p:nvSpPr>
          <p:cNvPr id="7" name="안내 문구"/>
          <p:cNvSpPr txBox="1"/>
          <p:nvPr/>
        </p:nvSpPr>
        <p:spPr>
          <a:xfrm>
            <a:off x="822960" y="4754880"/>
            <a:ext cx="5608179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사업장 점검 · 날짜 입력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FFFFFF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대상 현황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455767"/>
                <a:gridCol w="545576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26231F"/>
                          </a:solidFill>
                        </a:rPr>
                        <a:t>내용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827"/>
                          </a:solidFill>
                        </a:rPr>
                        <a:t>상호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827"/>
                          </a:solidFill>
                        </a:rPr>
                        <a:t>업종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827"/>
                          </a:solidFill>
                        </a:rPr>
                        <a:t>직원 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493827"/>
                          </a:solidFill>
                        </a:rPr>
                        <a:t>확인할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가입한 보험 목록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213329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보장 항목 체크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640080" y="1783080"/>
          <a:ext cx="1091153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417978"/>
                <a:gridCol w="2417978"/>
                <a:gridCol w="241797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26231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8A879"/>
                      </a:solidFill>
                      <a:prstDash val="solid"/>
                    </a:lnL>
                    <a:lnR w="9525" cap="flat" cmpd="sng" algn="ctr">
                      <a:solidFill>
                        <a:srgbClr val="D8A879"/>
                      </a:solidFill>
                      <a:prstDash val="solid"/>
                    </a:lnR>
                    <a:lnT w="9525" cap="flat" cmpd="sng" algn="ctr">
                      <a:solidFill>
                        <a:srgbClr val="D8A879"/>
                      </a:solidFill>
                      <a:prstDash val="solid"/>
                    </a:lnT>
                    <a:lnB w="9525" cap="flat" cmpd="sng" algn="ctr">
                      <a:solidFill>
                        <a:srgbClr val="D8A879"/>
                      </a:solidFill>
                      <a:prstDash val="solid"/>
                    </a:lnB>
                    <a:solidFill>
                      <a:srgbClr val="D8A879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827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827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827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827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827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827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827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493827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6E6D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6231F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6E6D5"/>
                      </a:solidFill>
                      <a:prstDash val="solid"/>
                    </a:lnL>
                    <a:lnR w="9525" cap="flat" cmpd="sng" algn="ctr">
                      <a:solidFill>
                        <a:srgbClr val="F6E6D5"/>
                      </a:solidFill>
                      <a:prstDash val="solid"/>
                    </a:lnR>
                    <a:lnT w="9525" cap="flat" cmpd="sng" algn="ctr">
                      <a:solidFill>
                        <a:srgbClr val="F6E6D5"/>
                      </a:solidFill>
                      <a:prstDash val="solid"/>
                    </a:lnT>
                    <a:lnB w="9525" cap="flat" cmpd="sng" algn="ctr">
                      <a:solidFill>
                        <a:srgbClr val="F6E6D5"/>
                      </a:solidFill>
                      <a:prstDash val="solid"/>
                    </a:lnB>
                    <a:solidFill>
                      <a:srgbClr val="FBF4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월 보험료 한눈에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827"/>
                </a:solidFill>
              </a:rPr>
              <a:t>월 보험료 합계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827"/>
                </a:solidFill>
              </a:rPr>
              <a:t>연 보험료 합계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0원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2926080"/>
          </a:xfrm>
          <a:prstGeom prst="roundRect">
            <a:avLst>
              <a:gd name="adj" fmla="val 7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493827"/>
                </a:solidFill>
              </a:rPr>
              <a:t>월 소득 대비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6231F"/>
                </a:solidFill>
              </a:rPr>
              <a:t>0 %</a:t>
            </a:r>
          </a:p>
        </p:txBody>
      </p:sp>
      <p:sp>
        <p:nvSpPr>
          <p:cNvPr id="18" name="안내"/>
          <p:cNvSpPr txBox="1"/>
          <p:nvPr/>
        </p:nvSpPr>
        <p:spPr>
          <a:xfrm>
            <a:off x="640080" y="4892040"/>
            <a:ext cx="1091153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4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640080" y="566928"/>
            <a:ext cx="10911535" cy="10972"/>
          </a:xfrm>
          <a:prstGeom prst="rect">
            <a:avLst/>
          </a:prstGeom>
          <a:solidFill>
            <a:srgbClr val="2623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상단 라벨"/>
          <p:cNvSpPr txBox="1"/>
          <p:nvPr/>
        </p:nvSpPr>
        <p:spPr>
          <a:xfrm>
            <a:off x="640080" y="237744"/>
            <a:ext cx="5486400" cy="2743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900" b="1" i="0" spc="250">
                <a:solidFill>
                  <a:srgbClr val="26231F"/>
                </a:solidFill>
              </a:rPr>
              <a:t>INSURANCE CHECK</a:t>
            </a:r>
          </a:p>
        </p:txBody>
      </p:sp>
      <p:sp>
        <p:nvSpPr>
          <p:cNvPr id="5" name="포인트"/>
          <p:cNvSpPr/>
          <p:nvPr/>
        </p:nvSpPr>
        <p:spPr>
          <a:xfrm>
            <a:off x="11204143" y="246888"/>
            <a:ext cx="237744" cy="237744"/>
          </a:xfrm>
          <a:prstGeom prst="heart">
            <a:avLst/>
          </a:prstGeom>
          <a:solidFill>
            <a:srgbClr val="D8A8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731520"/>
            <a:ext cx="1091153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6231F"/>
                </a:solidFill>
              </a:rPr>
              <a:t>점검 메모와 다음 할 일</a:t>
            </a:r>
          </a:p>
        </p:txBody>
      </p:sp>
      <p:sp>
        <p:nvSpPr>
          <p:cNvPr id="6" name="카드 1"/>
          <p:cNvSpPr/>
          <p:nvPr/>
        </p:nvSpPr>
        <p:spPr>
          <a:xfrm>
            <a:off x="640080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번호 1"/>
          <p:cNvSpPr/>
          <p:nvPr/>
        </p:nvSpPr>
        <p:spPr>
          <a:xfrm>
            <a:off x="822959" y="1965960"/>
            <a:ext cx="457200" cy="45720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확인할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0" name="카드 2"/>
          <p:cNvSpPr/>
          <p:nvPr/>
        </p:nvSpPr>
        <p:spPr>
          <a:xfrm>
            <a:off x="4353458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번호 2"/>
          <p:cNvSpPr/>
          <p:nvPr/>
        </p:nvSpPr>
        <p:spPr>
          <a:xfrm>
            <a:off x="4536338" y="1965960"/>
            <a:ext cx="457200" cy="45720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0618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문의할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0618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4" name="카드 3"/>
          <p:cNvSpPr/>
          <p:nvPr/>
        </p:nvSpPr>
        <p:spPr>
          <a:xfrm>
            <a:off x="8066836" y="1783080"/>
            <a:ext cx="3484778" cy="3931920"/>
          </a:xfrm>
          <a:prstGeom prst="roundRect">
            <a:avLst>
              <a:gd name="adj" fmla="val 7000"/>
            </a:avLst>
          </a:prstGeom>
          <a:solidFill>
            <a:srgbClr val="FBF4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번호 3"/>
          <p:cNvSpPr/>
          <p:nvPr/>
        </p:nvSpPr>
        <p:spPr>
          <a:xfrm>
            <a:off x="8249716" y="1965960"/>
            <a:ext cx="457200" cy="457200"/>
          </a:xfrm>
          <a:prstGeom prst="ellipse">
            <a:avLst/>
          </a:prstGeom>
          <a:solidFill>
            <a:srgbClr val="D8A879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26231F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03996" y="256032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493827"/>
                </a:solidFill>
              </a:rPr>
              <a:t>정리할 날짜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03996" y="3246120"/>
            <a:ext cx="3210458" cy="23317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6231F"/>
                </a:solidFill>
              </a:rPr>
              <a:t>내용을 입력하세요</a:t>
            </a:r>
          </a:p>
        </p:txBody>
      </p:sp>
      <p:sp>
        <p:nvSpPr>
          <p:cNvPr id="18" name="안내 문구"/>
          <p:cNvSpPr txBox="1"/>
          <p:nvPr/>
        </p:nvSpPr>
        <p:spPr>
          <a:xfrm>
            <a:off x="640080" y="5806440"/>
            <a:ext cx="1091153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사업장 점검)">
  <a:themeElements>
    <a:clrScheme name="Office">
      <a:dk1>
        <a:sysClr val="windowText" lastClr="000000"/>
      </a:dk1>
      <a:lt1>
        <a:sysClr val="window" lastClr="FFFFFF"/>
      </a:lt1>
      <a:dk2>
        <a:srgbClr val="493827"/>
      </a:dk2>
      <a:lt2>
        <a:srgbClr val="FBF4EC"/>
      </a:lt2>
      <a:accent1>
        <a:srgbClr val="D8A879"/>
      </a:accent1>
      <a:accent2>
        <a:srgbClr val="E1DF98"/>
      </a:accent2>
      <a:accent3>
        <a:srgbClr val="493827"/>
      </a:accent3>
      <a:accent4>
        <a:srgbClr val="F6E6D5"/>
      </a:accent4>
      <a:accent5>
        <a:srgbClr val="DCC488"/>
      </a:accent5>
      <a:accent6>
        <a:srgbClr val="92887D"/>
      </a:accent6>
      <a:hlink>
        <a:srgbClr val="D8A879"/>
      </a:hlink>
      <a:folHlink>
        <a:srgbClr val="493827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발표자료(사업장 점검)</dc:title>
  <dc:subject/>
  <dc:creator>반딧불이의 곳간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