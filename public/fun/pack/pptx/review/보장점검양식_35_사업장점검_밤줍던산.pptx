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review-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A2918"/>
                </a:solidFill>
              </a:rPr>
              <a:t>우리 보험 점검 시간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A2918"/>
                </a:solidFill>
              </a:rPr>
              <a:t>직원 관련 가입 내역을 따로 모읍니다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사업장 점검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0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B573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2918"/>
                </a:solidFill>
              </a:rPr>
              <a:t>점검 대상 현황</a:t>
            </a:r>
          </a:p>
        </p:txBody>
      </p:sp>
      <p:graphicFrame>
        <p:nvGraphicFramePr>
          <p:cNvPr id="4" name="표"/>
          <p:cNvGraphicFramePr>
            <a:graphicFrameLocks noGrp="1"/>
          </p:cNvGraphicFramePr>
          <p:nvPr/>
        </p:nvGraphicFramePr>
        <p:xfrm>
          <a:off x="777240" y="1554480"/>
          <a:ext cx="1063721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318607"/>
                <a:gridCol w="531860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5732"/>
                      </a:solidFill>
                      <a:prstDash val="solid"/>
                    </a:lnL>
                    <a:lnR w="9525" cap="flat" cmpd="sng" algn="ctr">
                      <a:solidFill>
                        <a:srgbClr val="7B5732"/>
                      </a:solidFill>
                      <a:prstDash val="solid"/>
                    </a:lnR>
                    <a:lnT w="9525" cap="flat" cmpd="sng" algn="ctr">
                      <a:solidFill>
                        <a:srgbClr val="7B5732"/>
                      </a:solidFill>
                      <a:prstDash val="solid"/>
                    </a:lnT>
                    <a:lnB w="9525" cap="flat" cmpd="sng" algn="ctr">
                      <a:solidFill>
                        <a:srgbClr val="7B5732"/>
                      </a:solidFill>
                      <a:prstDash val="solid"/>
                    </a:lnB>
                    <a:solidFill>
                      <a:srgbClr val="7B57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5732"/>
                      </a:solidFill>
                      <a:prstDash val="solid"/>
                    </a:lnL>
                    <a:lnR w="9525" cap="flat" cmpd="sng" algn="ctr">
                      <a:solidFill>
                        <a:srgbClr val="7B5732"/>
                      </a:solidFill>
                      <a:prstDash val="solid"/>
                    </a:lnR>
                    <a:lnT w="9525" cap="flat" cmpd="sng" algn="ctr">
                      <a:solidFill>
                        <a:srgbClr val="7B5732"/>
                      </a:solidFill>
                      <a:prstDash val="solid"/>
                    </a:lnT>
                    <a:lnB w="9525" cap="flat" cmpd="sng" algn="ctr">
                      <a:solidFill>
                        <a:srgbClr val="7B5732"/>
                      </a:solidFill>
                      <a:prstDash val="solid"/>
                    </a:lnB>
                    <a:solidFill>
                      <a:srgbClr val="7B5732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A2918"/>
                          </a:solidFill>
                        </a:rPr>
                        <a:t>상호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EFE0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A2918"/>
                          </a:solidFill>
                        </a:rPr>
                        <a:t>업종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EFE0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A2918"/>
                          </a:solidFill>
                        </a:rPr>
                        <a:t>직원 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EFE0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A2918"/>
                          </a:solidFill>
                        </a:rPr>
                        <a:t>확인할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EFE0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0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B573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2918"/>
                </a:solidFill>
              </a:rPr>
              <a:t>가입한 보험 목록</a:t>
            </a:r>
          </a:p>
        </p:txBody>
      </p:sp>
      <p:graphicFrame>
        <p:nvGraphicFramePr>
          <p:cNvPr id="4" name="표"/>
          <p:cNvGraphicFramePr>
            <a:graphicFrameLocks noGrp="1"/>
          </p:cNvGraphicFramePr>
          <p:nvPr/>
        </p:nvGraphicFramePr>
        <p:xfrm>
          <a:off x="777240" y="1554480"/>
          <a:ext cx="1063721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185897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5732"/>
                      </a:solidFill>
                      <a:prstDash val="solid"/>
                    </a:lnL>
                    <a:lnR w="9525" cap="flat" cmpd="sng" algn="ctr">
                      <a:solidFill>
                        <a:srgbClr val="7B5732"/>
                      </a:solidFill>
                      <a:prstDash val="solid"/>
                    </a:lnR>
                    <a:lnT w="9525" cap="flat" cmpd="sng" algn="ctr">
                      <a:solidFill>
                        <a:srgbClr val="7B5732"/>
                      </a:solidFill>
                      <a:prstDash val="solid"/>
                    </a:lnT>
                    <a:lnB w="9525" cap="flat" cmpd="sng" algn="ctr">
                      <a:solidFill>
                        <a:srgbClr val="7B5732"/>
                      </a:solidFill>
                      <a:prstDash val="solid"/>
                    </a:lnB>
                    <a:solidFill>
                      <a:srgbClr val="7B57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5732"/>
                      </a:solidFill>
                      <a:prstDash val="solid"/>
                    </a:lnL>
                    <a:lnR w="9525" cap="flat" cmpd="sng" algn="ctr">
                      <a:solidFill>
                        <a:srgbClr val="7B5732"/>
                      </a:solidFill>
                      <a:prstDash val="solid"/>
                    </a:lnR>
                    <a:lnT w="9525" cap="flat" cmpd="sng" algn="ctr">
                      <a:solidFill>
                        <a:srgbClr val="7B5732"/>
                      </a:solidFill>
                      <a:prstDash val="solid"/>
                    </a:lnT>
                    <a:lnB w="9525" cap="flat" cmpd="sng" algn="ctr">
                      <a:solidFill>
                        <a:srgbClr val="7B5732"/>
                      </a:solidFill>
                      <a:prstDash val="solid"/>
                    </a:lnB>
                    <a:solidFill>
                      <a:srgbClr val="7B57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5732"/>
                      </a:solidFill>
                      <a:prstDash val="solid"/>
                    </a:lnL>
                    <a:lnR w="9525" cap="flat" cmpd="sng" algn="ctr">
                      <a:solidFill>
                        <a:srgbClr val="7B5732"/>
                      </a:solidFill>
                      <a:prstDash val="solid"/>
                    </a:lnR>
                    <a:lnT w="9525" cap="flat" cmpd="sng" algn="ctr">
                      <a:solidFill>
                        <a:srgbClr val="7B5732"/>
                      </a:solidFill>
                      <a:prstDash val="solid"/>
                    </a:lnT>
                    <a:lnB w="9525" cap="flat" cmpd="sng" algn="ctr">
                      <a:solidFill>
                        <a:srgbClr val="7B5732"/>
                      </a:solidFill>
                      <a:prstDash val="solid"/>
                    </a:lnB>
                    <a:solidFill>
                      <a:srgbClr val="7B57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5732"/>
                      </a:solidFill>
                      <a:prstDash val="solid"/>
                    </a:lnL>
                    <a:lnR w="9525" cap="flat" cmpd="sng" algn="ctr">
                      <a:solidFill>
                        <a:srgbClr val="7B5732"/>
                      </a:solidFill>
                      <a:prstDash val="solid"/>
                    </a:lnR>
                    <a:lnT w="9525" cap="flat" cmpd="sng" algn="ctr">
                      <a:solidFill>
                        <a:srgbClr val="7B5732"/>
                      </a:solidFill>
                      <a:prstDash val="solid"/>
                    </a:lnT>
                    <a:lnB w="9525" cap="flat" cmpd="sng" algn="ctr">
                      <a:solidFill>
                        <a:srgbClr val="7B5732"/>
                      </a:solidFill>
                      <a:prstDash val="solid"/>
                    </a:lnB>
                    <a:solidFill>
                      <a:srgbClr val="7B57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5732"/>
                      </a:solidFill>
                      <a:prstDash val="solid"/>
                    </a:lnL>
                    <a:lnR w="9525" cap="flat" cmpd="sng" algn="ctr">
                      <a:solidFill>
                        <a:srgbClr val="7B5732"/>
                      </a:solidFill>
                      <a:prstDash val="solid"/>
                    </a:lnR>
                    <a:lnT w="9525" cap="flat" cmpd="sng" algn="ctr">
                      <a:solidFill>
                        <a:srgbClr val="7B5732"/>
                      </a:solidFill>
                      <a:prstDash val="solid"/>
                    </a:lnT>
                    <a:lnB w="9525" cap="flat" cmpd="sng" algn="ctr">
                      <a:solidFill>
                        <a:srgbClr val="7B5732"/>
                      </a:solidFill>
                      <a:prstDash val="solid"/>
                    </a:lnB>
                    <a:solidFill>
                      <a:srgbClr val="7B5732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0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B573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2918"/>
                </a:solidFill>
              </a:rPr>
              <a:t>보장 항목 체크</a:t>
            </a:r>
          </a:p>
        </p:txBody>
      </p:sp>
      <p:graphicFrame>
        <p:nvGraphicFramePr>
          <p:cNvPr id="4" name="표"/>
          <p:cNvGraphicFramePr>
            <a:graphicFrameLocks noGrp="1"/>
          </p:cNvGraphicFramePr>
          <p:nvPr/>
        </p:nvGraphicFramePr>
        <p:xfrm>
          <a:off x="777240" y="1554480"/>
          <a:ext cx="1063721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326538"/>
                <a:gridCol w="2326538"/>
                <a:gridCol w="232653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5732"/>
                      </a:solidFill>
                      <a:prstDash val="solid"/>
                    </a:lnL>
                    <a:lnR w="9525" cap="flat" cmpd="sng" algn="ctr">
                      <a:solidFill>
                        <a:srgbClr val="7B5732"/>
                      </a:solidFill>
                      <a:prstDash val="solid"/>
                    </a:lnR>
                    <a:lnT w="9525" cap="flat" cmpd="sng" algn="ctr">
                      <a:solidFill>
                        <a:srgbClr val="7B5732"/>
                      </a:solidFill>
                      <a:prstDash val="solid"/>
                    </a:lnT>
                    <a:lnB w="9525" cap="flat" cmpd="sng" algn="ctr">
                      <a:solidFill>
                        <a:srgbClr val="7B5732"/>
                      </a:solidFill>
                      <a:prstDash val="solid"/>
                    </a:lnB>
                    <a:solidFill>
                      <a:srgbClr val="7B57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5732"/>
                      </a:solidFill>
                      <a:prstDash val="solid"/>
                    </a:lnL>
                    <a:lnR w="9525" cap="flat" cmpd="sng" algn="ctr">
                      <a:solidFill>
                        <a:srgbClr val="7B5732"/>
                      </a:solidFill>
                      <a:prstDash val="solid"/>
                    </a:lnR>
                    <a:lnT w="9525" cap="flat" cmpd="sng" algn="ctr">
                      <a:solidFill>
                        <a:srgbClr val="7B5732"/>
                      </a:solidFill>
                      <a:prstDash val="solid"/>
                    </a:lnT>
                    <a:lnB w="9525" cap="flat" cmpd="sng" algn="ctr">
                      <a:solidFill>
                        <a:srgbClr val="7B5732"/>
                      </a:solidFill>
                      <a:prstDash val="solid"/>
                    </a:lnB>
                    <a:solidFill>
                      <a:srgbClr val="7B57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5732"/>
                      </a:solidFill>
                      <a:prstDash val="solid"/>
                    </a:lnL>
                    <a:lnR w="9525" cap="flat" cmpd="sng" algn="ctr">
                      <a:solidFill>
                        <a:srgbClr val="7B5732"/>
                      </a:solidFill>
                      <a:prstDash val="solid"/>
                    </a:lnR>
                    <a:lnT w="9525" cap="flat" cmpd="sng" algn="ctr">
                      <a:solidFill>
                        <a:srgbClr val="7B5732"/>
                      </a:solidFill>
                      <a:prstDash val="solid"/>
                    </a:lnT>
                    <a:lnB w="9525" cap="flat" cmpd="sng" algn="ctr">
                      <a:solidFill>
                        <a:srgbClr val="7B5732"/>
                      </a:solidFill>
                      <a:prstDash val="solid"/>
                    </a:lnB>
                    <a:solidFill>
                      <a:srgbClr val="7B57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5732"/>
                      </a:solidFill>
                      <a:prstDash val="solid"/>
                    </a:lnL>
                    <a:lnR w="9525" cap="flat" cmpd="sng" algn="ctr">
                      <a:solidFill>
                        <a:srgbClr val="7B5732"/>
                      </a:solidFill>
                      <a:prstDash val="solid"/>
                    </a:lnR>
                    <a:lnT w="9525" cap="flat" cmpd="sng" algn="ctr">
                      <a:solidFill>
                        <a:srgbClr val="7B5732"/>
                      </a:solidFill>
                      <a:prstDash val="solid"/>
                    </a:lnT>
                    <a:lnB w="9525" cap="flat" cmpd="sng" algn="ctr">
                      <a:solidFill>
                        <a:srgbClr val="7B5732"/>
                      </a:solidFill>
                      <a:prstDash val="solid"/>
                    </a:lnB>
                    <a:solidFill>
                      <a:srgbClr val="7B5732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A2918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EFE0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A2918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EFE0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A2918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EFE0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A2918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EFE0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A2918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EFE0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A2918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EFE0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A2918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EFE0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A2918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EFE0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E0D2"/>
                      </a:solidFill>
                      <a:prstDash val="solid"/>
                    </a:lnL>
                    <a:lnR w="9525" cap="flat" cmpd="sng" algn="ctr">
                      <a:solidFill>
                        <a:srgbClr val="EFE0D2"/>
                      </a:solidFill>
                      <a:prstDash val="solid"/>
                    </a:lnR>
                    <a:lnT w="9525" cap="flat" cmpd="sng" algn="ctr">
                      <a:solidFill>
                        <a:srgbClr val="EFE0D2"/>
                      </a:solidFill>
                      <a:prstDash val="solid"/>
                    </a:lnT>
                    <a:lnB w="9525" cap="flat" cmpd="sng" algn="ctr">
                      <a:solidFill>
                        <a:srgbClr val="EFE0D2"/>
                      </a:solidFill>
                      <a:prstDash val="solid"/>
                    </a:lnB>
                    <a:solidFill>
                      <a:srgbClr val="F9F5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0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B573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2918"/>
                </a:solidFill>
              </a:rPr>
              <a:t>월 보험료 한눈에</a:t>
            </a:r>
          </a:p>
        </p:txBody>
      </p:sp>
      <p:sp>
        <p:nvSpPr>
          <p:cNvPr id="4" name="카드 1"/>
          <p:cNvSpPr/>
          <p:nvPr/>
        </p:nvSpPr>
        <p:spPr>
          <a:xfrm>
            <a:off x="777240" y="1554480"/>
            <a:ext cx="3393338" cy="2926080"/>
          </a:xfrm>
          <a:prstGeom prst="roundRect">
            <a:avLst>
              <a:gd name="adj" fmla="val 8000"/>
            </a:avLst>
          </a:prstGeom>
          <a:solidFill>
            <a:srgbClr val="F9F5F1"/>
          </a:solidFill>
          <a:ln w="15875">
            <a:solidFill>
              <a:srgbClr val="EFE0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960120" y="1737360"/>
            <a:ext cx="457200" cy="457200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3A2918"/>
                </a:solidFill>
              </a:rPr>
              <a:t>월 보험료 합계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311901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8" name="카드 2"/>
          <p:cNvSpPr/>
          <p:nvPr/>
        </p:nvSpPr>
        <p:spPr>
          <a:xfrm>
            <a:off x="4399178" y="1554480"/>
            <a:ext cx="3393338" cy="2926080"/>
          </a:xfrm>
          <a:prstGeom prst="roundRect">
            <a:avLst>
              <a:gd name="adj" fmla="val 8000"/>
            </a:avLst>
          </a:prstGeom>
          <a:solidFill>
            <a:srgbClr val="F9F5F1"/>
          </a:solidFill>
          <a:ln w="15875">
            <a:solidFill>
              <a:srgbClr val="EFE0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4582058" y="1737360"/>
            <a:ext cx="457200" cy="457200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6338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3A2918"/>
                </a:solidFill>
              </a:rPr>
              <a:t>연 보험료 합계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6338" y="3017520"/>
            <a:ext cx="311901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2" name="카드 3"/>
          <p:cNvSpPr/>
          <p:nvPr/>
        </p:nvSpPr>
        <p:spPr>
          <a:xfrm>
            <a:off x="8021116" y="1554480"/>
            <a:ext cx="3393338" cy="2926080"/>
          </a:xfrm>
          <a:prstGeom prst="roundRect">
            <a:avLst>
              <a:gd name="adj" fmla="val 8000"/>
            </a:avLst>
          </a:prstGeom>
          <a:solidFill>
            <a:srgbClr val="F9F5F1"/>
          </a:solidFill>
          <a:ln w="15875">
            <a:solidFill>
              <a:srgbClr val="EFE0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8203996" y="1737360"/>
            <a:ext cx="457200" cy="457200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8276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3A2918"/>
                </a:solidFill>
              </a:rPr>
              <a:t>월 소득 대비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8276" y="3017520"/>
            <a:ext cx="311901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16" name="안내"/>
          <p:cNvSpPr txBox="1"/>
          <p:nvPr/>
        </p:nvSpPr>
        <p:spPr>
          <a:xfrm>
            <a:off x="777240" y="4663440"/>
            <a:ext cx="1063721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0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B573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2918"/>
                </a:solidFill>
              </a:rPr>
              <a:t>점검 메모와 다음 할 일</a:t>
            </a:r>
          </a:p>
        </p:txBody>
      </p:sp>
      <p:sp>
        <p:nvSpPr>
          <p:cNvPr id="4" name="카드 1"/>
          <p:cNvSpPr/>
          <p:nvPr/>
        </p:nvSpPr>
        <p:spPr>
          <a:xfrm>
            <a:off x="777240" y="1554480"/>
            <a:ext cx="3393338" cy="4023359"/>
          </a:xfrm>
          <a:prstGeom prst="roundRect">
            <a:avLst>
              <a:gd name="adj" fmla="val 8000"/>
            </a:avLst>
          </a:prstGeom>
          <a:solidFill>
            <a:srgbClr val="F9F5F1"/>
          </a:solidFill>
          <a:ln w="15875">
            <a:solidFill>
              <a:srgbClr val="EFE0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960120" y="1737360"/>
            <a:ext cx="457200" cy="457200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2918"/>
                </a:solidFill>
              </a:rPr>
              <a:t>확인할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3119018" cy="242315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8" name="카드 2"/>
          <p:cNvSpPr/>
          <p:nvPr/>
        </p:nvSpPr>
        <p:spPr>
          <a:xfrm>
            <a:off x="4399178" y="1554480"/>
            <a:ext cx="3393338" cy="4023359"/>
          </a:xfrm>
          <a:prstGeom prst="roundRect">
            <a:avLst>
              <a:gd name="adj" fmla="val 8000"/>
            </a:avLst>
          </a:prstGeom>
          <a:solidFill>
            <a:srgbClr val="F9F5F1"/>
          </a:solidFill>
          <a:ln w="15875">
            <a:solidFill>
              <a:srgbClr val="EFE0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4582058" y="1737360"/>
            <a:ext cx="457200" cy="457200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6338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2918"/>
                </a:solidFill>
              </a:rPr>
              <a:t>문의할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6338" y="3017520"/>
            <a:ext cx="3119018" cy="242315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2" name="카드 3"/>
          <p:cNvSpPr/>
          <p:nvPr/>
        </p:nvSpPr>
        <p:spPr>
          <a:xfrm>
            <a:off x="8021116" y="1554480"/>
            <a:ext cx="3393338" cy="4023359"/>
          </a:xfrm>
          <a:prstGeom prst="roundRect">
            <a:avLst>
              <a:gd name="adj" fmla="val 8000"/>
            </a:avLst>
          </a:prstGeom>
          <a:solidFill>
            <a:srgbClr val="F9F5F1"/>
          </a:solidFill>
          <a:ln w="15875">
            <a:solidFill>
              <a:srgbClr val="EFE0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8203996" y="1737360"/>
            <a:ext cx="457200" cy="457200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8276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2918"/>
                </a:solidFill>
              </a:rPr>
              <a:t>정리할 날짜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8276" y="3017520"/>
            <a:ext cx="3119018" cy="242315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6" name="안내 문구"/>
          <p:cNvSpPr txBox="1"/>
          <p:nvPr/>
        </p:nvSpPr>
        <p:spPr>
          <a:xfrm>
            <a:off x="777240" y="5669280"/>
            <a:ext cx="1063721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사업장 점검)">
  <a:themeElements>
    <a:clrScheme name="Office">
      <a:dk1>
        <a:sysClr val="windowText" lastClr="000000"/>
      </a:dk1>
      <a:lt1>
        <a:sysClr val="window" lastClr="FFFFFF"/>
      </a:lt1>
      <a:dk2>
        <a:srgbClr val="3A2918"/>
      </a:dk2>
      <a:lt2>
        <a:srgbClr val="F9F5F1"/>
      </a:lt2>
      <a:accent1>
        <a:srgbClr val="7B5732"/>
      </a:accent1>
      <a:accent2>
        <a:srgbClr val="3B9191"/>
      </a:accent2>
      <a:accent3>
        <a:srgbClr val="3A2918"/>
      </a:accent3>
      <a:accent4>
        <a:srgbClr val="EFE0D2"/>
      </a:accent4>
      <a:accent5>
        <a:srgbClr val="5B7462"/>
      </a:accent5>
      <a:accent6>
        <a:srgbClr val="897F74"/>
      </a:accent6>
      <a:hlink>
        <a:srgbClr val="7B5732"/>
      </a:hlink>
      <a:folHlink>
        <a:srgbClr val="3A2918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발표자료(사업장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