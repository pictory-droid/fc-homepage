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7073">
            <a:off x="10370041" y="1303642"/>
            <a:ext cx="972669" cy="972669"/>
          </a:xfrm>
          <a:prstGeom prst="star5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16000">
            <a:off x="10966056" y="404965"/>
            <a:ext cx="415579" cy="415579"/>
          </a:xfrm>
          <a:prstGeom prst="star5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91727">
            <a:off x="8517029" y="1857812"/>
            <a:ext cx="743304" cy="743304"/>
          </a:xfrm>
          <a:prstGeom prst="star5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86238">
            <a:off x="10732199" y="2536825"/>
            <a:ext cx="862336" cy="862336"/>
          </a:xfrm>
          <a:prstGeom prst="star5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114457">
            <a:off x="10694079" y="2423818"/>
            <a:ext cx="852890" cy="852890"/>
          </a:xfrm>
          <a:prstGeom prst="star5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340827">
            <a:off x="10442192" y="1296230"/>
            <a:ext cx="435134" cy="435134"/>
          </a:xfrm>
          <a:prstGeom prst="star5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43D30"/>
                </a:solidFill>
              </a:rPr>
              <a:t>우리 보험 점검 시간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43D30"/>
                </a:solidFill>
              </a:rPr>
              <a:t>작은 불빛 같은 메모가 큰 안심이 돼요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7073">
            <a:off x="11538365" y="657714"/>
            <a:ext cx="339662" cy="339662"/>
          </a:xfrm>
          <a:prstGeom prst="star5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16000">
            <a:off x="11746497" y="343890"/>
            <a:ext cx="145122" cy="145122"/>
          </a:xfrm>
          <a:prstGeom prst="star5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91727">
            <a:off x="10891282" y="851234"/>
            <a:ext cx="259566" cy="259566"/>
          </a:xfrm>
          <a:prstGeom prst="star5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86238">
            <a:off x="11664833" y="1088349"/>
            <a:ext cx="301133" cy="301133"/>
          </a:xfrm>
          <a:prstGeom prst="star5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114457">
            <a:off x="11651521" y="1048887"/>
            <a:ext cx="297834" cy="297834"/>
          </a:xfrm>
          <a:prstGeom prst="star5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340827">
            <a:off x="11563561" y="655126"/>
            <a:ext cx="151951" cy="151951"/>
          </a:xfrm>
          <a:prstGeom prst="star5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30"/>
                </a:solidFill>
              </a:rPr>
              <a:t>점검 대상 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46B53"/>
                      </a:solidFill>
                      <a:prstDash val="solid"/>
                    </a:lnL>
                    <a:lnR w="9525" cap="flat" cmpd="sng" algn="ctr">
                      <a:solidFill>
                        <a:srgbClr val="246B53"/>
                      </a:solidFill>
                      <a:prstDash val="solid"/>
                    </a:lnR>
                    <a:lnT w="9525" cap="flat" cmpd="sng" algn="ctr">
                      <a:solidFill>
                        <a:srgbClr val="246B53"/>
                      </a:solidFill>
                      <a:prstDash val="solid"/>
                    </a:lnT>
                    <a:lnB w="9525" cap="flat" cmpd="sng" algn="ctr">
                      <a:solidFill>
                        <a:srgbClr val="246B53"/>
                      </a:solidFill>
                      <a:prstDash val="solid"/>
                    </a:lnB>
                    <a:solidFill>
                      <a:srgbClr val="246B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46B53"/>
                      </a:solidFill>
                      <a:prstDash val="solid"/>
                    </a:lnL>
                    <a:lnR w="9525" cap="flat" cmpd="sng" algn="ctr">
                      <a:solidFill>
                        <a:srgbClr val="246B53"/>
                      </a:solidFill>
                      <a:prstDash val="solid"/>
                    </a:lnR>
                    <a:lnT w="9525" cap="flat" cmpd="sng" algn="ctr">
                      <a:solidFill>
                        <a:srgbClr val="246B53"/>
                      </a:solidFill>
                      <a:prstDash val="solid"/>
                    </a:lnT>
                    <a:lnB w="9525" cap="flat" cmpd="sng" algn="ctr">
                      <a:solidFill>
                        <a:srgbClr val="246B53"/>
                      </a:solidFill>
                      <a:prstDash val="solid"/>
                    </a:lnB>
                    <a:solidFill>
                      <a:srgbClr val="246B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46B53"/>
                      </a:solidFill>
                      <a:prstDash val="solid"/>
                    </a:lnL>
                    <a:lnR w="9525" cap="flat" cmpd="sng" algn="ctr">
                      <a:solidFill>
                        <a:srgbClr val="246B53"/>
                      </a:solidFill>
                      <a:prstDash val="solid"/>
                    </a:lnR>
                    <a:lnT w="9525" cap="flat" cmpd="sng" algn="ctr">
                      <a:solidFill>
                        <a:srgbClr val="246B53"/>
                      </a:solidFill>
                      <a:prstDash val="solid"/>
                    </a:lnT>
                    <a:lnB w="9525" cap="flat" cmpd="sng" algn="ctr">
                      <a:solidFill>
                        <a:srgbClr val="246B53"/>
                      </a:solidFill>
                      <a:prstDash val="solid"/>
                    </a:lnB>
                    <a:solidFill>
                      <a:srgbClr val="246B5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3D30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3D30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3D30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3D30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7073">
            <a:off x="11538365" y="657714"/>
            <a:ext cx="339662" cy="339662"/>
          </a:xfrm>
          <a:prstGeom prst="star5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16000">
            <a:off x="11746497" y="343890"/>
            <a:ext cx="145122" cy="145122"/>
          </a:xfrm>
          <a:prstGeom prst="star5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91727">
            <a:off x="10891282" y="851234"/>
            <a:ext cx="259566" cy="259566"/>
          </a:xfrm>
          <a:prstGeom prst="star5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86238">
            <a:off x="11664833" y="1088349"/>
            <a:ext cx="301133" cy="301133"/>
          </a:xfrm>
          <a:prstGeom prst="star5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114457">
            <a:off x="11651521" y="1048887"/>
            <a:ext cx="297834" cy="297834"/>
          </a:xfrm>
          <a:prstGeom prst="star5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340827">
            <a:off x="11563561" y="655126"/>
            <a:ext cx="151951" cy="151951"/>
          </a:xfrm>
          <a:prstGeom prst="star5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30"/>
                </a:solidFill>
              </a:rPr>
              <a:t>가입한 보험 목록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46B53"/>
                      </a:solidFill>
                      <a:prstDash val="solid"/>
                    </a:lnL>
                    <a:lnR w="9525" cap="flat" cmpd="sng" algn="ctr">
                      <a:solidFill>
                        <a:srgbClr val="246B53"/>
                      </a:solidFill>
                      <a:prstDash val="solid"/>
                    </a:lnR>
                    <a:lnT w="9525" cap="flat" cmpd="sng" algn="ctr">
                      <a:solidFill>
                        <a:srgbClr val="246B53"/>
                      </a:solidFill>
                      <a:prstDash val="solid"/>
                    </a:lnT>
                    <a:lnB w="9525" cap="flat" cmpd="sng" algn="ctr">
                      <a:solidFill>
                        <a:srgbClr val="246B53"/>
                      </a:solidFill>
                      <a:prstDash val="solid"/>
                    </a:lnB>
                    <a:solidFill>
                      <a:srgbClr val="246B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46B53"/>
                      </a:solidFill>
                      <a:prstDash val="solid"/>
                    </a:lnL>
                    <a:lnR w="9525" cap="flat" cmpd="sng" algn="ctr">
                      <a:solidFill>
                        <a:srgbClr val="246B53"/>
                      </a:solidFill>
                      <a:prstDash val="solid"/>
                    </a:lnR>
                    <a:lnT w="9525" cap="flat" cmpd="sng" algn="ctr">
                      <a:solidFill>
                        <a:srgbClr val="246B53"/>
                      </a:solidFill>
                      <a:prstDash val="solid"/>
                    </a:lnT>
                    <a:lnB w="9525" cap="flat" cmpd="sng" algn="ctr">
                      <a:solidFill>
                        <a:srgbClr val="246B53"/>
                      </a:solidFill>
                      <a:prstDash val="solid"/>
                    </a:lnB>
                    <a:solidFill>
                      <a:srgbClr val="246B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46B53"/>
                      </a:solidFill>
                      <a:prstDash val="solid"/>
                    </a:lnL>
                    <a:lnR w="9525" cap="flat" cmpd="sng" algn="ctr">
                      <a:solidFill>
                        <a:srgbClr val="246B53"/>
                      </a:solidFill>
                      <a:prstDash val="solid"/>
                    </a:lnR>
                    <a:lnT w="9525" cap="flat" cmpd="sng" algn="ctr">
                      <a:solidFill>
                        <a:srgbClr val="246B53"/>
                      </a:solidFill>
                      <a:prstDash val="solid"/>
                    </a:lnT>
                    <a:lnB w="9525" cap="flat" cmpd="sng" algn="ctr">
                      <a:solidFill>
                        <a:srgbClr val="246B53"/>
                      </a:solidFill>
                      <a:prstDash val="solid"/>
                    </a:lnB>
                    <a:solidFill>
                      <a:srgbClr val="246B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46B53"/>
                      </a:solidFill>
                      <a:prstDash val="solid"/>
                    </a:lnL>
                    <a:lnR w="9525" cap="flat" cmpd="sng" algn="ctr">
                      <a:solidFill>
                        <a:srgbClr val="246B53"/>
                      </a:solidFill>
                      <a:prstDash val="solid"/>
                    </a:lnR>
                    <a:lnT w="9525" cap="flat" cmpd="sng" algn="ctr">
                      <a:solidFill>
                        <a:srgbClr val="246B53"/>
                      </a:solidFill>
                      <a:prstDash val="solid"/>
                    </a:lnT>
                    <a:lnB w="9525" cap="flat" cmpd="sng" algn="ctr">
                      <a:solidFill>
                        <a:srgbClr val="246B53"/>
                      </a:solidFill>
                      <a:prstDash val="solid"/>
                    </a:lnB>
                    <a:solidFill>
                      <a:srgbClr val="246B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46B53"/>
                      </a:solidFill>
                      <a:prstDash val="solid"/>
                    </a:lnL>
                    <a:lnR w="9525" cap="flat" cmpd="sng" algn="ctr">
                      <a:solidFill>
                        <a:srgbClr val="246B53"/>
                      </a:solidFill>
                      <a:prstDash val="solid"/>
                    </a:lnR>
                    <a:lnT w="9525" cap="flat" cmpd="sng" algn="ctr">
                      <a:solidFill>
                        <a:srgbClr val="246B53"/>
                      </a:solidFill>
                      <a:prstDash val="solid"/>
                    </a:lnT>
                    <a:lnB w="9525" cap="flat" cmpd="sng" algn="ctr">
                      <a:solidFill>
                        <a:srgbClr val="246B53"/>
                      </a:solidFill>
                      <a:prstDash val="solid"/>
                    </a:lnB>
                    <a:solidFill>
                      <a:srgbClr val="246B5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7073">
            <a:off x="11538365" y="657714"/>
            <a:ext cx="339662" cy="339662"/>
          </a:xfrm>
          <a:prstGeom prst="star5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16000">
            <a:off x="11746497" y="343890"/>
            <a:ext cx="145122" cy="145122"/>
          </a:xfrm>
          <a:prstGeom prst="star5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91727">
            <a:off x="10891282" y="851234"/>
            <a:ext cx="259566" cy="259566"/>
          </a:xfrm>
          <a:prstGeom prst="star5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86238">
            <a:off x="11664833" y="1088349"/>
            <a:ext cx="301133" cy="301133"/>
          </a:xfrm>
          <a:prstGeom prst="star5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114457">
            <a:off x="11651521" y="1048887"/>
            <a:ext cx="297834" cy="297834"/>
          </a:xfrm>
          <a:prstGeom prst="star5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340827">
            <a:off x="11563561" y="655126"/>
            <a:ext cx="151951" cy="151951"/>
          </a:xfrm>
          <a:prstGeom prst="star5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30"/>
                </a:solidFill>
              </a:rPr>
              <a:t>보장 항목 체크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46B53"/>
                      </a:solidFill>
                      <a:prstDash val="solid"/>
                    </a:lnL>
                    <a:lnR w="9525" cap="flat" cmpd="sng" algn="ctr">
                      <a:solidFill>
                        <a:srgbClr val="246B53"/>
                      </a:solidFill>
                      <a:prstDash val="solid"/>
                    </a:lnR>
                    <a:lnT w="9525" cap="flat" cmpd="sng" algn="ctr">
                      <a:solidFill>
                        <a:srgbClr val="246B53"/>
                      </a:solidFill>
                      <a:prstDash val="solid"/>
                    </a:lnT>
                    <a:lnB w="9525" cap="flat" cmpd="sng" algn="ctr">
                      <a:solidFill>
                        <a:srgbClr val="246B53"/>
                      </a:solidFill>
                      <a:prstDash val="solid"/>
                    </a:lnB>
                    <a:solidFill>
                      <a:srgbClr val="246B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46B53"/>
                      </a:solidFill>
                      <a:prstDash val="solid"/>
                    </a:lnL>
                    <a:lnR w="9525" cap="flat" cmpd="sng" algn="ctr">
                      <a:solidFill>
                        <a:srgbClr val="246B53"/>
                      </a:solidFill>
                      <a:prstDash val="solid"/>
                    </a:lnR>
                    <a:lnT w="9525" cap="flat" cmpd="sng" algn="ctr">
                      <a:solidFill>
                        <a:srgbClr val="246B53"/>
                      </a:solidFill>
                      <a:prstDash val="solid"/>
                    </a:lnT>
                    <a:lnB w="9525" cap="flat" cmpd="sng" algn="ctr">
                      <a:solidFill>
                        <a:srgbClr val="246B53"/>
                      </a:solidFill>
                      <a:prstDash val="solid"/>
                    </a:lnB>
                    <a:solidFill>
                      <a:srgbClr val="246B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46B53"/>
                      </a:solidFill>
                      <a:prstDash val="solid"/>
                    </a:lnL>
                    <a:lnR w="9525" cap="flat" cmpd="sng" algn="ctr">
                      <a:solidFill>
                        <a:srgbClr val="246B53"/>
                      </a:solidFill>
                      <a:prstDash val="solid"/>
                    </a:lnR>
                    <a:lnT w="9525" cap="flat" cmpd="sng" algn="ctr">
                      <a:solidFill>
                        <a:srgbClr val="246B53"/>
                      </a:solidFill>
                      <a:prstDash val="solid"/>
                    </a:lnT>
                    <a:lnB w="9525" cap="flat" cmpd="sng" algn="ctr">
                      <a:solidFill>
                        <a:srgbClr val="246B53"/>
                      </a:solidFill>
                      <a:prstDash val="solid"/>
                    </a:lnB>
                    <a:solidFill>
                      <a:srgbClr val="246B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46B53"/>
                      </a:solidFill>
                      <a:prstDash val="solid"/>
                    </a:lnL>
                    <a:lnR w="9525" cap="flat" cmpd="sng" algn="ctr">
                      <a:solidFill>
                        <a:srgbClr val="246B53"/>
                      </a:solidFill>
                      <a:prstDash val="solid"/>
                    </a:lnR>
                    <a:lnT w="9525" cap="flat" cmpd="sng" algn="ctr">
                      <a:solidFill>
                        <a:srgbClr val="246B53"/>
                      </a:solidFill>
                      <a:prstDash val="solid"/>
                    </a:lnT>
                    <a:lnB w="9525" cap="flat" cmpd="sng" algn="ctr">
                      <a:solidFill>
                        <a:srgbClr val="246B53"/>
                      </a:solidFill>
                      <a:prstDash val="solid"/>
                    </a:lnB>
                    <a:solidFill>
                      <a:srgbClr val="246B5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30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30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30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30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30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30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30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30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7073">
            <a:off x="11538365" y="657714"/>
            <a:ext cx="339662" cy="339662"/>
          </a:xfrm>
          <a:prstGeom prst="star5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16000">
            <a:off x="11746497" y="343890"/>
            <a:ext cx="145122" cy="145122"/>
          </a:xfrm>
          <a:prstGeom prst="star5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91727">
            <a:off x="10891282" y="851234"/>
            <a:ext cx="259566" cy="259566"/>
          </a:xfrm>
          <a:prstGeom prst="star5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86238">
            <a:off x="11664833" y="1088349"/>
            <a:ext cx="301133" cy="301133"/>
          </a:xfrm>
          <a:prstGeom prst="star5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114457">
            <a:off x="11651521" y="1048887"/>
            <a:ext cx="297834" cy="297834"/>
          </a:xfrm>
          <a:prstGeom prst="star5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340827">
            <a:off x="11563561" y="655126"/>
            <a:ext cx="151951" cy="151951"/>
          </a:xfrm>
          <a:prstGeom prst="star5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30"/>
                </a:solidFill>
              </a:rPr>
              <a:t>월 보험료 한눈에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AF6"/>
          </a:solidFill>
          <a:ln w="15875">
            <a:solidFill>
              <a:srgbClr val="D0F1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3D30"/>
                </a:solidFill>
              </a:rPr>
              <a:t>월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AF6"/>
          </a:solidFill>
          <a:ln w="15875">
            <a:solidFill>
              <a:srgbClr val="D0F1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3D30"/>
                </a:solidFill>
              </a:rPr>
              <a:t>연 보험료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AF6"/>
          </a:solidFill>
          <a:ln w="15875">
            <a:solidFill>
              <a:srgbClr val="D0F1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3D30"/>
                </a:solidFill>
              </a:rPr>
              <a:t>월 소득 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3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7073">
            <a:off x="11538365" y="657714"/>
            <a:ext cx="339662" cy="339662"/>
          </a:xfrm>
          <a:prstGeom prst="star5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16000">
            <a:off x="11746497" y="343890"/>
            <a:ext cx="145122" cy="145122"/>
          </a:xfrm>
          <a:prstGeom prst="star5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91727">
            <a:off x="10891282" y="851234"/>
            <a:ext cx="259566" cy="259566"/>
          </a:xfrm>
          <a:prstGeom prst="star5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86238">
            <a:off x="11664833" y="1088349"/>
            <a:ext cx="301133" cy="301133"/>
          </a:xfrm>
          <a:prstGeom prst="star5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114457">
            <a:off x="11651521" y="1048887"/>
            <a:ext cx="297834" cy="297834"/>
          </a:xfrm>
          <a:prstGeom prst="star5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340827">
            <a:off x="11563561" y="655126"/>
            <a:ext cx="151951" cy="151951"/>
          </a:xfrm>
          <a:prstGeom prst="star5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30"/>
                </a:solidFill>
              </a:rPr>
              <a:t>점검 메모와 다음 할 일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AF6"/>
          </a:solidFill>
          <a:ln w="15875">
            <a:solidFill>
              <a:srgbClr val="D0F1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30"/>
                </a:solidFill>
              </a:rPr>
              <a:t>확인할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AF6"/>
          </a:solidFill>
          <a:ln w="15875">
            <a:solidFill>
              <a:srgbClr val="D0F1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30"/>
                </a:solidFill>
              </a:rPr>
              <a:t>문의할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AF6"/>
          </a:solidFill>
          <a:ln w="15875">
            <a:solidFill>
              <a:srgbClr val="D0F1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30"/>
                </a:solidFill>
              </a:rPr>
              <a:t>정리할 날짜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143D30"/>
      </a:dk2>
      <a:lt2>
        <a:srgbClr val="F0FAF6"/>
      </a:lt2>
      <a:accent1>
        <a:srgbClr val="246B53"/>
      </a:accent1>
      <a:accent2>
        <a:srgbClr val="913B83"/>
      </a:accent2>
      <a:accent3>
        <a:srgbClr val="143D30"/>
      </a:accent3>
      <a:accent4>
        <a:srgbClr val="D0F1E6"/>
      </a:accent4>
      <a:accent5>
        <a:srgbClr val="5A536B"/>
      </a:accent5>
      <a:accent6>
        <a:srgbClr val="728B83"/>
      </a:accent6>
      <a:hlink>
        <a:srgbClr val="246B53"/>
      </a:hlink>
      <a:folHlink>
        <a:srgbClr val="143D3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