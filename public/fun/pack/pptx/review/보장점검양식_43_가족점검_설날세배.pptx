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review-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431920"/>
                </a:solidFill>
              </a:rPr>
              <a:t>우리 보험 점검 시간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431920"/>
                </a:solidFill>
              </a:rPr>
              <a:t>겨울방학에 한 번 정리합니다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가족 점검 · 2027.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F0D1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8D34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31920"/>
                </a:solidFill>
              </a:rPr>
              <a:t>점검 대상 현황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640080" y="1554480"/>
          <a:ext cx="10911532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8D3443"/>
                      </a:solidFill>
                      <a:prstDash val="solid"/>
                    </a:lnL>
                    <a:lnR w="9525" cap="flat" cmpd="sng" algn="ctr">
                      <a:solidFill>
                        <a:srgbClr val="8D3443"/>
                      </a:solidFill>
                      <a:prstDash val="solid"/>
                    </a:lnR>
                    <a:lnT w="9525" cap="flat" cmpd="sng" algn="ctr">
                      <a:solidFill>
                        <a:srgbClr val="8D3443"/>
                      </a:solidFill>
                      <a:prstDash val="solid"/>
                    </a:lnT>
                    <a:lnB w="9525" cap="flat" cmpd="sng" algn="ctr">
                      <a:solidFill>
                        <a:srgbClr val="8D3443"/>
                      </a:solidFill>
                      <a:prstDash val="solid"/>
                    </a:lnB>
                    <a:solidFill>
                      <a:srgbClr val="8D34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아빠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8D3443"/>
                      </a:solidFill>
                      <a:prstDash val="solid"/>
                    </a:lnL>
                    <a:lnR w="9525" cap="flat" cmpd="sng" algn="ctr">
                      <a:solidFill>
                        <a:srgbClr val="8D3443"/>
                      </a:solidFill>
                      <a:prstDash val="solid"/>
                    </a:lnR>
                    <a:lnT w="9525" cap="flat" cmpd="sng" algn="ctr">
                      <a:solidFill>
                        <a:srgbClr val="8D3443"/>
                      </a:solidFill>
                      <a:prstDash val="solid"/>
                    </a:lnT>
                    <a:lnB w="9525" cap="flat" cmpd="sng" algn="ctr">
                      <a:solidFill>
                        <a:srgbClr val="8D3443"/>
                      </a:solidFill>
                      <a:prstDash val="solid"/>
                    </a:lnB>
                    <a:solidFill>
                      <a:srgbClr val="8D34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엄마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8D3443"/>
                      </a:solidFill>
                      <a:prstDash val="solid"/>
                    </a:lnL>
                    <a:lnR w="9525" cap="flat" cmpd="sng" algn="ctr">
                      <a:solidFill>
                        <a:srgbClr val="8D3443"/>
                      </a:solidFill>
                      <a:prstDash val="solid"/>
                    </a:lnR>
                    <a:lnT w="9525" cap="flat" cmpd="sng" algn="ctr">
                      <a:solidFill>
                        <a:srgbClr val="8D3443"/>
                      </a:solidFill>
                      <a:prstDash val="solid"/>
                    </a:lnT>
                    <a:lnB w="9525" cap="flat" cmpd="sng" algn="ctr">
                      <a:solidFill>
                        <a:srgbClr val="8D3443"/>
                      </a:solidFill>
                      <a:prstDash val="solid"/>
                    </a:lnB>
                    <a:solidFill>
                      <a:srgbClr val="8D34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자녀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8D3443"/>
                      </a:solidFill>
                      <a:prstDash val="solid"/>
                    </a:lnL>
                    <a:lnR w="9525" cap="flat" cmpd="sng" algn="ctr">
                      <a:solidFill>
                        <a:srgbClr val="8D3443"/>
                      </a:solidFill>
                      <a:prstDash val="solid"/>
                    </a:lnR>
                    <a:lnT w="9525" cap="flat" cmpd="sng" algn="ctr">
                      <a:solidFill>
                        <a:srgbClr val="8D3443"/>
                      </a:solidFill>
                      <a:prstDash val="solid"/>
                    </a:lnT>
                    <a:lnB w="9525" cap="flat" cmpd="sng" algn="ctr">
                      <a:solidFill>
                        <a:srgbClr val="8D3443"/>
                      </a:solidFill>
                      <a:prstDash val="solid"/>
                    </a:lnB>
                    <a:solidFill>
                      <a:srgbClr val="8D3443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431920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0D1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431920"/>
                          </a:solidFill>
                        </a:rPr>
                        <a:t>나이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0D1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9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9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9F0F2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431920"/>
                          </a:solidFill>
                        </a:rPr>
                        <a:t>직업·학교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0D1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431920"/>
                          </a:solidFill>
                        </a:rPr>
                        <a:t>메모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0D1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9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9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9F0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F0D1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8D34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31920"/>
                </a:solidFill>
              </a:rPr>
              <a:t>가입한 보험 목록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640080" y="1554480"/>
          <a:ext cx="1091153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213329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8D3443"/>
                      </a:solidFill>
                      <a:prstDash val="solid"/>
                    </a:lnL>
                    <a:lnR w="9525" cap="flat" cmpd="sng" algn="ctr">
                      <a:solidFill>
                        <a:srgbClr val="8D3443"/>
                      </a:solidFill>
                      <a:prstDash val="solid"/>
                    </a:lnR>
                    <a:lnT w="9525" cap="flat" cmpd="sng" algn="ctr">
                      <a:solidFill>
                        <a:srgbClr val="8D3443"/>
                      </a:solidFill>
                      <a:prstDash val="solid"/>
                    </a:lnT>
                    <a:lnB w="9525" cap="flat" cmpd="sng" algn="ctr">
                      <a:solidFill>
                        <a:srgbClr val="8D3443"/>
                      </a:solidFill>
                      <a:prstDash val="solid"/>
                    </a:lnB>
                    <a:solidFill>
                      <a:srgbClr val="8D34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8D3443"/>
                      </a:solidFill>
                      <a:prstDash val="solid"/>
                    </a:lnL>
                    <a:lnR w="9525" cap="flat" cmpd="sng" algn="ctr">
                      <a:solidFill>
                        <a:srgbClr val="8D3443"/>
                      </a:solidFill>
                      <a:prstDash val="solid"/>
                    </a:lnR>
                    <a:lnT w="9525" cap="flat" cmpd="sng" algn="ctr">
                      <a:solidFill>
                        <a:srgbClr val="8D3443"/>
                      </a:solidFill>
                      <a:prstDash val="solid"/>
                    </a:lnT>
                    <a:lnB w="9525" cap="flat" cmpd="sng" algn="ctr">
                      <a:solidFill>
                        <a:srgbClr val="8D3443"/>
                      </a:solidFill>
                      <a:prstDash val="solid"/>
                    </a:lnB>
                    <a:solidFill>
                      <a:srgbClr val="8D34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8D3443"/>
                      </a:solidFill>
                      <a:prstDash val="solid"/>
                    </a:lnL>
                    <a:lnR w="9525" cap="flat" cmpd="sng" algn="ctr">
                      <a:solidFill>
                        <a:srgbClr val="8D3443"/>
                      </a:solidFill>
                      <a:prstDash val="solid"/>
                    </a:lnR>
                    <a:lnT w="9525" cap="flat" cmpd="sng" algn="ctr">
                      <a:solidFill>
                        <a:srgbClr val="8D3443"/>
                      </a:solidFill>
                      <a:prstDash val="solid"/>
                    </a:lnT>
                    <a:lnB w="9525" cap="flat" cmpd="sng" algn="ctr">
                      <a:solidFill>
                        <a:srgbClr val="8D3443"/>
                      </a:solidFill>
                      <a:prstDash val="solid"/>
                    </a:lnB>
                    <a:solidFill>
                      <a:srgbClr val="8D34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8D3443"/>
                      </a:solidFill>
                      <a:prstDash val="solid"/>
                    </a:lnL>
                    <a:lnR w="9525" cap="flat" cmpd="sng" algn="ctr">
                      <a:solidFill>
                        <a:srgbClr val="8D3443"/>
                      </a:solidFill>
                      <a:prstDash val="solid"/>
                    </a:lnR>
                    <a:lnT w="9525" cap="flat" cmpd="sng" algn="ctr">
                      <a:solidFill>
                        <a:srgbClr val="8D3443"/>
                      </a:solidFill>
                      <a:prstDash val="solid"/>
                    </a:lnT>
                    <a:lnB w="9525" cap="flat" cmpd="sng" algn="ctr">
                      <a:solidFill>
                        <a:srgbClr val="8D3443"/>
                      </a:solidFill>
                      <a:prstDash val="solid"/>
                    </a:lnB>
                    <a:solidFill>
                      <a:srgbClr val="8D34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8D3443"/>
                      </a:solidFill>
                      <a:prstDash val="solid"/>
                    </a:lnL>
                    <a:lnR w="9525" cap="flat" cmpd="sng" algn="ctr">
                      <a:solidFill>
                        <a:srgbClr val="8D3443"/>
                      </a:solidFill>
                      <a:prstDash val="solid"/>
                    </a:lnR>
                    <a:lnT w="9525" cap="flat" cmpd="sng" algn="ctr">
                      <a:solidFill>
                        <a:srgbClr val="8D3443"/>
                      </a:solidFill>
                      <a:prstDash val="solid"/>
                    </a:lnT>
                    <a:lnB w="9525" cap="flat" cmpd="sng" algn="ctr">
                      <a:solidFill>
                        <a:srgbClr val="8D3443"/>
                      </a:solidFill>
                      <a:prstDash val="solid"/>
                    </a:lnB>
                    <a:solidFill>
                      <a:srgbClr val="8D3443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9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9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9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9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9F0F2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9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9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9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9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9F0F2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9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9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9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9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9F0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F0D1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8D34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31920"/>
                </a:solidFill>
              </a:rPr>
              <a:t>보장 항목 체크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640080" y="1554480"/>
          <a:ext cx="1091153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417978"/>
                <a:gridCol w="2417978"/>
                <a:gridCol w="241797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8D3443"/>
                      </a:solidFill>
                      <a:prstDash val="solid"/>
                    </a:lnL>
                    <a:lnR w="9525" cap="flat" cmpd="sng" algn="ctr">
                      <a:solidFill>
                        <a:srgbClr val="8D3443"/>
                      </a:solidFill>
                      <a:prstDash val="solid"/>
                    </a:lnR>
                    <a:lnT w="9525" cap="flat" cmpd="sng" algn="ctr">
                      <a:solidFill>
                        <a:srgbClr val="8D3443"/>
                      </a:solidFill>
                      <a:prstDash val="solid"/>
                    </a:lnT>
                    <a:lnB w="9525" cap="flat" cmpd="sng" algn="ctr">
                      <a:solidFill>
                        <a:srgbClr val="8D3443"/>
                      </a:solidFill>
                      <a:prstDash val="solid"/>
                    </a:lnB>
                    <a:solidFill>
                      <a:srgbClr val="8D34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8D3443"/>
                      </a:solidFill>
                      <a:prstDash val="solid"/>
                    </a:lnL>
                    <a:lnR w="9525" cap="flat" cmpd="sng" algn="ctr">
                      <a:solidFill>
                        <a:srgbClr val="8D3443"/>
                      </a:solidFill>
                      <a:prstDash val="solid"/>
                    </a:lnR>
                    <a:lnT w="9525" cap="flat" cmpd="sng" algn="ctr">
                      <a:solidFill>
                        <a:srgbClr val="8D3443"/>
                      </a:solidFill>
                      <a:prstDash val="solid"/>
                    </a:lnT>
                    <a:lnB w="9525" cap="flat" cmpd="sng" algn="ctr">
                      <a:solidFill>
                        <a:srgbClr val="8D3443"/>
                      </a:solidFill>
                      <a:prstDash val="solid"/>
                    </a:lnB>
                    <a:solidFill>
                      <a:srgbClr val="8D34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8D3443"/>
                      </a:solidFill>
                      <a:prstDash val="solid"/>
                    </a:lnL>
                    <a:lnR w="9525" cap="flat" cmpd="sng" algn="ctr">
                      <a:solidFill>
                        <a:srgbClr val="8D3443"/>
                      </a:solidFill>
                      <a:prstDash val="solid"/>
                    </a:lnR>
                    <a:lnT w="9525" cap="flat" cmpd="sng" algn="ctr">
                      <a:solidFill>
                        <a:srgbClr val="8D3443"/>
                      </a:solidFill>
                      <a:prstDash val="solid"/>
                    </a:lnT>
                    <a:lnB w="9525" cap="flat" cmpd="sng" algn="ctr">
                      <a:solidFill>
                        <a:srgbClr val="8D3443"/>
                      </a:solidFill>
                      <a:prstDash val="solid"/>
                    </a:lnB>
                    <a:solidFill>
                      <a:srgbClr val="8D34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8D3443"/>
                      </a:solidFill>
                      <a:prstDash val="solid"/>
                    </a:lnL>
                    <a:lnR w="9525" cap="flat" cmpd="sng" algn="ctr">
                      <a:solidFill>
                        <a:srgbClr val="8D3443"/>
                      </a:solidFill>
                      <a:prstDash val="solid"/>
                    </a:lnR>
                    <a:lnT w="9525" cap="flat" cmpd="sng" algn="ctr">
                      <a:solidFill>
                        <a:srgbClr val="8D3443"/>
                      </a:solidFill>
                      <a:prstDash val="solid"/>
                    </a:lnT>
                    <a:lnB w="9525" cap="flat" cmpd="sng" algn="ctr">
                      <a:solidFill>
                        <a:srgbClr val="8D3443"/>
                      </a:solidFill>
                      <a:prstDash val="solid"/>
                    </a:lnB>
                    <a:solidFill>
                      <a:srgbClr val="8D3443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31920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0D1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31920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0D1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9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9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9F0F2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31920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0D1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31920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0D1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9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9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9F0F2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31920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0D1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31920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0D1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9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9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9F0F2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31920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0D1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31920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0D1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9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9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9F0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F0D1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8D34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31920"/>
                </a:solidFill>
              </a:rPr>
              <a:t>월 보험료 한눈에</a:t>
            </a:r>
          </a:p>
        </p:txBody>
      </p:sp>
      <p:sp>
        <p:nvSpPr>
          <p:cNvPr id="5" name="카드 1"/>
          <p:cNvSpPr/>
          <p:nvPr/>
        </p:nvSpPr>
        <p:spPr>
          <a:xfrm>
            <a:off x="640080" y="155448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9F0F2"/>
          </a:solidFill>
          <a:ln w="15875">
            <a:solidFill>
              <a:srgbClr val="F0D1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822959" y="1737360"/>
            <a:ext cx="457200" cy="457200"/>
          </a:xfrm>
          <a:prstGeom prst="ellipse">
            <a:avLst/>
          </a:prstGeom>
          <a:solidFill>
            <a:srgbClr val="8D344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431920"/>
                </a:solidFill>
              </a:rPr>
              <a:t>월 보험료 합계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1752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9" name="카드 2"/>
          <p:cNvSpPr/>
          <p:nvPr/>
        </p:nvSpPr>
        <p:spPr>
          <a:xfrm>
            <a:off x="4353458" y="155448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9F0F2"/>
          </a:solidFill>
          <a:ln w="15875">
            <a:solidFill>
              <a:srgbClr val="F0D1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4536338" y="1737360"/>
            <a:ext cx="457200" cy="457200"/>
          </a:xfrm>
          <a:prstGeom prst="ellipse">
            <a:avLst/>
          </a:prstGeom>
          <a:solidFill>
            <a:srgbClr val="8D344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0618" y="23317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431920"/>
                </a:solidFill>
              </a:rPr>
              <a:t>연 보험료 합계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301752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3" name="카드 3"/>
          <p:cNvSpPr/>
          <p:nvPr/>
        </p:nvSpPr>
        <p:spPr>
          <a:xfrm>
            <a:off x="8066836" y="155448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9F0F2"/>
          </a:solidFill>
          <a:ln w="15875">
            <a:solidFill>
              <a:srgbClr val="F0D1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249716" y="1737360"/>
            <a:ext cx="457200" cy="457200"/>
          </a:xfrm>
          <a:prstGeom prst="ellipse">
            <a:avLst/>
          </a:prstGeom>
          <a:solidFill>
            <a:srgbClr val="8D344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3996" y="23317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431920"/>
                </a:solidFill>
              </a:rPr>
              <a:t>월 소득 대비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3996" y="301752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0 %</a:t>
            </a:r>
          </a:p>
        </p:txBody>
      </p:sp>
      <p:sp>
        <p:nvSpPr>
          <p:cNvPr id="17" name="안내"/>
          <p:cNvSpPr txBox="1"/>
          <p:nvPr/>
        </p:nvSpPr>
        <p:spPr>
          <a:xfrm>
            <a:off x="640080" y="4663440"/>
            <a:ext cx="1091153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F0D1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8D34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31920"/>
                </a:solidFill>
              </a:rPr>
              <a:t>점검 메모와 다음 할 일</a:t>
            </a:r>
          </a:p>
        </p:txBody>
      </p:sp>
      <p:sp>
        <p:nvSpPr>
          <p:cNvPr id="5" name="카드 1"/>
          <p:cNvSpPr/>
          <p:nvPr/>
        </p:nvSpPr>
        <p:spPr>
          <a:xfrm>
            <a:off x="640080" y="1554480"/>
            <a:ext cx="3484778" cy="3749039"/>
          </a:xfrm>
          <a:prstGeom prst="roundRect">
            <a:avLst>
              <a:gd name="adj" fmla="val 8000"/>
            </a:avLst>
          </a:prstGeom>
          <a:solidFill>
            <a:srgbClr val="F9F0F2"/>
          </a:solidFill>
          <a:ln w="15875">
            <a:solidFill>
              <a:srgbClr val="F0D1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822959" y="1737360"/>
            <a:ext cx="457200" cy="457200"/>
          </a:xfrm>
          <a:prstGeom prst="ellipse">
            <a:avLst/>
          </a:prstGeom>
          <a:solidFill>
            <a:srgbClr val="8D344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31920"/>
                </a:solidFill>
              </a:rPr>
              <a:t>확인할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17520"/>
            <a:ext cx="3210458" cy="21488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9" name="카드 2"/>
          <p:cNvSpPr/>
          <p:nvPr/>
        </p:nvSpPr>
        <p:spPr>
          <a:xfrm>
            <a:off x="4353458" y="1554480"/>
            <a:ext cx="3484778" cy="3749039"/>
          </a:xfrm>
          <a:prstGeom prst="roundRect">
            <a:avLst>
              <a:gd name="adj" fmla="val 8000"/>
            </a:avLst>
          </a:prstGeom>
          <a:solidFill>
            <a:srgbClr val="F9F0F2"/>
          </a:solidFill>
          <a:ln w="15875">
            <a:solidFill>
              <a:srgbClr val="F0D1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4536338" y="1737360"/>
            <a:ext cx="457200" cy="457200"/>
          </a:xfrm>
          <a:prstGeom prst="ellipse">
            <a:avLst/>
          </a:prstGeom>
          <a:solidFill>
            <a:srgbClr val="8D344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0618" y="23317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31920"/>
                </a:solidFill>
              </a:rPr>
              <a:t>문의할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3017520"/>
            <a:ext cx="3210458" cy="21488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3" name="카드 3"/>
          <p:cNvSpPr/>
          <p:nvPr/>
        </p:nvSpPr>
        <p:spPr>
          <a:xfrm>
            <a:off x="8066836" y="1554480"/>
            <a:ext cx="3484778" cy="3749039"/>
          </a:xfrm>
          <a:prstGeom prst="roundRect">
            <a:avLst>
              <a:gd name="adj" fmla="val 8000"/>
            </a:avLst>
          </a:prstGeom>
          <a:solidFill>
            <a:srgbClr val="F9F0F2"/>
          </a:solidFill>
          <a:ln w="15875">
            <a:solidFill>
              <a:srgbClr val="F0D1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249716" y="1737360"/>
            <a:ext cx="457200" cy="457200"/>
          </a:xfrm>
          <a:prstGeom prst="ellipse">
            <a:avLst/>
          </a:prstGeom>
          <a:solidFill>
            <a:srgbClr val="8D344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3996" y="23317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31920"/>
                </a:solidFill>
              </a:rPr>
              <a:t>정리할 날짜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3996" y="3017520"/>
            <a:ext cx="3210458" cy="21488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640080" y="5394960"/>
            <a:ext cx="1091153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가족 점검)">
  <a:themeElements>
    <a:clrScheme name="Office">
      <a:dk1>
        <a:sysClr val="windowText" lastClr="000000"/>
      </a:dk1>
      <a:lt1>
        <a:sysClr val="window" lastClr="FFFFFF"/>
      </a:lt1>
      <a:dk2>
        <a:srgbClr val="431920"/>
      </a:dk2>
      <a:lt2>
        <a:srgbClr val="F9F0F2"/>
      </a:lt2>
      <a:accent1>
        <a:srgbClr val="8D3443"/>
      </a:accent1>
      <a:accent2>
        <a:srgbClr val="3B9158"/>
      </a:accent2>
      <a:accent3>
        <a:srgbClr val="431920"/>
      </a:accent3>
      <a:accent4>
        <a:srgbClr val="F0D1D6"/>
      </a:accent4>
      <a:accent5>
        <a:srgbClr val="64624E"/>
      </a:accent5>
      <a:accent6>
        <a:srgbClr val="8E7579"/>
      </a:accent6>
      <a:hlink>
        <a:srgbClr val="8D3443"/>
      </a:hlink>
      <a:folHlink>
        <a:srgbClr val="431920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발표자료(가족 점검)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