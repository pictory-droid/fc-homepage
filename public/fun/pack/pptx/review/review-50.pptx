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950671" cy="6858000"/>
          </a:xfrm>
          <a:prstGeom prst="rect">
            <a:avLst/>
          </a:prstGeom>
          <a:solidFill>
            <a:srgbClr val="E36C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950671" y="0"/>
            <a:ext cx="91440" cy="6858000"/>
          </a:xfrm>
          <a:prstGeom prst="rect">
            <a:avLst/>
          </a:prstGeom>
          <a:solidFill>
            <a:srgbClr val="3B91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8642360" y="3963924"/>
            <a:ext cx="2221991" cy="2221991"/>
          </a:xfrm>
          <a:prstGeom prst="sun">
            <a:avLst/>
          </a:prstGeom>
          <a:solidFill>
            <a:srgbClr val="E36C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9010826" y="6666402"/>
            <a:ext cx="246887" cy="246887"/>
          </a:xfrm>
          <a:prstGeom prst="ellipse">
            <a:avLst/>
          </a:prstGeom>
          <a:solidFill>
            <a:srgbClr val="FADB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0190883" y="6761405"/>
            <a:ext cx="246887" cy="246887"/>
          </a:xfrm>
          <a:prstGeom prst="ellipse">
            <a:avLst/>
          </a:prstGeom>
          <a:solidFill>
            <a:srgbClr val="FADB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8372649" y="6219462"/>
            <a:ext cx="246887" cy="246887"/>
          </a:xfrm>
          <a:prstGeom prst="ellipse">
            <a:avLst/>
          </a:prstGeom>
          <a:solidFill>
            <a:srgbClr val="FADB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26006" y="2194560"/>
            <a:ext cx="7558851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884111"/>
                </a:solidFill>
              </a:rPr>
              <a:t>우리 보험 점검 시간</a:t>
            </a:r>
          </a:p>
        </p:txBody>
      </p:sp>
      <p:sp>
        <p:nvSpPr>
          <p:cNvPr id="9" name="한 줄 문구"/>
          <p:cNvSpPr txBox="1"/>
          <p:nvPr/>
        </p:nvSpPr>
        <p:spPr>
          <a:xfrm>
            <a:off x="2926006" y="3749039"/>
            <a:ext cx="7558851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884111"/>
                </a:solidFill>
              </a:rPr>
              <a:t>새해 첫날, 환한 마음으로 다시 보기</a:t>
            </a:r>
          </a:p>
        </p:txBody>
      </p:sp>
      <p:sp>
        <p:nvSpPr>
          <p:cNvPr id="10" name="안내 문구"/>
          <p:cNvSpPr txBox="1"/>
          <p:nvPr/>
        </p:nvSpPr>
        <p:spPr>
          <a:xfrm>
            <a:off x="2926006" y="4617720"/>
            <a:ext cx="7558851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사업장 점검 · 2026. 00. 00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가입 내용을 정리하고 함께 확인하는 양식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36C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3B91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870387" y="324611"/>
            <a:ext cx="905256" cy="905256"/>
          </a:xfrm>
          <a:prstGeom prst="sun">
            <a:avLst/>
          </a:prstGeom>
          <a:solidFill>
            <a:srgbClr val="E36C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020503" y="1425621"/>
            <a:ext cx="100584" cy="100584"/>
          </a:xfrm>
          <a:prstGeom prst="ellipse">
            <a:avLst/>
          </a:prstGeom>
          <a:solidFill>
            <a:srgbClr val="FADB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501267" y="1464326"/>
            <a:ext cx="100584" cy="100584"/>
          </a:xfrm>
          <a:prstGeom prst="ellipse">
            <a:avLst/>
          </a:prstGeom>
          <a:solidFill>
            <a:srgbClr val="FADB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0760504" y="1243535"/>
            <a:ext cx="100584" cy="100584"/>
          </a:xfrm>
          <a:prstGeom prst="ellipse">
            <a:avLst/>
          </a:prstGeom>
          <a:solidFill>
            <a:srgbClr val="FADB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884111"/>
                </a:solidFill>
              </a:rPr>
              <a:t>점검 대상 현황</a:t>
            </a:r>
          </a:p>
        </p:txBody>
      </p:sp>
      <p:graphicFrame>
        <p:nvGraphicFramePr>
          <p:cNvPr id="9" name="표"/>
          <p:cNvGraphicFramePr>
            <a:graphicFrameLocks noGrp="1"/>
          </p:cNvGraphicFramePr>
          <p:nvPr/>
        </p:nvGraphicFramePr>
        <p:xfrm>
          <a:off x="914400" y="1600200"/>
          <a:ext cx="10637214" cy="3657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318607"/>
                <a:gridCol w="5318607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구분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36C1C"/>
                      </a:solidFill>
                      <a:prstDash val="solid"/>
                    </a:lnL>
                    <a:lnR w="9525" cap="flat" cmpd="sng" algn="ctr">
                      <a:solidFill>
                        <a:srgbClr val="E36C1C"/>
                      </a:solidFill>
                      <a:prstDash val="solid"/>
                    </a:lnR>
                    <a:lnT w="9525" cap="flat" cmpd="sng" algn="ctr">
                      <a:solidFill>
                        <a:srgbClr val="E36C1C"/>
                      </a:solidFill>
                      <a:prstDash val="solid"/>
                    </a:lnT>
                    <a:lnB w="9525" cap="flat" cmpd="sng" algn="ctr">
                      <a:solidFill>
                        <a:srgbClr val="E36C1C"/>
                      </a:solidFill>
                      <a:prstDash val="solid"/>
                    </a:lnB>
                    <a:solidFill>
                      <a:srgbClr val="E36C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내용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36C1C"/>
                      </a:solidFill>
                      <a:prstDash val="solid"/>
                    </a:lnL>
                    <a:lnR w="9525" cap="flat" cmpd="sng" algn="ctr">
                      <a:solidFill>
                        <a:srgbClr val="E36C1C"/>
                      </a:solidFill>
                      <a:prstDash val="solid"/>
                    </a:lnR>
                    <a:lnT w="9525" cap="flat" cmpd="sng" algn="ctr">
                      <a:solidFill>
                        <a:srgbClr val="E36C1C"/>
                      </a:solidFill>
                      <a:prstDash val="solid"/>
                    </a:lnT>
                    <a:lnB w="9525" cap="flat" cmpd="sng" algn="ctr">
                      <a:solidFill>
                        <a:srgbClr val="E36C1C"/>
                      </a:solidFill>
                      <a:prstDash val="solid"/>
                    </a:lnB>
                    <a:solidFill>
                      <a:srgbClr val="E36C1C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884111"/>
                          </a:solidFill>
                        </a:rPr>
                        <a:t>상호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ADBC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884111"/>
                          </a:solidFill>
                        </a:rPr>
                        <a:t>업종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ADBC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DF3ED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884111"/>
                          </a:solidFill>
                        </a:rPr>
                        <a:t>직원 수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ADBC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884111"/>
                          </a:solidFill>
                        </a:rPr>
                        <a:t>확인할 것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ADBC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DF3E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36C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3B91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870387" y="324611"/>
            <a:ext cx="905256" cy="905256"/>
          </a:xfrm>
          <a:prstGeom prst="sun">
            <a:avLst/>
          </a:prstGeom>
          <a:solidFill>
            <a:srgbClr val="E36C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020503" y="1425621"/>
            <a:ext cx="100584" cy="100584"/>
          </a:xfrm>
          <a:prstGeom prst="ellipse">
            <a:avLst/>
          </a:prstGeom>
          <a:solidFill>
            <a:srgbClr val="FADB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501267" y="1464326"/>
            <a:ext cx="100584" cy="100584"/>
          </a:xfrm>
          <a:prstGeom prst="ellipse">
            <a:avLst/>
          </a:prstGeom>
          <a:solidFill>
            <a:srgbClr val="FADB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0760504" y="1243535"/>
            <a:ext cx="100584" cy="100584"/>
          </a:xfrm>
          <a:prstGeom prst="ellipse">
            <a:avLst/>
          </a:prstGeom>
          <a:solidFill>
            <a:srgbClr val="FADB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884111"/>
                </a:solidFill>
              </a:rPr>
              <a:t>가입한 보험 목록</a:t>
            </a:r>
          </a:p>
        </p:txBody>
      </p:sp>
      <p:graphicFrame>
        <p:nvGraphicFramePr>
          <p:cNvPr id="9" name="표"/>
          <p:cNvGraphicFramePr>
            <a:graphicFrameLocks noGrp="1"/>
          </p:cNvGraphicFramePr>
          <p:nvPr/>
        </p:nvGraphicFramePr>
        <p:xfrm>
          <a:off x="914400" y="1600200"/>
          <a:ext cx="10637215" cy="42245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1680"/>
                <a:gridCol w="3108960"/>
                <a:gridCol w="1828800"/>
                <a:gridCol w="1828800"/>
                <a:gridCol w="185897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보험회사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36C1C"/>
                      </a:solidFill>
                      <a:prstDash val="solid"/>
                    </a:lnL>
                    <a:lnR w="9525" cap="flat" cmpd="sng" algn="ctr">
                      <a:solidFill>
                        <a:srgbClr val="E36C1C"/>
                      </a:solidFill>
                      <a:prstDash val="solid"/>
                    </a:lnR>
                    <a:lnT w="9525" cap="flat" cmpd="sng" algn="ctr">
                      <a:solidFill>
                        <a:srgbClr val="E36C1C"/>
                      </a:solidFill>
                      <a:prstDash val="solid"/>
                    </a:lnT>
                    <a:lnB w="9525" cap="flat" cmpd="sng" algn="ctr">
                      <a:solidFill>
                        <a:srgbClr val="E36C1C"/>
                      </a:solidFill>
                      <a:prstDash val="solid"/>
                    </a:lnB>
                    <a:solidFill>
                      <a:srgbClr val="E36C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상품명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36C1C"/>
                      </a:solidFill>
                      <a:prstDash val="solid"/>
                    </a:lnL>
                    <a:lnR w="9525" cap="flat" cmpd="sng" algn="ctr">
                      <a:solidFill>
                        <a:srgbClr val="E36C1C"/>
                      </a:solidFill>
                      <a:prstDash val="solid"/>
                    </a:lnR>
                    <a:lnT w="9525" cap="flat" cmpd="sng" algn="ctr">
                      <a:solidFill>
                        <a:srgbClr val="E36C1C"/>
                      </a:solidFill>
                      <a:prstDash val="solid"/>
                    </a:lnT>
                    <a:lnB w="9525" cap="flat" cmpd="sng" algn="ctr">
                      <a:solidFill>
                        <a:srgbClr val="E36C1C"/>
                      </a:solidFill>
                      <a:prstDash val="solid"/>
                    </a:lnB>
                    <a:solidFill>
                      <a:srgbClr val="E36C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종류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36C1C"/>
                      </a:solidFill>
                      <a:prstDash val="solid"/>
                    </a:lnL>
                    <a:lnR w="9525" cap="flat" cmpd="sng" algn="ctr">
                      <a:solidFill>
                        <a:srgbClr val="E36C1C"/>
                      </a:solidFill>
                      <a:prstDash val="solid"/>
                    </a:lnR>
                    <a:lnT w="9525" cap="flat" cmpd="sng" algn="ctr">
                      <a:solidFill>
                        <a:srgbClr val="E36C1C"/>
                      </a:solidFill>
                      <a:prstDash val="solid"/>
                    </a:lnT>
                    <a:lnB w="9525" cap="flat" cmpd="sng" algn="ctr">
                      <a:solidFill>
                        <a:srgbClr val="E36C1C"/>
                      </a:solidFill>
                      <a:prstDash val="solid"/>
                    </a:lnB>
                    <a:solidFill>
                      <a:srgbClr val="E36C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만기일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36C1C"/>
                      </a:solidFill>
                      <a:prstDash val="solid"/>
                    </a:lnL>
                    <a:lnR w="9525" cap="flat" cmpd="sng" algn="ctr">
                      <a:solidFill>
                        <a:srgbClr val="E36C1C"/>
                      </a:solidFill>
                      <a:prstDash val="solid"/>
                    </a:lnR>
                    <a:lnT w="9525" cap="flat" cmpd="sng" algn="ctr">
                      <a:solidFill>
                        <a:srgbClr val="E36C1C"/>
                      </a:solidFill>
                      <a:prstDash val="solid"/>
                    </a:lnT>
                    <a:lnB w="9525" cap="flat" cmpd="sng" algn="ctr">
                      <a:solidFill>
                        <a:srgbClr val="E36C1C"/>
                      </a:solidFill>
                      <a:prstDash val="solid"/>
                    </a:lnB>
                    <a:solidFill>
                      <a:srgbClr val="E36C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월 보험료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36C1C"/>
                      </a:solidFill>
                      <a:prstDash val="solid"/>
                    </a:lnL>
                    <a:lnR w="9525" cap="flat" cmpd="sng" algn="ctr">
                      <a:solidFill>
                        <a:srgbClr val="E36C1C"/>
                      </a:solidFill>
                      <a:prstDash val="solid"/>
                    </a:lnR>
                    <a:lnT w="9525" cap="flat" cmpd="sng" algn="ctr">
                      <a:solidFill>
                        <a:srgbClr val="E36C1C"/>
                      </a:solidFill>
                      <a:prstDash val="solid"/>
                    </a:lnT>
                    <a:lnB w="9525" cap="flat" cmpd="sng" algn="ctr">
                      <a:solidFill>
                        <a:srgbClr val="E36C1C"/>
                      </a:solidFill>
                      <a:prstDash val="solid"/>
                    </a:lnB>
                    <a:solidFill>
                      <a:srgbClr val="E36C1C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DF3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DF3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DF3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DF3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DF3ED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DF3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DF3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DF3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DF3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DF3ED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DF3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DF3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DF3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DF3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DF3E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36C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3B91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870387" y="324611"/>
            <a:ext cx="905256" cy="905256"/>
          </a:xfrm>
          <a:prstGeom prst="sun">
            <a:avLst/>
          </a:prstGeom>
          <a:solidFill>
            <a:srgbClr val="E36C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020503" y="1425621"/>
            <a:ext cx="100584" cy="100584"/>
          </a:xfrm>
          <a:prstGeom prst="ellipse">
            <a:avLst/>
          </a:prstGeom>
          <a:solidFill>
            <a:srgbClr val="FADB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501267" y="1464326"/>
            <a:ext cx="100584" cy="100584"/>
          </a:xfrm>
          <a:prstGeom prst="ellipse">
            <a:avLst/>
          </a:prstGeom>
          <a:solidFill>
            <a:srgbClr val="FADB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0760504" y="1243535"/>
            <a:ext cx="100584" cy="100584"/>
          </a:xfrm>
          <a:prstGeom prst="ellipse">
            <a:avLst/>
          </a:prstGeom>
          <a:solidFill>
            <a:srgbClr val="FADB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884111"/>
                </a:solidFill>
              </a:rPr>
              <a:t>보장 항목 체크</a:t>
            </a:r>
          </a:p>
        </p:txBody>
      </p:sp>
      <p:graphicFrame>
        <p:nvGraphicFramePr>
          <p:cNvPr id="9" name="표"/>
          <p:cNvGraphicFramePr>
            <a:graphicFrameLocks noGrp="1"/>
          </p:cNvGraphicFramePr>
          <p:nvPr/>
        </p:nvGraphicFramePr>
        <p:xfrm>
          <a:off x="914400" y="1600200"/>
          <a:ext cx="10637214" cy="47731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57600"/>
                <a:gridCol w="2326538"/>
                <a:gridCol w="2326538"/>
                <a:gridCol w="232653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보장 항목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36C1C"/>
                      </a:solidFill>
                      <a:prstDash val="solid"/>
                    </a:lnL>
                    <a:lnR w="9525" cap="flat" cmpd="sng" algn="ctr">
                      <a:solidFill>
                        <a:srgbClr val="E36C1C"/>
                      </a:solidFill>
                      <a:prstDash val="solid"/>
                    </a:lnR>
                    <a:lnT w="9525" cap="flat" cmpd="sng" algn="ctr">
                      <a:solidFill>
                        <a:srgbClr val="E36C1C"/>
                      </a:solidFill>
                      <a:prstDash val="solid"/>
                    </a:lnT>
                    <a:lnB w="9525" cap="flat" cmpd="sng" algn="ctr">
                      <a:solidFill>
                        <a:srgbClr val="E36C1C"/>
                      </a:solidFill>
                      <a:prstDash val="solid"/>
                    </a:lnB>
                    <a:solidFill>
                      <a:srgbClr val="E36C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가입 확인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36C1C"/>
                      </a:solidFill>
                      <a:prstDash val="solid"/>
                    </a:lnL>
                    <a:lnR w="9525" cap="flat" cmpd="sng" algn="ctr">
                      <a:solidFill>
                        <a:srgbClr val="E36C1C"/>
                      </a:solidFill>
                      <a:prstDash val="solid"/>
                    </a:lnR>
                    <a:lnT w="9525" cap="flat" cmpd="sng" algn="ctr">
                      <a:solidFill>
                        <a:srgbClr val="E36C1C"/>
                      </a:solidFill>
                      <a:prstDash val="solid"/>
                    </a:lnT>
                    <a:lnB w="9525" cap="flat" cmpd="sng" algn="ctr">
                      <a:solidFill>
                        <a:srgbClr val="E36C1C"/>
                      </a:solidFill>
                      <a:prstDash val="solid"/>
                    </a:lnB>
                    <a:solidFill>
                      <a:srgbClr val="E36C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확인 필요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36C1C"/>
                      </a:solidFill>
                      <a:prstDash val="solid"/>
                    </a:lnL>
                    <a:lnR w="9525" cap="flat" cmpd="sng" algn="ctr">
                      <a:solidFill>
                        <a:srgbClr val="E36C1C"/>
                      </a:solidFill>
                      <a:prstDash val="solid"/>
                    </a:lnR>
                    <a:lnT w="9525" cap="flat" cmpd="sng" algn="ctr">
                      <a:solidFill>
                        <a:srgbClr val="E36C1C"/>
                      </a:solidFill>
                      <a:prstDash val="solid"/>
                    </a:lnT>
                    <a:lnB w="9525" cap="flat" cmpd="sng" algn="ctr">
                      <a:solidFill>
                        <a:srgbClr val="E36C1C"/>
                      </a:solidFill>
                      <a:prstDash val="solid"/>
                    </a:lnB>
                    <a:solidFill>
                      <a:srgbClr val="E36C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해당 없음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36C1C"/>
                      </a:solidFill>
                      <a:prstDash val="solid"/>
                    </a:lnL>
                    <a:lnR w="9525" cap="flat" cmpd="sng" algn="ctr">
                      <a:solidFill>
                        <a:srgbClr val="E36C1C"/>
                      </a:solidFill>
                      <a:prstDash val="solid"/>
                    </a:lnR>
                    <a:lnT w="9525" cap="flat" cmpd="sng" algn="ctr">
                      <a:solidFill>
                        <a:srgbClr val="E36C1C"/>
                      </a:solidFill>
                      <a:prstDash val="solid"/>
                    </a:lnT>
                    <a:lnB w="9525" cap="flat" cmpd="sng" algn="ctr">
                      <a:solidFill>
                        <a:srgbClr val="E36C1C"/>
                      </a:solidFill>
                      <a:prstDash val="solid"/>
                    </a:lnB>
                    <a:solidFill>
                      <a:srgbClr val="E36C1C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884111"/>
                          </a:solidFill>
                        </a:rPr>
                        <a:t>사망·재해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ADBC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884111"/>
                          </a:solidFill>
                        </a:rPr>
                        <a:t>질병 진단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ADBC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DF3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DF3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DF3ED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884111"/>
                          </a:solidFill>
                        </a:rPr>
                        <a:t>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ADBC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884111"/>
                          </a:solidFill>
                        </a:rPr>
                        <a:t>뇌·심장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ADBC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DF3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DF3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DF3ED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884111"/>
                          </a:solidFill>
                        </a:rPr>
                        <a:t>입원·수술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ADBC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884111"/>
                          </a:solidFill>
                        </a:rPr>
                        <a:t>상해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ADBC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DF3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DF3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DF3ED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884111"/>
                          </a:solidFill>
                        </a:rPr>
                        <a:t>실손의료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ADBC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884111"/>
                          </a:solidFill>
                        </a:rPr>
                        <a:t>연금·노후자금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ADBC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DF3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DF3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BC7"/>
                      </a:solidFill>
                      <a:prstDash val="solid"/>
                    </a:lnL>
                    <a:lnR w="9525" cap="flat" cmpd="sng" algn="ctr">
                      <a:solidFill>
                        <a:srgbClr val="FADBC7"/>
                      </a:solidFill>
                      <a:prstDash val="solid"/>
                    </a:lnR>
                    <a:lnT w="9525" cap="flat" cmpd="sng" algn="ctr">
                      <a:solidFill>
                        <a:srgbClr val="FADBC7"/>
                      </a:solidFill>
                      <a:prstDash val="solid"/>
                    </a:lnT>
                    <a:lnB w="9525" cap="flat" cmpd="sng" algn="ctr">
                      <a:solidFill>
                        <a:srgbClr val="FADBC7"/>
                      </a:solidFill>
                      <a:prstDash val="solid"/>
                    </a:lnB>
                    <a:solidFill>
                      <a:srgbClr val="FDF3E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36C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3B91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870387" y="324611"/>
            <a:ext cx="905256" cy="905256"/>
          </a:xfrm>
          <a:prstGeom prst="sun">
            <a:avLst/>
          </a:prstGeom>
          <a:solidFill>
            <a:srgbClr val="E36C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020503" y="1425621"/>
            <a:ext cx="100584" cy="100584"/>
          </a:xfrm>
          <a:prstGeom prst="ellipse">
            <a:avLst/>
          </a:prstGeom>
          <a:solidFill>
            <a:srgbClr val="FADB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501267" y="1464326"/>
            <a:ext cx="100584" cy="100584"/>
          </a:xfrm>
          <a:prstGeom prst="ellipse">
            <a:avLst/>
          </a:prstGeom>
          <a:solidFill>
            <a:srgbClr val="FADB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0760504" y="1243535"/>
            <a:ext cx="100584" cy="100584"/>
          </a:xfrm>
          <a:prstGeom prst="ellipse">
            <a:avLst/>
          </a:prstGeom>
          <a:solidFill>
            <a:srgbClr val="FADB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884111"/>
                </a:solidFill>
              </a:rPr>
              <a:t>월 보험료 한눈에</a:t>
            </a:r>
          </a:p>
        </p:txBody>
      </p:sp>
      <p:sp>
        <p:nvSpPr>
          <p:cNvPr id="9" name="카드 1"/>
          <p:cNvSpPr/>
          <p:nvPr/>
        </p:nvSpPr>
        <p:spPr>
          <a:xfrm>
            <a:off x="914400" y="1600200"/>
            <a:ext cx="3393338" cy="2926080"/>
          </a:xfrm>
          <a:prstGeom prst="roundRect">
            <a:avLst>
              <a:gd name="adj" fmla="val 8000"/>
            </a:avLst>
          </a:prstGeom>
          <a:solidFill>
            <a:srgbClr val="FDF3ED"/>
          </a:solidFill>
          <a:ln w="15875">
            <a:solidFill>
              <a:srgbClr val="FADBC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번호 1"/>
          <p:cNvSpPr/>
          <p:nvPr/>
        </p:nvSpPr>
        <p:spPr>
          <a:xfrm>
            <a:off x="1097280" y="1783080"/>
            <a:ext cx="457200" cy="457200"/>
          </a:xfrm>
          <a:prstGeom prst="ellipse">
            <a:avLst/>
          </a:prstGeom>
          <a:solidFill>
            <a:srgbClr val="E36C1C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37744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884111"/>
                </a:solidFill>
              </a:rPr>
              <a:t>월 보험료 합계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063240"/>
            <a:ext cx="311901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0원</a:t>
            </a:r>
          </a:p>
        </p:txBody>
      </p:sp>
      <p:sp>
        <p:nvSpPr>
          <p:cNvPr id="13" name="카드 2"/>
          <p:cNvSpPr/>
          <p:nvPr/>
        </p:nvSpPr>
        <p:spPr>
          <a:xfrm>
            <a:off x="4536338" y="1600200"/>
            <a:ext cx="3393338" cy="2926080"/>
          </a:xfrm>
          <a:prstGeom prst="roundRect">
            <a:avLst>
              <a:gd name="adj" fmla="val 8000"/>
            </a:avLst>
          </a:prstGeom>
          <a:solidFill>
            <a:srgbClr val="FDF3ED"/>
          </a:solidFill>
          <a:ln w="15875">
            <a:solidFill>
              <a:srgbClr val="FADBC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2"/>
          <p:cNvSpPr/>
          <p:nvPr/>
        </p:nvSpPr>
        <p:spPr>
          <a:xfrm>
            <a:off x="4719218" y="1783080"/>
            <a:ext cx="457200" cy="457200"/>
          </a:xfrm>
          <a:prstGeom prst="ellipse">
            <a:avLst/>
          </a:prstGeom>
          <a:solidFill>
            <a:srgbClr val="E36C1C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3498" y="237744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884111"/>
                </a:solidFill>
              </a:rPr>
              <a:t>연 보험료 합계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73498" y="3063240"/>
            <a:ext cx="311901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0원</a:t>
            </a:r>
          </a:p>
        </p:txBody>
      </p:sp>
      <p:sp>
        <p:nvSpPr>
          <p:cNvPr id="17" name="카드 3"/>
          <p:cNvSpPr/>
          <p:nvPr/>
        </p:nvSpPr>
        <p:spPr>
          <a:xfrm>
            <a:off x="8158276" y="1600200"/>
            <a:ext cx="3393338" cy="2926080"/>
          </a:xfrm>
          <a:prstGeom prst="roundRect">
            <a:avLst>
              <a:gd name="adj" fmla="val 8000"/>
            </a:avLst>
          </a:prstGeom>
          <a:solidFill>
            <a:srgbClr val="FDF3ED"/>
          </a:solidFill>
          <a:ln w="15875">
            <a:solidFill>
              <a:srgbClr val="FADBC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번호 3"/>
          <p:cNvSpPr/>
          <p:nvPr/>
        </p:nvSpPr>
        <p:spPr>
          <a:xfrm>
            <a:off x="8341156" y="1783080"/>
            <a:ext cx="457200" cy="457200"/>
          </a:xfrm>
          <a:prstGeom prst="ellipse">
            <a:avLst/>
          </a:prstGeom>
          <a:solidFill>
            <a:srgbClr val="E36C1C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5436" y="237744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884111"/>
                </a:solidFill>
              </a:rPr>
              <a:t>월 소득 대비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5436" y="3063240"/>
            <a:ext cx="311901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0 %</a:t>
            </a:r>
          </a:p>
        </p:txBody>
      </p:sp>
      <p:sp>
        <p:nvSpPr>
          <p:cNvPr id="21" name="안내"/>
          <p:cNvSpPr txBox="1"/>
          <p:nvPr/>
        </p:nvSpPr>
        <p:spPr>
          <a:xfrm>
            <a:off x="914400" y="4709160"/>
            <a:ext cx="10637215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숫자를 눌러 직접 고쳐 쓰세요.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36C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3B91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870387" y="324611"/>
            <a:ext cx="905256" cy="905256"/>
          </a:xfrm>
          <a:prstGeom prst="sun">
            <a:avLst/>
          </a:prstGeom>
          <a:solidFill>
            <a:srgbClr val="E36C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020503" y="1425621"/>
            <a:ext cx="100584" cy="100584"/>
          </a:xfrm>
          <a:prstGeom prst="ellipse">
            <a:avLst/>
          </a:prstGeom>
          <a:solidFill>
            <a:srgbClr val="FADB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501267" y="1464326"/>
            <a:ext cx="100584" cy="100584"/>
          </a:xfrm>
          <a:prstGeom prst="ellipse">
            <a:avLst/>
          </a:prstGeom>
          <a:solidFill>
            <a:srgbClr val="FADB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0760504" y="1243535"/>
            <a:ext cx="100584" cy="100584"/>
          </a:xfrm>
          <a:prstGeom prst="ellipse">
            <a:avLst/>
          </a:prstGeom>
          <a:solidFill>
            <a:srgbClr val="FADB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884111"/>
                </a:solidFill>
              </a:rPr>
              <a:t>점검 메모와 다음 할 일</a:t>
            </a:r>
          </a:p>
        </p:txBody>
      </p:sp>
      <p:sp>
        <p:nvSpPr>
          <p:cNvPr id="9" name="카드 1"/>
          <p:cNvSpPr/>
          <p:nvPr/>
        </p:nvSpPr>
        <p:spPr>
          <a:xfrm>
            <a:off x="914400" y="1600200"/>
            <a:ext cx="3393338" cy="4160520"/>
          </a:xfrm>
          <a:prstGeom prst="roundRect">
            <a:avLst>
              <a:gd name="adj" fmla="val 8000"/>
            </a:avLst>
          </a:prstGeom>
          <a:solidFill>
            <a:srgbClr val="FDF3ED"/>
          </a:solidFill>
          <a:ln w="15875">
            <a:solidFill>
              <a:srgbClr val="FADBC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번호 1"/>
          <p:cNvSpPr/>
          <p:nvPr/>
        </p:nvSpPr>
        <p:spPr>
          <a:xfrm>
            <a:off x="1097280" y="1783080"/>
            <a:ext cx="457200" cy="457200"/>
          </a:xfrm>
          <a:prstGeom prst="ellipse">
            <a:avLst/>
          </a:prstGeom>
          <a:solidFill>
            <a:srgbClr val="E36C1C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37744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884111"/>
                </a:solidFill>
              </a:rPr>
              <a:t>확인할 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063240"/>
            <a:ext cx="3119018" cy="2560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3" name="카드 2"/>
          <p:cNvSpPr/>
          <p:nvPr/>
        </p:nvSpPr>
        <p:spPr>
          <a:xfrm>
            <a:off x="4536338" y="1600200"/>
            <a:ext cx="3393338" cy="4160520"/>
          </a:xfrm>
          <a:prstGeom prst="roundRect">
            <a:avLst>
              <a:gd name="adj" fmla="val 8000"/>
            </a:avLst>
          </a:prstGeom>
          <a:solidFill>
            <a:srgbClr val="FDF3ED"/>
          </a:solidFill>
          <a:ln w="15875">
            <a:solidFill>
              <a:srgbClr val="FADBC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2"/>
          <p:cNvSpPr/>
          <p:nvPr/>
        </p:nvSpPr>
        <p:spPr>
          <a:xfrm>
            <a:off x="4719218" y="1783080"/>
            <a:ext cx="457200" cy="457200"/>
          </a:xfrm>
          <a:prstGeom prst="ellipse">
            <a:avLst/>
          </a:prstGeom>
          <a:solidFill>
            <a:srgbClr val="E36C1C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3498" y="237744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884111"/>
                </a:solidFill>
              </a:rPr>
              <a:t>문의할 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73498" y="3063240"/>
            <a:ext cx="3119018" cy="2560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7" name="카드 3"/>
          <p:cNvSpPr/>
          <p:nvPr/>
        </p:nvSpPr>
        <p:spPr>
          <a:xfrm>
            <a:off x="8158276" y="1600200"/>
            <a:ext cx="3393338" cy="4160520"/>
          </a:xfrm>
          <a:prstGeom prst="roundRect">
            <a:avLst>
              <a:gd name="adj" fmla="val 8000"/>
            </a:avLst>
          </a:prstGeom>
          <a:solidFill>
            <a:srgbClr val="FDF3ED"/>
          </a:solidFill>
          <a:ln w="15875">
            <a:solidFill>
              <a:srgbClr val="FADBC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번호 3"/>
          <p:cNvSpPr/>
          <p:nvPr/>
        </p:nvSpPr>
        <p:spPr>
          <a:xfrm>
            <a:off x="8341156" y="1783080"/>
            <a:ext cx="457200" cy="457200"/>
          </a:xfrm>
          <a:prstGeom prst="ellipse">
            <a:avLst/>
          </a:prstGeom>
          <a:solidFill>
            <a:srgbClr val="E36C1C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5436" y="237744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884111"/>
                </a:solidFill>
              </a:rPr>
              <a:t>정리할 날짜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5436" y="3063240"/>
            <a:ext cx="3119018" cy="2560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21" name="안내 문구"/>
          <p:cNvSpPr txBox="1"/>
          <p:nvPr/>
        </p:nvSpPr>
        <p:spPr>
          <a:xfrm>
            <a:off x="914400" y="5852160"/>
            <a:ext cx="10637215" cy="5486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보험 보장 점검 발표자료(사업장 점검)">
  <a:themeElements>
    <a:clrScheme name="Office">
      <a:dk1>
        <a:sysClr val="windowText" lastClr="000000"/>
      </a:dk1>
      <a:lt1>
        <a:sysClr val="window" lastClr="FFFFFF"/>
      </a:lt1>
      <a:dk2>
        <a:srgbClr val="884111"/>
      </a:dk2>
      <a:lt2>
        <a:srgbClr val="FDF3ED"/>
      </a:lt2>
      <a:accent1>
        <a:srgbClr val="E36C1C"/>
      </a:accent1>
      <a:accent2>
        <a:srgbClr val="3B9188"/>
      </a:accent2>
      <a:accent3>
        <a:srgbClr val="884111"/>
      </a:accent3>
      <a:accent4>
        <a:srgbClr val="FADBC7"/>
      </a:accent4>
      <a:accent5>
        <a:srgbClr val="8F7E52"/>
      </a:accent5>
      <a:accent6>
        <a:srgbClr val="B88D70"/>
      </a:accent6>
      <a:hlink>
        <a:srgbClr val="E36C1C"/>
      </a:hlink>
      <a:folHlink>
        <a:srgbClr val="884111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발표자료(사업장 점검)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