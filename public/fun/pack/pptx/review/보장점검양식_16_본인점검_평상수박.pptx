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49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827349" y="2057400"/>
            <a:ext cx="1463003" cy="48006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5EB2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8412269" y="1577339"/>
            <a:ext cx="1463003" cy="52806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7BEA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9997190" y="1097279"/>
            <a:ext cx="1463003" cy="576072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5EB2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FFFFFF"/>
                </a:solidFill>
              </a:rPr>
              <a:t>INSURANCE CHECK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</a:rPr>
              <a:t>우리 보험 점검 시간</a:t>
            </a:r>
          </a:p>
        </p:txBody>
      </p:sp>
      <p:sp>
        <p:nvSpPr>
          <p:cNvPr id="7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FFFFFF"/>
                </a:solidFill>
              </a:rPr>
              <a:t>어떤 보험에 들었는지부터 적습니다</a:t>
            </a:r>
          </a:p>
        </p:txBody>
      </p:sp>
      <p:sp>
        <p:nvSpPr>
          <p:cNvPr id="8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본인 점검 · 날짜 입력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round2SameRect">
            <a:avLst/>
          </a:prstGeom>
          <a:solidFill>
            <a:srgbClr val="7BEA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점검 대상 현황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55767"/>
                <a:gridCol w="545576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AA9"/>
                      </a:solidFill>
                      <a:prstDash val="solid"/>
                    </a:lnL>
                    <a:lnR w="9525" cap="flat" cmpd="sng" algn="ctr">
                      <a:solidFill>
                        <a:srgbClr val="7BEAA9"/>
                      </a:solidFill>
                      <a:prstDash val="solid"/>
                    </a:lnR>
                    <a:lnT w="9525" cap="flat" cmpd="sng" algn="ctr">
                      <a:solidFill>
                        <a:srgbClr val="7BEAA9"/>
                      </a:solidFill>
                      <a:prstDash val="solid"/>
                    </a:lnT>
                    <a:lnB w="9525" cap="flat" cmpd="sng" algn="ctr">
                      <a:solidFill>
                        <a:srgbClr val="7BEAA9"/>
                      </a:solidFill>
                      <a:prstDash val="solid"/>
                    </a:lnB>
                    <a:solidFill>
                      <a:srgbClr val="7BEAA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AA9"/>
                      </a:solidFill>
                      <a:prstDash val="solid"/>
                    </a:lnL>
                    <a:lnR w="9525" cap="flat" cmpd="sng" algn="ctr">
                      <a:solidFill>
                        <a:srgbClr val="7BEAA9"/>
                      </a:solidFill>
                      <a:prstDash val="solid"/>
                    </a:lnR>
                    <a:lnT w="9525" cap="flat" cmpd="sng" algn="ctr">
                      <a:solidFill>
                        <a:srgbClr val="7BEAA9"/>
                      </a:solidFill>
                      <a:prstDash val="solid"/>
                    </a:lnT>
                    <a:lnB w="9525" cap="flat" cmpd="sng" algn="ctr">
                      <a:solidFill>
                        <a:srgbClr val="7BEAA9"/>
                      </a:solidFill>
                      <a:prstDash val="solid"/>
                    </a:lnB>
                    <a:solidFill>
                      <a:srgbClr val="7BEAA9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74935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D1FA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74935"/>
                          </a:solidFill>
                        </a:rPr>
                        <a:t>나이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D1FA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EAFDF2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74935"/>
                          </a:solidFill>
                        </a:rPr>
                        <a:t>직업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D1FA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74935"/>
                          </a:solidFill>
                        </a:rPr>
                        <a:t>가족 구성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D1FA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EAFD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round2SameRect">
            <a:avLst/>
          </a:prstGeom>
          <a:solidFill>
            <a:srgbClr val="7BEA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가입한 보험 목록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AA9"/>
                      </a:solidFill>
                      <a:prstDash val="solid"/>
                    </a:lnL>
                    <a:lnR w="9525" cap="flat" cmpd="sng" algn="ctr">
                      <a:solidFill>
                        <a:srgbClr val="7BEAA9"/>
                      </a:solidFill>
                      <a:prstDash val="solid"/>
                    </a:lnR>
                    <a:lnT w="9525" cap="flat" cmpd="sng" algn="ctr">
                      <a:solidFill>
                        <a:srgbClr val="7BEAA9"/>
                      </a:solidFill>
                      <a:prstDash val="solid"/>
                    </a:lnT>
                    <a:lnB w="9525" cap="flat" cmpd="sng" algn="ctr">
                      <a:solidFill>
                        <a:srgbClr val="7BEAA9"/>
                      </a:solidFill>
                      <a:prstDash val="solid"/>
                    </a:lnB>
                    <a:solidFill>
                      <a:srgbClr val="7BEAA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AA9"/>
                      </a:solidFill>
                      <a:prstDash val="solid"/>
                    </a:lnL>
                    <a:lnR w="9525" cap="flat" cmpd="sng" algn="ctr">
                      <a:solidFill>
                        <a:srgbClr val="7BEAA9"/>
                      </a:solidFill>
                      <a:prstDash val="solid"/>
                    </a:lnR>
                    <a:lnT w="9525" cap="flat" cmpd="sng" algn="ctr">
                      <a:solidFill>
                        <a:srgbClr val="7BEAA9"/>
                      </a:solidFill>
                      <a:prstDash val="solid"/>
                    </a:lnT>
                    <a:lnB w="9525" cap="flat" cmpd="sng" algn="ctr">
                      <a:solidFill>
                        <a:srgbClr val="7BEAA9"/>
                      </a:solidFill>
                      <a:prstDash val="solid"/>
                    </a:lnB>
                    <a:solidFill>
                      <a:srgbClr val="7BEAA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AA9"/>
                      </a:solidFill>
                      <a:prstDash val="solid"/>
                    </a:lnL>
                    <a:lnR w="9525" cap="flat" cmpd="sng" algn="ctr">
                      <a:solidFill>
                        <a:srgbClr val="7BEAA9"/>
                      </a:solidFill>
                      <a:prstDash val="solid"/>
                    </a:lnR>
                    <a:lnT w="9525" cap="flat" cmpd="sng" algn="ctr">
                      <a:solidFill>
                        <a:srgbClr val="7BEAA9"/>
                      </a:solidFill>
                      <a:prstDash val="solid"/>
                    </a:lnT>
                    <a:lnB w="9525" cap="flat" cmpd="sng" algn="ctr">
                      <a:solidFill>
                        <a:srgbClr val="7BEAA9"/>
                      </a:solidFill>
                      <a:prstDash val="solid"/>
                    </a:lnB>
                    <a:solidFill>
                      <a:srgbClr val="7BEAA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AA9"/>
                      </a:solidFill>
                      <a:prstDash val="solid"/>
                    </a:lnL>
                    <a:lnR w="9525" cap="flat" cmpd="sng" algn="ctr">
                      <a:solidFill>
                        <a:srgbClr val="7BEAA9"/>
                      </a:solidFill>
                      <a:prstDash val="solid"/>
                    </a:lnR>
                    <a:lnT w="9525" cap="flat" cmpd="sng" algn="ctr">
                      <a:solidFill>
                        <a:srgbClr val="7BEAA9"/>
                      </a:solidFill>
                      <a:prstDash val="solid"/>
                    </a:lnT>
                    <a:lnB w="9525" cap="flat" cmpd="sng" algn="ctr">
                      <a:solidFill>
                        <a:srgbClr val="7BEAA9"/>
                      </a:solidFill>
                      <a:prstDash val="solid"/>
                    </a:lnB>
                    <a:solidFill>
                      <a:srgbClr val="7BEAA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AA9"/>
                      </a:solidFill>
                      <a:prstDash val="solid"/>
                    </a:lnL>
                    <a:lnR w="9525" cap="flat" cmpd="sng" algn="ctr">
                      <a:solidFill>
                        <a:srgbClr val="7BEAA9"/>
                      </a:solidFill>
                      <a:prstDash val="solid"/>
                    </a:lnR>
                    <a:lnT w="9525" cap="flat" cmpd="sng" algn="ctr">
                      <a:solidFill>
                        <a:srgbClr val="7BEAA9"/>
                      </a:solidFill>
                      <a:prstDash val="solid"/>
                    </a:lnT>
                    <a:lnB w="9525" cap="flat" cmpd="sng" algn="ctr">
                      <a:solidFill>
                        <a:srgbClr val="7BEAA9"/>
                      </a:solidFill>
                      <a:prstDash val="solid"/>
                    </a:lnB>
                    <a:solidFill>
                      <a:srgbClr val="7BEAA9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EAFD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EAFD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EAFD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EAFD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EAFDF2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EAFD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EAFD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EAFD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EAFD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EAFDF2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EAFD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EAFD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EAFD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EAFD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EAFD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round2SameRect">
            <a:avLst/>
          </a:prstGeom>
          <a:solidFill>
            <a:srgbClr val="7BEA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보장 항목 체크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AA9"/>
                      </a:solidFill>
                      <a:prstDash val="solid"/>
                    </a:lnL>
                    <a:lnR w="9525" cap="flat" cmpd="sng" algn="ctr">
                      <a:solidFill>
                        <a:srgbClr val="7BEAA9"/>
                      </a:solidFill>
                      <a:prstDash val="solid"/>
                    </a:lnR>
                    <a:lnT w="9525" cap="flat" cmpd="sng" algn="ctr">
                      <a:solidFill>
                        <a:srgbClr val="7BEAA9"/>
                      </a:solidFill>
                      <a:prstDash val="solid"/>
                    </a:lnT>
                    <a:lnB w="9525" cap="flat" cmpd="sng" algn="ctr">
                      <a:solidFill>
                        <a:srgbClr val="7BEAA9"/>
                      </a:solidFill>
                      <a:prstDash val="solid"/>
                    </a:lnB>
                    <a:solidFill>
                      <a:srgbClr val="7BEAA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AA9"/>
                      </a:solidFill>
                      <a:prstDash val="solid"/>
                    </a:lnL>
                    <a:lnR w="9525" cap="flat" cmpd="sng" algn="ctr">
                      <a:solidFill>
                        <a:srgbClr val="7BEAA9"/>
                      </a:solidFill>
                      <a:prstDash val="solid"/>
                    </a:lnR>
                    <a:lnT w="9525" cap="flat" cmpd="sng" algn="ctr">
                      <a:solidFill>
                        <a:srgbClr val="7BEAA9"/>
                      </a:solidFill>
                      <a:prstDash val="solid"/>
                    </a:lnT>
                    <a:lnB w="9525" cap="flat" cmpd="sng" algn="ctr">
                      <a:solidFill>
                        <a:srgbClr val="7BEAA9"/>
                      </a:solidFill>
                      <a:prstDash val="solid"/>
                    </a:lnB>
                    <a:solidFill>
                      <a:srgbClr val="7BEAA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AA9"/>
                      </a:solidFill>
                      <a:prstDash val="solid"/>
                    </a:lnL>
                    <a:lnR w="9525" cap="flat" cmpd="sng" algn="ctr">
                      <a:solidFill>
                        <a:srgbClr val="7BEAA9"/>
                      </a:solidFill>
                      <a:prstDash val="solid"/>
                    </a:lnR>
                    <a:lnT w="9525" cap="flat" cmpd="sng" algn="ctr">
                      <a:solidFill>
                        <a:srgbClr val="7BEAA9"/>
                      </a:solidFill>
                      <a:prstDash val="solid"/>
                    </a:lnT>
                    <a:lnB w="9525" cap="flat" cmpd="sng" algn="ctr">
                      <a:solidFill>
                        <a:srgbClr val="7BEAA9"/>
                      </a:solidFill>
                      <a:prstDash val="solid"/>
                    </a:lnB>
                    <a:solidFill>
                      <a:srgbClr val="7BEAA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AA9"/>
                      </a:solidFill>
                      <a:prstDash val="solid"/>
                    </a:lnL>
                    <a:lnR w="9525" cap="flat" cmpd="sng" algn="ctr">
                      <a:solidFill>
                        <a:srgbClr val="7BEAA9"/>
                      </a:solidFill>
                      <a:prstDash val="solid"/>
                    </a:lnR>
                    <a:lnT w="9525" cap="flat" cmpd="sng" algn="ctr">
                      <a:solidFill>
                        <a:srgbClr val="7BEAA9"/>
                      </a:solidFill>
                      <a:prstDash val="solid"/>
                    </a:lnT>
                    <a:lnB w="9525" cap="flat" cmpd="sng" algn="ctr">
                      <a:solidFill>
                        <a:srgbClr val="7BEAA9"/>
                      </a:solidFill>
                      <a:prstDash val="solid"/>
                    </a:lnB>
                    <a:solidFill>
                      <a:srgbClr val="7BEAA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935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D1FA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935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D1FA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EAFD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EAFD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EAFDF2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935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D1FA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935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D1FA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EAFD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EAFD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EAFDF2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935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D1FA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935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D1FA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EAFD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EAFD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EAFDF2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935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D1FA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935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D1FA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EAFD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EAFD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EAFD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round2SameRect">
            <a:avLst/>
          </a:prstGeom>
          <a:solidFill>
            <a:srgbClr val="7BEA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월 보험료 한눈에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3484778" cy="2926080"/>
          </a:xfrm>
          <a:prstGeom prst="roundRect">
            <a:avLst>
              <a:gd name="adj" fmla="val 4000"/>
            </a:avLst>
          </a:prstGeom>
          <a:solidFill>
            <a:srgbClr val="EAFD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포인트 막대"/>
          <p:cNvSpPr/>
          <p:nvPr/>
        </p:nvSpPr>
        <p:spPr>
          <a:xfrm>
            <a:off x="640080" y="1892807"/>
            <a:ext cx="54864" cy="2706624"/>
          </a:xfrm>
          <a:prstGeom prst="rect">
            <a:avLst/>
          </a:prstGeom>
          <a:solidFill>
            <a:srgbClr val="7BEA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solidFill>
            <a:srgbClr val="7BEAA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74935"/>
                </a:solidFill>
              </a:rPr>
              <a:t>월 보험료 합계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0원</a:t>
            </a:r>
          </a:p>
        </p:txBody>
      </p:sp>
      <p:sp>
        <p:nvSpPr>
          <p:cNvPr id="11" name="카드 2"/>
          <p:cNvSpPr/>
          <p:nvPr/>
        </p:nvSpPr>
        <p:spPr>
          <a:xfrm>
            <a:off x="4353458" y="1783080"/>
            <a:ext cx="3484778" cy="2926080"/>
          </a:xfrm>
          <a:prstGeom prst="roundRect">
            <a:avLst>
              <a:gd name="adj" fmla="val 4000"/>
            </a:avLst>
          </a:prstGeom>
          <a:solidFill>
            <a:srgbClr val="EAFD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포인트 막대"/>
          <p:cNvSpPr/>
          <p:nvPr/>
        </p:nvSpPr>
        <p:spPr>
          <a:xfrm>
            <a:off x="4353458" y="1892807"/>
            <a:ext cx="54864" cy="2706624"/>
          </a:xfrm>
          <a:prstGeom prst="rect">
            <a:avLst/>
          </a:prstGeom>
          <a:solidFill>
            <a:srgbClr val="7BEA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2"/>
          <p:cNvSpPr/>
          <p:nvPr/>
        </p:nvSpPr>
        <p:spPr>
          <a:xfrm>
            <a:off x="4536338" y="1965960"/>
            <a:ext cx="457200" cy="457200"/>
          </a:xfrm>
          <a:prstGeom prst="ellipse">
            <a:avLst/>
          </a:prstGeom>
          <a:solidFill>
            <a:srgbClr val="7BEAA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74935"/>
                </a:solidFill>
              </a:rPr>
              <a:t>연 보험료 합계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0618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0원</a:t>
            </a:r>
          </a:p>
        </p:txBody>
      </p:sp>
      <p:sp>
        <p:nvSpPr>
          <p:cNvPr id="16" name="카드 3"/>
          <p:cNvSpPr/>
          <p:nvPr/>
        </p:nvSpPr>
        <p:spPr>
          <a:xfrm>
            <a:off x="8066836" y="1783080"/>
            <a:ext cx="3484778" cy="2926080"/>
          </a:xfrm>
          <a:prstGeom prst="roundRect">
            <a:avLst>
              <a:gd name="adj" fmla="val 4000"/>
            </a:avLst>
          </a:prstGeom>
          <a:solidFill>
            <a:srgbClr val="EAFD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포인트 막대"/>
          <p:cNvSpPr/>
          <p:nvPr/>
        </p:nvSpPr>
        <p:spPr>
          <a:xfrm>
            <a:off x="8066836" y="1892807"/>
            <a:ext cx="54864" cy="2706624"/>
          </a:xfrm>
          <a:prstGeom prst="rect">
            <a:avLst/>
          </a:prstGeom>
          <a:solidFill>
            <a:srgbClr val="7BEA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3"/>
          <p:cNvSpPr/>
          <p:nvPr/>
        </p:nvSpPr>
        <p:spPr>
          <a:xfrm>
            <a:off x="8249716" y="1965960"/>
            <a:ext cx="457200" cy="457200"/>
          </a:xfrm>
          <a:prstGeom prst="ellipse">
            <a:avLst/>
          </a:prstGeom>
          <a:solidFill>
            <a:srgbClr val="7BEAA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74935"/>
                </a:solidFill>
              </a:rPr>
              <a:t>월 소득 대비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3996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0 %</a:t>
            </a:r>
          </a:p>
        </p:txBody>
      </p:sp>
      <p:sp>
        <p:nvSpPr>
          <p:cNvPr id="21" name="안내"/>
          <p:cNvSpPr txBox="1"/>
          <p:nvPr/>
        </p:nvSpPr>
        <p:spPr>
          <a:xfrm>
            <a:off x="640080" y="489204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round2SameRect">
            <a:avLst/>
          </a:prstGeom>
          <a:solidFill>
            <a:srgbClr val="7BEA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점검 메모와 다음 할 일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3484778" cy="3931920"/>
          </a:xfrm>
          <a:prstGeom prst="roundRect">
            <a:avLst>
              <a:gd name="adj" fmla="val 4000"/>
            </a:avLst>
          </a:prstGeom>
          <a:solidFill>
            <a:srgbClr val="EAFD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포인트 막대"/>
          <p:cNvSpPr/>
          <p:nvPr/>
        </p:nvSpPr>
        <p:spPr>
          <a:xfrm>
            <a:off x="640080" y="1892807"/>
            <a:ext cx="54864" cy="3712463"/>
          </a:xfrm>
          <a:prstGeom prst="rect">
            <a:avLst/>
          </a:prstGeom>
          <a:solidFill>
            <a:srgbClr val="7BEA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solidFill>
            <a:srgbClr val="7BEAA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935"/>
                </a:solidFill>
              </a:rPr>
              <a:t>확인할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1" name="카드 2"/>
          <p:cNvSpPr/>
          <p:nvPr/>
        </p:nvSpPr>
        <p:spPr>
          <a:xfrm>
            <a:off x="4353458" y="1783080"/>
            <a:ext cx="3484778" cy="3931920"/>
          </a:xfrm>
          <a:prstGeom prst="roundRect">
            <a:avLst>
              <a:gd name="adj" fmla="val 4000"/>
            </a:avLst>
          </a:prstGeom>
          <a:solidFill>
            <a:srgbClr val="EAFD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포인트 막대"/>
          <p:cNvSpPr/>
          <p:nvPr/>
        </p:nvSpPr>
        <p:spPr>
          <a:xfrm>
            <a:off x="4353458" y="1892807"/>
            <a:ext cx="54864" cy="3712463"/>
          </a:xfrm>
          <a:prstGeom prst="rect">
            <a:avLst/>
          </a:prstGeom>
          <a:solidFill>
            <a:srgbClr val="7BEA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2"/>
          <p:cNvSpPr/>
          <p:nvPr/>
        </p:nvSpPr>
        <p:spPr>
          <a:xfrm>
            <a:off x="4536338" y="1965960"/>
            <a:ext cx="457200" cy="457200"/>
          </a:xfrm>
          <a:prstGeom prst="ellipse">
            <a:avLst/>
          </a:prstGeom>
          <a:solidFill>
            <a:srgbClr val="7BEAA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935"/>
                </a:solidFill>
              </a:rPr>
              <a:t>문의할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0618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6" name="카드 3"/>
          <p:cNvSpPr/>
          <p:nvPr/>
        </p:nvSpPr>
        <p:spPr>
          <a:xfrm>
            <a:off x="8066836" y="1783080"/>
            <a:ext cx="3484778" cy="3931920"/>
          </a:xfrm>
          <a:prstGeom prst="roundRect">
            <a:avLst>
              <a:gd name="adj" fmla="val 4000"/>
            </a:avLst>
          </a:prstGeom>
          <a:solidFill>
            <a:srgbClr val="EAFD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포인트 막대"/>
          <p:cNvSpPr/>
          <p:nvPr/>
        </p:nvSpPr>
        <p:spPr>
          <a:xfrm>
            <a:off x="8066836" y="1892807"/>
            <a:ext cx="54864" cy="3712463"/>
          </a:xfrm>
          <a:prstGeom prst="rect">
            <a:avLst/>
          </a:prstGeom>
          <a:solidFill>
            <a:srgbClr val="7BEA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3"/>
          <p:cNvSpPr/>
          <p:nvPr/>
        </p:nvSpPr>
        <p:spPr>
          <a:xfrm>
            <a:off x="8249716" y="1965960"/>
            <a:ext cx="457200" cy="457200"/>
          </a:xfrm>
          <a:prstGeom prst="ellipse">
            <a:avLst/>
          </a:prstGeom>
          <a:solidFill>
            <a:srgbClr val="7BEAA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935"/>
                </a:solidFill>
              </a:rPr>
              <a:t>정리할 날짜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3996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21" name="안내 문구"/>
          <p:cNvSpPr txBox="1"/>
          <p:nvPr/>
        </p:nvSpPr>
        <p:spPr>
          <a:xfrm>
            <a:off x="640080" y="580644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본인 점검)">
  <a:themeElements>
    <a:clrScheme name="Office">
      <a:dk1>
        <a:sysClr val="windowText" lastClr="000000"/>
      </a:dk1>
      <a:lt1>
        <a:sysClr val="window" lastClr="FFFFFF"/>
      </a:lt1>
      <a:dk2>
        <a:srgbClr val="274935"/>
      </a:dk2>
      <a:lt2>
        <a:srgbClr val="EAFDF2"/>
      </a:lt2>
      <a:accent1>
        <a:srgbClr val="7BEAA9"/>
      </a:accent1>
      <a:accent2>
        <a:srgbClr val="9FEFE6"/>
      </a:accent2>
      <a:accent3>
        <a:srgbClr val="274935"/>
      </a:accent3>
      <a:accent4>
        <a:srgbClr val="D1FAE2"/>
      </a:accent4>
      <a:accent5>
        <a:srgbClr val="8DECC8"/>
      </a:accent5>
      <a:accent6>
        <a:srgbClr val="7D9286"/>
      </a:accent6>
      <a:hlink>
        <a:srgbClr val="7BEAA9"/>
      </a:hlink>
      <a:folHlink>
        <a:srgbClr val="274935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발표자료(본인 점검)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