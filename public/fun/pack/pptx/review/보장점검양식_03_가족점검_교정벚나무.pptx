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review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9E2E4A"/>
                </a:solidFill>
              </a:rPr>
              <a:t>우리 보험 점검 시간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9E2E4A"/>
                </a:solidFill>
              </a:rPr>
              <a:t>가족 모두의 가입 내역을 한 장에 모읍니다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가족 점검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가입 내용을 정리하고 함께 확인하는 양식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9E2E4A"/>
                </a:solidFill>
              </a:rPr>
              <a:t>점검 대상 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2" cy="3657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구분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아빠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엄마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자녀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9E2E4A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9E2E4A"/>
                          </a:solidFill>
                        </a:rPr>
                        <a:t>나이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9E2E4A"/>
                          </a:solidFill>
                        </a:rPr>
                        <a:t>직업·학교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9E2E4A"/>
                          </a:solidFill>
                        </a:rPr>
                        <a:t>메모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9E2E4A"/>
                </a:solidFill>
              </a:rPr>
              <a:t>가입한 보험 목록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5" cy="422452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보험회사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상품명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종류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만기일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월 보험료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9E2E4A"/>
                </a:solidFill>
              </a:rPr>
              <a:t>보장 항목 체크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4" cy="4773168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보장 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가입 확인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확인 필요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해당 없음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1617D"/>
                      </a:solidFill>
                      <a:prstDash val="solid"/>
                    </a:lnL>
                    <a:lnR w="9525" cap="flat" cmpd="sng" algn="ctr">
                      <a:solidFill>
                        <a:srgbClr val="D1617D"/>
                      </a:solidFill>
                      <a:prstDash val="solid"/>
                    </a:lnR>
                    <a:lnT w="9525" cap="flat" cmpd="sng" algn="ctr">
                      <a:solidFill>
                        <a:srgbClr val="D1617D"/>
                      </a:solidFill>
                      <a:prstDash val="solid"/>
                    </a:lnT>
                    <a:lnB w="9525" cap="flat" cmpd="sng" algn="ctr">
                      <a:solidFill>
                        <a:srgbClr val="D1617D"/>
                      </a:solidFill>
                      <a:prstDash val="solid"/>
                    </a:lnB>
                    <a:solidFill>
                      <a:srgbClr val="D1617D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E2E4A"/>
                          </a:solidFill>
                        </a:rPr>
                        <a:t>사망·재해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E2E4A"/>
                          </a:solidFill>
                        </a:rPr>
                        <a:t>질병 진단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E2E4A"/>
                          </a:solidFill>
                        </a:rPr>
                        <a:t>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E2E4A"/>
                          </a:solidFill>
                        </a:rPr>
                        <a:t>뇌·심장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E2E4A"/>
                          </a:solidFill>
                        </a:rPr>
                        <a:t>입원·수술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E2E4A"/>
                          </a:solidFill>
                        </a:rPr>
                        <a:t>상해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E2E4A"/>
                          </a:solidFill>
                        </a:rPr>
                        <a:t>실손의료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9E2E4A"/>
                          </a:solidFill>
                        </a:rPr>
                        <a:t>연금·노후자금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3CED7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□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3CED7"/>
                      </a:solidFill>
                      <a:prstDash val="solid"/>
                    </a:lnL>
                    <a:lnR w="9525" cap="flat" cmpd="sng" algn="ctr">
                      <a:solidFill>
                        <a:srgbClr val="F3CED7"/>
                      </a:solidFill>
                      <a:prstDash val="solid"/>
                    </a:lnR>
                    <a:lnT w="9525" cap="flat" cmpd="sng" algn="ctr">
                      <a:solidFill>
                        <a:srgbClr val="F3CED7"/>
                      </a:solidFill>
                      <a:prstDash val="solid"/>
                    </a:lnT>
                    <a:lnB w="9525" cap="flat" cmpd="sng" algn="ctr">
                      <a:solidFill>
                        <a:srgbClr val="F3CED7"/>
                      </a:solidFill>
                      <a:prstDash val="solid"/>
                    </a:lnB>
                    <a:solidFill>
                      <a:srgbClr val="FAEF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9E2E4A"/>
                </a:solidFill>
              </a:rPr>
              <a:t>월 보험료 한눈에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AEFF2"/>
          </a:solidFill>
          <a:ln w="15875">
            <a:solidFill>
              <a:srgbClr val="F3CE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D1617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9E2E4A"/>
                </a:solidFill>
              </a:rPr>
              <a:t>월 보험료 합계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AEFF2"/>
          </a:solidFill>
          <a:ln w="15875">
            <a:solidFill>
              <a:srgbClr val="F3CE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D1617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9E2E4A"/>
                </a:solidFill>
              </a:rPr>
              <a:t>연 보험료 합계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0원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2926080"/>
          </a:xfrm>
          <a:prstGeom prst="roundRect">
            <a:avLst>
              <a:gd name="adj" fmla="val 8000"/>
            </a:avLst>
          </a:prstGeom>
          <a:solidFill>
            <a:srgbClr val="FAEFF2"/>
          </a:solidFill>
          <a:ln w="15875">
            <a:solidFill>
              <a:srgbClr val="F3CE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D1617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1" i="0">
                <a:solidFill>
                  <a:srgbClr val="9E2E4A"/>
                </a:solidFill>
              </a:rPr>
              <a:t>월 소득 대비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13258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3000" b="0" i="0">
                <a:solidFill>
                  <a:srgbClr val="2B2B2B"/>
                </a:solidFill>
              </a:rPr>
              <a:t>0 %</a:t>
            </a:r>
          </a:p>
        </p:txBody>
      </p:sp>
      <p:sp>
        <p:nvSpPr>
          <p:cNvPr id="16" name="안내"/>
          <p:cNvSpPr txBox="1"/>
          <p:nvPr/>
        </p:nvSpPr>
        <p:spPr>
          <a:xfrm>
            <a:off x="731520" y="4709160"/>
            <a:ext cx="10728655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숫자를 눌러 직접 고쳐 쓰세요.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1617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9E2E4A"/>
                </a:solidFill>
              </a:rPr>
              <a:t>점검 메모와 다음 할 일</a:t>
            </a:r>
          </a:p>
        </p:txBody>
      </p:sp>
      <p:sp>
        <p:nvSpPr>
          <p:cNvPr id="4" name="카드 1"/>
          <p:cNvSpPr/>
          <p:nvPr/>
        </p:nvSpPr>
        <p:spPr>
          <a:xfrm>
            <a:off x="731520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AEFF2"/>
          </a:solidFill>
          <a:ln w="15875">
            <a:solidFill>
              <a:srgbClr val="F3CE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783080"/>
            <a:ext cx="457200" cy="457200"/>
          </a:xfrm>
          <a:prstGeom prst="ellipse">
            <a:avLst/>
          </a:prstGeom>
          <a:solidFill>
            <a:srgbClr val="D1617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9E2E4A"/>
                </a:solidFill>
              </a:rPr>
              <a:t>확인할 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83938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AEFF2"/>
          </a:solidFill>
          <a:ln w="15875">
            <a:solidFill>
              <a:srgbClr val="F3CE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66818" y="1783080"/>
            <a:ext cx="457200" cy="457200"/>
          </a:xfrm>
          <a:prstGeom prst="ellipse">
            <a:avLst/>
          </a:prstGeom>
          <a:solidFill>
            <a:srgbClr val="D1617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1098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9E2E4A"/>
                </a:solidFill>
              </a:rPr>
              <a:t>문의할 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36356" y="1600200"/>
            <a:ext cx="3423818" cy="3977639"/>
          </a:xfrm>
          <a:prstGeom prst="roundRect">
            <a:avLst>
              <a:gd name="adj" fmla="val 8000"/>
            </a:avLst>
          </a:prstGeom>
          <a:solidFill>
            <a:srgbClr val="FAEFF2"/>
          </a:solidFill>
          <a:ln w="15875">
            <a:solidFill>
              <a:srgbClr val="F3CED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19236" y="1783080"/>
            <a:ext cx="457200" cy="457200"/>
          </a:xfrm>
          <a:prstGeom prst="ellipse">
            <a:avLst/>
          </a:prstGeom>
          <a:solidFill>
            <a:srgbClr val="D1617D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3516" y="237744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9E2E4A"/>
                </a:solidFill>
              </a:rPr>
              <a:t>정리할 날짜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063240"/>
            <a:ext cx="3149498" cy="237743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6" name="안내 문구"/>
          <p:cNvSpPr txBox="1"/>
          <p:nvPr/>
        </p:nvSpPr>
        <p:spPr>
          <a:xfrm>
            <a:off x="731520" y="5669280"/>
            <a:ext cx="10728655" cy="54864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777777"/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보험 보장 점검 발표자료(가족 점검)">
  <a:themeElements>
    <a:clrScheme name="Office">
      <a:dk1>
        <a:sysClr val="windowText" lastClr="000000"/>
      </a:dk1>
      <a:lt1>
        <a:sysClr val="window" lastClr="FFFFFF"/>
      </a:lt1>
      <a:dk2>
        <a:srgbClr val="9E2E4A"/>
      </a:dk2>
      <a:lt2>
        <a:srgbClr val="FAEFF2"/>
      </a:lt2>
      <a:accent1>
        <a:srgbClr val="D1617D"/>
      </a:accent1>
      <a:accent2>
        <a:srgbClr val="3B9151"/>
      </a:accent2>
      <a:accent3>
        <a:srgbClr val="9E2E4A"/>
      </a:accent3>
      <a:accent4>
        <a:srgbClr val="F3CED7"/>
      </a:accent4>
      <a:accent5>
        <a:srgbClr val="867967"/>
      </a:accent5>
      <a:accent6>
        <a:srgbClr val="C58292"/>
      </a:accent6>
      <a:hlink>
        <a:srgbClr val="D1617D"/>
      </a:hlink>
      <a:folHlink>
        <a:srgbClr val="9E2E4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발표자료(가족 점검)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