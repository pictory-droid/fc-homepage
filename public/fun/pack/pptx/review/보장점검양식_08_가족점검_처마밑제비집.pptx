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-3200400"/>
            <a:ext cx="6400800" cy="6400800"/>
          </a:xfrm>
          <a:prstGeom prst="ellipse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534186" y="-914400"/>
            <a:ext cx="3291840" cy="3291840"/>
          </a:xfrm>
          <a:prstGeom prst="ellipse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 이름으로 된 보험도 같이 적습니다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가족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354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3549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3549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3549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549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549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549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549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549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549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549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549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2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3466490" cy="82296"/>
          </a:xfrm>
          <a:prstGeom prst="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BCBA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3549"/>
                </a:solidFill>
              </a:rPr>
              <a:t>월 보험료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2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4362602" y="1792224"/>
            <a:ext cx="3466490" cy="82296"/>
          </a:xfrm>
          <a:prstGeom prst="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BCBA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3549"/>
                </a:solidFill>
              </a:rPr>
              <a:t>연 보험료 합계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2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8075980" y="1792224"/>
            <a:ext cx="3466490" cy="82296"/>
          </a:xfrm>
          <a:prstGeom prst="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BCBA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3549"/>
                </a:solidFill>
              </a:rPr>
              <a:t>월 소득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21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2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3466490" cy="82296"/>
          </a:xfrm>
          <a:prstGeom prst="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BCBA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확인할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2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4362602" y="1792224"/>
            <a:ext cx="3466490" cy="82296"/>
          </a:xfrm>
          <a:prstGeom prst="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BCBA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문의할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2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8075980" y="1792224"/>
            <a:ext cx="3466490" cy="82296"/>
          </a:xfrm>
          <a:prstGeom prst="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BCBA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정리할 날짜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21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273549"/>
      </a:dk2>
      <a:lt2>
        <a:srgbClr val="EAF2FD"/>
      </a:lt2>
      <a:accent1>
        <a:srgbClr val="97BBED"/>
      </a:accent1>
      <a:accent2>
        <a:srgbClr val="BCBAF3"/>
      </a:accent2>
      <a:accent3>
        <a:srgbClr val="273549"/>
      </a:accent3>
      <a:accent4>
        <a:srgbClr val="D1E2FA"/>
      </a:accent4>
      <a:accent5>
        <a:srgbClr val="AABAF0"/>
      </a:accent5>
      <a:accent6>
        <a:srgbClr val="7D8692"/>
      </a:accent6>
      <a:hlink>
        <a:srgbClr val="97BBED"/>
      </a:hlink>
      <a:folHlink>
        <a:srgbClr val="2735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