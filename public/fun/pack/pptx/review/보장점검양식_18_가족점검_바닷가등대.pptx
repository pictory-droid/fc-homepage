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485F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485F"/>
                </a:solidFill>
              </a:rPr>
              <a:t>누구 보험료가 얼마인지 한눈에 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가족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대상 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2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엄마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자녀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485F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485F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485F"/>
                          </a:solidFill>
                        </a:rPr>
                        <a:t>직업·학교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485F"/>
                          </a:solidFill>
                        </a:rPr>
                        <a:t>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가입한 보험 목록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보장 항목 체크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640080" y="164592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95C5"/>
                      </a:solidFill>
                      <a:prstDash val="solid"/>
                    </a:lnL>
                    <a:lnR w="9525" cap="flat" cmpd="sng" algn="ctr">
                      <a:solidFill>
                        <a:srgbClr val="2695C5"/>
                      </a:solidFill>
                      <a:prstDash val="solid"/>
                    </a:lnR>
                    <a:lnT w="9525" cap="flat" cmpd="sng" algn="ctr">
                      <a:solidFill>
                        <a:srgbClr val="2695C5"/>
                      </a:solidFill>
                      <a:prstDash val="solid"/>
                    </a:lnT>
                    <a:lnB w="9525" cap="flat" cmpd="sng" algn="ctr">
                      <a:solidFill>
                        <a:srgbClr val="2695C5"/>
                      </a:solidFill>
                      <a:prstDash val="solid"/>
                    </a:lnB>
                    <a:solidFill>
                      <a:srgbClr val="2695C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485F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485F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485F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485F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485F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485F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485F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1485F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EEFA"/>
                      </a:solidFill>
                      <a:prstDash val="solid"/>
                    </a:lnL>
                    <a:lnR w="9525" cap="flat" cmpd="sng" algn="ctr">
                      <a:solidFill>
                        <a:srgbClr val="D1EEFA"/>
                      </a:solidFill>
                      <a:prstDash val="solid"/>
                    </a:lnR>
                    <a:lnT w="9525" cap="flat" cmpd="sng" algn="ctr">
                      <a:solidFill>
                        <a:srgbClr val="D1EEFA"/>
                      </a:solidFill>
                      <a:prstDash val="solid"/>
                    </a:lnT>
                    <a:lnB w="9525" cap="flat" cmpd="sng" algn="ctr">
                      <a:solidFill>
                        <a:srgbClr val="D1EEFA"/>
                      </a:solidFill>
                      <a:prstDash val="solid"/>
                    </a:lnB>
                    <a:solidFill>
                      <a:srgbClr val="EE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월 보험료 한눈에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EEF8FC"/>
          </a:solidFill>
          <a:ln w="15875">
            <a:solidFill>
              <a:srgbClr val="D1EE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69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485F"/>
                </a:solidFill>
              </a:rPr>
              <a:t>월 보험료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EEF8FC"/>
          </a:solidFill>
          <a:ln w="15875">
            <a:solidFill>
              <a:srgbClr val="D1EE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269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485F"/>
                </a:solidFill>
              </a:rPr>
              <a:t>연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4592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EEF8FC"/>
          </a:solidFill>
          <a:ln w="15875">
            <a:solidFill>
              <a:srgbClr val="D1EE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269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1485F"/>
                </a:solidFill>
              </a:rPr>
              <a:t>월 소득 대비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10896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6" name="안내"/>
          <p:cNvSpPr txBox="1"/>
          <p:nvPr/>
        </p:nvSpPr>
        <p:spPr>
          <a:xfrm>
            <a:off x="640080" y="475488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269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점검 메모와 다음 할 일</a:t>
            </a:r>
          </a:p>
        </p:txBody>
      </p:sp>
      <p:sp>
        <p:nvSpPr>
          <p:cNvPr id="4" name="카드 1"/>
          <p:cNvSpPr/>
          <p:nvPr/>
        </p:nvSpPr>
        <p:spPr>
          <a:xfrm>
            <a:off x="640080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EEF8FC"/>
          </a:solidFill>
          <a:ln w="15875">
            <a:solidFill>
              <a:srgbClr val="D1EE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269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485F"/>
                </a:solidFill>
              </a:rPr>
              <a:t>확인할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53458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EEF8FC"/>
          </a:solidFill>
          <a:ln w="15875">
            <a:solidFill>
              <a:srgbClr val="D1EE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36338" y="1828800"/>
            <a:ext cx="457200" cy="457200"/>
          </a:xfrm>
          <a:prstGeom prst="ellipse">
            <a:avLst/>
          </a:prstGeom>
          <a:solidFill>
            <a:srgbClr val="269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0618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485F"/>
                </a:solidFill>
              </a:rPr>
              <a:t>문의할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66836" y="1645920"/>
            <a:ext cx="3484778" cy="4114800"/>
          </a:xfrm>
          <a:prstGeom prst="roundRect">
            <a:avLst>
              <a:gd name="adj" fmla="val 8000"/>
            </a:avLst>
          </a:prstGeom>
          <a:solidFill>
            <a:srgbClr val="EEF8FC"/>
          </a:solidFill>
          <a:ln w="15875">
            <a:solidFill>
              <a:srgbClr val="D1EEF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49716" y="1828800"/>
            <a:ext cx="457200" cy="457200"/>
          </a:xfrm>
          <a:prstGeom prst="ellipse">
            <a:avLst/>
          </a:prstGeom>
          <a:solidFill>
            <a:srgbClr val="2695C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996" y="24231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485F"/>
                </a:solidFill>
              </a:rPr>
              <a:t>정리할 날짜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3108960"/>
            <a:ext cx="3210458" cy="2514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가족 점검)">
  <a:themeElements>
    <a:clrScheme name="Office">
      <a:dk1>
        <a:sysClr val="windowText" lastClr="000000"/>
      </a:dk1>
      <a:lt1>
        <a:sysClr val="window" lastClr="FFFFFF"/>
      </a:lt1>
      <a:dk2>
        <a:srgbClr val="11485F"/>
      </a:dk2>
      <a:lt2>
        <a:srgbClr val="EEF8FC"/>
      </a:lt2>
      <a:accent1>
        <a:srgbClr val="2695C5"/>
      </a:accent1>
      <a:accent2>
        <a:srgbClr val="209DB6"/>
      </a:accent2>
      <a:accent3>
        <a:srgbClr val="11485F"/>
      </a:accent3>
      <a:accent4>
        <a:srgbClr val="D1EEFA"/>
      </a:accent4>
      <a:accent5>
        <a:srgbClr val="2399BE"/>
      </a:accent5>
      <a:accent6>
        <a:srgbClr val="70919F"/>
      </a:accent6>
      <a:hlink>
        <a:srgbClr val="2695C5"/>
      </a:hlink>
      <a:folHlink>
        <a:srgbClr val="11485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