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4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8168335" y="3749039"/>
            <a:ext cx="5486400" cy="5486400"/>
          </a:xfrm>
          <a:prstGeom prst="ellipse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737305" y="1371600"/>
            <a:ext cx="457200" cy="457200"/>
          </a:xfrm>
          <a:prstGeom prst="ellipse">
            <a:avLst/>
          </a:prstGeom>
          <a:solidFill>
            <a:srgbClr val="A697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36289" y="2468879"/>
            <a:ext cx="182880" cy="182880"/>
          </a:xfrm>
          <a:prstGeom prst="ellipse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5120511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511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5120511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월 보험료가 얼마인지 합계를 내 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5120511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본인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2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2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22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4227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C579"/>
                      </a:solidFill>
                      <a:prstDash val="solid"/>
                    </a:lnL>
                    <a:lnR w="9525" cap="flat" cmpd="sng" algn="ctr">
                      <a:solidFill>
                        <a:srgbClr val="D8C579"/>
                      </a:solidFill>
                      <a:prstDash val="solid"/>
                    </a:lnR>
                    <a:lnT w="9525" cap="flat" cmpd="sng" algn="ctr">
                      <a:solidFill>
                        <a:srgbClr val="D8C579"/>
                      </a:solidFill>
                      <a:prstDash val="solid"/>
                    </a:lnT>
                    <a:lnB w="9525" cap="flat" cmpd="sng" algn="ctr">
                      <a:solidFill>
                        <a:srgbClr val="D8C579"/>
                      </a:solidFill>
                      <a:prstDash val="solid"/>
                    </a:lnB>
                    <a:solidFill>
                      <a:srgbClr val="D8C57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2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6E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FD5"/>
                      </a:solidFill>
                      <a:prstDash val="solid"/>
                    </a:lnL>
                    <a:lnR w="9525" cap="flat" cmpd="sng" algn="ctr">
                      <a:solidFill>
                        <a:srgbClr val="F6EFD5"/>
                      </a:solidFill>
                      <a:prstDash val="solid"/>
                    </a:lnR>
                    <a:lnT w="9525" cap="flat" cmpd="sng" algn="ctr">
                      <a:solidFill>
                        <a:srgbClr val="F6EFD5"/>
                      </a:solidFill>
                      <a:prstDash val="solid"/>
                    </a:lnT>
                    <a:lnB w="9525" cap="flat" cmpd="sng" algn="ctr">
                      <a:solidFill>
                        <a:srgbClr val="F6EFD5"/>
                      </a:solidFill>
                      <a:prstDash val="solid"/>
                    </a:lnB>
                    <a:solidFill>
                      <a:srgbClr val="FBF8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22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227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4227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22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227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227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494227"/>
      </a:dk2>
      <a:lt2>
        <a:srgbClr val="FBF8EC"/>
      </a:lt2>
      <a:accent1>
        <a:srgbClr val="D8C579"/>
      </a:accent1>
      <a:accent2>
        <a:srgbClr val="CEE198"/>
      </a:accent2>
      <a:accent3>
        <a:srgbClr val="494227"/>
      </a:accent3>
      <a:accent4>
        <a:srgbClr val="F6EFD5"/>
      </a:accent4>
      <a:accent5>
        <a:srgbClr val="D3D388"/>
      </a:accent5>
      <a:accent6>
        <a:srgbClr val="928E7D"/>
      </a:accent6>
      <a:hlink>
        <a:srgbClr val="D8C579"/>
      </a:hlink>
      <a:folHlink>
        <a:srgbClr val="4942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