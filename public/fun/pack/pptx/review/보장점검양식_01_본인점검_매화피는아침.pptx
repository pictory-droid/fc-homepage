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2F4C"/>
                </a:solidFill>
              </a:rPr>
              <a:t>우리 보험 점검 시간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소중한 약속을 천천히 펼쳐 보는 시간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점검 대상 현황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2F4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2F4C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2F4C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42F4C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가입한 보험 목록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보장 항목 체크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517C"/>
                      </a:solidFill>
                      <a:prstDash val="solid"/>
                    </a:lnL>
                    <a:lnR w="9525" cap="flat" cmpd="sng" algn="ctr">
                      <a:solidFill>
                        <a:srgbClr val="B8517C"/>
                      </a:solidFill>
                      <a:prstDash val="solid"/>
                    </a:lnR>
                    <a:lnT w="9525" cap="flat" cmpd="sng" algn="ctr">
                      <a:solidFill>
                        <a:srgbClr val="B8517C"/>
                      </a:solidFill>
                      <a:prstDash val="solid"/>
                    </a:lnT>
                    <a:lnB w="9525" cap="flat" cmpd="sng" algn="ctr">
                      <a:solidFill>
                        <a:srgbClr val="B8517C"/>
                      </a:solidFill>
                      <a:prstDash val="solid"/>
                    </a:lnB>
                    <a:solidFill>
                      <a:srgbClr val="B8517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2F4C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2F4C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2F4C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2F4C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2F4C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2F4C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2F4C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42F4C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EFD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2DE"/>
                      </a:solidFill>
                      <a:prstDash val="solid"/>
                    </a:lnL>
                    <a:lnR w="9525" cap="flat" cmpd="sng" algn="ctr">
                      <a:solidFill>
                        <a:srgbClr val="EFD2DE"/>
                      </a:solidFill>
                      <a:prstDash val="solid"/>
                    </a:lnR>
                    <a:lnT w="9525" cap="flat" cmpd="sng" algn="ctr">
                      <a:solidFill>
                        <a:srgbClr val="EFD2DE"/>
                      </a:solidFill>
                      <a:prstDash val="solid"/>
                    </a:lnT>
                    <a:lnB w="9525" cap="flat" cmpd="sng" algn="ctr">
                      <a:solidFill>
                        <a:srgbClr val="EFD2DE"/>
                      </a:solidFill>
                      <a:prstDash val="solid"/>
                    </a:lnB>
                    <a:solidFill>
                      <a:srgbClr val="F9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월 보험료 한눈에</a:t>
            </a:r>
          </a:p>
        </p:txBody>
      </p:sp>
      <p:sp>
        <p:nvSpPr>
          <p:cNvPr id="23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42F4C"/>
                </a:solidFill>
              </a:rPr>
              <a:t>월 보험료 합계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7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42F4C"/>
                </a:solidFill>
              </a:rPr>
              <a:t>연 보험료 합계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31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42F4C"/>
                </a:solidFill>
              </a:rPr>
              <a:t>월 소득 대비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35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점검 메모와 다음 할 일</a:t>
            </a:r>
          </a:p>
        </p:txBody>
      </p:sp>
      <p:sp>
        <p:nvSpPr>
          <p:cNvPr id="23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확인할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문의할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1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5875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정리할 날짜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5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742F4C"/>
      </a:dk2>
      <a:lt2>
        <a:srgbClr val="F9F1F4"/>
      </a:lt2>
      <a:accent1>
        <a:srgbClr val="B8517C"/>
      </a:accent1>
      <a:accent2>
        <a:srgbClr val="3B9142"/>
      </a:accent2>
      <a:accent3>
        <a:srgbClr val="742F4C"/>
      </a:accent3>
      <a:accent4>
        <a:srgbClr val="EFD2DE"/>
      </a:accent4>
      <a:accent5>
        <a:srgbClr val="7A715F"/>
      </a:accent5>
      <a:accent6>
        <a:srgbClr val="AC8294"/>
      </a:accent6>
      <a:hlink>
        <a:srgbClr val="B8517C"/>
      </a:hlink>
      <a:folHlink>
        <a:srgbClr val="742F4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