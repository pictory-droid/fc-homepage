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D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7071183" y="-3200400"/>
            <a:ext cx="6400800" cy="6400800"/>
          </a:xfrm>
          <a:prstGeom prst="ellipse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8534186" y="-914400"/>
            <a:ext cx="3291840" cy="32918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우리 보험 점검 시간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찾아뵙고 증권철 위치를 확인합니다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부모님 점검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6" name="포인트"/>
          <p:cNvSpPr/>
          <p:nvPr/>
        </p:nvSpPr>
        <p:spPr>
          <a:xfrm>
            <a:off x="11048695" y="502919"/>
            <a:ext cx="274320" cy="274320"/>
          </a:xfrm>
          <a:prstGeom prst="moon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대상 현황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640080" y="178308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37178"/>
                <a:gridCol w="3637178"/>
                <a:gridCol w="363717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CE98"/>
                      </a:solidFill>
                      <a:prstDash val="solid"/>
                    </a:lnL>
                    <a:lnR w="9525" cap="flat" cmpd="sng" algn="ctr">
                      <a:solidFill>
                        <a:srgbClr val="E1CE98"/>
                      </a:solidFill>
                      <a:prstDash val="solid"/>
                    </a:lnR>
                    <a:lnT w="9525" cap="flat" cmpd="sng" algn="ctr">
                      <a:solidFill>
                        <a:srgbClr val="E1CE98"/>
                      </a:solidFill>
                      <a:prstDash val="solid"/>
                    </a:lnT>
                    <a:lnB w="9525" cap="flat" cmpd="sng" algn="ctr">
                      <a:solidFill>
                        <a:srgbClr val="E1CE98"/>
                      </a:solidFill>
                      <a:prstDash val="solid"/>
                    </a:lnB>
                    <a:solidFill>
                      <a:srgbClr val="E1CE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아버지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CE98"/>
                      </a:solidFill>
                      <a:prstDash val="solid"/>
                    </a:lnL>
                    <a:lnR w="9525" cap="flat" cmpd="sng" algn="ctr">
                      <a:solidFill>
                        <a:srgbClr val="E1CE98"/>
                      </a:solidFill>
                      <a:prstDash val="solid"/>
                    </a:lnR>
                    <a:lnT w="9525" cap="flat" cmpd="sng" algn="ctr">
                      <a:solidFill>
                        <a:srgbClr val="E1CE98"/>
                      </a:solidFill>
                      <a:prstDash val="solid"/>
                    </a:lnT>
                    <a:lnB w="9525" cap="flat" cmpd="sng" algn="ctr">
                      <a:solidFill>
                        <a:srgbClr val="E1CE98"/>
                      </a:solidFill>
                      <a:prstDash val="solid"/>
                    </a:lnB>
                    <a:solidFill>
                      <a:srgbClr val="E1CE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어머니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CE98"/>
                      </a:solidFill>
                      <a:prstDash val="solid"/>
                    </a:lnL>
                    <a:lnR w="9525" cap="flat" cmpd="sng" algn="ctr">
                      <a:solidFill>
                        <a:srgbClr val="E1CE98"/>
                      </a:solidFill>
                      <a:prstDash val="solid"/>
                    </a:lnR>
                    <a:lnT w="9525" cap="flat" cmpd="sng" algn="ctr">
                      <a:solidFill>
                        <a:srgbClr val="E1CE98"/>
                      </a:solidFill>
                      <a:prstDash val="solid"/>
                    </a:lnT>
                    <a:lnB w="9525" cap="flat" cmpd="sng" algn="ctr">
                      <a:solidFill>
                        <a:srgbClr val="E1CE98"/>
                      </a:solidFill>
                      <a:prstDash val="solid"/>
                    </a:lnB>
                    <a:solidFill>
                      <a:srgbClr val="E1CE98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4027"/>
                          </a:solidFill>
                        </a:rPr>
                        <a:t>성함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6ED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4027"/>
                          </a:solidFill>
                        </a:rPr>
                        <a:t>연세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6ED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4027"/>
                          </a:solidFill>
                        </a:rPr>
                        <a:t>건강 상태 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6ED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4027"/>
                          </a:solidFill>
                        </a:rPr>
                        <a:t>함께 확인할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6ED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6" name="포인트"/>
          <p:cNvSpPr/>
          <p:nvPr/>
        </p:nvSpPr>
        <p:spPr>
          <a:xfrm>
            <a:off x="11048695" y="502919"/>
            <a:ext cx="274320" cy="274320"/>
          </a:xfrm>
          <a:prstGeom prst="moon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가입한 보험 목록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640080" y="178308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CE98"/>
                      </a:solidFill>
                      <a:prstDash val="solid"/>
                    </a:lnL>
                    <a:lnR w="9525" cap="flat" cmpd="sng" algn="ctr">
                      <a:solidFill>
                        <a:srgbClr val="E1CE98"/>
                      </a:solidFill>
                      <a:prstDash val="solid"/>
                    </a:lnR>
                    <a:lnT w="9525" cap="flat" cmpd="sng" algn="ctr">
                      <a:solidFill>
                        <a:srgbClr val="E1CE98"/>
                      </a:solidFill>
                      <a:prstDash val="solid"/>
                    </a:lnT>
                    <a:lnB w="9525" cap="flat" cmpd="sng" algn="ctr">
                      <a:solidFill>
                        <a:srgbClr val="E1CE98"/>
                      </a:solidFill>
                      <a:prstDash val="solid"/>
                    </a:lnB>
                    <a:solidFill>
                      <a:srgbClr val="E1CE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CE98"/>
                      </a:solidFill>
                      <a:prstDash val="solid"/>
                    </a:lnL>
                    <a:lnR w="9525" cap="flat" cmpd="sng" algn="ctr">
                      <a:solidFill>
                        <a:srgbClr val="E1CE98"/>
                      </a:solidFill>
                      <a:prstDash val="solid"/>
                    </a:lnR>
                    <a:lnT w="9525" cap="flat" cmpd="sng" algn="ctr">
                      <a:solidFill>
                        <a:srgbClr val="E1CE98"/>
                      </a:solidFill>
                      <a:prstDash val="solid"/>
                    </a:lnT>
                    <a:lnB w="9525" cap="flat" cmpd="sng" algn="ctr">
                      <a:solidFill>
                        <a:srgbClr val="E1CE98"/>
                      </a:solidFill>
                      <a:prstDash val="solid"/>
                    </a:lnB>
                    <a:solidFill>
                      <a:srgbClr val="E1CE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CE98"/>
                      </a:solidFill>
                      <a:prstDash val="solid"/>
                    </a:lnL>
                    <a:lnR w="9525" cap="flat" cmpd="sng" algn="ctr">
                      <a:solidFill>
                        <a:srgbClr val="E1CE98"/>
                      </a:solidFill>
                      <a:prstDash val="solid"/>
                    </a:lnR>
                    <a:lnT w="9525" cap="flat" cmpd="sng" algn="ctr">
                      <a:solidFill>
                        <a:srgbClr val="E1CE98"/>
                      </a:solidFill>
                      <a:prstDash val="solid"/>
                    </a:lnT>
                    <a:lnB w="9525" cap="flat" cmpd="sng" algn="ctr">
                      <a:solidFill>
                        <a:srgbClr val="E1CE98"/>
                      </a:solidFill>
                      <a:prstDash val="solid"/>
                    </a:lnB>
                    <a:solidFill>
                      <a:srgbClr val="E1CE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CE98"/>
                      </a:solidFill>
                      <a:prstDash val="solid"/>
                    </a:lnL>
                    <a:lnR w="9525" cap="flat" cmpd="sng" algn="ctr">
                      <a:solidFill>
                        <a:srgbClr val="E1CE98"/>
                      </a:solidFill>
                      <a:prstDash val="solid"/>
                    </a:lnR>
                    <a:lnT w="9525" cap="flat" cmpd="sng" algn="ctr">
                      <a:solidFill>
                        <a:srgbClr val="E1CE98"/>
                      </a:solidFill>
                      <a:prstDash val="solid"/>
                    </a:lnT>
                    <a:lnB w="9525" cap="flat" cmpd="sng" algn="ctr">
                      <a:solidFill>
                        <a:srgbClr val="E1CE98"/>
                      </a:solidFill>
                      <a:prstDash val="solid"/>
                    </a:lnB>
                    <a:solidFill>
                      <a:srgbClr val="E1CE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CE98"/>
                      </a:solidFill>
                      <a:prstDash val="solid"/>
                    </a:lnL>
                    <a:lnR w="9525" cap="flat" cmpd="sng" algn="ctr">
                      <a:solidFill>
                        <a:srgbClr val="E1CE98"/>
                      </a:solidFill>
                      <a:prstDash val="solid"/>
                    </a:lnR>
                    <a:lnT w="9525" cap="flat" cmpd="sng" algn="ctr">
                      <a:solidFill>
                        <a:srgbClr val="E1CE98"/>
                      </a:solidFill>
                      <a:prstDash val="solid"/>
                    </a:lnT>
                    <a:lnB w="9525" cap="flat" cmpd="sng" algn="ctr">
                      <a:solidFill>
                        <a:srgbClr val="E1CE98"/>
                      </a:solidFill>
                      <a:prstDash val="solid"/>
                    </a:lnB>
                    <a:solidFill>
                      <a:srgbClr val="E1CE9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6" name="포인트"/>
          <p:cNvSpPr/>
          <p:nvPr/>
        </p:nvSpPr>
        <p:spPr>
          <a:xfrm>
            <a:off x="11048695" y="502919"/>
            <a:ext cx="274320" cy="274320"/>
          </a:xfrm>
          <a:prstGeom prst="moon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보장 항목 체크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640080" y="178308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CE98"/>
                      </a:solidFill>
                      <a:prstDash val="solid"/>
                    </a:lnL>
                    <a:lnR w="9525" cap="flat" cmpd="sng" algn="ctr">
                      <a:solidFill>
                        <a:srgbClr val="E1CE98"/>
                      </a:solidFill>
                      <a:prstDash val="solid"/>
                    </a:lnR>
                    <a:lnT w="9525" cap="flat" cmpd="sng" algn="ctr">
                      <a:solidFill>
                        <a:srgbClr val="E1CE98"/>
                      </a:solidFill>
                      <a:prstDash val="solid"/>
                    </a:lnT>
                    <a:lnB w="9525" cap="flat" cmpd="sng" algn="ctr">
                      <a:solidFill>
                        <a:srgbClr val="E1CE98"/>
                      </a:solidFill>
                      <a:prstDash val="solid"/>
                    </a:lnB>
                    <a:solidFill>
                      <a:srgbClr val="E1CE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CE98"/>
                      </a:solidFill>
                      <a:prstDash val="solid"/>
                    </a:lnL>
                    <a:lnR w="9525" cap="flat" cmpd="sng" algn="ctr">
                      <a:solidFill>
                        <a:srgbClr val="E1CE98"/>
                      </a:solidFill>
                      <a:prstDash val="solid"/>
                    </a:lnR>
                    <a:lnT w="9525" cap="flat" cmpd="sng" algn="ctr">
                      <a:solidFill>
                        <a:srgbClr val="E1CE98"/>
                      </a:solidFill>
                      <a:prstDash val="solid"/>
                    </a:lnT>
                    <a:lnB w="9525" cap="flat" cmpd="sng" algn="ctr">
                      <a:solidFill>
                        <a:srgbClr val="E1CE98"/>
                      </a:solidFill>
                      <a:prstDash val="solid"/>
                    </a:lnB>
                    <a:solidFill>
                      <a:srgbClr val="E1CE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CE98"/>
                      </a:solidFill>
                      <a:prstDash val="solid"/>
                    </a:lnL>
                    <a:lnR w="9525" cap="flat" cmpd="sng" algn="ctr">
                      <a:solidFill>
                        <a:srgbClr val="E1CE98"/>
                      </a:solidFill>
                      <a:prstDash val="solid"/>
                    </a:lnR>
                    <a:lnT w="9525" cap="flat" cmpd="sng" algn="ctr">
                      <a:solidFill>
                        <a:srgbClr val="E1CE98"/>
                      </a:solidFill>
                      <a:prstDash val="solid"/>
                    </a:lnT>
                    <a:lnB w="9525" cap="flat" cmpd="sng" algn="ctr">
                      <a:solidFill>
                        <a:srgbClr val="E1CE98"/>
                      </a:solidFill>
                      <a:prstDash val="solid"/>
                    </a:lnB>
                    <a:solidFill>
                      <a:srgbClr val="E1CE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CE98"/>
                      </a:solidFill>
                      <a:prstDash val="solid"/>
                    </a:lnL>
                    <a:lnR w="9525" cap="flat" cmpd="sng" algn="ctr">
                      <a:solidFill>
                        <a:srgbClr val="E1CE98"/>
                      </a:solidFill>
                      <a:prstDash val="solid"/>
                    </a:lnR>
                    <a:lnT w="9525" cap="flat" cmpd="sng" algn="ctr">
                      <a:solidFill>
                        <a:srgbClr val="E1CE98"/>
                      </a:solidFill>
                      <a:prstDash val="solid"/>
                    </a:lnT>
                    <a:lnB w="9525" cap="flat" cmpd="sng" algn="ctr">
                      <a:solidFill>
                        <a:srgbClr val="E1CE98"/>
                      </a:solidFill>
                      <a:prstDash val="solid"/>
                    </a:lnB>
                    <a:solidFill>
                      <a:srgbClr val="E1CE9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4027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6ED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4027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6ED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4027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6ED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4027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6ED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4027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6ED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4027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6ED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4027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6ED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4027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6ED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6" name="포인트"/>
          <p:cNvSpPr/>
          <p:nvPr/>
        </p:nvSpPr>
        <p:spPr>
          <a:xfrm>
            <a:off x="11048695" y="502919"/>
            <a:ext cx="274320" cy="274320"/>
          </a:xfrm>
          <a:prstGeom prst="moon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월 보험료 한눈에</a:t>
            </a:r>
          </a:p>
        </p:txBody>
      </p:sp>
      <p:sp>
        <p:nvSpPr>
          <p:cNvPr id="7" name="카드 1"/>
          <p:cNvSpPr/>
          <p:nvPr/>
        </p:nvSpPr>
        <p:spPr>
          <a:xfrm>
            <a:off x="640080" y="1783080"/>
            <a:ext cx="3484778" cy="2926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D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위쪽 띠"/>
          <p:cNvSpPr/>
          <p:nvPr/>
        </p:nvSpPr>
        <p:spPr>
          <a:xfrm>
            <a:off x="649224" y="1792224"/>
            <a:ext cx="3466490" cy="82296"/>
          </a:xfrm>
          <a:prstGeom prst="rect">
            <a:avLst/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E0EA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4027"/>
                </a:solidFill>
              </a:rPr>
              <a:t>월 보험료 합계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2" name="카드 2"/>
          <p:cNvSpPr/>
          <p:nvPr/>
        </p:nvSpPr>
        <p:spPr>
          <a:xfrm>
            <a:off x="4353458" y="1783080"/>
            <a:ext cx="3484778" cy="2926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D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위쪽 띠"/>
          <p:cNvSpPr/>
          <p:nvPr/>
        </p:nvSpPr>
        <p:spPr>
          <a:xfrm>
            <a:off x="4362602" y="1792224"/>
            <a:ext cx="3466490" cy="82296"/>
          </a:xfrm>
          <a:prstGeom prst="rect">
            <a:avLst/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solidFill>
            <a:srgbClr val="E0EA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4027"/>
                </a:solidFill>
              </a:rPr>
              <a:t>연 보험료 합계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0618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7" name="카드 3"/>
          <p:cNvSpPr/>
          <p:nvPr/>
        </p:nvSpPr>
        <p:spPr>
          <a:xfrm>
            <a:off x="8066836" y="1783080"/>
            <a:ext cx="3484778" cy="2926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D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위쪽 띠"/>
          <p:cNvSpPr/>
          <p:nvPr/>
        </p:nvSpPr>
        <p:spPr>
          <a:xfrm>
            <a:off x="8075980" y="1792224"/>
            <a:ext cx="3466490" cy="82296"/>
          </a:xfrm>
          <a:prstGeom prst="rect">
            <a:avLst/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solidFill>
            <a:srgbClr val="E0EA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4027"/>
                </a:solidFill>
              </a:rPr>
              <a:t>월 소득 대비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3996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0 %</a:t>
            </a:r>
          </a:p>
        </p:txBody>
      </p:sp>
      <p:sp>
        <p:nvSpPr>
          <p:cNvPr id="22" name="안내"/>
          <p:cNvSpPr txBox="1"/>
          <p:nvPr/>
        </p:nvSpPr>
        <p:spPr>
          <a:xfrm>
            <a:off x="640080" y="489204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6" name="포인트"/>
          <p:cNvSpPr/>
          <p:nvPr/>
        </p:nvSpPr>
        <p:spPr>
          <a:xfrm>
            <a:off x="11048695" y="502919"/>
            <a:ext cx="274320" cy="274320"/>
          </a:xfrm>
          <a:prstGeom prst="moon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메모와 다음 할 일</a:t>
            </a:r>
          </a:p>
        </p:txBody>
      </p:sp>
      <p:sp>
        <p:nvSpPr>
          <p:cNvPr id="7" name="카드 1"/>
          <p:cNvSpPr/>
          <p:nvPr/>
        </p:nvSpPr>
        <p:spPr>
          <a:xfrm>
            <a:off x="640080" y="1783080"/>
            <a:ext cx="3484778" cy="374903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D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위쪽 띠"/>
          <p:cNvSpPr/>
          <p:nvPr/>
        </p:nvSpPr>
        <p:spPr>
          <a:xfrm>
            <a:off x="649224" y="1792224"/>
            <a:ext cx="3466490" cy="82296"/>
          </a:xfrm>
          <a:prstGeom prst="rect">
            <a:avLst/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E0EA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4027"/>
                </a:solidFill>
              </a:rPr>
              <a:t>확인할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46120"/>
            <a:ext cx="3210458" cy="21488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2" name="카드 2"/>
          <p:cNvSpPr/>
          <p:nvPr/>
        </p:nvSpPr>
        <p:spPr>
          <a:xfrm>
            <a:off x="4353458" y="1783080"/>
            <a:ext cx="3484778" cy="374903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D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위쪽 띠"/>
          <p:cNvSpPr/>
          <p:nvPr/>
        </p:nvSpPr>
        <p:spPr>
          <a:xfrm>
            <a:off x="4362602" y="1792224"/>
            <a:ext cx="3466490" cy="82296"/>
          </a:xfrm>
          <a:prstGeom prst="rect">
            <a:avLst/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solidFill>
            <a:srgbClr val="E0EA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4027"/>
                </a:solidFill>
              </a:rPr>
              <a:t>문의할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0618" y="3246120"/>
            <a:ext cx="3210458" cy="21488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7" name="카드 3"/>
          <p:cNvSpPr/>
          <p:nvPr/>
        </p:nvSpPr>
        <p:spPr>
          <a:xfrm>
            <a:off x="8066836" y="1783080"/>
            <a:ext cx="3484778" cy="374903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D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위쪽 띠"/>
          <p:cNvSpPr/>
          <p:nvPr/>
        </p:nvSpPr>
        <p:spPr>
          <a:xfrm>
            <a:off x="8075980" y="1792224"/>
            <a:ext cx="3466490" cy="82296"/>
          </a:xfrm>
          <a:prstGeom prst="rect">
            <a:avLst/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solidFill>
            <a:srgbClr val="E0EA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4027"/>
                </a:solidFill>
              </a:rPr>
              <a:t>정리할 날짜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3996" y="3246120"/>
            <a:ext cx="3210458" cy="21488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22" name="안내 문구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부모님 점검)">
  <a:themeElements>
    <a:clrScheme name="Office">
      <a:dk1>
        <a:sysClr val="windowText" lastClr="000000"/>
      </a:dk1>
      <a:lt1>
        <a:sysClr val="window" lastClr="FFFFFF"/>
      </a:lt1>
      <a:dk2>
        <a:srgbClr val="494027"/>
      </a:dk2>
      <a:lt2>
        <a:srgbClr val="FBF7EC"/>
      </a:lt2>
      <a:accent1>
        <a:srgbClr val="E1CE98"/>
      </a:accent1>
      <a:accent2>
        <a:srgbClr val="E0EAB8"/>
      </a:accent2>
      <a:accent3>
        <a:srgbClr val="494027"/>
      </a:accent3>
      <a:accent4>
        <a:srgbClr val="F6EDD5"/>
      </a:accent4>
      <a:accent5>
        <a:srgbClr val="E0DCA8"/>
      </a:accent5>
      <a:accent6>
        <a:srgbClr val="928C7D"/>
      </a:accent6>
      <a:hlink>
        <a:srgbClr val="E1CE98"/>
      </a:hlink>
      <a:folHlink>
        <a:srgbClr val="4940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발표자료(부모님 점검)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