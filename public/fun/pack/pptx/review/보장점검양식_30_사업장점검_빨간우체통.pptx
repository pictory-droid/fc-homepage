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3200400"/>
            <a:ext cx="6400800" cy="6400800"/>
          </a:xfrm>
          <a:prstGeom prst="ellipse">
            <a:avLst/>
          </a:prstGeom>
          <a:solidFill>
            <a:srgbClr val="A66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534186" y="-914400"/>
            <a:ext cx="3291840" cy="3291840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만기가 가까운 것부터 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사업장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E27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E27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E27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E27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8C79"/>
                      </a:solidFill>
                      <a:prstDash val="solid"/>
                    </a:lnL>
                    <a:lnR w="9525" cap="flat" cmpd="sng" algn="ctr">
                      <a:solidFill>
                        <a:srgbClr val="D88C79"/>
                      </a:solidFill>
                      <a:prstDash val="solid"/>
                    </a:lnR>
                    <a:lnT w="9525" cap="flat" cmpd="sng" algn="ctr">
                      <a:solidFill>
                        <a:srgbClr val="D88C79"/>
                      </a:solidFill>
                      <a:prstDash val="solid"/>
                    </a:lnT>
                    <a:lnB w="9525" cap="flat" cmpd="sng" algn="ctr">
                      <a:solidFill>
                        <a:srgbClr val="D88C79"/>
                      </a:solidFill>
                      <a:prstDash val="solid"/>
                    </a:lnB>
                    <a:solidFill>
                      <a:srgbClr val="D88C7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E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E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E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E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E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E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E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E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1C9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E27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1C9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E27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1C9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E27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donu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1C9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E1C9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D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E1C99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492E27"/>
      </a:dk2>
      <a:lt2>
        <a:srgbClr val="FBEFEC"/>
      </a:lt2>
      <a:accent1>
        <a:srgbClr val="D88C79"/>
      </a:accent1>
      <a:accent2>
        <a:srgbClr val="E1C998"/>
      </a:accent2>
      <a:accent3>
        <a:srgbClr val="492E27"/>
      </a:accent3>
      <a:accent4>
        <a:srgbClr val="F6DCD5"/>
      </a:accent4>
      <a:accent5>
        <a:srgbClr val="DCAA88"/>
      </a:accent5>
      <a:accent6>
        <a:srgbClr val="92827D"/>
      </a:accent6>
      <a:hlink>
        <a:srgbClr val="D88C79"/>
      </a:hlink>
      <a:folHlink>
        <a:srgbClr val="492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