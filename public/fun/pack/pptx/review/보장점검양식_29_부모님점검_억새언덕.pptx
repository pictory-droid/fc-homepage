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9341812" y="1252216"/>
            <a:ext cx="466344" cy="1372524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8589081" y="1590632"/>
            <a:ext cx="466344" cy="1421156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9580605" y="1335451"/>
            <a:ext cx="466344" cy="1207046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9661929" y="1296287"/>
            <a:ext cx="466344" cy="169348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9550224" y="455532"/>
            <a:ext cx="466344" cy="1525017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0621393" y="417242"/>
            <a:ext cx="466344" cy="1480287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9472C"/>
                </a:solidFill>
              </a:rPr>
              <a:t>우리 보험 점검 시간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9472C"/>
                </a:solidFill>
              </a:rPr>
              <a:t>억새 사이에서도 길을 잃지 않도록 목록을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점검 대상 현황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55448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9472C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9472C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9472C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9472C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가입한 보험 목록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55448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보장 항목 체크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55448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7D4D"/>
                      </a:solidFill>
                      <a:prstDash val="solid"/>
                    </a:lnL>
                    <a:lnR w="9525" cap="flat" cmpd="sng" algn="ctr">
                      <a:solidFill>
                        <a:srgbClr val="9D7D4D"/>
                      </a:solidFill>
                      <a:prstDash val="solid"/>
                    </a:lnR>
                    <a:lnT w="9525" cap="flat" cmpd="sng" algn="ctr">
                      <a:solidFill>
                        <a:srgbClr val="9D7D4D"/>
                      </a:solidFill>
                      <a:prstDash val="solid"/>
                    </a:lnT>
                    <a:lnB w="9525" cap="flat" cmpd="sng" algn="ctr">
                      <a:solidFill>
                        <a:srgbClr val="9D7D4D"/>
                      </a:solidFill>
                      <a:prstDash val="solid"/>
                    </a:lnB>
                    <a:solidFill>
                      <a:srgbClr val="9D7D4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9472C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ECE3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E3D4"/>
                      </a:solidFill>
                      <a:prstDash val="solid"/>
                    </a:lnL>
                    <a:lnR w="9525" cap="flat" cmpd="sng" algn="ctr">
                      <a:solidFill>
                        <a:srgbClr val="ECE3D4"/>
                      </a:solidFill>
                      <a:prstDash val="solid"/>
                    </a:lnR>
                    <a:lnT w="9525" cap="flat" cmpd="sng" algn="ctr">
                      <a:solidFill>
                        <a:srgbClr val="ECE3D4"/>
                      </a:solidFill>
                      <a:prstDash val="solid"/>
                    </a:lnT>
                    <a:lnB w="9525" cap="flat" cmpd="sng" algn="ctr">
                      <a:solidFill>
                        <a:srgbClr val="ECE3D4"/>
                      </a:solidFill>
                      <a:prstDash val="solid"/>
                    </a:lnB>
                    <a:solidFill>
                      <a:srgbClr val="F8F5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월 보험료 한눈에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5875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9472C"/>
                </a:solidFill>
              </a:rPr>
              <a:t>월 보험료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5875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9472C"/>
                </a:solidFill>
              </a:rPr>
              <a:t>연 보험료 합계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55448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5875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9472C"/>
                </a:solidFill>
              </a:rPr>
              <a:t>월 소득 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1752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3" name="안내"/>
          <p:cNvSpPr txBox="1"/>
          <p:nvPr/>
        </p:nvSpPr>
        <p:spPr>
          <a:xfrm>
            <a:off x="640080" y="466344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8263113">
            <a:off x="11082709" y="532297"/>
            <a:ext cx="170992" cy="503259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188593">
            <a:off x="10806708" y="656383"/>
            <a:ext cx="170992" cy="521090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000777">
            <a:off x="11170267" y="562817"/>
            <a:ext cx="170992" cy="442583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027902">
            <a:off x="11200086" y="548457"/>
            <a:ext cx="170992" cy="620943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803759">
            <a:off x="11159127" y="240180"/>
            <a:ext cx="170992" cy="559173"/>
          </a:xfrm>
          <a:prstGeom prst="ellipse">
            <a:avLst/>
          </a:prstGeom>
          <a:solidFill>
            <a:srgbClr val="EC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676420">
            <a:off x="11551889" y="226141"/>
            <a:ext cx="170992" cy="542772"/>
          </a:xfrm>
          <a:prstGeom prst="ellipse">
            <a:avLst/>
          </a:prstGeom>
          <a:solidFill>
            <a:srgbClr val="438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9472C"/>
                </a:solidFill>
              </a:rPr>
              <a:t>점검 메모와 다음 할 일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5875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확인할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5875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3736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문의할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554480"/>
            <a:ext cx="3484778" cy="3749039"/>
          </a:xfrm>
          <a:prstGeom prst="roundRect">
            <a:avLst>
              <a:gd name="adj" fmla="val 8000"/>
            </a:avLst>
          </a:prstGeom>
          <a:solidFill>
            <a:srgbClr val="F8F5F1"/>
          </a:solidFill>
          <a:ln w="15875">
            <a:solidFill>
              <a:srgbClr val="ECE3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37360"/>
            <a:ext cx="457200" cy="457200"/>
          </a:xfrm>
          <a:prstGeom prst="ellipse">
            <a:avLst/>
          </a:prstGeom>
          <a:solidFill>
            <a:srgbClr val="9D7D4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317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9472C"/>
                </a:solidFill>
              </a:rPr>
              <a:t>정리할 날짜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17520"/>
            <a:ext cx="3210458" cy="21488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3" name="안내 문구"/>
          <p:cNvSpPr txBox="1"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59472C"/>
      </a:dk2>
      <a:lt2>
        <a:srgbClr val="F8F5F1"/>
      </a:lt2>
      <a:accent1>
        <a:srgbClr val="9D7D4D"/>
      </a:accent1>
      <a:accent2>
        <a:srgbClr val="438289"/>
      </a:accent2>
      <a:accent3>
        <a:srgbClr val="59472C"/>
      </a:accent3>
      <a:accent4>
        <a:srgbClr val="ECE3D4"/>
      </a:accent4>
      <a:accent5>
        <a:srgbClr val="70806B"/>
      </a:accent5>
      <a:accent6>
        <a:srgbClr val="9B9180"/>
      </a:accent6>
      <a:hlink>
        <a:srgbClr val="9D7D4D"/>
      </a:hlink>
      <a:folHlink>
        <a:srgbClr val="59472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