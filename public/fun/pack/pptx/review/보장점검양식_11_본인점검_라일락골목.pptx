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071183" y="-1714500"/>
            <a:ext cx="7886700" cy="788670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9509522" y="3977639"/>
            <a:ext cx="3429000" cy="34290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8548094" y="665468"/>
            <a:ext cx="439711" cy="439711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9870174" y="2648211"/>
            <a:ext cx="325546" cy="325546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0456902" y="844189"/>
            <a:ext cx="428847" cy="428847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0327883" y="2558810"/>
            <a:ext cx="383917" cy="383917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8985224" y="371263"/>
            <a:ext cx="271256" cy="271256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0054636" y="427995"/>
            <a:ext cx="294091" cy="294091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0539235" y="2844566"/>
            <a:ext cx="506986" cy="50698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9714677" y="793042"/>
            <a:ext cx="486841" cy="4868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9093804" y="730731"/>
            <a:ext cx="496258" cy="49625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8263488" y="21126"/>
            <a:ext cx="405194" cy="405194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0553950" y="2861152"/>
            <a:ext cx="241523" cy="241523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705432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73371"/>
                </a:solidFill>
              </a:rPr>
              <a:t>우리 보험 점검 시간</a:t>
            </a:r>
          </a:p>
        </p:txBody>
      </p:sp>
      <p:sp>
        <p:nvSpPr>
          <p:cNvPr id="16" name="한 줄 문구"/>
          <p:cNvSpPr txBox="1"/>
          <p:nvPr/>
        </p:nvSpPr>
        <p:spPr>
          <a:xfrm>
            <a:off x="853418" y="3611880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73371"/>
                </a:solidFill>
              </a:rPr>
              <a:t>향기로운 차 한 잔과 함께하는 점검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853418" y="448056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본인 점검 · 2026.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902130" y="434860"/>
            <a:ext cx="153549" cy="153549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363808" y="1127246"/>
            <a:ext cx="113682" cy="113682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1568698" y="497270"/>
            <a:ext cx="149756" cy="14975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523643" y="1096027"/>
            <a:ext cx="134066" cy="13406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054778" y="332121"/>
            <a:ext cx="94724" cy="94724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428224" y="351933"/>
            <a:ext cx="102698" cy="10269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97449" y="1195815"/>
            <a:ext cx="177042" cy="177042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309508" y="479409"/>
            <a:ext cx="170008" cy="170008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092695" y="457650"/>
            <a:ext cx="173296" cy="17329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802743" y="209851"/>
            <a:ext cx="141496" cy="14149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1602587" y="1201606"/>
            <a:ext cx="84341" cy="843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점검 대상 현황</a:t>
            </a:r>
          </a:p>
        </p:txBody>
      </p:sp>
      <p:graphicFrame>
        <p:nvGraphicFramePr>
          <p:cNvPr id="16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73371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73371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73371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573371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902130" y="434860"/>
            <a:ext cx="153549" cy="153549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363808" y="1127246"/>
            <a:ext cx="113682" cy="113682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1568698" y="497270"/>
            <a:ext cx="149756" cy="14975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523643" y="1096027"/>
            <a:ext cx="134066" cy="13406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054778" y="332121"/>
            <a:ext cx="94724" cy="94724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428224" y="351933"/>
            <a:ext cx="102698" cy="10269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97449" y="1195815"/>
            <a:ext cx="177042" cy="177042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309508" y="479409"/>
            <a:ext cx="170008" cy="170008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092695" y="457650"/>
            <a:ext cx="173296" cy="17329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802743" y="209851"/>
            <a:ext cx="141496" cy="14149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1602587" y="1201606"/>
            <a:ext cx="84341" cy="843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가입한 보험 목록</a:t>
            </a:r>
          </a:p>
        </p:txBody>
      </p:sp>
      <p:graphicFrame>
        <p:nvGraphicFramePr>
          <p:cNvPr id="16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902130" y="434860"/>
            <a:ext cx="153549" cy="153549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363808" y="1127246"/>
            <a:ext cx="113682" cy="113682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1568698" y="497270"/>
            <a:ext cx="149756" cy="14975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523643" y="1096027"/>
            <a:ext cx="134066" cy="13406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054778" y="332121"/>
            <a:ext cx="94724" cy="94724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428224" y="351933"/>
            <a:ext cx="102698" cy="10269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97449" y="1195815"/>
            <a:ext cx="177042" cy="177042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309508" y="479409"/>
            <a:ext cx="170008" cy="170008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092695" y="457650"/>
            <a:ext cx="173296" cy="17329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802743" y="209851"/>
            <a:ext cx="141496" cy="14149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1602587" y="1201606"/>
            <a:ext cx="84341" cy="843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보장 항목 체크</a:t>
            </a:r>
          </a:p>
        </p:txBody>
      </p:sp>
      <p:graphicFrame>
        <p:nvGraphicFramePr>
          <p:cNvPr id="16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C56B3"/>
                      </a:solidFill>
                      <a:prstDash val="solid"/>
                    </a:lnL>
                    <a:lnR w="9525" cap="flat" cmpd="sng" algn="ctr">
                      <a:solidFill>
                        <a:srgbClr val="8C56B3"/>
                      </a:solidFill>
                      <a:prstDash val="solid"/>
                    </a:lnR>
                    <a:lnT w="9525" cap="flat" cmpd="sng" algn="ctr">
                      <a:solidFill>
                        <a:srgbClr val="8C56B3"/>
                      </a:solidFill>
                      <a:prstDash val="solid"/>
                    </a:lnT>
                    <a:lnB w="9525" cap="flat" cmpd="sng" algn="ctr">
                      <a:solidFill>
                        <a:srgbClr val="8C56B3"/>
                      </a:solidFill>
                      <a:prstDash val="solid"/>
                    </a:lnB>
                    <a:solidFill>
                      <a:srgbClr val="8C56B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573371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E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3D3EE"/>
                      </a:solidFill>
                      <a:prstDash val="solid"/>
                    </a:lnL>
                    <a:lnR w="9525" cap="flat" cmpd="sng" algn="ctr">
                      <a:solidFill>
                        <a:srgbClr val="E3D3EE"/>
                      </a:solidFill>
                      <a:prstDash val="solid"/>
                    </a:lnR>
                    <a:lnT w="9525" cap="flat" cmpd="sng" algn="ctr">
                      <a:solidFill>
                        <a:srgbClr val="E3D3EE"/>
                      </a:solidFill>
                      <a:prstDash val="solid"/>
                    </a:lnT>
                    <a:lnB w="9525" cap="flat" cmpd="sng" algn="ctr">
                      <a:solidFill>
                        <a:srgbClr val="E3D3EE"/>
                      </a:solidFill>
                      <a:prstDash val="solid"/>
                    </a:lnB>
                    <a:solidFill>
                      <a:srgbClr val="F5F1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902130" y="434860"/>
            <a:ext cx="153549" cy="153549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363808" y="1127246"/>
            <a:ext cx="113682" cy="113682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1568698" y="497270"/>
            <a:ext cx="149756" cy="14975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523643" y="1096027"/>
            <a:ext cx="134066" cy="13406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054778" y="332121"/>
            <a:ext cx="94724" cy="94724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428224" y="351933"/>
            <a:ext cx="102698" cy="10269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97449" y="1195815"/>
            <a:ext cx="177042" cy="177042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309508" y="479409"/>
            <a:ext cx="170008" cy="170008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092695" y="457650"/>
            <a:ext cx="173296" cy="17329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802743" y="209851"/>
            <a:ext cx="141496" cy="14149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1602587" y="1201606"/>
            <a:ext cx="84341" cy="843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월 보험료 한눈에</a:t>
            </a:r>
          </a:p>
        </p:txBody>
      </p:sp>
      <p:sp>
        <p:nvSpPr>
          <p:cNvPr id="16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73371"/>
                </a:solidFill>
              </a:rPr>
              <a:t>월 보험료 합계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20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73371"/>
                </a:solidFill>
              </a:rPr>
              <a:t>연 보험료 합계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24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573371"/>
                </a:solidFill>
              </a:rPr>
              <a:t>월 소득 대비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28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902130" y="434860"/>
            <a:ext cx="153549" cy="153549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장식"/>
          <p:cNvSpPr/>
          <p:nvPr/>
        </p:nvSpPr>
        <p:spPr>
          <a:xfrm>
            <a:off x="11363808" y="1127246"/>
            <a:ext cx="113682" cy="113682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장식"/>
          <p:cNvSpPr/>
          <p:nvPr/>
        </p:nvSpPr>
        <p:spPr>
          <a:xfrm>
            <a:off x="11568698" y="497270"/>
            <a:ext cx="149756" cy="14975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장식"/>
          <p:cNvSpPr/>
          <p:nvPr/>
        </p:nvSpPr>
        <p:spPr>
          <a:xfrm>
            <a:off x="11523643" y="1096027"/>
            <a:ext cx="134066" cy="13406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장식"/>
          <p:cNvSpPr/>
          <p:nvPr/>
        </p:nvSpPr>
        <p:spPr>
          <a:xfrm>
            <a:off x="11054778" y="332121"/>
            <a:ext cx="94724" cy="94724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장식"/>
          <p:cNvSpPr/>
          <p:nvPr/>
        </p:nvSpPr>
        <p:spPr>
          <a:xfrm>
            <a:off x="11428224" y="351933"/>
            <a:ext cx="102698" cy="102698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장식"/>
          <p:cNvSpPr/>
          <p:nvPr/>
        </p:nvSpPr>
        <p:spPr>
          <a:xfrm>
            <a:off x="11597449" y="1195815"/>
            <a:ext cx="177042" cy="177042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장식"/>
          <p:cNvSpPr/>
          <p:nvPr/>
        </p:nvSpPr>
        <p:spPr>
          <a:xfrm>
            <a:off x="11309508" y="479409"/>
            <a:ext cx="170008" cy="170008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장식"/>
          <p:cNvSpPr/>
          <p:nvPr/>
        </p:nvSpPr>
        <p:spPr>
          <a:xfrm>
            <a:off x="11092695" y="457650"/>
            <a:ext cx="173296" cy="173296"/>
          </a:xfrm>
          <a:prstGeom prst="ellipse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장식"/>
          <p:cNvSpPr/>
          <p:nvPr/>
        </p:nvSpPr>
        <p:spPr>
          <a:xfrm>
            <a:off x="10802743" y="209851"/>
            <a:ext cx="141496" cy="141496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장식"/>
          <p:cNvSpPr/>
          <p:nvPr/>
        </p:nvSpPr>
        <p:spPr>
          <a:xfrm>
            <a:off x="11602587" y="1201606"/>
            <a:ext cx="84341" cy="84341"/>
          </a:xfrm>
          <a:prstGeom prst="ellipse">
            <a:avLst/>
          </a:prstGeom>
          <a:solidFill>
            <a:srgbClr val="E3D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73371"/>
                </a:solidFill>
              </a:rPr>
              <a:t>점검 메모와 다음 할 일</a:t>
            </a:r>
          </a:p>
        </p:txBody>
      </p:sp>
      <p:sp>
        <p:nvSpPr>
          <p:cNvPr id="16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확인할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20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문의할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24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5F1F9"/>
          </a:solidFill>
          <a:ln w="15875">
            <a:solidFill>
              <a:srgbClr val="E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8C56B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73371"/>
                </a:solidFill>
              </a:rPr>
              <a:t>정리할 날짜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28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573371"/>
      </a:dk2>
      <a:lt2>
        <a:srgbClr val="F5F1F9"/>
      </a:lt2>
      <a:accent1>
        <a:srgbClr val="8C56B3"/>
      </a:accent1>
      <a:accent2>
        <a:srgbClr val="868D3F"/>
      </a:accent2>
      <a:accent3>
        <a:srgbClr val="573371"/>
      </a:accent3>
      <a:accent4>
        <a:srgbClr val="E3D3EE"/>
      </a:accent4>
      <a:accent5>
        <a:srgbClr val="897279"/>
      </a:accent5>
      <a:accent6>
        <a:srgbClr val="9A85AA"/>
      </a:accent6>
      <a:hlink>
        <a:srgbClr val="8C56B3"/>
      </a:hlink>
      <a:folHlink>
        <a:srgbClr val="57337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