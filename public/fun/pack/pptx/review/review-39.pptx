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A5E8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457200" y="457200"/>
            <a:ext cx="11277295" cy="59436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5628064" y="804639"/>
            <a:ext cx="390585" cy="39058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6355496" y="516009"/>
            <a:ext cx="485582" cy="48558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5282008" y="1811684"/>
            <a:ext cx="269697" cy="269697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5409054" y="1245349"/>
            <a:ext cx="489909" cy="489909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5285390" y="624485"/>
            <a:ext cx="332429" cy="332429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6200539" y="1200773"/>
            <a:ext cx="483625" cy="483625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03" y="2263140"/>
            <a:ext cx="9265688" cy="1371600"/>
          </a:xfrm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05000"/>
              </a:lnSpc>
            </a:pPr>
            <a:r>
              <a:rPr sz="3600" b="1" i="0">
                <a:solidFill>
                  <a:srgbClr val="3A5E88"/>
                </a:solidFill>
              </a:rPr>
              <a:t>우리 보험 점검 시간</a:t>
            </a:r>
          </a:p>
        </p:txBody>
      </p:sp>
      <p:sp>
        <p:nvSpPr>
          <p:cNvPr id="10" name="한 줄 문구"/>
          <p:cNvSpPr txBox="1"/>
          <p:nvPr/>
        </p:nvSpPr>
        <p:spPr>
          <a:xfrm>
            <a:off x="1463003" y="3726180"/>
            <a:ext cx="9265688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700" b="0" i="1">
                <a:solidFill>
                  <a:srgbClr val="3A5E88"/>
                </a:solidFill>
              </a:rPr>
              <a:t>첫눈처럼 새 마음으로 처음부터</a:t>
            </a:r>
          </a:p>
        </p:txBody>
      </p:sp>
      <p:sp>
        <p:nvSpPr>
          <p:cNvPr id="11" name="안내 문구"/>
          <p:cNvSpPr txBox="1"/>
          <p:nvPr/>
        </p:nvSpPr>
        <p:spPr>
          <a:xfrm>
            <a:off x="1463003" y="4594860"/>
            <a:ext cx="9265688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점검 대상 현황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576218"/>
                <a:gridCol w="3576218"/>
                <a:gridCol w="357621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3A5E88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가입한 보험 목록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보장 항목 체크</a:t>
            </a:r>
          </a:p>
        </p:txBody>
      </p:sp>
      <p:graphicFrame>
        <p:nvGraphicFramePr>
          <p:cNvPr id="10" name="표"/>
          <p:cNvGraphicFramePr>
            <a:graphicFrameLocks noGrp="1"/>
          </p:cNvGraphicFramePr>
          <p:nvPr/>
        </p:nvGraphicFramePr>
        <p:xfrm>
          <a:off x="731520" y="1600200"/>
          <a:ext cx="1072865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6991BF"/>
                      </a:solidFill>
                      <a:prstDash val="solid"/>
                    </a:lnL>
                    <a:lnR w="9525" cap="flat" cmpd="sng" algn="ctr">
                      <a:solidFill>
                        <a:srgbClr val="6991BF"/>
                      </a:solidFill>
                      <a:prstDash val="solid"/>
                    </a:lnR>
                    <a:lnT w="9525" cap="flat" cmpd="sng" algn="ctr">
                      <a:solidFill>
                        <a:srgbClr val="6991BF"/>
                      </a:solidFill>
                      <a:prstDash val="solid"/>
                    </a:lnT>
                    <a:lnB w="9525" cap="flat" cmpd="sng" algn="ctr">
                      <a:solidFill>
                        <a:srgbClr val="6991BF"/>
                      </a:solidFill>
                      <a:prstDash val="solid"/>
                    </a:lnB>
                    <a:solidFill>
                      <a:srgbClr val="6991B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3A5E88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FEE"/>
                      </a:solidFill>
                      <a:prstDash val="solid"/>
                    </a:lnL>
                    <a:lnR w="9525" cap="flat" cmpd="sng" algn="ctr">
                      <a:solidFill>
                        <a:srgbClr val="D3DFEE"/>
                      </a:solidFill>
                      <a:prstDash val="solid"/>
                    </a:lnR>
                    <a:lnT w="9525" cap="flat" cmpd="sng" algn="ctr">
                      <a:solidFill>
                        <a:srgbClr val="D3DFEE"/>
                      </a:solidFill>
                      <a:prstDash val="solid"/>
                    </a:lnT>
                    <a:lnB w="9525" cap="flat" cmpd="sng" algn="ctr">
                      <a:solidFill>
                        <a:srgbClr val="D3DFEE"/>
                      </a:solidFill>
                      <a:prstDash val="soli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월 보험료 한눈에</a:t>
            </a:r>
          </a:p>
        </p:txBody>
      </p:sp>
      <p:sp>
        <p:nvSpPr>
          <p:cNvPr id="10" name="카드 1"/>
          <p:cNvSpPr/>
          <p:nvPr/>
        </p:nvSpPr>
        <p:spPr>
          <a:xfrm>
            <a:off x="731520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5E88"/>
                </a:solidFill>
              </a:rPr>
              <a:t>월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4" name="카드 2"/>
          <p:cNvSpPr/>
          <p:nvPr/>
        </p:nvSpPr>
        <p:spPr>
          <a:xfrm>
            <a:off x="4383938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5E88"/>
                </a:solidFill>
              </a:rPr>
              <a:t>연 보험료 합계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8" name="카드 3"/>
          <p:cNvSpPr/>
          <p:nvPr/>
        </p:nvSpPr>
        <p:spPr>
          <a:xfrm>
            <a:off x="8036356" y="1600200"/>
            <a:ext cx="3423818" cy="292608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3A5E88"/>
                </a:solidFill>
              </a:rPr>
              <a:t>월 소득 대비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3063240"/>
            <a:ext cx="314949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2" name="안내"/>
          <p:cNvSpPr txBox="1"/>
          <p:nvPr/>
        </p:nvSpPr>
        <p:spPr>
          <a:xfrm>
            <a:off x="731520" y="4709160"/>
            <a:ext cx="1072865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991B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 rot="1621093">
            <a:off x="10719470" y="616507"/>
            <a:ext cx="236718" cy="236718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 rot="1538585">
            <a:off x="11160338" y="441580"/>
            <a:ext cx="294292" cy="29429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 rot="928388">
            <a:off x="10509739" y="1226837"/>
            <a:ext cx="163452" cy="163452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 rot="842142">
            <a:off x="10586736" y="883604"/>
            <a:ext cx="296915" cy="296915"/>
          </a:xfrm>
          <a:prstGeom prst="star6">
            <a:avLst/>
          </a:prstGeom>
          <a:solidFill>
            <a:srgbClr val="6991B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 rot="2381070">
            <a:off x="10511789" y="507323"/>
            <a:ext cx="201472" cy="201472"/>
          </a:xfrm>
          <a:prstGeom prst="star6">
            <a:avLst/>
          </a:prstGeom>
          <a:solidFill>
            <a:srgbClr val="D3DFE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장식"/>
          <p:cNvSpPr/>
          <p:nvPr/>
        </p:nvSpPr>
        <p:spPr>
          <a:xfrm rot="1133250">
            <a:off x="11066424" y="856588"/>
            <a:ext cx="293106" cy="293106"/>
          </a:xfrm>
          <a:prstGeom prst="star6">
            <a:avLst/>
          </a:prstGeom>
          <a:solidFill>
            <a:srgbClr val="8F403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548640"/>
            <a:ext cx="944849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3A5E88"/>
                </a:solidFill>
              </a:rPr>
              <a:t>점검 메모와 다음 할 일</a:t>
            </a:r>
          </a:p>
        </p:txBody>
      </p:sp>
      <p:sp>
        <p:nvSpPr>
          <p:cNvPr id="10" name="카드 1"/>
          <p:cNvSpPr/>
          <p:nvPr/>
        </p:nvSpPr>
        <p:spPr>
          <a:xfrm>
            <a:off x="731520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1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확인할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4" name="카드 2"/>
          <p:cNvSpPr/>
          <p:nvPr/>
        </p:nvSpPr>
        <p:spPr>
          <a:xfrm>
            <a:off x="4383938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566818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1098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문의할 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1098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8" name="카드 3"/>
          <p:cNvSpPr/>
          <p:nvPr/>
        </p:nvSpPr>
        <p:spPr>
          <a:xfrm>
            <a:off x="8036356" y="1600200"/>
            <a:ext cx="3423818" cy="3977639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875">
            <a:solidFill>
              <a:srgbClr val="D3DF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19236" y="1783080"/>
            <a:ext cx="457200" cy="457200"/>
          </a:xfrm>
          <a:prstGeom prst="ellipse">
            <a:avLst/>
          </a:prstGeom>
          <a:solidFill>
            <a:srgbClr val="6991BF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73516" y="2377440"/>
            <a:ext cx="314949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3A5E88"/>
                </a:solidFill>
              </a:rPr>
              <a:t>정리할 날짜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73516" y="3063240"/>
            <a:ext cx="3149498" cy="23774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2" name="안내 문구"/>
          <p:cNvSpPr txBox="1"/>
          <p:nvPr/>
        </p:nvSpPr>
        <p:spPr>
          <a:xfrm>
            <a:off x="731520" y="5669280"/>
            <a:ext cx="1072865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3A5E88"/>
      </a:dk2>
      <a:lt2>
        <a:srgbClr val="F1F5F9"/>
      </a:lt2>
      <a:accent1>
        <a:srgbClr val="6991BF"/>
      </a:accent1>
      <a:accent2>
        <a:srgbClr val="8F403D"/>
      </a:accent2>
      <a:accent3>
        <a:srgbClr val="3A5E88"/>
      </a:accent3>
      <a:accent4>
        <a:srgbClr val="D3DFEE"/>
      </a:accent4>
      <a:accent5>
        <a:srgbClr val="7C687E"/>
      </a:accent5>
      <a:accent6>
        <a:srgbClr val="899EB8"/>
      </a:accent6>
      <a:hlink>
        <a:srgbClr val="6991BF"/>
      </a:hlink>
      <a:folHlink>
        <a:srgbClr val="3A5E8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